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12192000"/>
  <p:notesSz cx="6858000" cy="9144000"/>
  <p:embeddedFontLst>
    <p:embeddedFont>
      <p:font typeface="IBM Plex Sans"/>
      <p:regular r:id="rId37"/>
      <p:bold r:id="rId38"/>
      <p:italic r:id="rId39"/>
      <p:boldItalic r:id="rId40"/>
    </p:embeddedFont>
    <p:embeddedFont>
      <p:font typeface="IBM Plex Sans Light"/>
      <p:regular r:id="rId41"/>
      <p:bold r:id="rId42"/>
      <p:italic r:id="rId43"/>
      <p:boldItalic r:id="rId44"/>
    </p:embeddedFont>
    <p:embeddedFont>
      <p:font typeface="Plus Jakarta Sans"/>
      <p:regular r:id="rId45"/>
      <p:bold r:id="rId46"/>
      <p:italic r:id="rId47"/>
      <p:boldItalic r:id="rId48"/>
    </p:embeddedFont>
    <p:embeddedFont>
      <p:font typeface="IBM Plex Sans Medium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019">
          <p15:clr>
            <a:srgbClr val="747775"/>
          </p15:clr>
        </p15:guide>
        <p15:guide id="2" orient="horz" pos="1157">
          <p15:clr>
            <a:srgbClr val="747775"/>
          </p15:clr>
        </p15:guide>
        <p15:guide id="3" pos="7617">
          <p15:clr>
            <a:srgbClr val="747775"/>
          </p15:clr>
        </p15:guide>
        <p15:guide id="4" pos="221">
          <p15:clr>
            <a:srgbClr val="747775"/>
          </p15:clr>
        </p15:guide>
        <p15:guide id="5" pos="216">
          <p15:clr>
            <a:srgbClr val="747775"/>
          </p15:clr>
        </p15:guide>
        <p15:guide id="6" orient="horz" pos="61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19" orient="horz"/>
        <p:guide pos="1157" orient="horz"/>
        <p:guide pos="7617"/>
        <p:guide pos="221"/>
        <p:guide pos="216"/>
        <p:guide pos="61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-boldItalic.fntdata"/><Relationship Id="rId42" Type="http://schemas.openxmlformats.org/officeDocument/2006/relationships/font" Target="fonts/IBMPlexSansLight-bold.fntdata"/><Relationship Id="rId41" Type="http://schemas.openxmlformats.org/officeDocument/2006/relationships/font" Target="fonts/IBMPlexSansLight-regular.fntdata"/><Relationship Id="rId44" Type="http://schemas.openxmlformats.org/officeDocument/2006/relationships/font" Target="fonts/IBMPlexSansLight-boldItalic.fntdata"/><Relationship Id="rId43" Type="http://schemas.openxmlformats.org/officeDocument/2006/relationships/font" Target="fonts/IBMPlexSansLight-italic.fntdata"/><Relationship Id="rId46" Type="http://schemas.openxmlformats.org/officeDocument/2006/relationships/font" Target="fonts/PlusJakartaSans-bold.fntdata"/><Relationship Id="rId45" Type="http://schemas.openxmlformats.org/officeDocument/2006/relationships/font" Target="fonts/PlusJakarta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lusJakartaSans-boldItalic.fntdata"/><Relationship Id="rId47" Type="http://schemas.openxmlformats.org/officeDocument/2006/relationships/font" Target="fonts/PlusJakartaSans-italic.fntdata"/><Relationship Id="rId49" Type="http://schemas.openxmlformats.org/officeDocument/2006/relationships/font" Target="fonts/IBMPlexSans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IBMPlexSans-regular.fntdata"/><Relationship Id="rId36" Type="http://schemas.openxmlformats.org/officeDocument/2006/relationships/slide" Target="slides/slide31.xml"/><Relationship Id="rId39" Type="http://schemas.openxmlformats.org/officeDocument/2006/relationships/font" Target="fonts/IBMPlexSans-italic.fntdata"/><Relationship Id="rId38" Type="http://schemas.openxmlformats.org/officeDocument/2006/relationships/font" Target="fonts/IBMPlexSans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IBMPlexSansMedium-italic.fntdata"/><Relationship Id="rId50" Type="http://schemas.openxmlformats.org/officeDocument/2006/relationships/font" Target="fonts/IBMPlexSansMedium-bold.fntdata"/><Relationship Id="rId52" Type="http://schemas.openxmlformats.org/officeDocument/2006/relationships/font" Target="fonts/IBMPlexSans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0bbd4e5f5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0bbd4e5f5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ad0c711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7ad0c711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ad0c7114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7ad0c7114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2915b9d9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2915b9d9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ad0c7114e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ad0c7114e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2915b9d9d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2915b9d9d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2915b9d9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2915b9d9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2915b9d9d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2915b9d9d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2915b9d9d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2915b9d9d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2915b9d9d_36_6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2915b9d9d_36_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2915b9d9d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2915b9d9d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2915b9d9d_36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2915b9d9d_36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2915b9d9d_36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2915b9d9d_36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2915b9d9d_36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2915b9d9d_36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2915b9d9d_36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2915b9d9d_36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2915b9d9d_36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f2915b9d9d_36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2915b9d9d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f2915b9d9d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292cd0f6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f292cd0f6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292cd0f6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f292cd0f6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2915b9d9d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f2915b9d9d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2915b9d9d_36_1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f2915b9d9d_36_1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2915b9d9d_36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f2915b9d9d_36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292cd0f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f292cd0f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2915b9d9d_36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f2915b9d9d_36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292cd0f6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f292cd0f6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2915b9d9d_36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f2915b9d9d_36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f2915b9d9d_36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f2915b9d9d_36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f2915b9d9d_36_1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f2915b9d9d_36_1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2915b9d9d_36_1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f2915b9d9d_36_1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d96c13b2b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d96c13b2b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08e5524d00_1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08e5524d00_1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iomed.health" TargetMode="External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www.iomed.health" TargetMode="External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hyperlink" Target="http://www.iomed.health" TargetMode="External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ft Blue" type="blank">
  <p:cSld name="BLANK">
    <p:bg>
      <p:bgPr>
        <a:solidFill>
          <a:srgbClr val="CFD8FF">
            <a:alpha val="25000"/>
          </a:srgbClr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899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ccess Story">
  <p:cSld name="BLANK_4">
    <p:bg>
      <p:bgPr>
        <a:solidFill>
          <a:srgbClr val="CFD8FF">
            <a:alpha val="25000"/>
          </a:srgbClr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899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3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>
            <a:hlinkClick r:id="rId2"/>
          </p:cNvPr>
          <p:cNvSpPr txBox="1"/>
          <p:nvPr/>
        </p:nvSpPr>
        <p:spPr>
          <a:xfrm>
            <a:off x="10354674" y="6542424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21" name="Google Shape;2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1874" y="658202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173529" y="494682"/>
            <a:ext cx="9500100" cy="24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Empowering Healthcare Data</a:t>
            </a:r>
            <a:endParaRPr sz="8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256405" y="4452000"/>
            <a:ext cx="75279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are the key ally for healthcare organisations</a:t>
            </a:r>
            <a:endParaRPr sz="34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24" name="Google Shape;24;p4"/>
          <p:cNvGrpSpPr/>
          <p:nvPr/>
        </p:nvGrpSpPr>
        <p:grpSpPr>
          <a:xfrm>
            <a:off x="11063795" y="177146"/>
            <a:ext cx="768112" cy="182854"/>
            <a:chOff x="698472" y="661632"/>
            <a:chExt cx="1294862" cy="300303"/>
          </a:xfrm>
        </p:grpSpPr>
        <p:sp>
          <p:nvSpPr>
            <p:cNvPr id="25" name="Google Shape;25;p4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ner">
  <p:cSld name="BLANK_3_2"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5" title="AbstractData4_Blue.png"/>
          <p:cNvPicPr preferRelativeResize="0"/>
          <p:nvPr/>
        </p:nvPicPr>
        <p:blipFill rotWithShape="1">
          <a:blip r:embed="rId2">
            <a:alphaModFix/>
          </a:blip>
          <a:srcRect b="0" l="0" r="0" t="3241"/>
          <a:stretch/>
        </p:blipFill>
        <p:spPr>
          <a:xfrm>
            <a:off x="4466050" y="2653100"/>
            <a:ext cx="7725950" cy="420489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>
            <a:hlinkClick r:id="rId3"/>
          </p:cNvPr>
          <p:cNvSpPr txBox="1"/>
          <p:nvPr/>
        </p:nvSpPr>
        <p:spPr>
          <a:xfrm>
            <a:off x="10354674" y="6540121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34" name="Google Shape;3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61874" y="657972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title"/>
          </p:nvPr>
        </p:nvSpPr>
        <p:spPr>
          <a:xfrm>
            <a:off x="173529" y="505033"/>
            <a:ext cx="9500100" cy="4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235686" y="4452000"/>
            <a:ext cx="7527900" cy="204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9pPr>
          </a:lstStyle>
          <a:p/>
        </p:txBody>
      </p:sp>
      <p:grpSp>
        <p:nvGrpSpPr>
          <p:cNvPr id="37" name="Google Shape;37;p5"/>
          <p:cNvGrpSpPr/>
          <p:nvPr/>
        </p:nvGrpSpPr>
        <p:grpSpPr>
          <a:xfrm>
            <a:off x="11063795" y="177146"/>
            <a:ext cx="768112" cy="182854"/>
            <a:chOff x="698472" y="661632"/>
            <a:chExt cx="1294862" cy="300303"/>
          </a:xfrm>
        </p:grpSpPr>
        <p:sp>
          <p:nvSpPr>
            <p:cNvPr id="38" name="Google Shape;38;p5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1" name="Google Shape;41;p5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2" name="Google Shape;42;p5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3" name="Google Shape;43;p5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 Inner">
  <p:cSld name="BLANK_3_1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 title="IOMED_Illustrations_AbstractData2_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66175" y="-250009"/>
            <a:ext cx="12419851" cy="69861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Google Shape;46;p6"/>
          <p:cNvGrpSpPr/>
          <p:nvPr/>
        </p:nvGrpSpPr>
        <p:grpSpPr>
          <a:xfrm>
            <a:off x="11063795" y="177146"/>
            <a:ext cx="768112" cy="182854"/>
            <a:chOff x="698472" y="661632"/>
            <a:chExt cx="1294862" cy="300303"/>
          </a:xfrm>
        </p:grpSpPr>
        <p:sp>
          <p:nvSpPr>
            <p:cNvPr id="47" name="Google Shape;47;p6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8" name="Google Shape;48;p6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9" name="Google Shape;49;p6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0" name="Google Shape;50;p6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53" name="Google Shape;53;p6">
            <a:hlinkClick r:id="rId3"/>
          </p:cNvPr>
          <p:cNvSpPr txBox="1"/>
          <p:nvPr/>
        </p:nvSpPr>
        <p:spPr>
          <a:xfrm>
            <a:off x="10375393" y="6536438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54" name="Google Shape;54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82593" y="657603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 txBox="1"/>
          <p:nvPr>
            <p:ph type="title"/>
          </p:nvPr>
        </p:nvSpPr>
        <p:spPr>
          <a:xfrm>
            <a:off x="173529" y="515393"/>
            <a:ext cx="9500100" cy="3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225326" y="5188950"/>
            <a:ext cx="9500100" cy="13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TA">
  <p:cSld name="BLANK_2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2292" y="0"/>
            <a:ext cx="1218706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5433768" y="6132256"/>
            <a:ext cx="1324118" cy="365743"/>
            <a:chOff x="238675" y="1845875"/>
            <a:chExt cx="7141950" cy="1980200"/>
          </a:xfrm>
        </p:grpSpPr>
        <p:sp>
          <p:nvSpPr>
            <p:cNvPr id="60" name="Google Shape;60;p7"/>
            <p:cNvSpPr/>
            <p:nvPr/>
          </p:nvSpPr>
          <p:spPr>
            <a:xfrm>
              <a:off x="238675" y="1845875"/>
              <a:ext cx="2020525" cy="1980200"/>
            </a:xfrm>
            <a:custGeom>
              <a:rect b="b" l="l" r="r" t="t"/>
              <a:pathLst>
                <a:path extrusionOk="0" h="79208" w="80821">
                  <a:moveTo>
                    <a:pt x="31218" y="24333"/>
                  </a:moveTo>
                  <a:cubicBezTo>
                    <a:pt x="32990" y="24333"/>
                    <a:pt x="36184" y="25785"/>
                    <a:pt x="39957" y="31466"/>
                  </a:cubicBezTo>
                  <a:lnTo>
                    <a:pt x="47771" y="43111"/>
                  </a:lnTo>
                  <a:cubicBezTo>
                    <a:pt x="52460" y="50119"/>
                    <a:pt x="51552" y="53749"/>
                    <a:pt x="50544" y="54707"/>
                  </a:cubicBezTo>
                  <a:cubicBezTo>
                    <a:pt x="50283" y="54828"/>
                    <a:pt x="49944" y="54904"/>
                    <a:pt x="49536" y="54904"/>
                  </a:cubicBezTo>
                  <a:cubicBezTo>
                    <a:pt x="47738" y="54904"/>
                    <a:pt x="44594" y="53420"/>
                    <a:pt x="40814" y="47749"/>
                  </a:cubicBezTo>
                  <a:lnTo>
                    <a:pt x="33050" y="36104"/>
                  </a:lnTo>
                  <a:cubicBezTo>
                    <a:pt x="28361" y="29096"/>
                    <a:pt x="29218" y="25466"/>
                    <a:pt x="30277" y="24508"/>
                  </a:cubicBezTo>
                  <a:cubicBezTo>
                    <a:pt x="30519" y="24401"/>
                    <a:pt x="30835" y="24333"/>
                    <a:pt x="31218" y="24333"/>
                  </a:cubicBezTo>
                  <a:close/>
                  <a:moveTo>
                    <a:pt x="44680" y="5687"/>
                  </a:moveTo>
                  <a:cubicBezTo>
                    <a:pt x="52536" y="5687"/>
                    <a:pt x="58771" y="9097"/>
                    <a:pt x="63299" y="15888"/>
                  </a:cubicBezTo>
                  <a:lnTo>
                    <a:pt x="71063" y="27584"/>
                  </a:lnTo>
                  <a:cubicBezTo>
                    <a:pt x="84876" y="48203"/>
                    <a:pt x="59366" y="65646"/>
                    <a:pt x="58257" y="66403"/>
                  </a:cubicBezTo>
                  <a:cubicBezTo>
                    <a:pt x="57904" y="66655"/>
                    <a:pt x="57501" y="66856"/>
                    <a:pt x="57148" y="67108"/>
                  </a:cubicBezTo>
                  <a:cubicBezTo>
                    <a:pt x="56947" y="67209"/>
                    <a:pt x="56694" y="67310"/>
                    <a:pt x="56493" y="67411"/>
                  </a:cubicBezTo>
                  <a:cubicBezTo>
                    <a:pt x="56342" y="67512"/>
                    <a:pt x="56190" y="67562"/>
                    <a:pt x="56039" y="67663"/>
                  </a:cubicBezTo>
                  <a:cubicBezTo>
                    <a:pt x="53968" y="68651"/>
                    <a:pt x="51848" y="69145"/>
                    <a:pt x="49682" y="69145"/>
                  </a:cubicBezTo>
                  <a:cubicBezTo>
                    <a:pt x="46101" y="69145"/>
                    <a:pt x="42397" y="67794"/>
                    <a:pt x="38596" y="65092"/>
                  </a:cubicBezTo>
                  <a:cubicBezTo>
                    <a:pt x="33705" y="61613"/>
                    <a:pt x="30227" y="57026"/>
                    <a:pt x="29370" y="55816"/>
                  </a:cubicBezTo>
                  <a:cubicBezTo>
                    <a:pt x="29319" y="55715"/>
                    <a:pt x="29269" y="55664"/>
                    <a:pt x="29269" y="55614"/>
                  </a:cubicBezTo>
                  <a:cubicBezTo>
                    <a:pt x="29218" y="55614"/>
                    <a:pt x="29168" y="55513"/>
                    <a:pt x="29168" y="55513"/>
                  </a:cubicBezTo>
                  <a:lnTo>
                    <a:pt x="21404" y="43867"/>
                  </a:lnTo>
                  <a:cubicBezTo>
                    <a:pt x="21152" y="43464"/>
                    <a:pt x="17522" y="37364"/>
                    <a:pt x="24076" y="29852"/>
                  </a:cubicBezTo>
                  <a:cubicBezTo>
                    <a:pt x="24580" y="32423"/>
                    <a:pt x="25841" y="35499"/>
                    <a:pt x="28311" y="39229"/>
                  </a:cubicBezTo>
                  <a:lnTo>
                    <a:pt x="36125" y="50925"/>
                  </a:lnTo>
                  <a:cubicBezTo>
                    <a:pt x="41399" y="58822"/>
                    <a:pt x="46261" y="60557"/>
                    <a:pt x="49524" y="60557"/>
                  </a:cubicBezTo>
                  <a:cubicBezTo>
                    <a:pt x="51970" y="60557"/>
                    <a:pt x="53518" y="59582"/>
                    <a:pt x="53670" y="59496"/>
                  </a:cubicBezTo>
                  <a:cubicBezTo>
                    <a:pt x="53670" y="59496"/>
                    <a:pt x="53670" y="59496"/>
                    <a:pt x="53670" y="59446"/>
                  </a:cubicBezTo>
                  <a:cubicBezTo>
                    <a:pt x="54224" y="59093"/>
                    <a:pt x="54779" y="58689"/>
                    <a:pt x="55283" y="58336"/>
                  </a:cubicBezTo>
                  <a:cubicBezTo>
                    <a:pt x="55484" y="58185"/>
                    <a:pt x="55636" y="58034"/>
                    <a:pt x="55837" y="57933"/>
                  </a:cubicBezTo>
                  <a:cubicBezTo>
                    <a:pt x="56140" y="57681"/>
                    <a:pt x="56442" y="57429"/>
                    <a:pt x="56745" y="57227"/>
                  </a:cubicBezTo>
                  <a:cubicBezTo>
                    <a:pt x="56947" y="57026"/>
                    <a:pt x="57148" y="56874"/>
                    <a:pt x="57400" y="56723"/>
                  </a:cubicBezTo>
                  <a:cubicBezTo>
                    <a:pt x="57602" y="56521"/>
                    <a:pt x="57854" y="56320"/>
                    <a:pt x="58056" y="56118"/>
                  </a:cubicBezTo>
                  <a:cubicBezTo>
                    <a:pt x="58257" y="55916"/>
                    <a:pt x="58509" y="55715"/>
                    <a:pt x="58711" y="55513"/>
                  </a:cubicBezTo>
                  <a:cubicBezTo>
                    <a:pt x="58812" y="55412"/>
                    <a:pt x="58913" y="55312"/>
                    <a:pt x="59014" y="55261"/>
                  </a:cubicBezTo>
                  <a:cubicBezTo>
                    <a:pt x="59971" y="54303"/>
                    <a:pt x="60828" y="53396"/>
                    <a:pt x="61585" y="52488"/>
                  </a:cubicBezTo>
                  <a:lnTo>
                    <a:pt x="61635" y="52488"/>
                  </a:lnTo>
                  <a:cubicBezTo>
                    <a:pt x="63551" y="50068"/>
                    <a:pt x="64761" y="47800"/>
                    <a:pt x="65467" y="45682"/>
                  </a:cubicBezTo>
                  <a:cubicBezTo>
                    <a:pt x="65467" y="45632"/>
                    <a:pt x="65517" y="45531"/>
                    <a:pt x="65517" y="45481"/>
                  </a:cubicBezTo>
                  <a:cubicBezTo>
                    <a:pt x="65618" y="45279"/>
                    <a:pt x="65668" y="45027"/>
                    <a:pt x="65719" y="44825"/>
                  </a:cubicBezTo>
                  <a:cubicBezTo>
                    <a:pt x="65769" y="44624"/>
                    <a:pt x="65819" y="44472"/>
                    <a:pt x="65870" y="44321"/>
                  </a:cubicBezTo>
                  <a:cubicBezTo>
                    <a:pt x="65870" y="44170"/>
                    <a:pt x="65920" y="44069"/>
                    <a:pt x="65971" y="43918"/>
                  </a:cubicBezTo>
                  <a:cubicBezTo>
                    <a:pt x="67080" y="38927"/>
                    <a:pt x="65819" y="34642"/>
                    <a:pt x="64156" y="32171"/>
                  </a:cubicBezTo>
                  <a:lnTo>
                    <a:pt x="56392" y="20526"/>
                  </a:lnTo>
                  <a:cubicBezTo>
                    <a:pt x="56392" y="20526"/>
                    <a:pt x="56342" y="20475"/>
                    <a:pt x="56342" y="20475"/>
                  </a:cubicBezTo>
                  <a:cubicBezTo>
                    <a:pt x="56241" y="20324"/>
                    <a:pt x="55989" y="19921"/>
                    <a:pt x="55484" y="19316"/>
                  </a:cubicBezTo>
                  <a:cubicBezTo>
                    <a:pt x="53821" y="16997"/>
                    <a:pt x="51603" y="14476"/>
                    <a:pt x="48981" y="12157"/>
                  </a:cubicBezTo>
                  <a:cubicBezTo>
                    <a:pt x="46410" y="9888"/>
                    <a:pt x="43284" y="7620"/>
                    <a:pt x="39705" y="6107"/>
                  </a:cubicBezTo>
                  <a:cubicBezTo>
                    <a:pt x="41429" y="5827"/>
                    <a:pt x="43088" y="5687"/>
                    <a:pt x="44680" y="5687"/>
                  </a:cubicBezTo>
                  <a:close/>
                  <a:moveTo>
                    <a:pt x="31155" y="10054"/>
                  </a:moveTo>
                  <a:cubicBezTo>
                    <a:pt x="34747" y="10054"/>
                    <a:pt x="38465" y="11411"/>
                    <a:pt x="42276" y="14123"/>
                  </a:cubicBezTo>
                  <a:cubicBezTo>
                    <a:pt x="47872" y="18156"/>
                    <a:pt x="51603" y="23651"/>
                    <a:pt x="51653" y="23702"/>
                  </a:cubicBezTo>
                  <a:lnTo>
                    <a:pt x="59417" y="35347"/>
                  </a:lnTo>
                  <a:cubicBezTo>
                    <a:pt x="59417" y="35347"/>
                    <a:pt x="59467" y="35398"/>
                    <a:pt x="59467" y="35448"/>
                  </a:cubicBezTo>
                  <a:cubicBezTo>
                    <a:pt x="59518" y="35499"/>
                    <a:pt x="59568" y="35600"/>
                    <a:pt x="59618" y="35650"/>
                  </a:cubicBezTo>
                  <a:cubicBezTo>
                    <a:pt x="59618" y="35700"/>
                    <a:pt x="59618" y="35751"/>
                    <a:pt x="59669" y="35751"/>
                  </a:cubicBezTo>
                  <a:cubicBezTo>
                    <a:pt x="59669" y="35852"/>
                    <a:pt x="59719" y="35902"/>
                    <a:pt x="59770" y="35952"/>
                  </a:cubicBezTo>
                  <a:cubicBezTo>
                    <a:pt x="59770" y="36053"/>
                    <a:pt x="59820" y="36104"/>
                    <a:pt x="59871" y="36204"/>
                  </a:cubicBezTo>
                  <a:cubicBezTo>
                    <a:pt x="59921" y="36305"/>
                    <a:pt x="59921" y="36356"/>
                    <a:pt x="59971" y="36457"/>
                  </a:cubicBezTo>
                  <a:cubicBezTo>
                    <a:pt x="59971" y="36507"/>
                    <a:pt x="60022" y="36608"/>
                    <a:pt x="60072" y="36709"/>
                  </a:cubicBezTo>
                  <a:cubicBezTo>
                    <a:pt x="60072" y="36759"/>
                    <a:pt x="60123" y="36860"/>
                    <a:pt x="60123" y="36910"/>
                  </a:cubicBezTo>
                  <a:cubicBezTo>
                    <a:pt x="60173" y="37062"/>
                    <a:pt x="60223" y="37263"/>
                    <a:pt x="60274" y="37414"/>
                  </a:cubicBezTo>
                  <a:cubicBezTo>
                    <a:pt x="60274" y="37515"/>
                    <a:pt x="60324" y="37566"/>
                    <a:pt x="60324" y="37667"/>
                  </a:cubicBezTo>
                  <a:cubicBezTo>
                    <a:pt x="60375" y="37818"/>
                    <a:pt x="60425" y="38019"/>
                    <a:pt x="60476" y="38221"/>
                  </a:cubicBezTo>
                  <a:cubicBezTo>
                    <a:pt x="60476" y="38322"/>
                    <a:pt x="60526" y="38423"/>
                    <a:pt x="60526" y="38524"/>
                  </a:cubicBezTo>
                  <a:cubicBezTo>
                    <a:pt x="60526" y="38675"/>
                    <a:pt x="60576" y="38776"/>
                    <a:pt x="60576" y="38927"/>
                  </a:cubicBezTo>
                  <a:cubicBezTo>
                    <a:pt x="60576" y="39028"/>
                    <a:pt x="60576" y="39129"/>
                    <a:pt x="60627" y="39229"/>
                  </a:cubicBezTo>
                  <a:cubicBezTo>
                    <a:pt x="60627" y="39481"/>
                    <a:pt x="60627" y="39683"/>
                    <a:pt x="60627" y="39935"/>
                  </a:cubicBezTo>
                  <a:lnTo>
                    <a:pt x="60627" y="40338"/>
                  </a:lnTo>
                  <a:cubicBezTo>
                    <a:pt x="60627" y="40490"/>
                    <a:pt x="60627" y="40641"/>
                    <a:pt x="60627" y="40792"/>
                  </a:cubicBezTo>
                  <a:cubicBezTo>
                    <a:pt x="60627" y="40994"/>
                    <a:pt x="60576" y="41246"/>
                    <a:pt x="60576" y="41498"/>
                  </a:cubicBezTo>
                  <a:cubicBezTo>
                    <a:pt x="60526" y="41649"/>
                    <a:pt x="60526" y="41800"/>
                    <a:pt x="60526" y="41952"/>
                  </a:cubicBezTo>
                  <a:cubicBezTo>
                    <a:pt x="60476" y="42103"/>
                    <a:pt x="60425" y="42305"/>
                    <a:pt x="60425" y="42506"/>
                  </a:cubicBezTo>
                  <a:cubicBezTo>
                    <a:pt x="60375" y="42708"/>
                    <a:pt x="60324" y="42910"/>
                    <a:pt x="60274" y="43111"/>
                  </a:cubicBezTo>
                  <a:cubicBezTo>
                    <a:pt x="60223" y="43313"/>
                    <a:pt x="60123" y="43565"/>
                    <a:pt x="60072" y="43767"/>
                  </a:cubicBezTo>
                  <a:cubicBezTo>
                    <a:pt x="60022" y="43918"/>
                    <a:pt x="59971" y="44069"/>
                    <a:pt x="59921" y="44220"/>
                  </a:cubicBezTo>
                  <a:cubicBezTo>
                    <a:pt x="59820" y="44523"/>
                    <a:pt x="59669" y="44825"/>
                    <a:pt x="59518" y="45178"/>
                  </a:cubicBezTo>
                  <a:cubicBezTo>
                    <a:pt x="59467" y="45279"/>
                    <a:pt x="59417" y="45430"/>
                    <a:pt x="59366" y="45531"/>
                  </a:cubicBezTo>
                  <a:cubicBezTo>
                    <a:pt x="59215" y="45834"/>
                    <a:pt x="59064" y="46086"/>
                    <a:pt x="58913" y="46388"/>
                  </a:cubicBezTo>
                  <a:cubicBezTo>
                    <a:pt x="58862" y="46489"/>
                    <a:pt x="58812" y="46590"/>
                    <a:pt x="58711" y="46691"/>
                  </a:cubicBezTo>
                  <a:cubicBezTo>
                    <a:pt x="58509" y="47044"/>
                    <a:pt x="58257" y="47447"/>
                    <a:pt x="58005" y="47800"/>
                  </a:cubicBezTo>
                  <a:cubicBezTo>
                    <a:pt x="57904" y="47901"/>
                    <a:pt x="57804" y="48052"/>
                    <a:pt x="57753" y="48153"/>
                  </a:cubicBezTo>
                  <a:cubicBezTo>
                    <a:pt x="57451" y="48556"/>
                    <a:pt x="57148" y="48909"/>
                    <a:pt x="56795" y="49312"/>
                  </a:cubicBezTo>
                  <a:cubicBezTo>
                    <a:pt x="56795" y="49363"/>
                    <a:pt x="56745" y="49363"/>
                    <a:pt x="56745" y="49413"/>
                  </a:cubicBezTo>
                  <a:cubicBezTo>
                    <a:pt x="56241" y="46842"/>
                    <a:pt x="54980" y="43716"/>
                    <a:pt x="52510" y="39986"/>
                  </a:cubicBezTo>
                  <a:lnTo>
                    <a:pt x="44696" y="28340"/>
                  </a:lnTo>
                  <a:cubicBezTo>
                    <a:pt x="39428" y="20424"/>
                    <a:pt x="34572" y="18671"/>
                    <a:pt x="31308" y="18671"/>
                  </a:cubicBezTo>
                  <a:cubicBezTo>
                    <a:pt x="28856" y="18671"/>
                    <a:pt x="27303" y="19661"/>
                    <a:pt x="27151" y="19769"/>
                  </a:cubicBezTo>
                  <a:cubicBezTo>
                    <a:pt x="11473" y="30256"/>
                    <a:pt x="13439" y="42204"/>
                    <a:pt x="16665" y="47044"/>
                  </a:cubicBezTo>
                  <a:lnTo>
                    <a:pt x="24429" y="58689"/>
                  </a:lnTo>
                  <a:cubicBezTo>
                    <a:pt x="24530" y="58841"/>
                    <a:pt x="24832" y="59294"/>
                    <a:pt x="25337" y="59950"/>
                  </a:cubicBezTo>
                  <a:cubicBezTo>
                    <a:pt x="27000" y="62269"/>
                    <a:pt x="29218" y="64739"/>
                    <a:pt x="31840" y="67058"/>
                  </a:cubicBezTo>
                  <a:cubicBezTo>
                    <a:pt x="34462" y="69377"/>
                    <a:pt x="37587" y="71646"/>
                    <a:pt x="41217" y="73158"/>
                  </a:cubicBezTo>
                  <a:cubicBezTo>
                    <a:pt x="39616" y="73420"/>
                    <a:pt x="37969" y="73573"/>
                    <a:pt x="36306" y="73573"/>
                  </a:cubicBezTo>
                  <a:cubicBezTo>
                    <a:pt x="29642" y="73573"/>
                    <a:pt x="22727" y="71114"/>
                    <a:pt x="17522" y="63327"/>
                  </a:cubicBezTo>
                  <a:lnTo>
                    <a:pt x="9708" y="51631"/>
                  </a:lnTo>
                  <a:cubicBezTo>
                    <a:pt x="-4055" y="31012"/>
                    <a:pt x="21455" y="13568"/>
                    <a:pt x="22513" y="12812"/>
                  </a:cubicBezTo>
                  <a:cubicBezTo>
                    <a:pt x="23068" y="12459"/>
                    <a:pt x="23622" y="12157"/>
                    <a:pt x="24177" y="11854"/>
                  </a:cubicBezTo>
                  <a:cubicBezTo>
                    <a:pt x="24681" y="11602"/>
                    <a:pt x="25185" y="11350"/>
                    <a:pt x="25689" y="11149"/>
                  </a:cubicBezTo>
                  <a:cubicBezTo>
                    <a:pt x="25841" y="11098"/>
                    <a:pt x="26042" y="10997"/>
                    <a:pt x="26194" y="10947"/>
                  </a:cubicBezTo>
                  <a:cubicBezTo>
                    <a:pt x="27818" y="10352"/>
                    <a:pt x="29473" y="10054"/>
                    <a:pt x="31155" y="10054"/>
                  </a:cubicBezTo>
                  <a:close/>
                  <a:moveTo>
                    <a:pt x="44717" y="1"/>
                  </a:moveTo>
                  <a:cubicBezTo>
                    <a:pt x="42217" y="1"/>
                    <a:pt x="39602" y="287"/>
                    <a:pt x="36881" y="864"/>
                  </a:cubicBezTo>
                  <a:cubicBezTo>
                    <a:pt x="29773" y="2376"/>
                    <a:pt x="23824" y="5452"/>
                    <a:pt x="21051" y="7065"/>
                  </a:cubicBezTo>
                  <a:cubicBezTo>
                    <a:pt x="20497" y="7367"/>
                    <a:pt x="19942" y="7720"/>
                    <a:pt x="19388" y="8073"/>
                  </a:cubicBezTo>
                  <a:cubicBezTo>
                    <a:pt x="8498" y="15383"/>
                    <a:pt x="-8542" y="34490"/>
                    <a:pt x="5019" y="54807"/>
                  </a:cubicBezTo>
                  <a:lnTo>
                    <a:pt x="12783" y="66453"/>
                  </a:lnTo>
                  <a:cubicBezTo>
                    <a:pt x="18379" y="74872"/>
                    <a:pt x="26345" y="79208"/>
                    <a:pt x="36075" y="79208"/>
                  </a:cubicBezTo>
                  <a:cubicBezTo>
                    <a:pt x="38596" y="79208"/>
                    <a:pt x="41217" y="78905"/>
                    <a:pt x="43940" y="78351"/>
                  </a:cubicBezTo>
                  <a:cubicBezTo>
                    <a:pt x="51048" y="76838"/>
                    <a:pt x="56997" y="73763"/>
                    <a:pt x="59770" y="72150"/>
                  </a:cubicBezTo>
                  <a:cubicBezTo>
                    <a:pt x="59820" y="72150"/>
                    <a:pt x="59820" y="72100"/>
                    <a:pt x="59871" y="72100"/>
                  </a:cubicBezTo>
                  <a:cubicBezTo>
                    <a:pt x="60324" y="71797"/>
                    <a:pt x="60828" y="71545"/>
                    <a:pt x="61333" y="71192"/>
                  </a:cubicBezTo>
                  <a:cubicBezTo>
                    <a:pt x="61333" y="71192"/>
                    <a:pt x="61383" y="71142"/>
                    <a:pt x="61433" y="71142"/>
                  </a:cubicBezTo>
                  <a:cubicBezTo>
                    <a:pt x="72323" y="63832"/>
                    <a:pt x="89363" y="44725"/>
                    <a:pt x="75802" y="24408"/>
                  </a:cubicBezTo>
                  <a:lnTo>
                    <a:pt x="68038" y="12762"/>
                  </a:lnTo>
                  <a:cubicBezTo>
                    <a:pt x="62422" y="4339"/>
                    <a:pt x="54446" y="1"/>
                    <a:pt x="447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1" name="Google Shape;61;p7"/>
            <p:cNvSpPr/>
            <p:nvPr/>
          </p:nvSpPr>
          <p:spPr>
            <a:xfrm>
              <a:off x="2760100" y="2351450"/>
              <a:ext cx="216800" cy="966700"/>
            </a:xfrm>
            <a:custGeom>
              <a:rect b="b" l="l" r="r" t="t"/>
              <a:pathLst>
                <a:path extrusionOk="0" h="38668" w="8672">
                  <a:moveTo>
                    <a:pt x="1" y="0"/>
                  </a:moveTo>
                  <a:lnTo>
                    <a:pt x="1" y="38668"/>
                  </a:lnTo>
                  <a:lnTo>
                    <a:pt x="8672" y="38668"/>
                  </a:lnTo>
                  <a:lnTo>
                    <a:pt x="8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2" name="Google Shape;62;p7"/>
            <p:cNvSpPr/>
            <p:nvPr/>
          </p:nvSpPr>
          <p:spPr>
            <a:xfrm>
              <a:off x="3116775" y="2342625"/>
              <a:ext cx="973050" cy="984350"/>
            </a:xfrm>
            <a:custGeom>
              <a:rect b="b" l="l" r="r" t="t"/>
              <a:pathLst>
                <a:path extrusionOk="0" h="39374" w="38922">
                  <a:moveTo>
                    <a:pt x="19461" y="7512"/>
                  </a:moveTo>
                  <a:cubicBezTo>
                    <a:pt x="22688" y="7512"/>
                    <a:pt x="25309" y="8672"/>
                    <a:pt x="27275" y="10991"/>
                  </a:cubicBezTo>
                  <a:cubicBezTo>
                    <a:pt x="29241" y="13310"/>
                    <a:pt x="30250" y="16234"/>
                    <a:pt x="30250" y="19662"/>
                  </a:cubicBezTo>
                  <a:cubicBezTo>
                    <a:pt x="30250" y="23140"/>
                    <a:pt x="29292" y="26014"/>
                    <a:pt x="27326" y="28384"/>
                  </a:cubicBezTo>
                  <a:lnTo>
                    <a:pt x="27326" y="28333"/>
                  </a:lnTo>
                  <a:cubicBezTo>
                    <a:pt x="25360" y="30703"/>
                    <a:pt x="22738" y="31862"/>
                    <a:pt x="19461" y="31862"/>
                  </a:cubicBezTo>
                  <a:cubicBezTo>
                    <a:pt x="16184" y="31862"/>
                    <a:pt x="13563" y="30703"/>
                    <a:pt x="11647" y="28384"/>
                  </a:cubicBezTo>
                  <a:cubicBezTo>
                    <a:pt x="9681" y="26064"/>
                    <a:pt x="8723" y="23140"/>
                    <a:pt x="8723" y="19611"/>
                  </a:cubicBezTo>
                  <a:cubicBezTo>
                    <a:pt x="8723" y="16133"/>
                    <a:pt x="9681" y="13310"/>
                    <a:pt x="11647" y="10991"/>
                  </a:cubicBezTo>
                  <a:cubicBezTo>
                    <a:pt x="13613" y="8672"/>
                    <a:pt x="16234" y="7512"/>
                    <a:pt x="19461" y="7512"/>
                  </a:cubicBezTo>
                  <a:close/>
                  <a:moveTo>
                    <a:pt x="19461" y="0"/>
                  </a:moveTo>
                  <a:cubicBezTo>
                    <a:pt x="13815" y="0"/>
                    <a:pt x="9176" y="1866"/>
                    <a:pt x="5496" y="5546"/>
                  </a:cubicBezTo>
                  <a:cubicBezTo>
                    <a:pt x="1866" y="9276"/>
                    <a:pt x="1" y="13965"/>
                    <a:pt x="1" y="19712"/>
                  </a:cubicBezTo>
                  <a:cubicBezTo>
                    <a:pt x="1" y="25409"/>
                    <a:pt x="1866" y="30098"/>
                    <a:pt x="5496" y="33828"/>
                  </a:cubicBezTo>
                  <a:cubicBezTo>
                    <a:pt x="9176" y="37509"/>
                    <a:pt x="13815" y="39374"/>
                    <a:pt x="19461" y="39374"/>
                  </a:cubicBezTo>
                  <a:cubicBezTo>
                    <a:pt x="25057" y="39374"/>
                    <a:pt x="29746" y="37509"/>
                    <a:pt x="33426" y="33778"/>
                  </a:cubicBezTo>
                  <a:cubicBezTo>
                    <a:pt x="37106" y="30047"/>
                    <a:pt x="38921" y="25359"/>
                    <a:pt x="38921" y="19662"/>
                  </a:cubicBezTo>
                  <a:cubicBezTo>
                    <a:pt x="38921" y="14015"/>
                    <a:pt x="37106" y="9276"/>
                    <a:pt x="33426" y="5546"/>
                  </a:cubicBezTo>
                  <a:cubicBezTo>
                    <a:pt x="29746" y="1866"/>
                    <a:pt x="25107" y="0"/>
                    <a:pt x="194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3" name="Google Shape;63;p7"/>
            <p:cNvSpPr/>
            <p:nvPr/>
          </p:nvSpPr>
          <p:spPr>
            <a:xfrm>
              <a:off x="4227175" y="2351450"/>
              <a:ext cx="1188550" cy="965450"/>
            </a:xfrm>
            <a:custGeom>
              <a:rect b="b" l="l" r="r" t="t"/>
              <a:pathLst>
                <a:path extrusionOk="0" h="38618" w="47542">
                  <a:moveTo>
                    <a:pt x="0" y="0"/>
                  </a:moveTo>
                  <a:lnTo>
                    <a:pt x="0" y="38618"/>
                  </a:lnTo>
                  <a:lnTo>
                    <a:pt x="8218" y="38618"/>
                  </a:lnTo>
                  <a:lnTo>
                    <a:pt x="8218" y="3680"/>
                  </a:lnTo>
                  <a:lnTo>
                    <a:pt x="16889" y="38618"/>
                  </a:lnTo>
                  <a:lnTo>
                    <a:pt x="30602" y="38618"/>
                  </a:lnTo>
                  <a:lnTo>
                    <a:pt x="39273" y="3428"/>
                  </a:lnTo>
                  <a:lnTo>
                    <a:pt x="39273" y="38618"/>
                  </a:lnTo>
                  <a:lnTo>
                    <a:pt x="47541" y="38618"/>
                  </a:lnTo>
                  <a:lnTo>
                    <a:pt x="47541" y="0"/>
                  </a:lnTo>
                  <a:lnTo>
                    <a:pt x="32215" y="0"/>
                  </a:lnTo>
                  <a:lnTo>
                    <a:pt x="23796" y="35391"/>
                  </a:lnTo>
                  <a:lnTo>
                    <a:pt x="157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4" name="Google Shape;64;p7"/>
            <p:cNvSpPr/>
            <p:nvPr/>
          </p:nvSpPr>
          <p:spPr>
            <a:xfrm>
              <a:off x="5598450" y="2351450"/>
              <a:ext cx="739850" cy="965450"/>
            </a:xfrm>
            <a:custGeom>
              <a:rect b="b" l="l" r="r" t="t"/>
              <a:pathLst>
                <a:path extrusionOk="0" h="38618" w="29594">
                  <a:moveTo>
                    <a:pt x="0" y="0"/>
                  </a:moveTo>
                  <a:lnTo>
                    <a:pt x="0" y="38618"/>
                  </a:lnTo>
                  <a:lnTo>
                    <a:pt x="29594" y="38618"/>
                  </a:lnTo>
                  <a:lnTo>
                    <a:pt x="29594" y="31358"/>
                  </a:lnTo>
                  <a:lnTo>
                    <a:pt x="8722" y="31358"/>
                  </a:lnTo>
                  <a:lnTo>
                    <a:pt x="8722" y="22535"/>
                  </a:lnTo>
                  <a:lnTo>
                    <a:pt x="26770" y="22535"/>
                  </a:lnTo>
                  <a:lnTo>
                    <a:pt x="26770" y="15326"/>
                  </a:lnTo>
                  <a:lnTo>
                    <a:pt x="8722" y="15326"/>
                  </a:lnTo>
                  <a:lnTo>
                    <a:pt x="8722" y="7260"/>
                  </a:lnTo>
                  <a:lnTo>
                    <a:pt x="29241" y="7260"/>
                  </a:lnTo>
                  <a:lnTo>
                    <a:pt x="292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5" name="Google Shape;65;p7"/>
            <p:cNvSpPr/>
            <p:nvPr/>
          </p:nvSpPr>
          <p:spPr>
            <a:xfrm>
              <a:off x="6492050" y="2351450"/>
              <a:ext cx="888575" cy="965450"/>
            </a:xfrm>
            <a:custGeom>
              <a:rect b="b" l="l" r="r" t="t"/>
              <a:pathLst>
                <a:path extrusionOk="0" h="38618" w="35543">
                  <a:moveTo>
                    <a:pt x="14368" y="7361"/>
                  </a:moveTo>
                  <a:cubicBezTo>
                    <a:pt x="18200" y="7361"/>
                    <a:pt x="21225" y="8470"/>
                    <a:pt x="23494" y="10587"/>
                  </a:cubicBezTo>
                  <a:cubicBezTo>
                    <a:pt x="25762" y="12755"/>
                    <a:pt x="26871" y="15679"/>
                    <a:pt x="26871" y="19309"/>
                  </a:cubicBezTo>
                  <a:cubicBezTo>
                    <a:pt x="26871" y="22989"/>
                    <a:pt x="25762" y="25812"/>
                    <a:pt x="23494" y="27980"/>
                  </a:cubicBezTo>
                  <a:cubicBezTo>
                    <a:pt x="21225" y="30198"/>
                    <a:pt x="18200" y="31307"/>
                    <a:pt x="14368" y="31307"/>
                  </a:cubicBezTo>
                  <a:lnTo>
                    <a:pt x="8571" y="31307"/>
                  </a:lnTo>
                  <a:lnTo>
                    <a:pt x="8571" y="7361"/>
                  </a:lnTo>
                  <a:close/>
                  <a:moveTo>
                    <a:pt x="0" y="0"/>
                  </a:moveTo>
                  <a:lnTo>
                    <a:pt x="0" y="38618"/>
                  </a:lnTo>
                  <a:lnTo>
                    <a:pt x="15528" y="38618"/>
                  </a:lnTo>
                  <a:cubicBezTo>
                    <a:pt x="21326" y="38618"/>
                    <a:pt x="26165" y="36853"/>
                    <a:pt x="29896" y="33223"/>
                  </a:cubicBezTo>
                  <a:cubicBezTo>
                    <a:pt x="33627" y="29593"/>
                    <a:pt x="35543" y="25006"/>
                    <a:pt x="35543" y="19309"/>
                  </a:cubicBezTo>
                  <a:cubicBezTo>
                    <a:pt x="35543" y="13662"/>
                    <a:pt x="33677" y="9075"/>
                    <a:pt x="29947" y="5445"/>
                  </a:cubicBezTo>
                  <a:cubicBezTo>
                    <a:pt x="26216" y="1815"/>
                    <a:pt x="21376" y="0"/>
                    <a:pt x="15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</p:grpSp>
      <p:sp>
        <p:nvSpPr>
          <p:cNvPr id="66" name="Google Shape;66;p7"/>
          <p:cNvSpPr txBox="1"/>
          <p:nvPr/>
        </p:nvSpPr>
        <p:spPr>
          <a:xfrm>
            <a:off x="243480" y="6527857"/>
            <a:ext cx="9801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1F17F"/>
                </a:solidFill>
                <a:latin typeface="IBM Plex Sans"/>
                <a:ea typeface="IBM Plex Sans"/>
                <a:cs typeface="IBM Plex Sans"/>
                <a:sym typeface="IBM Plex Sans"/>
              </a:rPr>
              <a:t>[PUBLIC]</a:t>
            </a:r>
            <a:endParaRPr b="1" sz="800">
              <a:solidFill>
                <a:srgbClr val="11F17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">
  <p:cSld name="BLANK_1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/>
          <p:nvPr>
            <p:ph type="title"/>
          </p:nvPr>
        </p:nvSpPr>
        <p:spPr>
          <a:xfrm>
            <a:off x="232770" y="509987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88066" y="190563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ft Blue Header + White">
  <p:cSld name="BLANK_1_3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75" name="Google Shape;75;p9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Image - Soft Blue Header + White">
  <p:cSld name="CUSTOM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0" name="Google Shape;80;p10"/>
          <p:cNvSpPr/>
          <p:nvPr>
            <p:ph idx="2" type="pic"/>
          </p:nvPr>
        </p:nvSpPr>
        <p:spPr>
          <a:xfrm>
            <a:off x="6276000" y="2406000"/>
            <a:ext cx="5556000" cy="40920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82" name="Google Shape;82;p10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Image - Soft Blue ">
  <p:cSld name="CUSTOM_2_1">
    <p:bg>
      <p:bgPr>
        <a:solidFill>
          <a:srgbClr val="CFD8FF">
            <a:alpha val="25000"/>
          </a:srgbClr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>
            <p:ph idx="2" type="pic"/>
          </p:nvPr>
        </p:nvSpPr>
        <p:spPr>
          <a:xfrm>
            <a:off x="6276000" y="2406000"/>
            <a:ext cx="5556000" cy="40920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88" name="Google Shape;88;p11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89" name="Google Shape;89;p11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1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- Soft Blue Header + White">
  <p:cSld name="CUSTOM_2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3" name="Google Shape;93;p12"/>
          <p:cNvSpPr/>
          <p:nvPr>
            <p:ph idx="2" type="pic"/>
          </p:nvPr>
        </p:nvSpPr>
        <p:spPr>
          <a:xfrm>
            <a:off x="360000" y="1611600"/>
            <a:ext cx="11472300" cy="48864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95" name="Google Shape;95;p12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96" name="Google Shape;96;p12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2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71">
          <p15:clr>
            <a:srgbClr val="E46962"/>
          </p15:clr>
        </p15:guide>
        <p15:guide id="2" orient="horz" pos="1096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29025" y="1710975"/>
            <a:ext cx="3389400" cy="3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643050" y="1658050"/>
            <a:ext cx="3389400" cy="3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243480" y="6527857"/>
            <a:ext cx="9801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1F17F"/>
                </a:solidFill>
                <a:latin typeface="IBM Plex Sans"/>
                <a:ea typeface="IBM Plex Sans"/>
                <a:cs typeface="IBM Plex Sans"/>
                <a:sym typeface="IBM Plex Sans"/>
              </a:rPr>
              <a:t>[PUBLIC]</a:t>
            </a:r>
            <a:endParaRPr b="1" sz="800">
              <a:solidFill>
                <a:srgbClr val="11F17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27">
          <p15:clr>
            <a:schemeClr val="accent2"/>
          </p15:clr>
        </p15:guide>
        <p15:guide id="2" pos="7453">
          <p15:clr>
            <a:schemeClr val="accent2"/>
          </p15:clr>
        </p15:guide>
        <p15:guide id="3" orient="horz" pos="227">
          <p15:clr>
            <a:schemeClr val="accent2"/>
          </p15:clr>
        </p15:guide>
        <p15:guide id="4" pos="1242">
          <p15:clr>
            <a:srgbClr val="9900FF"/>
          </p15:clr>
        </p15:guide>
        <p15:guide id="5" pos="1469">
          <p15:clr>
            <a:srgbClr val="9900FF"/>
          </p15:clr>
        </p15:guide>
        <p15:guide id="6" pos="2484">
          <p15:clr>
            <a:srgbClr val="9900FF"/>
          </p15:clr>
        </p15:guide>
        <p15:guide id="7" pos="2711">
          <p15:clr>
            <a:srgbClr val="9900FF"/>
          </p15:clr>
        </p15:guide>
        <p15:guide id="8" pos="3727">
          <p15:clr>
            <a:srgbClr val="9900FF"/>
          </p15:clr>
        </p15:guide>
        <p15:guide id="9" pos="3953">
          <p15:clr>
            <a:srgbClr val="9900FF"/>
          </p15:clr>
        </p15:guide>
        <p15:guide id="10" pos="4969">
          <p15:clr>
            <a:srgbClr val="9900FF"/>
          </p15:clr>
        </p15:guide>
        <p15:guide id="11" pos="5196">
          <p15:clr>
            <a:srgbClr val="9900FF"/>
          </p15:clr>
        </p15:guide>
        <p15:guide id="12" pos="6211">
          <p15:clr>
            <a:srgbClr val="9900FF"/>
          </p15:clr>
        </p15:guide>
        <p15:guide id="13" pos="6438">
          <p15:clr>
            <a:srgbClr val="9900FF"/>
          </p15:clr>
        </p15:guide>
        <p15:guide id="14" pos="3840">
          <p15:clr>
            <a:srgbClr val="00FF00"/>
          </p15:clr>
        </p15:guide>
        <p15:guide id="15" orient="horz" pos="420">
          <p15:clr>
            <a:srgbClr val="E46962"/>
          </p15:clr>
        </p15:guide>
        <p15:guide id="16" orient="horz" pos="4093">
          <p15:clr>
            <a:schemeClr val="accent2"/>
          </p15:clr>
        </p15:guide>
        <p15:guide id="17" orient="horz" pos="417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Relationship Id="rId4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atalogues.ema.europa.eu" TargetMode="External"/><Relationship Id="rId4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173525" y="875775"/>
            <a:ext cx="11078700" cy="4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[01]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</a:t>
            </a:r>
            <a:br>
              <a:rPr lang="en"/>
            </a:br>
            <a:r>
              <a:rPr b="1" lang="en"/>
              <a:t>Real World Evidence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type="title"/>
          </p:nvPr>
        </p:nvSpPr>
        <p:spPr>
          <a:xfrm>
            <a:off x="162175" y="861898"/>
            <a:ext cx="9500100" cy="3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[01.1]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Clinical Research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/>
          <p:nvPr/>
        </p:nvSpPr>
        <p:spPr>
          <a:xfrm>
            <a:off x="0" y="0"/>
            <a:ext cx="4517700" cy="68736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7" name="Google Shape;117;p16"/>
          <p:cNvSpPr txBox="1"/>
          <p:nvPr>
            <p:ph idx="4294967295" type="body"/>
          </p:nvPr>
        </p:nvSpPr>
        <p:spPr>
          <a:xfrm>
            <a:off x="5373150" y="884725"/>
            <a:ext cx="63696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Research</a:t>
            </a:r>
            <a:endParaRPr sz="20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18" name="Google Shape;118;p16"/>
          <p:cNvSpPr txBox="1"/>
          <p:nvPr>
            <p:ph idx="4294967295" type="body"/>
          </p:nvPr>
        </p:nvSpPr>
        <p:spPr>
          <a:xfrm>
            <a:off x="5373150" y="1352714"/>
            <a:ext cx="63696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</a:rPr>
              <a:t>Creative and systematic work undertaken to increase the stock of knowledge.</a:t>
            </a:r>
            <a:endParaRPr sz="2000">
              <a:solidFill>
                <a:srgbClr val="040F40"/>
              </a:solidFill>
            </a:endParaRPr>
          </a:p>
        </p:txBody>
      </p:sp>
      <p:sp>
        <p:nvSpPr>
          <p:cNvPr id="119" name="Google Shape;119;p16"/>
          <p:cNvSpPr txBox="1"/>
          <p:nvPr>
            <p:ph type="title"/>
          </p:nvPr>
        </p:nvSpPr>
        <p:spPr>
          <a:xfrm>
            <a:off x="232775" y="1836350"/>
            <a:ext cx="3815100" cy="26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Evidence Based </a:t>
            </a:r>
            <a:r>
              <a:rPr b="1" lang="en" sz="6000"/>
              <a:t>Medicine</a:t>
            </a:r>
            <a:endParaRPr b="1" sz="6000">
              <a:solidFill>
                <a:schemeClr val="dk1"/>
              </a:solidFill>
            </a:endParaRPr>
          </a:p>
        </p:txBody>
      </p:sp>
      <p:sp>
        <p:nvSpPr>
          <p:cNvPr id="120" name="Google Shape;120;p16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21" name="Google Shape;121;p16"/>
          <p:cNvSpPr txBox="1"/>
          <p:nvPr>
            <p:ph idx="4294967295" type="body"/>
          </p:nvPr>
        </p:nvSpPr>
        <p:spPr>
          <a:xfrm>
            <a:off x="5373150" y="2426044"/>
            <a:ext cx="63696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Clinical </a:t>
            </a:r>
            <a:r>
              <a:rPr lang="en" sz="2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Research</a:t>
            </a:r>
            <a:endParaRPr sz="20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2" name="Google Shape;122;p16"/>
          <p:cNvSpPr txBox="1"/>
          <p:nvPr>
            <p:ph idx="4294967295" type="body"/>
          </p:nvPr>
        </p:nvSpPr>
        <p:spPr>
          <a:xfrm>
            <a:off x="5373150" y="2894015"/>
            <a:ext cx="6369600" cy="14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</a:rPr>
              <a:t>Clinical research encompasses various research methodologies used to </a:t>
            </a:r>
            <a:r>
              <a:rPr b="1" lang="en" sz="2000">
                <a:solidFill>
                  <a:schemeClr val="lt1"/>
                </a:solidFill>
                <a:highlight>
                  <a:schemeClr val="dk1"/>
                </a:highlight>
              </a:rPr>
              <a:t>generate valid evidence</a:t>
            </a:r>
            <a:r>
              <a:rPr b="1" lang="en" sz="2000">
                <a:solidFill>
                  <a:srgbClr val="040F40"/>
                </a:solidFill>
              </a:rPr>
              <a:t> </a:t>
            </a:r>
            <a:r>
              <a:rPr lang="en" sz="2000">
                <a:solidFill>
                  <a:srgbClr val="040F40"/>
                </a:solidFill>
              </a:rPr>
              <a:t>for evaluating treatment efficacy and making informed decisions.</a:t>
            </a:r>
            <a:endParaRPr sz="2000">
              <a:solidFill>
                <a:srgbClr val="040F40"/>
              </a:solidFill>
            </a:endParaRPr>
          </a:p>
        </p:txBody>
      </p:sp>
      <p:sp>
        <p:nvSpPr>
          <p:cNvPr id="123" name="Google Shape;123;p16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  <p:sp>
        <p:nvSpPr>
          <p:cNvPr id="124" name="Google Shape;124;p16"/>
          <p:cNvSpPr txBox="1"/>
          <p:nvPr>
            <p:ph idx="4294967295" type="body"/>
          </p:nvPr>
        </p:nvSpPr>
        <p:spPr>
          <a:xfrm>
            <a:off x="5373150" y="4462028"/>
            <a:ext cx="63696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Evidence Based Medicine</a:t>
            </a:r>
            <a:endParaRPr sz="20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5" name="Google Shape;125;p16"/>
          <p:cNvSpPr txBox="1"/>
          <p:nvPr>
            <p:ph idx="4294967295" type="body"/>
          </p:nvPr>
        </p:nvSpPr>
        <p:spPr>
          <a:xfrm>
            <a:off x="5373150" y="4929999"/>
            <a:ext cx="6369600" cy="14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</a:rPr>
              <a:t>The </a:t>
            </a:r>
            <a:r>
              <a:rPr b="1" lang="en" sz="2000">
                <a:solidFill>
                  <a:schemeClr val="lt1"/>
                </a:solidFill>
                <a:highlight>
                  <a:schemeClr val="accent1"/>
                </a:highlight>
              </a:rPr>
              <a:t>clinical practice</a:t>
            </a:r>
            <a:r>
              <a:rPr lang="en" sz="2000">
                <a:solidFill>
                  <a:srgbClr val="040F40"/>
                </a:solidFill>
              </a:rPr>
              <a:t> where interventions and procedures are based on pure medical evidence extracted from hospital systems.</a:t>
            </a:r>
            <a:endParaRPr sz="2000">
              <a:solidFill>
                <a:srgbClr val="040F4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/>
          <p:nvPr/>
        </p:nvSpPr>
        <p:spPr>
          <a:xfrm>
            <a:off x="0" y="0"/>
            <a:ext cx="5561700" cy="68736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1" name="Google Shape;131;p17"/>
          <p:cNvSpPr txBox="1"/>
          <p:nvPr>
            <p:ph type="title"/>
          </p:nvPr>
        </p:nvSpPr>
        <p:spPr>
          <a:xfrm>
            <a:off x="260098" y="813350"/>
            <a:ext cx="5037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Research </a:t>
            </a:r>
            <a:r>
              <a:rPr b="1" lang="en" sz="3000"/>
              <a:t>methodologies</a:t>
            </a:r>
            <a:endParaRPr b="1" sz="3000"/>
          </a:p>
        </p:txBody>
      </p:sp>
      <p:sp>
        <p:nvSpPr>
          <p:cNvPr id="132" name="Google Shape;132;p17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260100" y="1828800"/>
            <a:ext cx="48324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evidence from </a:t>
            </a:r>
            <a:r>
              <a:rPr b="1" lang="en" sz="2000">
                <a:solidFill>
                  <a:schemeClr val="lt1"/>
                </a:solidFill>
                <a:highlight>
                  <a:schemeClr val="accent2"/>
                </a:highlight>
                <a:latin typeface="IBM Plex Sans"/>
                <a:ea typeface="IBM Plex Sans"/>
                <a:cs typeface="IBM Plex Sans"/>
                <a:sym typeface="IBM Plex Sans"/>
              </a:rPr>
              <a:t>experimental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studies, is generally considered stronger due to the use of randomization, which effectively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minimizes confounding factors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, resulting in more valid and reliable conclusions. </a:t>
            </a:r>
            <a:b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b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 contrast, </a:t>
            </a:r>
            <a:r>
              <a:rPr b="1" lang="en" sz="2000">
                <a:solidFill>
                  <a:schemeClr val="lt1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observational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studies are primarily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suitable for generating hypotheses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rather than conclusively evaluating a treatment's efficacy.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34" name="Google Shape;134;p17" title="gr1_lr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0" y="425993"/>
            <a:ext cx="4832495" cy="602161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/>
          <p:nvPr/>
        </p:nvSpPr>
        <p:spPr>
          <a:xfrm rot="10800000">
            <a:off x="10931400" y="1467600"/>
            <a:ext cx="442200" cy="361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F3BFE"/>
          </a:solidFill>
          <a:ln cap="flat" cmpd="sng" w="9525">
            <a:solidFill>
              <a:srgbClr val="0F3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239959" y="6226700"/>
            <a:ext cx="483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Grimes D, Schulz K. An overview of clinical research: the lay of the land. The Lancet, 359, 57-61</a:t>
            </a:r>
            <a:endParaRPr sz="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7" name="Google Shape;137;p17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>
            <p:ph type="title"/>
          </p:nvPr>
        </p:nvSpPr>
        <p:spPr>
          <a:xfrm>
            <a:off x="260100" y="813350"/>
            <a:ext cx="62214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Evidence generation </a:t>
            </a:r>
            <a:r>
              <a:rPr b="1" lang="en" sz="3000"/>
              <a:t>pathway</a:t>
            </a:r>
            <a:r>
              <a:rPr lang="en" sz="3000"/>
              <a:t>, from hypothesis to clinical practice</a:t>
            </a:r>
            <a:endParaRPr b="1" sz="3000"/>
          </a:p>
        </p:txBody>
      </p:sp>
      <p:sp>
        <p:nvSpPr>
          <p:cNvPr id="143" name="Google Shape;143;p18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44" name="Google Shape;144;p18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  <p:grpSp>
        <p:nvGrpSpPr>
          <p:cNvPr id="145" name="Google Shape;145;p18"/>
          <p:cNvGrpSpPr/>
          <p:nvPr/>
        </p:nvGrpSpPr>
        <p:grpSpPr>
          <a:xfrm>
            <a:off x="193088" y="1904942"/>
            <a:ext cx="11805834" cy="4227159"/>
            <a:chOff x="0" y="1514988"/>
            <a:chExt cx="9144012" cy="3274075"/>
          </a:xfrm>
        </p:grpSpPr>
        <p:grpSp>
          <p:nvGrpSpPr>
            <p:cNvPr id="146" name="Google Shape;146;p18"/>
            <p:cNvGrpSpPr/>
            <p:nvPr/>
          </p:nvGrpSpPr>
          <p:grpSpPr>
            <a:xfrm>
              <a:off x="0" y="1514988"/>
              <a:ext cx="9144012" cy="3274075"/>
              <a:chOff x="34912" y="1137388"/>
              <a:chExt cx="9144012" cy="3274075"/>
            </a:xfrm>
          </p:grpSpPr>
          <p:pic>
            <p:nvPicPr>
              <p:cNvPr descr="Stages of clinical trials - Phases of clinical trials Phase 1 through 4 - starting from laboratory and moving to studies involving larger numbers of people " id="147" name="Google Shape;147;p1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272275" y="1818151"/>
                <a:ext cx="5906650" cy="2178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" name="Google Shape;148;p18"/>
              <p:cNvSpPr/>
              <p:nvPr/>
            </p:nvSpPr>
            <p:spPr>
              <a:xfrm flipH="1" rot="1239924">
                <a:off x="3899573" y="3294349"/>
                <a:ext cx="2152391" cy="761799"/>
              </a:xfrm>
              <a:prstGeom prst="rtTriangle">
                <a:avLst/>
              </a:prstGeom>
              <a:solidFill>
                <a:srgbClr val="FFFFFF"/>
              </a:solidFill>
              <a:ln cap="flat" cmpd="sng" w="123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8025" lIns="118025" spcFirstLastPara="1" rIns="118025" wrap="square" tIns="1180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Preclinical and clinical studies - WUR" id="149" name="Google Shape;149;p18"/>
              <p:cNvPicPr preferRelativeResize="0"/>
              <p:nvPr/>
            </p:nvPicPr>
            <p:blipFill rotWithShape="1">
              <a:blip r:embed="rId4">
                <a:alphaModFix/>
              </a:blip>
              <a:srcRect b="27850" l="8688" r="30041" t="8492"/>
              <a:stretch/>
            </p:blipFill>
            <p:spPr>
              <a:xfrm>
                <a:off x="34912" y="1137388"/>
                <a:ext cx="4458651" cy="3274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0" name="Google Shape;150;p18"/>
            <p:cNvSpPr/>
            <p:nvPr/>
          </p:nvSpPr>
          <p:spPr>
            <a:xfrm>
              <a:off x="4572000" y="1595450"/>
              <a:ext cx="4459500" cy="6429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18025" lIns="118025" spcFirstLastPara="1" rIns="118025" wrap="square" tIns="118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62"/>
                <a:t>Clinical phase</a:t>
              </a:r>
              <a:endParaRPr sz="1162"/>
            </a:p>
          </p:txBody>
        </p:sp>
      </p:grpSp>
      <p:sp>
        <p:nvSpPr>
          <p:cNvPr id="151" name="Google Shape;151;p18"/>
          <p:cNvSpPr/>
          <p:nvPr/>
        </p:nvSpPr>
        <p:spPr>
          <a:xfrm>
            <a:off x="2461456" y="5762352"/>
            <a:ext cx="7404900" cy="361800"/>
          </a:xfrm>
          <a:prstGeom prst="roundRect">
            <a:avLst>
              <a:gd fmla="val 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118025" lIns="118025" spcFirstLastPara="1" rIns="118025" wrap="square" tIns="118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20"/>
              <a:t>Controlled environment → Reduce confusion factors</a:t>
            </a:r>
            <a:endParaRPr b="1" sz="1420"/>
          </a:p>
        </p:txBody>
      </p:sp>
      <p:sp>
        <p:nvSpPr>
          <p:cNvPr id="152" name="Google Shape;152;p18"/>
          <p:cNvSpPr/>
          <p:nvPr/>
        </p:nvSpPr>
        <p:spPr>
          <a:xfrm>
            <a:off x="9965239" y="5762352"/>
            <a:ext cx="1923000" cy="361800"/>
          </a:xfrm>
          <a:prstGeom prst="roundRect">
            <a:avLst>
              <a:gd fmla="val 0" name="adj"/>
            </a:avLst>
          </a:prstGeom>
          <a:solidFill>
            <a:srgbClr val="B7B7B7"/>
          </a:solidFill>
          <a:ln>
            <a:noFill/>
          </a:ln>
        </p:spPr>
        <p:txBody>
          <a:bodyPr anchorCtr="0" anchor="ctr" bIns="118025" lIns="118025" spcFirstLastPara="1" rIns="118025" wrap="square" tIns="118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20"/>
              <a:t>Real World</a:t>
            </a:r>
            <a:endParaRPr b="1" sz="1420"/>
          </a:p>
        </p:txBody>
      </p:sp>
      <p:sp>
        <p:nvSpPr>
          <p:cNvPr id="153" name="Google Shape;153;p18"/>
          <p:cNvSpPr txBox="1"/>
          <p:nvPr/>
        </p:nvSpPr>
        <p:spPr>
          <a:xfrm>
            <a:off x="6064575" y="3120275"/>
            <a:ext cx="1107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highlight>
                  <a:srgbClr val="FFFFFF"/>
                </a:highlight>
              </a:rPr>
              <a:t>Safety and Dosage 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558450" y="3120275"/>
            <a:ext cx="110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highlight>
                  <a:srgbClr val="FFFFFF"/>
                </a:highlight>
              </a:rPr>
              <a:t>Effectiveness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9052325" y="3120275"/>
            <a:ext cx="1107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highlight>
                  <a:srgbClr val="FFFFFF"/>
                </a:highlight>
              </a:rPr>
              <a:t>Confirmatory Efficacy 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0546200" y="3120275"/>
            <a:ext cx="1107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highlight>
                  <a:srgbClr val="FFFFFF"/>
                </a:highlight>
              </a:rPr>
              <a:t>Post-Market Survillence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/>
          <p:nvPr/>
        </p:nvSpPr>
        <p:spPr>
          <a:xfrm>
            <a:off x="0" y="0"/>
            <a:ext cx="5037000" cy="68736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260100" y="1836350"/>
            <a:ext cx="45468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hierarchy of evidence ranks research methodologies by the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strength and reliability of their conclusions.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 all studies provide equally valid evidence.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It should prioritize the most robust evidence for evaluating treatment efficacy and making informed decisions.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3" name="Google Shape;163;p19"/>
          <p:cNvSpPr txBox="1"/>
          <p:nvPr>
            <p:ph type="title"/>
          </p:nvPr>
        </p:nvSpPr>
        <p:spPr>
          <a:xfrm>
            <a:off x="260098" y="813350"/>
            <a:ext cx="5037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Hierarchy of </a:t>
            </a:r>
            <a:r>
              <a:rPr b="1" lang="en" sz="3000"/>
              <a:t>evidence</a:t>
            </a:r>
            <a:endParaRPr b="1" sz="3000"/>
          </a:p>
        </p:txBody>
      </p:sp>
      <p:sp>
        <p:nvSpPr>
          <p:cNvPr id="164" name="Google Shape;164;p19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239950" y="5964625"/>
            <a:ext cx="463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Burns, Patricia B.; Rohrich, Rod J.; Chung, Kevin C. (July 2011). "The Levels of Evidence and Their Role in Evidence-Based Medicine". Plastic and Reconstructive Surgery. 128 (1): 305–310. doi:10.1097/PRS.0b013e318219c171. PMC 3124652. PMID 21701348.</a:t>
            </a:r>
            <a:endParaRPr sz="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6" name="Google Shape;166;p19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  <p:grpSp>
        <p:nvGrpSpPr>
          <p:cNvPr id="167" name="Google Shape;167;p19"/>
          <p:cNvGrpSpPr/>
          <p:nvPr/>
        </p:nvGrpSpPr>
        <p:grpSpPr>
          <a:xfrm>
            <a:off x="5176950" y="687950"/>
            <a:ext cx="6914499" cy="5674425"/>
            <a:chOff x="5176950" y="687950"/>
            <a:chExt cx="6914499" cy="5674425"/>
          </a:xfrm>
        </p:grpSpPr>
        <p:pic>
          <p:nvPicPr>
            <p:cNvPr descr="What Is the Hierarchy of Clinical Evidence? | SpringerLink" id="168" name="Google Shape;168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76950" y="687950"/>
              <a:ext cx="6914499" cy="5674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19"/>
            <p:cNvSpPr txBox="1"/>
            <p:nvPr/>
          </p:nvSpPr>
          <p:spPr>
            <a:xfrm>
              <a:off x="6780400" y="897675"/>
              <a:ext cx="1107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A0A0A"/>
                  </a:solidFill>
                  <a:highlight>
                    <a:srgbClr val="FFFFFF"/>
                  </a:highlight>
                </a:rPr>
                <a:t>Highest Quality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75" name="Google Shape;175;p20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  <p:grpSp>
        <p:nvGrpSpPr>
          <p:cNvPr id="176" name="Google Shape;176;p20"/>
          <p:cNvGrpSpPr/>
          <p:nvPr/>
        </p:nvGrpSpPr>
        <p:grpSpPr>
          <a:xfrm>
            <a:off x="2638750" y="591787"/>
            <a:ext cx="6914499" cy="5674425"/>
            <a:chOff x="5176950" y="687950"/>
            <a:chExt cx="6914499" cy="5674425"/>
          </a:xfrm>
        </p:grpSpPr>
        <p:pic>
          <p:nvPicPr>
            <p:cNvPr descr="What Is the Hierarchy of Clinical Evidence? | SpringerLink" id="177" name="Google Shape;177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76950" y="687950"/>
              <a:ext cx="6914499" cy="5674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20"/>
            <p:cNvSpPr txBox="1"/>
            <p:nvPr/>
          </p:nvSpPr>
          <p:spPr>
            <a:xfrm>
              <a:off x="6780400" y="897675"/>
              <a:ext cx="1107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A0A0A"/>
                  </a:solidFill>
                  <a:highlight>
                    <a:srgbClr val="FFFFFF"/>
                  </a:highlight>
                </a:rPr>
                <a:t>Highest Quality</a:t>
              </a:r>
              <a:endParaRPr/>
            </a:p>
          </p:txBody>
        </p:sp>
      </p:grpSp>
      <p:sp>
        <p:nvSpPr>
          <p:cNvPr id="179" name="Google Shape;179;p20"/>
          <p:cNvSpPr/>
          <p:nvPr/>
        </p:nvSpPr>
        <p:spPr>
          <a:xfrm>
            <a:off x="3148175" y="3541950"/>
            <a:ext cx="5120100" cy="1542000"/>
          </a:xfrm>
          <a:prstGeom prst="rect">
            <a:avLst/>
          </a:prstGeom>
          <a:noFill/>
          <a:ln cap="flat" cmpd="sng" w="152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260100" y="6279500"/>
            <a:ext cx="117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Burns, Patricia B.; Rohrich, Rod J.; Chung, Kevin C. (July 2011). "The Levels of Evidence and Their Role in Evidence-Based Medicine". Plastic and Reconstructive Surgery. 128 (1): 305–310. doi:10.1097/PRS.0b013e318219c171. PMC 3124652. PMID 21701348.</a:t>
            </a:r>
            <a:endParaRPr sz="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type="title"/>
          </p:nvPr>
        </p:nvSpPr>
        <p:spPr>
          <a:xfrm>
            <a:off x="162175" y="861898"/>
            <a:ext cx="9500100" cy="3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[01.2]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World </a:t>
            </a:r>
            <a:r>
              <a:rPr b="1" lang="en"/>
              <a:t>Evidence (RWE)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91" name="Google Shape;191;p22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260100" y="6321600"/>
            <a:ext cx="253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Prieto, Daniel. (July 2024). </a:t>
            </a:r>
            <a:b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"RWE, Why do we care". Oxford University</a:t>
            </a:r>
            <a:endParaRPr sz="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3" name="Google Shape;193;p22"/>
          <p:cNvSpPr txBox="1"/>
          <p:nvPr>
            <p:ph type="title"/>
          </p:nvPr>
        </p:nvSpPr>
        <p:spPr>
          <a:xfrm>
            <a:off x="260100" y="666875"/>
            <a:ext cx="77703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What is </a:t>
            </a:r>
            <a:r>
              <a:rPr b="1" lang="en" sz="3000"/>
              <a:t>Real World Evidence</a:t>
            </a:r>
            <a:r>
              <a:rPr b="1" lang="en" sz="3000"/>
              <a:t> ?</a:t>
            </a:r>
            <a:endParaRPr b="1" sz="3000"/>
          </a:p>
        </p:txBody>
      </p:sp>
      <p:sp>
        <p:nvSpPr>
          <p:cNvPr id="194" name="Google Shape;194;p22"/>
          <p:cNvSpPr txBox="1"/>
          <p:nvPr>
            <p:ph idx="4294967295" type="body"/>
          </p:nvPr>
        </p:nvSpPr>
        <p:spPr>
          <a:xfrm>
            <a:off x="1377325" y="2705100"/>
            <a:ext cx="8622000" cy="14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40F40"/>
                </a:solidFill>
              </a:rPr>
              <a:t>Real-World Evidence (RWE) is </a:t>
            </a:r>
            <a:r>
              <a:rPr b="1" lang="en" sz="2900">
                <a:solidFill>
                  <a:srgbClr val="040F40"/>
                </a:solidFill>
              </a:rPr>
              <a:t>clinical evidence </a:t>
            </a:r>
            <a:r>
              <a:rPr lang="en" sz="2900">
                <a:solidFill>
                  <a:srgbClr val="040F40"/>
                </a:solidFill>
              </a:rPr>
              <a:t>regarding the usage, safety, and effectiveness of medical products derived from analyzing </a:t>
            </a:r>
            <a:r>
              <a:rPr b="1" lang="en" sz="2900">
                <a:solidFill>
                  <a:srgbClr val="040F40"/>
                </a:solidFill>
              </a:rPr>
              <a:t>Real-World Data</a:t>
            </a:r>
            <a:r>
              <a:rPr lang="en" sz="2900">
                <a:solidFill>
                  <a:srgbClr val="040F40"/>
                </a:solidFill>
              </a:rPr>
              <a:t> (RWD).</a:t>
            </a:r>
            <a:endParaRPr sz="2900">
              <a:solidFill>
                <a:srgbClr val="040F4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00" name="Google Shape;200;p23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  <p:pic>
        <p:nvPicPr>
          <p:cNvPr id="201" name="Google Shape;201;p23" title="Screenshot 2026-04-27 at 06.54.16.png"/>
          <p:cNvPicPr preferRelativeResize="0"/>
          <p:nvPr/>
        </p:nvPicPr>
        <p:blipFill rotWithShape="1">
          <a:blip r:embed="rId3">
            <a:alphaModFix/>
          </a:blip>
          <a:srcRect b="4340" l="0" r="0" t="4677"/>
          <a:stretch/>
        </p:blipFill>
        <p:spPr>
          <a:xfrm>
            <a:off x="0" y="1465375"/>
            <a:ext cx="12054252" cy="539262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3"/>
          <p:cNvSpPr txBox="1"/>
          <p:nvPr/>
        </p:nvSpPr>
        <p:spPr>
          <a:xfrm>
            <a:off x="260100" y="6321600"/>
            <a:ext cx="253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Prieto</a:t>
            </a:r>
            <a: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, Daniel. (July 2024). </a:t>
            </a:r>
            <a:b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"RWE, Why do we care". Oxford University</a:t>
            </a:r>
            <a:endParaRPr sz="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3" name="Google Shape;203;p23"/>
          <p:cNvSpPr txBox="1"/>
          <p:nvPr>
            <p:ph type="title"/>
          </p:nvPr>
        </p:nvSpPr>
        <p:spPr>
          <a:xfrm>
            <a:off x="260100" y="666875"/>
            <a:ext cx="86145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Where / What is the </a:t>
            </a:r>
            <a:r>
              <a:rPr b="1" lang="en" sz="3000"/>
              <a:t>Real World Data (RWD) ?</a:t>
            </a:r>
            <a:endParaRPr b="1" sz="3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What</a:t>
            </a:r>
            <a:r>
              <a:rPr lang="en" sz="3000"/>
              <a:t> evidence can we generate using RWD ?</a:t>
            </a:r>
            <a:endParaRPr sz="3000"/>
          </a:p>
        </p:txBody>
      </p:sp>
      <p:sp>
        <p:nvSpPr>
          <p:cNvPr id="209" name="Google Shape;209;p24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10" name="Google Shape;210;p24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  <p:pic>
        <p:nvPicPr>
          <p:cNvPr id="211" name="Google Shape;211;p24" title="Screenshot 2026-04-27 at 07.17.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1263" y="1478637"/>
            <a:ext cx="8429476" cy="49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4"/>
          <p:cNvSpPr txBox="1"/>
          <p:nvPr/>
        </p:nvSpPr>
        <p:spPr>
          <a:xfrm>
            <a:off x="229908" y="6252589"/>
            <a:ext cx="253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Prieto, Daniel. (July 2024). </a:t>
            </a:r>
            <a:b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"RWE, Why do we care". Oxford University</a:t>
            </a:r>
            <a:endParaRPr sz="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Why</a:t>
            </a:r>
            <a:r>
              <a:rPr lang="en" sz="3000"/>
              <a:t> “Real World” Evidence?</a:t>
            </a:r>
            <a:endParaRPr sz="3000"/>
          </a:p>
        </p:txBody>
      </p:sp>
      <p:sp>
        <p:nvSpPr>
          <p:cNvPr id="218" name="Google Shape;218;p25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19" name="Google Shape;219;p25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  <p:sp>
        <p:nvSpPr>
          <p:cNvPr id="220" name="Google Shape;220;p25"/>
          <p:cNvSpPr txBox="1"/>
          <p:nvPr/>
        </p:nvSpPr>
        <p:spPr>
          <a:xfrm>
            <a:off x="229876" y="6310109"/>
            <a:ext cx="1149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Smith G C S, Pell J P. Parachute use to prevent death and major trauma related to gravitational challenge: systematic review of randomised controlled trials BMJ 2003; 327 :1459 doi:10.1136/bmj.327.7429.1459</a:t>
            </a:r>
            <a:endParaRPr sz="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1" name="Google Shape;221;p25"/>
          <p:cNvSpPr txBox="1"/>
          <p:nvPr>
            <p:ph idx="4294967295" type="body"/>
          </p:nvPr>
        </p:nvSpPr>
        <p:spPr>
          <a:xfrm>
            <a:off x="360000" y="1770375"/>
            <a:ext cx="63696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To overcome r</a:t>
            </a:r>
            <a:r>
              <a:rPr lang="en" sz="2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esearch methodology limitations</a:t>
            </a:r>
            <a:endParaRPr sz="20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22" name="Google Shape;222;p25"/>
          <p:cNvSpPr txBox="1"/>
          <p:nvPr>
            <p:ph idx="4294967295" type="body"/>
          </p:nvPr>
        </p:nvSpPr>
        <p:spPr>
          <a:xfrm>
            <a:off x="360000" y="2238400"/>
            <a:ext cx="5184000" cy="20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AutoNum type="arabicPeriod"/>
            </a:pPr>
            <a:r>
              <a:rPr b="1" lang="en" sz="2000">
                <a:solidFill>
                  <a:srgbClr val="040F40"/>
                </a:solidFill>
              </a:rPr>
              <a:t>RCTs are not always possible …</a:t>
            </a:r>
            <a:endParaRPr b="1" sz="2000">
              <a:solidFill>
                <a:srgbClr val="040F4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AutoNum type="arabicPeriod"/>
            </a:pPr>
            <a:r>
              <a:rPr lang="en" sz="2000">
                <a:solidFill>
                  <a:srgbClr val="040F40"/>
                </a:solidFill>
              </a:rPr>
              <a:t>R</a:t>
            </a:r>
            <a:r>
              <a:rPr lang="en" sz="2000">
                <a:solidFill>
                  <a:srgbClr val="040F40"/>
                </a:solidFill>
              </a:rPr>
              <a:t>apid replication thanks to data availability</a:t>
            </a:r>
            <a:endParaRPr sz="2000">
              <a:solidFill>
                <a:srgbClr val="040F4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AutoNum type="arabicPeriod"/>
            </a:pPr>
            <a:r>
              <a:rPr lang="en" sz="2000">
                <a:solidFill>
                  <a:srgbClr val="040F40"/>
                </a:solidFill>
              </a:rPr>
              <a:t>Generalizability</a:t>
            </a:r>
            <a:endParaRPr sz="2000">
              <a:solidFill>
                <a:srgbClr val="040F4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AutoNum type="arabicPeriod"/>
            </a:pPr>
            <a:r>
              <a:rPr lang="en" sz="2000">
                <a:solidFill>
                  <a:srgbClr val="040F40"/>
                </a:solidFill>
              </a:rPr>
              <a:t>Efficacy vs Effectiveness</a:t>
            </a:r>
            <a:endParaRPr sz="2000">
              <a:solidFill>
                <a:srgbClr val="040F4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AutoNum type="arabicPeriod"/>
            </a:pPr>
            <a:r>
              <a:rPr lang="en" sz="2000">
                <a:solidFill>
                  <a:srgbClr val="040F40"/>
                </a:solidFill>
              </a:rPr>
              <a:t>Safety</a:t>
            </a:r>
            <a:endParaRPr sz="2000">
              <a:solidFill>
                <a:srgbClr val="040F40"/>
              </a:solidFill>
            </a:endParaRPr>
          </a:p>
        </p:txBody>
      </p:sp>
      <p:pic>
        <p:nvPicPr>
          <p:cNvPr id="223" name="Google Shape;223;p25" title="Screenshot 2026-04-27 at 07.24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5271" y="666875"/>
            <a:ext cx="5447381" cy="569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6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29" name="Google Shape;229;p26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  <p:sp>
        <p:nvSpPr>
          <p:cNvPr id="230" name="Google Shape;230;p26"/>
          <p:cNvSpPr txBox="1"/>
          <p:nvPr>
            <p:ph idx="4294967295" type="body"/>
          </p:nvPr>
        </p:nvSpPr>
        <p:spPr>
          <a:xfrm>
            <a:off x="360000" y="1770375"/>
            <a:ext cx="63696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To overcome research methodology limitations</a:t>
            </a:r>
            <a:endParaRPr sz="20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31" name="Google Shape;231;p26"/>
          <p:cNvSpPr txBox="1"/>
          <p:nvPr>
            <p:ph idx="4294967295" type="body"/>
          </p:nvPr>
        </p:nvSpPr>
        <p:spPr>
          <a:xfrm>
            <a:off x="360000" y="2238400"/>
            <a:ext cx="5184000" cy="20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AutoNum type="arabicPeriod"/>
            </a:pPr>
            <a:r>
              <a:rPr lang="en" sz="2000">
                <a:solidFill>
                  <a:srgbClr val="040F40"/>
                </a:solidFill>
              </a:rPr>
              <a:t>RCTs are not always possible …</a:t>
            </a:r>
            <a:endParaRPr sz="2000">
              <a:solidFill>
                <a:srgbClr val="040F4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AutoNum type="arabicPeriod"/>
            </a:pPr>
            <a:r>
              <a:rPr b="1" lang="en" sz="2000">
                <a:solidFill>
                  <a:srgbClr val="040F40"/>
                </a:solidFill>
              </a:rPr>
              <a:t>Rapid replication thanks to data availability</a:t>
            </a:r>
            <a:endParaRPr b="1" sz="2000">
              <a:solidFill>
                <a:srgbClr val="040F4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AutoNum type="arabicPeriod"/>
            </a:pPr>
            <a:r>
              <a:rPr b="1" lang="en" sz="2000">
                <a:solidFill>
                  <a:srgbClr val="040F40"/>
                </a:solidFill>
              </a:rPr>
              <a:t>Generalizability</a:t>
            </a:r>
            <a:endParaRPr b="1" sz="2000">
              <a:solidFill>
                <a:srgbClr val="040F4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AutoNum type="arabicPeriod"/>
            </a:pPr>
            <a:r>
              <a:rPr lang="en" sz="2000">
                <a:solidFill>
                  <a:srgbClr val="040F40"/>
                </a:solidFill>
              </a:rPr>
              <a:t>Efficacy vs Effectiveness</a:t>
            </a:r>
            <a:endParaRPr sz="2000">
              <a:solidFill>
                <a:srgbClr val="040F4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AutoNum type="arabicPeriod"/>
            </a:pPr>
            <a:r>
              <a:rPr lang="en" sz="2000">
                <a:solidFill>
                  <a:srgbClr val="040F40"/>
                </a:solidFill>
              </a:rPr>
              <a:t>Safety</a:t>
            </a:r>
            <a:endParaRPr sz="2000">
              <a:solidFill>
                <a:srgbClr val="040F40"/>
              </a:solidFill>
            </a:endParaRPr>
          </a:p>
        </p:txBody>
      </p:sp>
      <p:pic>
        <p:nvPicPr>
          <p:cNvPr id="232" name="Google Shape;232;p26" title="gr1.jpg"/>
          <p:cNvPicPr preferRelativeResize="0"/>
          <p:nvPr/>
        </p:nvPicPr>
        <p:blipFill rotWithShape="1">
          <a:blip r:embed="rId3">
            <a:alphaModFix/>
          </a:blip>
          <a:srcRect b="189" l="774" r="0" t="199"/>
          <a:stretch/>
        </p:blipFill>
        <p:spPr>
          <a:xfrm>
            <a:off x="6096000" y="782000"/>
            <a:ext cx="5916001" cy="527770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6"/>
          <p:cNvSpPr txBox="1"/>
          <p:nvPr/>
        </p:nvSpPr>
        <p:spPr>
          <a:xfrm>
            <a:off x="229876" y="6310109"/>
            <a:ext cx="1149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Smith G C S, Pell J P. Parachute use to prevent death and major trauma related to gravitational challenge: systematic review of randomised controlled trials BMJ 2003; 327 :1459 doi:10.1136/bmj.327.7429.1459</a:t>
            </a:r>
            <a:endParaRPr sz="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4" name="Google Shape;234;p26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Why</a:t>
            </a:r>
            <a:r>
              <a:rPr lang="en" sz="3000"/>
              <a:t> “Real World” Evidence?</a:t>
            </a:r>
            <a:endParaRPr sz="3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40" name="Google Shape;240;p27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  <p:sp>
        <p:nvSpPr>
          <p:cNvPr id="241" name="Google Shape;241;p27"/>
          <p:cNvSpPr txBox="1"/>
          <p:nvPr/>
        </p:nvSpPr>
        <p:spPr>
          <a:xfrm>
            <a:off x="229872" y="6252600"/>
            <a:ext cx="11602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Cramer-van der Welle, C.M., Verschueren, M.V., Tonn, M. et al. Real-world outcomes versus clinical trial results of immunotherapy in stage IV non-small cell lung cancer (NSCLC) in the Netherlands. Sci Rep 11, 6306 (2021). https://doi.org/10.1038/s41598-021-85696-3</a:t>
            </a:r>
            <a:endParaRPr sz="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2" name="Google Shape;242;p27"/>
          <p:cNvSpPr txBox="1"/>
          <p:nvPr>
            <p:ph idx="4294967295" type="body"/>
          </p:nvPr>
        </p:nvSpPr>
        <p:spPr>
          <a:xfrm>
            <a:off x="360000" y="1770375"/>
            <a:ext cx="63696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To overcome research methodology limitations</a:t>
            </a:r>
            <a:endParaRPr sz="20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43" name="Google Shape;243;p27"/>
          <p:cNvSpPr txBox="1"/>
          <p:nvPr>
            <p:ph idx="4294967295" type="body"/>
          </p:nvPr>
        </p:nvSpPr>
        <p:spPr>
          <a:xfrm>
            <a:off x="360000" y="2238400"/>
            <a:ext cx="5184000" cy="20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AutoNum type="arabicPeriod"/>
            </a:pPr>
            <a:r>
              <a:rPr lang="en" sz="2000">
                <a:solidFill>
                  <a:srgbClr val="040F40"/>
                </a:solidFill>
              </a:rPr>
              <a:t>RCTs are not always possible …</a:t>
            </a:r>
            <a:endParaRPr sz="2000">
              <a:solidFill>
                <a:srgbClr val="040F4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AutoNum type="arabicPeriod"/>
            </a:pPr>
            <a:r>
              <a:rPr lang="en" sz="2000">
                <a:solidFill>
                  <a:srgbClr val="040F40"/>
                </a:solidFill>
              </a:rPr>
              <a:t>Rapid replication thanks to data availability</a:t>
            </a:r>
            <a:endParaRPr sz="2000">
              <a:solidFill>
                <a:srgbClr val="040F4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AutoNum type="arabicPeriod"/>
            </a:pPr>
            <a:r>
              <a:rPr lang="en" sz="2000">
                <a:solidFill>
                  <a:srgbClr val="040F40"/>
                </a:solidFill>
              </a:rPr>
              <a:t>Generalizability</a:t>
            </a:r>
            <a:endParaRPr sz="2000">
              <a:solidFill>
                <a:srgbClr val="040F4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AutoNum type="arabicPeriod"/>
            </a:pPr>
            <a:r>
              <a:rPr b="1" lang="en" sz="2000">
                <a:solidFill>
                  <a:srgbClr val="040F40"/>
                </a:solidFill>
              </a:rPr>
              <a:t>Efficacy (can it work?) vs Effectiveness (does it work?)</a:t>
            </a:r>
            <a:endParaRPr b="1" sz="2000">
              <a:solidFill>
                <a:srgbClr val="040F4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AutoNum type="arabicPeriod"/>
            </a:pPr>
            <a:r>
              <a:rPr lang="en" sz="2000">
                <a:solidFill>
                  <a:srgbClr val="040F40"/>
                </a:solidFill>
              </a:rPr>
              <a:t>Safety</a:t>
            </a:r>
            <a:endParaRPr sz="2000">
              <a:solidFill>
                <a:srgbClr val="040F40"/>
              </a:solidFill>
            </a:endParaRPr>
          </a:p>
        </p:txBody>
      </p:sp>
      <p:pic>
        <p:nvPicPr>
          <p:cNvPr id="244" name="Google Shape;244;p27" title="41598_2021_85696_Fig2_HTML.jpeg"/>
          <p:cNvPicPr preferRelativeResize="0"/>
          <p:nvPr/>
        </p:nvPicPr>
        <p:blipFill rotWithShape="1">
          <a:blip r:embed="rId3">
            <a:alphaModFix/>
          </a:blip>
          <a:srcRect b="0" l="49663" r="0" t="0"/>
          <a:stretch/>
        </p:blipFill>
        <p:spPr>
          <a:xfrm>
            <a:off x="6344785" y="942612"/>
            <a:ext cx="5407414" cy="497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7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Why</a:t>
            </a:r>
            <a:r>
              <a:rPr lang="en" sz="3000"/>
              <a:t> “Real World” Evidence?</a:t>
            </a:r>
            <a:endParaRPr sz="3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8" title="Screenshot 2026-04-27 at 23.02.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0798" y="973750"/>
            <a:ext cx="8851403" cy="5464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8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52" name="Google Shape;252;p28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  <p:sp>
        <p:nvSpPr>
          <p:cNvPr id="253" name="Google Shape;253;p28"/>
          <p:cNvSpPr txBox="1"/>
          <p:nvPr/>
        </p:nvSpPr>
        <p:spPr>
          <a:xfrm>
            <a:off x="229908" y="6252589"/>
            <a:ext cx="253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Prieto, Daniel. (July 2024). </a:t>
            </a:r>
            <a:b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"RWE, Why do we care". Oxford University</a:t>
            </a:r>
            <a:endParaRPr sz="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4" name="Google Shape;254;p28"/>
          <p:cNvSpPr txBox="1"/>
          <p:nvPr>
            <p:ph idx="4294967295" type="body"/>
          </p:nvPr>
        </p:nvSpPr>
        <p:spPr>
          <a:xfrm>
            <a:off x="360000" y="1770375"/>
            <a:ext cx="63696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To overcome research methodology limitations</a:t>
            </a:r>
            <a:endParaRPr sz="20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55" name="Google Shape;255;p28"/>
          <p:cNvSpPr txBox="1"/>
          <p:nvPr>
            <p:ph idx="4294967295" type="body"/>
          </p:nvPr>
        </p:nvSpPr>
        <p:spPr>
          <a:xfrm>
            <a:off x="360000" y="2238400"/>
            <a:ext cx="5184000" cy="20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AutoNum type="arabicPeriod"/>
            </a:pPr>
            <a:r>
              <a:rPr lang="en" sz="2000">
                <a:solidFill>
                  <a:srgbClr val="040F40"/>
                </a:solidFill>
              </a:rPr>
              <a:t>RCTs are not always possible …</a:t>
            </a:r>
            <a:endParaRPr sz="2000">
              <a:solidFill>
                <a:srgbClr val="040F4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AutoNum type="arabicPeriod"/>
            </a:pPr>
            <a:r>
              <a:rPr lang="en" sz="2000">
                <a:solidFill>
                  <a:srgbClr val="040F40"/>
                </a:solidFill>
              </a:rPr>
              <a:t>Rapid replication thanks to data availability</a:t>
            </a:r>
            <a:endParaRPr sz="2000">
              <a:solidFill>
                <a:srgbClr val="040F4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AutoNum type="arabicPeriod"/>
            </a:pPr>
            <a:r>
              <a:rPr lang="en" sz="2000">
                <a:solidFill>
                  <a:srgbClr val="040F40"/>
                </a:solidFill>
              </a:rPr>
              <a:t>Generalizability</a:t>
            </a:r>
            <a:endParaRPr sz="2000">
              <a:solidFill>
                <a:srgbClr val="040F4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AutoNum type="arabicPeriod"/>
            </a:pPr>
            <a:r>
              <a:rPr lang="en" sz="2000">
                <a:solidFill>
                  <a:srgbClr val="040F40"/>
                </a:solidFill>
              </a:rPr>
              <a:t>Efficacy vs Effectiveness</a:t>
            </a:r>
            <a:endParaRPr sz="2000">
              <a:solidFill>
                <a:srgbClr val="040F4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AutoNum type="arabicPeriod"/>
            </a:pPr>
            <a:r>
              <a:rPr b="1" lang="en" sz="2000">
                <a:solidFill>
                  <a:srgbClr val="040F40"/>
                </a:solidFill>
              </a:rPr>
              <a:t>Safety</a:t>
            </a:r>
            <a:endParaRPr b="1" sz="2000">
              <a:solidFill>
                <a:srgbClr val="040F40"/>
              </a:solidFill>
            </a:endParaRPr>
          </a:p>
        </p:txBody>
      </p:sp>
      <p:sp>
        <p:nvSpPr>
          <p:cNvPr id="256" name="Google Shape;256;p28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Why</a:t>
            </a:r>
            <a:r>
              <a:rPr lang="en" sz="3000"/>
              <a:t> “Real World” Evidence?</a:t>
            </a:r>
            <a:endParaRPr sz="3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Where in the </a:t>
            </a:r>
            <a:r>
              <a:rPr b="1" lang="en" sz="3000"/>
              <a:t>product </a:t>
            </a:r>
            <a:r>
              <a:rPr b="1" lang="en" sz="3000"/>
              <a:t>life cycle </a:t>
            </a:r>
            <a:r>
              <a:rPr b="1" lang="en" sz="3000"/>
              <a:t>of a treatment</a:t>
            </a:r>
            <a:r>
              <a:rPr lang="en" sz="3000"/>
              <a:t> is </a:t>
            </a:r>
            <a:r>
              <a:rPr lang="en" sz="3000"/>
              <a:t>RWE</a:t>
            </a:r>
            <a:r>
              <a:rPr lang="en" sz="3000"/>
              <a:t> useful ?</a:t>
            </a:r>
            <a:endParaRPr b="1" sz="3000"/>
          </a:p>
        </p:txBody>
      </p:sp>
      <p:sp>
        <p:nvSpPr>
          <p:cNvPr id="262" name="Google Shape;262;p29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63" name="Google Shape;263;p29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  <p:sp>
        <p:nvSpPr>
          <p:cNvPr id="264" name="Google Shape;264;p29"/>
          <p:cNvSpPr/>
          <p:nvPr/>
        </p:nvSpPr>
        <p:spPr>
          <a:xfrm>
            <a:off x="831825" y="2152494"/>
            <a:ext cx="10488600" cy="56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04350" lIns="104350" spcFirstLastPara="1" rIns="104350" wrap="square" tIns="104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8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5" name="Google Shape;265;p29"/>
          <p:cNvSpPr/>
          <p:nvPr/>
        </p:nvSpPr>
        <p:spPr>
          <a:xfrm>
            <a:off x="7841155" y="2716428"/>
            <a:ext cx="3479100" cy="3186000"/>
          </a:xfrm>
          <a:prstGeom prst="rect">
            <a:avLst/>
          </a:prstGeom>
          <a:solidFill>
            <a:srgbClr val="0F3BFE"/>
          </a:solidFill>
          <a:ln>
            <a:noFill/>
          </a:ln>
        </p:spPr>
        <p:txBody>
          <a:bodyPr anchorCtr="0" anchor="ctr" bIns="139150" lIns="139150" spcFirstLastPara="1" rIns="139150" wrap="square" tIns="139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9"/>
          <p:cNvSpPr/>
          <p:nvPr/>
        </p:nvSpPr>
        <p:spPr>
          <a:xfrm>
            <a:off x="7841155" y="1993093"/>
            <a:ext cx="3479100" cy="81900"/>
          </a:xfrm>
          <a:prstGeom prst="rect">
            <a:avLst/>
          </a:prstGeom>
          <a:solidFill>
            <a:srgbClr val="0F3BFE"/>
          </a:solidFill>
          <a:ln>
            <a:noFill/>
          </a:ln>
        </p:spPr>
        <p:txBody>
          <a:bodyPr anchorCtr="0" anchor="ctr" bIns="139150" lIns="139150" spcFirstLastPara="1" rIns="139150" wrap="square" tIns="139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8">
              <a:solidFill>
                <a:srgbClr val="3F62FE"/>
              </a:solidFill>
            </a:endParaRPr>
          </a:p>
        </p:txBody>
      </p:sp>
      <p:sp>
        <p:nvSpPr>
          <p:cNvPr id="267" name="Google Shape;267;p29"/>
          <p:cNvSpPr txBox="1"/>
          <p:nvPr/>
        </p:nvSpPr>
        <p:spPr>
          <a:xfrm>
            <a:off x="8145430" y="2152508"/>
            <a:ext cx="2857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9150" lIns="139150" spcFirstLastPara="1" rIns="139150" wrap="square" tIns="139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397"/>
              </a:spcAft>
              <a:buNone/>
            </a:pPr>
            <a:r>
              <a:rPr lang="en" sz="1484">
                <a:solidFill>
                  <a:srgbClr val="0F3BFE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Vigilence</a:t>
            </a:r>
            <a:endParaRPr sz="1484">
              <a:solidFill>
                <a:srgbClr val="0F3BFE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cxnSp>
        <p:nvCxnSpPr>
          <p:cNvPr id="268" name="Google Shape;268;p29"/>
          <p:cNvCxnSpPr/>
          <p:nvPr/>
        </p:nvCxnSpPr>
        <p:spPr>
          <a:xfrm>
            <a:off x="11320223" y="1993089"/>
            <a:ext cx="0" cy="3893100"/>
          </a:xfrm>
          <a:prstGeom prst="straightConnector1">
            <a:avLst/>
          </a:prstGeom>
          <a:noFill/>
          <a:ln cap="flat" cmpd="sng" w="9525">
            <a:solidFill>
              <a:srgbClr val="11F17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9" name="Google Shape;269;p29"/>
          <p:cNvSpPr/>
          <p:nvPr/>
        </p:nvSpPr>
        <p:spPr>
          <a:xfrm>
            <a:off x="4362001" y="2716428"/>
            <a:ext cx="3479100" cy="3186000"/>
          </a:xfrm>
          <a:prstGeom prst="rect">
            <a:avLst/>
          </a:prstGeom>
          <a:solidFill>
            <a:srgbClr val="0F3BFE"/>
          </a:solidFill>
          <a:ln>
            <a:noFill/>
          </a:ln>
        </p:spPr>
        <p:txBody>
          <a:bodyPr anchorCtr="0" anchor="ctr" bIns="139150" lIns="139150" spcFirstLastPara="1" rIns="139150" wrap="square" tIns="139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9"/>
          <p:cNvSpPr/>
          <p:nvPr/>
        </p:nvSpPr>
        <p:spPr>
          <a:xfrm>
            <a:off x="4362001" y="1993093"/>
            <a:ext cx="3479100" cy="81900"/>
          </a:xfrm>
          <a:prstGeom prst="rect">
            <a:avLst/>
          </a:prstGeom>
          <a:solidFill>
            <a:srgbClr val="0F3BFE"/>
          </a:solidFill>
          <a:ln>
            <a:noFill/>
          </a:ln>
        </p:spPr>
        <p:txBody>
          <a:bodyPr anchorCtr="0" anchor="ctr" bIns="139150" lIns="139150" spcFirstLastPara="1" rIns="139150" wrap="square" tIns="139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8"/>
          </a:p>
        </p:txBody>
      </p:sp>
      <p:sp>
        <p:nvSpPr>
          <p:cNvPr id="271" name="Google Shape;271;p29"/>
          <p:cNvSpPr txBox="1"/>
          <p:nvPr/>
        </p:nvSpPr>
        <p:spPr>
          <a:xfrm>
            <a:off x="4666277" y="2152507"/>
            <a:ext cx="28206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9150" lIns="139150" spcFirstLastPara="1" rIns="139150" wrap="square" tIns="139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397"/>
              </a:spcAft>
              <a:buNone/>
            </a:pPr>
            <a:r>
              <a:rPr lang="en" sz="1484">
                <a:solidFill>
                  <a:srgbClr val="0F3BFE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Product Development</a:t>
            </a:r>
            <a:endParaRPr sz="1484">
              <a:solidFill>
                <a:srgbClr val="0F3BFE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cxnSp>
        <p:nvCxnSpPr>
          <p:cNvPr id="272" name="Google Shape;272;p29"/>
          <p:cNvCxnSpPr/>
          <p:nvPr/>
        </p:nvCxnSpPr>
        <p:spPr>
          <a:xfrm>
            <a:off x="7841069" y="1993089"/>
            <a:ext cx="0" cy="3893100"/>
          </a:xfrm>
          <a:prstGeom prst="straightConnector1">
            <a:avLst/>
          </a:prstGeom>
          <a:noFill/>
          <a:ln cap="flat" cmpd="sng" w="9525">
            <a:solidFill>
              <a:srgbClr val="11F17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3" name="Google Shape;273;p29"/>
          <p:cNvSpPr/>
          <p:nvPr/>
        </p:nvSpPr>
        <p:spPr>
          <a:xfrm>
            <a:off x="882848" y="2716428"/>
            <a:ext cx="3479100" cy="3186000"/>
          </a:xfrm>
          <a:prstGeom prst="rect">
            <a:avLst/>
          </a:prstGeom>
          <a:solidFill>
            <a:srgbClr val="0F3BFE"/>
          </a:solidFill>
          <a:ln>
            <a:noFill/>
          </a:ln>
        </p:spPr>
        <p:txBody>
          <a:bodyPr anchorCtr="0" anchor="ctr" bIns="139150" lIns="139150" spcFirstLastPara="1" rIns="139150" wrap="square" tIns="139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9"/>
          <p:cNvSpPr/>
          <p:nvPr/>
        </p:nvSpPr>
        <p:spPr>
          <a:xfrm>
            <a:off x="882848" y="1993093"/>
            <a:ext cx="3479100" cy="81900"/>
          </a:xfrm>
          <a:prstGeom prst="rect">
            <a:avLst/>
          </a:prstGeom>
          <a:solidFill>
            <a:srgbClr val="0F3BFE"/>
          </a:solidFill>
          <a:ln>
            <a:noFill/>
          </a:ln>
        </p:spPr>
        <p:txBody>
          <a:bodyPr anchorCtr="0" anchor="ctr" bIns="139150" lIns="139150" spcFirstLastPara="1" rIns="139150" wrap="square" tIns="139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9"/>
          <p:cNvSpPr txBox="1"/>
          <p:nvPr/>
        </p:nvSpPr>
        <p:spPr>
          <a:xfrm>
            <a:off x="1187131" y="2152508"/>
            <a:ext cx="26100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9150" lIns="139150" spcFirstLastPara="1" rIns="139150" wrap="square" tIns="139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397"/>
              </a:spcAft>
              <a:buNone/>
            </a:pPr>
            <a:r>
              <a:rPr lang="en" sz="1484">
                <a:solidFill>
                  <a:srgbClr val="0F3BFE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Hypothesis generation</a:t>
            </a:r>
            <a:endParaRPr sz="1484">
              <a:solidFill>
                <a:srgbClr val="0F3BFE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76" name="Google Shape;276;p29"/>
          <p:cNvSpPr txBox="1"/>
          <p:nvPr/>
        </p:nvSpPr>
        <p:spPr>
          <a:xfrm>
            <a:off x="1212044" y="2821445"/>
            <a:ext cx="28206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9150" lIns="139150" spcFirstLastPara="1" rIns="139150" wrap="square" tIns="139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2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Development</a:t>
            </a:r>
            <a:endParaRPr b="1" sz="2625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7" name="Google Shape;277;p29"/>
          <p:cNvSpPr txBox="1"/>
          <p:nvPr/>
        </p:nvSpPr>
        <p:spPr>
          <a:xfrm>
            <a:off x="1212044" y="3522409"/>
            <a:ext cx="2820600" cy="18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9150" lIns="139150" spcFirstLastPara="1" rIns="139150" wrap="square" tIns="139150">
            <a:noAutofit/>
          </a:bodyPr>
          <a:lstStyle/>
          <a:p>
            <a:pPr indent="-384155" lvl="0" marL="52187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40"/>
              <a:buFont typeface="IBM Plex Sans"/>
              <a:buChar char="■"/>
            </a:pPr>
            <a:r>
              <a:rPr lang="en" sz="194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Natural history</a:t>
            </a:r>
            <a:endParaRPr sz="194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4155" lvl="0" marL="52187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40"/>
              <a:buFont typeface="IBM Plex Sans"/>
              <a:buChar char="■"/>
            </a:pPr>
            <a:r>
              <a:rPr lang="en" sz="194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Descriptive epidemiology</a:t>
            </a:r>
            <a:endParaRPr sz="194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4155" lvl="0" marL="52187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40"/>
              <a:buFont typeface="IBM Plex Sans"/>
              <a:buChar char="■"/>
            </a:pPr>
            <a:r>
              <a:rPr lang="en" sz="194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Cluster analyses</a:t>
            </a:r>
            <a:endParaRPr sz="194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4155" lvl="0" marL="52187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40"/>
              <a:buFont typeface="IBM Plex Sans"/>
              <a:buChar char="■"/>
            </a:pPr>
            <a:r>
              <a:rPr lang="en" sz="194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Current care</a:t>
            </a:r>
            <a:endParaRPr sz="194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78" name="Google Shape;278;p29"/>
          <p:cNvCxnSpPr/>
          <p:nvPr/>
        </p:nvCxnSpPr>
        <p:spPr>
          <a:xfrm>
            <a:off x="4361916" y="1993089"/>
            <a:ext cx="0" cy="3893100"/>
          </a:xfrm>
          <a:prstGeom prst="straightConnector1">
            <a:avLst/>
          </a:prstGeom>
          <a:noFill/>
          <a:ln cap="flat" cmpd="sng" w="9525">
            <a:solidFill>
              <a:srgbClr val="11F17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9" name="Google Shape;279;p29"/>
          <p:cNvSpPr txBox="1"/>
          <p:nvPr/>
        </p:nvSpPr>
        <p:spPr>
          <a:xfrm>
            <a:off x="3187462" y="5320235"/>
            <a:ext cx="12144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350" lIns="104350" spcFirstLastPara="1" rIns="104350" wrap="square" tIns="1043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82">
                <a:solidFill>
                  <a:srgbClr val="11F17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[01]</a:t>
            </a:r>
            <a:endParaRPr sz="3082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80" name="Google Shape;280;p29"/>
          <p:cNvSpPr txBox="1"/>
          <p:nvPr/>
        </p:nvSpPr>
        <p:spPr>
          <a:xfrm>
            <a:off x="6492881" y="5320235"/>
            <a:ext cx="14040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350" lIns="104350" spcFirstLastPara="1" rIns="104350" wrap="square" tIns="1043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82">
                <a:solidFill>
                  <a:srgbClr val="11F17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[02]</a:t>
            </a:r>
            <a:endParaRPr sz="3082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81" name="Google Shape;281;p29"/>
          <p:cNvSpPr txBox="1"/>
          <p:nvPr/>
        </p:nvSpPr>
        <p:spPr>
          <a:xfrm>
            <a:off x="10034186" y="5320235"/>
            <a:ext cx="13260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350" lIns="104350" spcFirstLastPara="1" rIns="104350" wrap="square" tIns="1043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82">
                <a:solidFill>
                  <a:srgbClr val="11F17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[03]</a:t>
            </a:r>
            <a:endParaRPr sz="3082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cxnSp>
        <p:nvCxnSpPr>
          <p:cNvPr id="282" name="Google Shape;282;p29"/>
          <p:cNvCxnSpPr/>
          <p:nvPr/>
        </p:nvCxnSpPr>
        <p:spPr>
          <a:xfrm>
            <a:off x="869636" y="1993089"/>
            <a:ext cx="0" cy="3893100"/>
          </a:xfrm>
          <a:prstGeom prst="straightConnector1">
            <a:avLst/>
          </a:prstGeom>
          <a:noFill/>
          <a:ln cap="flat" cmpd="sng" w="9525">
            <a:solidFill>
              <a:srgbClr val="11F17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3" name="Google Shape;283;p29"/>
          <p:cNvSpPr txBox="1"/>
          <p:nvPr/>
        </p:nvSpPr>
        <p:spPr>
          <a:xfrm>
            <a:off x="4665743" y="2821445"/>
            <a:ext cx="28206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9150" lIns="139150" spcFirstLastPara="1" rIns="139150" wrap="square" tIns="139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2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Clinical testing</a:t>
            </a:r>
            <a:endParaRPr b="1" sz="2625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84" name="Google Shape;284;p29"/>
          <p:cNvSpPr txBox="1"/>
          <p:nvPr/>
        </p:nvSpPr>
        <p:spPr>
          <a:xfrm>
            <a:off x="4665743" y="3522409"/>
            <a:ext cx="2820600" cy="18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9150" lIns="139150" spcFirstLastPara="1" rIns="139150" wrap="square" tIns="139150">
            <a:noAutofit/>
          </a:bodyPr>
          <a:lstStyle/>
          <a:p>
            <a:pPr indent="-384155" lvl="0" marL="52187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40"/>
              <a:buFont typeface="IBM Plex Sans"/>
              <a:buChar char="■"/>
            </a:pPr>
            <a:r>
              <a:rPr lang="en" sz="194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Trial feasibility</a:t>
            </a:r>
            <a:endParaRPr sz="194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4155" lvl="0" marL="52187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40"/>
              <a:buFont typeface="IBM Plex Sans"/>
              <a:buChar char="■"/>
            </a:pPr>
            <a:r>
              <a:rPr lang="en" sz="194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Synthetic arm</a:t>
            </a:r>
            <a:endParaRPr sz="194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4155" lvl="0" marL="52187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40"/>
              <a:buFont typeface="IBM Plex Sans"/>
              <a:buChar char="■"/>
            </a:pPr>
            <a:r>
              <a:rPr lang="en" sz="194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Pragmatic trials</a:t>
            </a:r>
            <a:endParaRPr sz="194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4155" lvl="0" marL="52187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40"/>
              <a:buFont typeface="IBM Plex Sans"/>
              <a:buChar char="■"/>
            </a:pPr>
            <a:r>
              <a:rPr lang="en" sz="194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Trial follow-up extension</a:t>
            </a:r>
            <a:endParaRPr sz="194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85" name="Google Shape;285;p29"/>
          <p:cNvSpPr txBox="1"/>
          <p:nvPr/>
        </p:nvSpPr>
        <p:spPr>
          <a:xfrm>
            <a:off x="8198216" y="2821445"/>
            <a:ext cx="28206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9150" lIns="139150" spcFirstLastPara="1" rIns="139150" wrap="square" tIns="139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2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Post-marketing</a:t>
            </a:r>
            <a:endParaRPr b="1" sz="2625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25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25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86" name="Google Shape;286;p29"/>
          <p:cNvSpPr txBox="1"/>
          <p:nvPr/>
        </p:nvSpPr>
        <p:spPr>
          <a:xfrm>
            <a:off x="8198216" y="3522409"/>
            <a:ext cx="2820600" cy="18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9150" lIns="139150" spcFirstLastPara="1" rIns="139150" wrap="square" tIns="139150">
            <a:noAutofit/>
          </a:bodyPr>
          <a:lstStyle/>
          <a:p>
            <a:pPr indent="-384155" lvl="0" marL="52187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40"/>
              <a:buFont typeface="IBM Plex Sans"/>
              <a:buChar char="■"/>
            </a:pPr>
            <a:r>
              <a:rPr lang="en" sz="194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Utilisation</a:t>
            </a:r>
            <a:endParaRPr sz="194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4155" lvl="0" marL="52187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40"/>
              <a:buFont typeface="IBM Plex Sans"/>
              <a:buChar char="■"/>
            </a:pPr>
            <a:r>
              <a:rPr lang="en" sz="194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Post-authorization safety</a:t>
            </a:r>
            <a:endParaRPr sz="194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4155" lvl="0" marL="52187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40"/>
              <a:buFont typeface="IBM Plex Sans"/>
              <a:buChar char="■"/>
            </a:pPr>
            <a:r>
              <a:rPr lang="en" sz="194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Comparative effectiveness</a:t>
            </a:r>
            <a:endParaRPr sz="194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0"/>
          <p:cNvSpPr txBox="1"/>
          <p:nvPr/>
        </p:nvSpPr>
        <p:spPr>
          <a:xfrm>
            <a:off x="1045425" y="1470946"/>
            <a:ext cx="10565700" cy="4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IBM Plex Sans"/>
              <a:buChar char="■"/>
            </a:pPr>
            <a:r>
              <a:rPr b="1" lang="en" sz="2000">
                <a:latin typeface="IBM Plex Sans"/>
                <a:ea typeface="IBM Plex Sans"/>
                <a:cs typeface="IBM Plex Sans"/>
                <a:sym typeface="IBM Plex Sans"/>
              </a:rPr>
              <a:t>Selection bias of the population</a:t>
            </a:r>
            <a:endParaRPr b="1" sz="2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Font typeface="IBM Plex Sans"/>
              <a:buChar char="●"/>
            </a:pPr>
            <a: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  <a:t>Minimization: multicentric, non-prefilter cohorts</a:t>
            </a:r>
            <a:endParaRPr b="1" sz="2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IBM Plex Sans"/>
              <a:buChar char="■"/>
            </a:pPr>
            <a:r>
              <a:rPr b="1" lang="en" sz="2000">
                <a:latin typeface="IBM Plex Sans"/>
                <a:ea typeface="IBM Plex Sans"/>
                <a:cs typeface="IBM Plex Sans"/>
                <a:sym typeface="IBM Plex Sans"/>
              </a:rPr>
              <a:t>Information bias:</a:t>
            </a:r>
            <a: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  <a:t> incorrectly recorded information, which could lead us to establish erroneous conclusions. Missing information, unrecorded variables. </a:t>
            </a:r>
            <a:endParaRPr sz="2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Font typeface="IBM Plex Sans"/>
              <a:buChar char="●"/>
            </a:pPr>
            <a: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  <a:t>Minimization: quality controls, imputation</a:t>
            </a:r>
            <a:endParaRPr sz="2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IBM Plex Sans"/>
              <a:buChar char="■"/>
            </a:pPr>
            <a:r>
              <a:rPr b="1" lang="en" sz="2000">
                <a:latin typeface="IBM Plex Sans"/>
                <a:ea typeface="IBM Plex Sans"/>
                <a:cs typeface="IBM Plex Sans"/>
                <a:sym typeface="IBM Plex Sans"/>
              </a:rPr>
              <a:t>Confounding bias:</a:t>
            </a:r>
            <a: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  <a:t> a confounding variable is a risk factor for the disease under study that is associated with the exposure of interest but is not part of the causal relationship between exposure and outcome. </a:t>
            </a:r>
            <a:endParaRPr sz="2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Font typeface="IBM Plex Sans"/>
              <a:buChar char="●"/>
            </a:pPr>
            <a: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  <a:t>Minimization: matching, adjustment for variables in regression models, negative control outcomes</a:t>
            </a:r>
            <a:endParaRPr sz="2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IBM Plex Sans"/>
              <a:buChar char="■"/>
            </a:pPr>
            <a:r>
              <a:rPr b="1" lang="en" sz="2000">
                <a:latin typeface="IBM Plex Sans"/>
                <a:ea typeface="IBM Plex Sans"/>
                <a:cs typeface="IBM Plex Sans"/>
                <a:sym typeface="IBM Plex Sans"/>
              </a:rPr>
              <a:t>Indication bias:</a:t>
            </a:r>
            <a: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  <a:t> exposure to a drug is not random, so the characteristics of the exposed and unexposed are not identical. </a:t>
            </a:r>
            <a:endParaRPr sz="2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1000"/>
              </a:spcAft>
              <a:buSzPts val="2000"/>
              <a:buFont typeface="IBM Plex Sans"/>
              <a:buChar char="●"/>
            </a:pPr>
            <a: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  <a:t>Minimization: large-scale propensity score matching</a:t>
            </a:r>
            <a:endParaRPr sz="20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92" name="Google Shape;292;p30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93" name="Google Shape;293;p30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  <p:sp>
        <p:nvSpPr>
          <p:cNvPr id="294" name="Google Shape;294;p30"/>
          <p:cNvSpPr txBox="1"/>
          <p:nvPr>
            <p:ph type="title"/>
          </p:nvPr>
        </p:nvSpPr>
        <p:spPr>
          <a:xfrm>
            <a:off x="260100" y="725617"/>
            <a:ext cx="11492100" cy="7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RWE limitations - Associated biases</a:t>
            </a:r>
            <a:endParaRPr b="1" sz="3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1"/>
          <p:cNvSpPr txBox="1"/>
          <p:nvPr/>
        </p:nvSpPr>
        <p:spPr>
          <a:xfrm>
            <a:off x="1045425" y="1470946"/>
            <a:ext cx="10565700" cy="4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IBM Plex Sans"/>
              <a:buChar char="■"/>
            </a:pPr>
            <a:r>
              <a:rPr b="1" lang="en" sz="2000">
                <a:latin typeface="IBM Plex Sans"/>
                <a:ea typeface="IBM Plex Sans"/>
                <a:cs typeface="IBM Plex Sans"/>
                <a:sym typeface="IBM Plex Sans"/>
              </a:rPr>
              <a:t>Sample size – representativeness</a:t>
            </a:r>
            <a:endParaRPr b="1" sz="2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IBM Plex Sans"/>
              <a:buChar char="■"/>
            </a:pPr>
            <a:r>
              <a:rPr b="1" lang="en" sz="2000">
                <a:latin typeface="IBM Plex Sans"/>
                <a:ea typeface="IBM Plex Sans"/>
                <a:cs typeface="IBM Plex Sans"/>
                <a:sym typeface="IBM Plex Sans"/>
              </a:rPr>
              <a:t>Follow-up</a:t>
            </a:r>
            <a:endParaRPr b="1" sz="2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IBM Plex Sans"/>
              <a:buChar char="■"/>
            </a:pPr>
            <a:r>
              <a:rPr b="1" lang="en" sz="2000">
                <a:latin typeface="IBM Plex Sans"/>
                <a:ea typeface="IBM Plex Sans"/>
                <a:cs typeface="IBM Plex Sans"/>
                <a:sym typeface="IBM Plex Sans"/>
              </a:rPr>
              <a:t>Speed</a:t>
            </a:r>
            <a:endParaRPr b="1" sz="2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IBM Plex Sans"/>
              <a:buChar char="■"/>
            </a:pPr>
            <a:r>
              <a:rPr b="1" lang="en" sz="2000">
                <a:latin typeface="IBM Plex Sans"/>
                <a:ea typeface="IBM Plex Sans"/>
                <a:cs typeface="IBM Plex Sans"/>
                <a:sym typeface="IBM Plex Sans"/>
              </a:rPr>
              <a:t>Costs</a:t>
            </a:r>
            <a:endParaRPr b="1" sz="2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IBM Plex Sans"/>
              <a:buChar char="■"/>
            </a:pPr>
            <a:r>
              <a:rPr b="1" lang="en" sz="2000">
                <a:latin typeface="IBM Plex Sans"/>
                <a:ea typeface="IBM Plex Sans"/>
                <a:cs typeface="IBM Plex Sans"/>
                <a:sym typeface="IBM Plex Sans"/>
              </a:rPr>
              <a:t>Use of different epidemiological designs</a:t>
            </a:r>
            <a:endParaRPr b="1" sz="2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IBM Plex Sans"/>
              <a:buChar char="■"/>
            </a:pPr>
            <a:r>
              <a:rPr b="1" lang="en" sz="2000">
                <a:latin typeface="IBM Plex Sans"/>
                <a:ea typeface="IBM Plex Sans"/>
                <a:cs typeface="IBM Plex Sans"/>
                <a:sym typeface="IBM Plex Sans"/>
              </a:rPr>
              <a:t>Population under clinical practice conditions - "real-world data":</a:t>
            </a:r>
            <a:endParaRPr b="1" sz="2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Font typeface="IBM Plex Sans"/>
              <a:buChar char="○"/>
            </a:pPr>
            <a: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  <a:t>Population not included in clinical trials</a:t>
            </a:r>
            <a:endParaRPr sz="2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Font typeface="IBM Plex Sans"/>
              <a:buChar char="○"/>
            </a:pPr>
            <a: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  <a:t>Variety of information - N outcomes and exposures</a:t>
            </a:r>
            <a:endParaRPr sz="2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Font typeface="IBM Plex Sans"/>
              <a:buChar char="○"/>
            </a:pPr>
            <a: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  <a:t>Drug indications not studied in clinical trials</a:t>
            </a:r>
            <a:endParaRPr sz="2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Font typeface="IBM Plex Sans"/>
              <a:buChar char="○"/>
            </a:pPr>
            <a: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  <a:t>Drug interactions</a:t>
            </a:r>
            <a:endParaRPr sz="2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Font typeface="IBM Plex Sans"/>
              <a:buChar char="○"/>
            </a:pPr>
            <a: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  <a:t>Long-term pharmacovigilance: PASS studies</a:t>
            </a:r>
            <a:endParaRPr sz="20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0" name="Google Shape;300;p31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01" name="Google Shape;301;p31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  <p:sp>
        <p:nvSpPr>
          <p:cNvPr id="302" name="Google Shape;302;p31"/>
          <p:cNvSpPr txBox="1"/>
          <p:nvPr>
            <p:ph type="title"/>
          </p:nvPr>
        </p:nvSpPr>
        <p:spPr>
          <a:xfrm>
            <a:off x="260100" y="725617"/>
            <a:ext cx="11492100" cy="7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RWE Strengths - Associated biases</a:t>
            </a:r>
            <a:endParaRPr b="1" sz="3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"/>
          <p:cNvSpPr txBox="1"/>
          <p:nvPr>
            <p:ph type="title"/>
          </p:nvPr>
        </p:nvSpPr>
        <p:spPr>
          <a:xfrm>
            <a:off x="162175" y="861898"/>
            <a:ext cx="9500100" cy="3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[01.3]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World</a:t>
            </a:r>
            <a:br>
              <a:rPr lang="en"/>
            </a:br>
            <a:r>
              <a:rPr b="1" lang="en"/>
              <a:t>Data</a:t>
            </a:r>
            <a:endParaRPr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3"/>
          <p:cNvSpPr/>
          <p:nvPr/>
        </p:nvSpPr>
        <p:spPr>
          <a:xfrm>
            <a:off x="0" y="0"/>
            <a:ext cx="5561700" cy="68736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3" name="Google Shape;313;p33"/>
          <p:cNvSpPr txBox="1"/>
          <p:nvPr>
            <p:ph type="title"/>
          </p:nvPr>
        </p:nvSpPr>
        <p:spPr>
          <a:xfrm>
            <a:off x="232775" y="2357100"/>
            <a:ext cx="5021400" cy="21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Real World</a:t>
            </a:r>
            <a:r>
              <a:rPr lang="en" sz="6000">
                <a:solidFill>
                  <a:schemeClr val="dk1"/>
                </a:solidFill>
              </a:rPr>
              <a:t> </a:t>
            </a:r>
            <a:r>
              <a:rPr b="1" lang="en" sz="6000"/>
              <a:t>Data</a:t>
            </a:r>
            <a:endParaRPr b="1" sz="3800">
              <a:solidFill>
                <a:schemeClr val="accent1"/>
              </a:solidFill>
            </a:endParaRPr>
          </a:p>
        </p:txBody>
      </p:sp>
      <p:sp>
        <p:nvSpPr>
          <p:cNvPr id="314" name="Google Shape;314;p33"/>
          <p:cNvSpPr txBox="1"/>
          <p:nvPr>
            <p:ph idx="4294967295" type="body"/>
          </p:nvPr>
        </p:nvSpPr>
        <p:spPr>
          <a:xfrm>
            <a:off x="6181175" y="2670886"/>
            <a:ext cx="55617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Collection purpose in </a:t>
            </a:r>
            <a:r>
              <a:rPr lang="en" sz="1800">
                <a:solidFill>
                  <a:schemeClr val="lt1"/>
                </a:solidFill>
                <a:highlight>
                  <a:schemeClr val="accent2"/>
                </a:highlight>
                <a:latin typeface="IBM Plex Sans Medium"/>
                <a:ea typeface="IBM Plex Sans Medium"/>
                <a:cs typeface="IBM Plex Sans Medium"/>
                <a:sym typeface="IBM Plex Sans Medium"/>
              </a:rPr>
              <a:t>NOT</a:t>
            </a:r>
            <a:r>
              <a:rPr lang="en" sz="1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clinical research</a:t>
            </a:r>
            <a:endParaRPr sz="1800">
              <a:solidFill>
                <a:schemeClr val="lt2"/>
              </a:solidFill>
              <a:highlight>
                <a:schemeClr val="accent1"/>
              </a:highlight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15" name="Google Shape;315;p33"/>
          <p:cNvSpPr txBox="1"/>
          <p:nvPr>
            <p:ph idx="4294967295" type="body"/>
          </p:nvPr>
        </p:nvSpPr>
        <p:spPr>
          <a:xfrm>
            <a:off x="6181175" y="984199"/>
            <a:ext cx="55617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Clinical data collected from </a:t>
            </a:r>
            <a:r>
              <a:rPr b="1" lang="en" sz="1800">
                <a:solidFill>
                  <a:schemeClr val="dk1"/>
                </a:solidFill>
              </a:rPr>
              <a:t>various sources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0f3bfe&quot;&gt;&lt;path d=&quot;M200-200v-240h80v160h160v80H200Zm480-320v-160H520v-80h240v240h-80Z&quot;/&gt;&lt;/svg&gt;" id="316" name="Google Shape;31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096" y="1044882"/>
            <a:ext cx="328586" cy="328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317" name="Google Shape;31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7096" y="2738357"/>
            <a:ext cx="328586" cy="328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344-60-76-128-144-32 14-148-98-112 98-112-14-148 144-32 76-128 136 58 136-58 76 128 144 32-14 148 98 112-98 112 14 148-144 32-76 128-136-58-136 58Zm34-102 102-44 104 44 56-96 110-26-10-112 74-84-74-86 10-112-110-24-58-96-102 44-104-44-56 96-110 24 10 112-74 86 74 84-10 114 110 24 58 96Zm102-318Zm-42 142 226-226-56-58-170 170-86-84-56 56 142 142Z&quot;/&gt;&lt;/svg&gt;" id="318" name="Google Shape;31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7096" y="4294712"/>
            <a:ext cx="328586" cy="328586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3"/>
          <p:cNvSpPr txBox="1"/>
          <p:nvPr>
            <p:ph idx="4294967295" type="body"/>
          </p:nvPr>
        </p:nvSpPr>
        <p:spPr>
          <a:xfrm>
            <a:off x="6181175" y="4207573"/>
            <a:ext cx="55617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Real-world </a:t>
            </a:r>
            <a:r>
              <a:rPr lang="en" sz="1800">
                <a:solidFill>
                  <a:schemeClr val="lt1"/>
                </a:solidFill>
                <a:highlight>
                  <a:schemeClr val="accent1"/>
                </a:highlight>
                <a:latin typeface="IBM Plex Sans Medium"/>
                <a:ea typeface="IBM Plex Sans Medium"/>
                <a:cs typeface="IBM Plex Sans Medium"/>
                <a:sym typeface="IBM Plex Sans Medium"/>
              </a:rPr>
              <a:t>Evidence</a:t>
            </a:r>
            <a:endParaRPr sz="1800">
              <a:solidFill>
                <a:schemeClr val="lt1"/>
              </a:solidFill>
              <a:highlight>
                <a:schemeClr val="accent1"/>
              </a:highlight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20" name="Google Shape;320;p33"/>
          <p:cNvSpPr txBox="1"/>
          <p:nvPr>
            <p:ph idx="4294967295" type="body"/>
          </p:nvPr>
        </p:nvSpPr>
        <p:spPr>
          <a:xfrm>
            <a:off x="6181175" y="2997298"/>
            <a:ext cx="51069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</a:rPr>
              <a:t>Data has been generated by Management / administrative / billing purposes</a:t>
            </a:r>
            <a:endParaRPr sz="2000">
              <a:solidFill>
                <a:srgbClr val="040F40"/>
              </a:solidFill>
            </a:endParaRPr>
          </a:p>
        </p:txBody>
      </p:sp>
      <p:sp>
        <p:nvSpPr>
          <p:cNvPr id="321" name="Google Shape;321;p33"/>
          <p:cNvSpPr txBox="1"/>
          <p:nvPr>
            <p:ph idx="4294967295" type="body"/>
          </p:nvPr>
        </p:nvSpPr>
        <p:spPr>
          <a:xfrm>
            <a:off x="6181175" y="4588285"/>
            <a:ext cx="5542800" cy="4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</a:rPr>
              <a:t>◦ Generated from RWD</a:t>
            </a:r>
            <a:endParaRPr sz="2000">
              <a:solidFill>
                <a:srgbClr val="040F4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</a:rPr>
              <a:t>◦ Safety, Effectiveness, Utilization</a:t>
            </a:r>
            <a:endParaRPr sz="2000">
              <a:solidFill>
                <a:srgbClr val="040F4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</a:rPr>
              <a:t>◦ Healthcare interventions in real-world settings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22" name="Google Shape;322;p33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23" name="Google Shape;323;p33"/>
          <p:cNvSpPr txBox="1"/>
          <p:nvPr>
            <p:ph idx="4294967295" type="body"/>
          </p:nvPr>
        </p:nvSpPr>
        <p:spPr>
          <a:xfrm>
            <a:off x="6181175" y="1373473"/>
            <a:ext cx="51069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</a:rPr>
              <a:t>Electronic Health Record (EHR), Lab data, pharmacy.. </a:t>
            </a:r>
            <a:endParaRPr sz="2000">
              <a:solidFill>
                <a:srgbClr val="040F40"/>
              </a:solidFill>
            </a:endParaRPr>
          </a:p>
        </p:txBody>
      </p:sp>
      <p:sp>
        <p:nvSpPr>
          <p:cNvPr id="324" name="Google Shape;324;p33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30" name="Google Shape;330;p34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  <p:sp>
        <p:nvSpPr>
          <p:cNvPr id="331" name="Google Shape;331;p34"/>
          <p:cNvSpPr txBox="1"/>
          <p:nvPr>
            <p:ph type="title"/>
          </p:nvPr>
        </p:nvSpPr>
        <p:spPr>
          <a:xfrm>
            <a:off x="260102" y="906463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Types of RWD</a:t>
            </a:r>
            <a:endParaRPr b="1" sz="3000"/>
          </a:p>
        </p:txBody>
      </p:sp>
      <p:sp>
        <p:nvSpPr>
          <p:cNvPr id="332" name="Google Shape;332;p34"/>
          <p:cNvSpPr txBox="1"/>
          <p:nvPr/>
        </p:nvSpPr>
        <p:spPr>
          <a:xfrm>
            <a:off x="916425" y="1720200"/>
            <a:ext cx="9589800" cy="45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Patient Registries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◦ Ad-hoc manual collection of Death / Disease / Treatments 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Health Claims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◦ Billing reimbursement (ICD -10 codes, RAE-CMBD)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Manual Collection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◦ Data is entered into an Electronic Case Report Form (eCRF) by site staff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Medical device data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◦ Data is sourced from Databases from a medical device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5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38" name="Google Shape;338;p35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  <p:sp>
        <p:nvSpPr>
          <p:cNvPr id="339" name="Google Shape;339;p35"/>
          <p:cNvSpPr txBox="1"/>
          <p:nvPr>
            <p:ph type="title"/>
          </p:nvPr>
        </p:nvSpPr>
        <p:spPr>
          <a:xfrm>
            <a:off x="260102" y="906463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Types of RWD</a:t>
            </a:r>
            <a:endParaRPr b="1" sz="3000"/>
          </a:p>
        </p:txBody>
      </p:sp>
      <p:sp>
        <p:nvSpPr>
          <p:cNvPr id="340" name="Google Shape;340;p35"/>
          <p:cNvSpPr txBox="1"/>
          <p:nvPr/>
        </p:nvSpPr>
        <p:spPr>
          <a:xfrm>
            <a:off x="916425" y="1720200"/>
            <a:ext cx="9589800" cy="45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Biobanks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◦ Use of historical organic data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Patient-reported outcomes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◦ Data collected by the patients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Database study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◦ Data is sourced from Databases from the daily practice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46" name="Google Shape;346;p36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  <p:grpSp>
        <p:nvGrpSpPr>
          <p:cNvPr id="347" name="Google Shape;347;p36"/>
          <p:cNvGrpSpPr/>
          <p:nvPr/>
        </p:nvGrpSpPr>
        <p:grpSpPr>
          <a:xfrm>
            <a:off x="260111" y="6295225"/>
            <a:ext cx="4681182" cy="307800"/>
            <a:chOff x="318775" y="6450768"/>
            <a:chExt cx="10261250" cy="307800"/>
          </a:xfrm>
        </p:grpSpPr>
        <p:sp>
          <p:nvSpPr>
            <p:cNvPr id="348" name="Google Shape;348;p36"/>
            <p:cNvSpPr txBox="1"/>
            <p:nvPr/>
          </p:nvSpPr>
          <p:spPr>
            <a:xfrm>
              <a:off x="349425" y="6450768"/>
              <a:ext cx="10230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500"/>
                </a:spcAft>
                <a:buNone/>
              </a:pPr>
              <a:r>
                <a:rPr lang="en" sz="800">
                  <a:solidFill>
                    <a:srgbClr val="040F4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Grimes D, Schulz K. An overview of clinical research: the lay of the land. The Lancet, 359, 57-61</a:t>
              </a:r>
              <a:endParaRPr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349" name="Google Shape;34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8775" y="6551217"/>
              <a:ext cx="121050" cy="1210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50" name="Google Shape;350;p36" title="Gemini_Generated_Image_pml1d7pml1d7pml1.png"/>
          <p:cNvPicPr preferRelativeResize="0"/>
          <p:nvPr/>
        </p:nvPicPr>
        <p:blipFill rotWithShape="1">
          <a:blip r:embed="rId4">
            <a:alphaModFix/>
          </a:blip>
          <a:srcRect b="19374" l="0" r="0" t="0"/>
          <a:stretch/>
        </p:blipFill>
        <p:spPr>
          <a:xfrm>
            <a:off x="310050" y="970562"/>
            <a:ext cx="11571901" cy="5088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7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56" name="Google Shape;356;p37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  <p:sp>
        <p:nvSpPr>
          <p:cNvPr id="357" name="Google Shape;357;p37"/>
          <p:cNvSpPr txBox="1"/>
          <p:nvPr>
            <p:ph type="title"/>
          </p:nvPr>
        </p:nvSpPr>
        <p:spPr>
          <a:xfrm>
            <a:off x="260102" y="906463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Ejemplos: </a:t>
            </a:r>
            <a:r>
              <a:rPr b="1" lang="en" sz="3000" u="sng">
                <a:solidFill>
                  <a:schemeClr val="hlink"/>
                </a:solidFill>
                <a:hlinkClick r:id="rId3"/>
              </a:rPr>
              <a:t>https://catalogues.ema.europa.eu</a:t>
            </a:r>
            <a:r>
              <a:rPr b="1" lang="en" sz="3000"/>
              <a:t> </a:t>
            </a:r>
            <a:endParaRPr b="1" sz="3000"/>
          </a:p>
        </p:txBody>
      </p:sp>
      <p:pic>
        <p:nvPicPr>
          <p:cNvPr id="358" name="Google Shape;358;p37" title="Screenshot 2026-04-28 at 03.54.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5925" y="1587513"/>
            <a:ext cx="7152123" cy="4623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8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64" name="Google Shape;364;p38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  <p:sp>
        <p:nvSpPr>
          <p:cNvPr id="365" name="Google Shape;365;p38"/>
          <p:cNvSpPr txBox="1"/>
          <p:nvPr>
            <p:ph type="title"/>
          </p:nvPr>
        </p:nvSpPr>
        <p:spPr>
          <a:xfrm>
            <a:off x="260102" y="906463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Characteristics</a:t>
            </a:r>
            <a:r>
              <a:rPr b="1" lang="en" sz="3000"/>
              <a:t> of RWD</a:t>
            </a:r>
            <a:endParaRPr b="1" sz="3000"/>
          </a:p>
        </p:txBody>
      </p:sp>
      <p:sp>
        <p:nvSpPr>
          <p:cNvPr id="366" name="Google Shape;366;p38"/>
          <p:cNvSpPr txBox="1"/>
          <p:nvPr/>
        </p:nvSpPr>
        <p:spPr>
          <a:xfrm>
            <a:off x="916425" y="1720200"/>
            <a:ext cx="5762700" cy="45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Heterogeneity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◦ Variations in data format, structure, and quality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◦ Variations in data collection purpose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◦ Challenging for data integration, standardization and analysis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Temporal Longitudinality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◦ Allows for the study of treatment patterns, disease progression, and long-term outcomes.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Real-World Context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◦ Reflects the complexities and variations of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routine clinical practice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7" name="Google Shape;367;p38"/>
          <p:cNvSpPr txBox="1"/>
          <p:nvPr/>
        </p:nvSpPr>
        <p:spPr>
          <a:xfrm>
            <a:off x="7596775" y="1720200"/>
            <a:ext cx="4321200" cy="45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Coded nature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◦ Lookups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◦ Dictionaries (Medical, Product)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◦ Coding systems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Vast quantity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Anonymised  vs Pseudo-anonymised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"/>
          <p:cNvSpPr txBox="1"/>
          <p:nvPr>
            <p:ph type="title"/>
          </p:nvPr>
        </p:nvSpPr>
        <p:spPr>
          <a:xfrm>
            <a:off x="162175" y="861898"/>
            <a:ext cx="9500100" cy="3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[01.4</a:t>
            </a:r>
            <a:r>
              <a:rPr lang="en">
                <a:solidFill>
                  <a:schemeClr val="accent1"/>
                </a:solidFill>
              </a:rPr>
              <a:t>]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Legal</a:t>
            </a:r>
            <a:r>
              <a:rPr b="1"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framework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0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78" name="Google Shape;378;p40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  <p:sp>
        <p:nvSpPr>
          <p:cNvPr id="379" name="Google Shape;379;p40"/>
          <p:cNvSpPr txBox="1"/>
          <p:nvPr>
            <p:ph type="title"/>
          </p:nvPr>
        </p:nvSpPr>
        <p:spPr>
          <a:xfrm>
            <a:off x="260102" y="906463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The legal basis for RWE</a:t>
            </a:r>
            <a:endParaRPr b="1" sz="3000"/>
          </a:p>
        </p:txBody>
      </p:sp>
      <p:sp>
        <p:nvSpPr>
          <p:cNvPr id="380" name="Google Shape;380;p40"/>
          <p:cNvSpPr txBox="1"/>
          <p:nvPr/>
        </p:nvSpPr>
        <p:spPr>
          <a:xfrm>
            <a:off x="899450" y="1929475"/>
            <a:ext cx="9055500" cy="3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IBM Plex Sans"/>
                <a:ea typeface="IBM Plex Sans"/>
                <a:cs typeface="IBM Plex Sans"/>
                <a:sym typeface="IBM Plex Sans"/>
              </a:rPr>
              <a:t>The EU Foundation: GDPR Article 9(2)(j)</a:t>
            </a:r>
            <a:endParaRPr b="1" sz="22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b="1" lang="en" sz="2000">
                <a:latin typeface="IBM Plex Sans"/>
                <a:ea typeface="IBM Plex Sans"/>
                <a:cs typeface="IBM Plex Sans"/>
                <a:sym typeface="IBM Plex Sans"/>
              </a:rPr>
              <a:t>The "Research Exception":</a:t>
            </a:r>
            <a: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b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  <a:t>Provides the primary exemption to process sensitive health data without individual consent when necessary for scientific research in the public interest.</a:t>
            </a:r>
            <a:b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</a:br>
            <a:endParaRPr sz="2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>
                <a:latin typeface="IBM Plex Sans"/>
                <a:ea typeface="IBM Plex Sans"/>
                <a:cs typeface="IBM Plex Sans"/>
                <a:sym typeface="IBM Plex Sans"/>
              </a:rPr>
              <a:t>Requirement for Safeguards:</a:t>
            </a:r>
            <a: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  <a:t> The waiver of consent is conditional upon implementing "appropriate safeguards" defined by Member State law.</a:t>
            </a:r>
            <a:endParaRPr sz="2900">
              <a:solidFill>
                <a:srgbClr val="040F40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1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86" name="Google Shape;386;p41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Real World Data</a:t>
            </a:r>
            <a:endParaRPr/>
          </a:p>
        </p:txBody>
      </p:sp>
      <p:sp>
        <p:nvSpPr>
          <p:cNvPr id="387" name="Google Shape;387;p41"/>
          <p:cNvSpPr txBox="1"/>
          <p:nvPr>
            <p:ph type="title"/>
          </p:nvPr>
        </p:nvSpPr>
        <p:spPr>
          <a:xfrm>
            <a:off x="260102" y="906463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The legal basis for RWE</a:t>
            </a:r>
            <a:endParaRPr b="1" sz="3000"/>
          </a:p>
        </p:txBody>
      </p:sp>
      <p:sp>
        <p:nvSpPr>
          <p:cNvPr id="388" name="Google Shape;388;p41"/>
          <p:cNvSpPr txBox="1"/>
          <p:nvPr/>
        </p:nvSpPr>
        <p:spPr>
          <a:xfrm>
            <a:off x="1045425" y="1929475"/>
            <a:ext cx="10565700" cy="3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IBM Plex Sans"/>
                <a:ea typeface="IBM Plex Sans"/>
                <a:cs typeface="IBM Plex Sans"/>
                <a:sym typeface="IBM Plex Sans"/>
              </a:rPr>
              <a:t>Spanish National Implementation</a:t>
            </a:r>
            <a:endParaRPr b="1" sz="22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b="1" lang="en" sz="2000">
                <a:latin typeface="IBM Plex Sans"/>
                <a:ea typeface="IBM Plex Sans"/>
                <a:cs typeface="IBM Plex Sans"/>
                <a:sym typeface="IBM Plex Sans"/>
              </a:rPr>
              <a:t>LOPDGDD (DA 17):</a:t>
            </a:r>
            <a: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  <a:t> The </a:t>
            </a:r>
            <a:r>
              <a:rPr i="1" lang="en" sz="2000">
                <a:latin typeface="IBM Plex Sans"/>
                <a:ea typeface="IBM Plex Sans"/>
                <a:cs typeface="IBM Plex Sans"/>
                <a:sym typeface="IBM Plex Sans"/>
              </a:rPr>
              <a:t>Disposición Adicional Decimoséptima</a:t>
            </a:r>
            <a: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  <a:t> is the specific Spanish legal instrument that authorizes non-consent processing for health research.</a:t>
            </a:r>
            <a:b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</a:br>
            <a:endParaRPr sz="2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>
                <a:latin typeface="IBM Plex Sans"/>
                <a:ea typeface="IBM Plex Sans"/>
                <a:cs typeface="IBM Plex Sans"/>
                <a:sym typeface="IBM Plex Sans"/>
              </a:rPr>
              <a:t>Real Decreto 957/2020:</a:t>
            </a:r>
            <a: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  <a:t> This is the </a:t>
            </a:r>
            <a:r>
              <a:rPr b="1" lang="en" sz="2000">
                <a:latin typeface="IBM Plex Sans"/>
                <a:ea typeface="IBM Plex Sans"/>
                <a:cs typeface="IBM Plex Sans"/>
                <a:sym typeface="IBM Plex Sans"/>
              </a:rPr>
              <a:t>current</a:t>
            </a:r>
            <a: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  <a:t> and authoritative decree governing observational studies; it has superseded the outdated </a:t>
            </a:r>
            <a:r>
              <a:rPr i="1" lang="en" sz="2000">
                <a:latin typeface="IBM Plex Sans"/>
                <a:ea typeface="IBM Plex Sans"/>
                <a:cs typeface="IBM Plex Sans"/>
                <a:sym typeface="IBM Plex Sans"/>
              </a:rPr>
              <a:t>Orden SAS/3470/2009</a:t>
            </a:r>
            <a: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b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</a:br>
            <a:endParaRPr sz="20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>
                <a:latin typeface="IBM Plex Sans"/>
                <a:ea typeface="IBM Plex Sans"/>
                <a:cs typeface="IBM Plex Sans"/>
                <a:sym typeface="IBM Plex Sans"/>
              </a:rPr>
              <a:t>Binding Commitment:</a:t>
            </a:r>
            <a: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  <a:t> Researchers must execute a formal, legally binding </a:t>
            </a:r>
            <a:r>
              <a:rPr b="1" lang="en" sz="2000">
                <a:latin typeface="IBM Plex Sans"/>
                <a:ea typeface="IBM Plex Sans"/>
                <a:cs typeface="IBM Plex Sans"/>
                <a:sym typeface="IBM Plex Sans"/>
              </a:rPr>
              <a:t>non-reidentification and confidentiality commitment</a:t>
            </a:r>
            <a:r>
              <a:rPr lang="en" sz="2000">
                <a:latin typeface="IBM Plex Sans"/>
                <a:ea typeface="IBM Plex Sans"/>
                <a:cs typeface="IBM Plex Sans"/>
                <a:sym typeface="IBM Plex Sans"/>
              </a:rPr>
              <a:t> to satisfy the proportionality mandate</a:t>
            </a:r>
            <a:endParaRPr b="1" sz="2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/>
          <p:nvPr>
            <p:ph type="title"/>
          </p:nvPr>
        </p:nvSpPr>
        <p:spPr>
          <a:xfrm>
            <a:off x="173529" y="875776"/>
            <a:ext cx="9500100" cy="4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[02]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World Data</a:t>
            </a:r>
            <a:br>
              <a:rPr lang="en"/>
            </a:br>
            <a:r>
              <a:rPr b="1" lang="en"/>
              <a:t>a</a:t>
            </a:r>
            <a:r>
              <a:rPr b="1" lang="en"/>
              <a:t>t scale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43" title="AbstractData4_Blue.png"/>
          <p:cNvPicPr preferRelativeResize="0"/>
          <p:nvPr/>
        </p:nvPicPr>
        <p:blipFill rotWithShape="1">
          <a:blip r:embed="rId3">
            <a:alphaModFix/>
          </a:blip>
          <a:srcRect b="0" l="0" r="0" t="13066"/>
          <a:stretch/>
        </p:blipFill>
        <p:spPr>
          <a:xfrm>
            <a:off x="3332561" y="2525625"/>
            <a:ext cx="8859427" cy="43323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399" name="Google Shape;39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27200" y="62298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43"/>
          <p:cNvSpPr txBox="1"/>
          <p:nvPr/>
        </p:nvSpPr>
        <p:spPr>
          <a:xfrm>
            <a:off x="10220000" y="6190200"/>
            <a:ext cx="130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1" name="Google Shape;401;p43"/>
          <p:cNvSpPr txBox="1"/>
          <p:nvPr/>
        </p:nvSpPr>
        <p:spPr>
          <a:xfrm>
            <a:off x="250096" y="6066900"/>
            <a:ext cx="358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C/ de St. Antoni Maria Claret, 167, Sant Leopold Pavillion, 08025 — Barcelona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2" name="Google Shape;402;p43"/>
          <p:cNvSpPr txBox="1"/>
          <p:nvPr/>
        </p:nvSpPr>
        <p:spPr>
          <a:xfrm>
            <a:off x="8248000" y="6190200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info@iomed.health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03" name="Google Shape;403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4000" y="2931661"/>
            <a:ext cx="3584000" cy="994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OMED ">
  <a:themeElements>
    <a:clrScheme name="Custom 4">
      <a:dk1>
        <a:srgbClr val="0F3BFE"/>
      </a:dk1>
      <a:lt1>
        <a:srgbClr val="FFFFFF"/>
      </a:lt1>
      <a:dk2>
        <a:srgbClr val="E5EAFF"/>
      </a:dk2>
      <a:lt2>
        <a:srgbClr val="CFD8FF"/>
      </a:lt2>
      <a:accent1>
        <a:srgbClr val="11F17F"/>
      </a:accent1>
      <a:accent2>
        <a:srgbClr val="9B6EFF"/>
      </a:accent2>
      <a:accent3>
        <a:srgbClr val="EBE2FF"/>
      </a:accent3>
      <a:accent4>
        <a:srgbClr val="CFD8FF"/>
      </a:accent4>
      <a:accent5>
        <a:srgbClr val="D0FCE5"/>
      </a:accent5>
      <a:accent6>
        <a:srgbClr val="D7C5FF"/>
      </a:accent6>
      <a:hlink>
        <a:srgbClr val="0F3BFE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