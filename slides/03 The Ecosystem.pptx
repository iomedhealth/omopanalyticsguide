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12192000"/>
  <p:notesSz cx="6858000" cy="9144000"/>
  <p:embeddedFontLst>
    <p:embeddedFont>
      <p:font typeface="IBM Plex Sans"/>
      <p:regular r:id="rId43"/>
      <p:bold r:id="rId44"/>
      <p:italic r:id="rId45"/>
      <p:boldItalic r:id="rId46"/>
    </p:embeddedFont>
    <p:embeddedFont>
      <p:font typeface="IBM Plex Sans Light"/>
      <p:regular r:id="rId47"/>
      <p:bold r:id="rId48"/>
      <p:italic r:id="rId49"/>
      <p:boldItalic r:id="rId50"/>
    </p:embeddedFont>
    <p:embeddedFont>
      <p:font typeface="Plus Jakarta Sans"/>
      <p:regular r:id="rId51"/>
      <p:bold r:id="rId52"/>
      <p:italic r:id="rId53"/>
      <p:boldItalic r:id="rId54"/>
    </p:embeddedFont>
    <p:embeddedFont>
      <p:font typeface="IBM Plex Sans Medium"/>
      <p:regular r:id="rId55"/>
      <p:bold r:id="rId56"/>
      <p:italic r:id="rId57"/>
      <p:boldItalic r:id="rId58"/>
    </p:embeddedFont>
    <p:embeddedFont>
      <p:font typeface="IBM Plex Sans SemiBold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19">
          <p15:clr>
            <a:srgbClr val="747775"/>
          </p15:clr>
        </p15:guide>
        <p15:guide id="2" orient="horz" pos="1157">
          <p15:clr>
            <a:srgbClr val="747775"/>
          </p15:clr>
        </p15:guide>
        <p15:guide id="3" pos="7617">
          <p15:clr>
            <a:srgbClr val="747775"/>
          </p15:clr>
        </p15:guide>
        <p15:guide id="4" pos="221">
          <p15:clr>
            <a:srgbClr val="747775"/>
          </p15:clr>
        </p15:guide>
        <p15:guide id="5" pos="216">
          <p15:clr>
            <a:srgbClr val="747775"/>
          </p15:clr>
        </p15:guide>
        <p15:guide id="6" orient="horz" pos="61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19" orient="horz"/>
        <p:guide pos="1157" orient="horz"/>
        <p:guide pos="7617"/>
        <p:guide pos="221"/>
        <p:guide pos="216"/>
        <p:guide pos="61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IBMPlexSans-bold.fntdata"/><Relationship Id="rId43" Type="http://schemas.openxmlformats.org/officeDocument/2006/relationships/font" Target="fonts/IBMPlexSans-regular.fntdata"/><Relationship Id="rId46" Type="http://schemas.openxmlformats.org/officeDocument/2006/relationships/font" Target="fonts/IBMPlexSans-boldItalic.fntdata"/><Relationship Id="rId45" Type="http://schemas.openxmlformats.org/officeDocument/2006/relationships/font" Target="fonts/IBMPlexSans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IBMPlexSansLight-bold.fntdata"/><Relationship Id="rId47" Type="http://schemas.openxmlformats.org/officeDocument/2006/relationships/font" Target="fonts/IBMPlexSansLight-regular.fntdata"/><Relationship Id="rId49" Type="http://schemas.openxmlformats.org/officeDocument/2006/relationships/font" Target="fonts/IBMPlexSans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IBMPlexSansSemiBold-boldItalic.fntdata"/><Relationship Id="rId61" Type="http://schemas.openxmlformats.org/officeDocument/2006/relationships/font" Target="fonts/IBMPlexSansSemiBold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IBMPlexSansSemiBold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lusJakartaSans-regular.fntdata"/><Relationship Id="rId50" Type="http://schemas.openxmlformats.org/officeDocument/2006/relationships/font" Target="fonts/IBMPlexSansLight-boldItalic.fntdata"/><Relationship Id="rId53" Type="http://schemas.openxmlformats.org/officeDocument/2006/relationships/font" Target="fonts/PlusJakartaSans-italic.fntdata"/><Relationship Id="rId52" Type="http://schemas.openxmlformats.org/officeDocument/2006/relationships/font" Target="fonts/PlusJakartaSans-bold.fntdata"/><Relationship Id="rId11" Type="http://schemas.openxmlformats.org/officeDocument/2006/relationships/slide" Target="slides/slide5.xml"/><Relationship Id="rId55" Type="http://schemas.openxmlformats.org/officeDocument/2006/relationships/font" Target="fonts/IBMPlexSansMedium-regular.fntdata"/><Relationship Id="rId10" Type="http://schemas.openxmlformats.org/officeDocument/2006/relationships/slide" Target="slides/slide4.xml"/><Relationship Id="rId54" Type="http://schemas.openxmlformats.org/officeDocument/2006/relationships/font" Target="fonts/PlusJakartaSans-boldItalic.fntdata"/><Relationship Id="rId13" Type="http://schemas.openxmlformats.org/officeDocument/2006/relationships/slide" Target="slides/slide7.xml"/><Relationship Id="rId57" Type="http://schemas.openxmlformats.org/officeDocument/2006/relationships/font" Target="fonts/IBMPlexSansMedium-italic.fntdata"/><Relationship Id="rId12" Type="http://schemas.openxmlformats.org/officeDocument/2006/relationships/slide" Target="slides/slide6.xml"/><Relationship Id="rId56" Type="http://schemas.openxmlformats.org/officeDocument/2006/relationships/font" Target="fonts/IBMPlexSansMedium-bold.fntdata"/><Relationship Id="rId15" Type="http://schemas.openxmlformats.org/officeDocument/2006/relationships/slide" Target="slides/slide9.xml"/><Relationship Id="rId59" Type="http://schemas.openxmlformats.org/officeDocument/2006/relationships/font" Target="fonts/IBMPlexSansSemiBold-regular.fntdata"/><Relationship Id="rId14" Type="http://schemas.openxmlformats.org/officeDocument/2006/relationships/slide" Target="slides/slide8.xml"/><Relationship Id="rId58" Type="http://schemas.openxmlformats.org/officeDocument/2006/relationships/font" Target="fonts/IBMPlexSans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0bbd4e5f5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0bbd4e5f5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292e25a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292e25a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292e25a7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292e25a7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292e25a7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f292e25a7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292e25a7c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292e25a7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292e25a7c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292e25a7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292e25a7c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f292e25a7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292cd5045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292cd5045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292cd5045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f292cd5045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292e25a7c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292e25a7c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292e25a7c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292e25a7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292e25a7c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292e25a7c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292e25a7c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292e25a7c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292e25a7c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292e25a7c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292e25a7c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292e25a7c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292e25a7c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292e25a7c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292e25a7c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f292e25a7c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292e25a7c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f292e25a7c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292e25a7c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f292e25a7c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292e25a7c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f292e25a7c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f292e25a7c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f292e25a7c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292e25a7c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f292e25a7c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292e25a7c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f292e25a7c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292e25a7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f292e25a7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f292e25a7c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f292e25a7c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292e25a7c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f292e25a7c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292e25a7c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f292e25a7c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292e25a7c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f292e25a7c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292e25a7c_3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f292e25a7c_3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292e25a7c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f292e25a7c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292e25a7c_3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f292e25a7c_3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f292e25a7c_3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f292e25a7c_3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f292e25a7c_3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f292e25a7c_3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f292e25a7c_3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f292e25a7c_3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f292cd504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f292cd504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08e5524d00_1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08e5524d00_1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iomed.health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iomed.health" TargetMode="External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" type="blank">
  <p:cSld name="BLANK">
    <p:bg>
      <p:bgPr>
        <a:solidFill>
          <a:srgbClr val="CFD8FF">
            <a:alpha val="25000"/>
          </a:srgbClr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">
  <p:cSld name="BLANK_4">
    <p:bg>
      <p:bgPr>
        <a:solidFill>
          <a:srgbClr val="CFD8FF">
            <a:alpha val="25000"/>
          </a:srgbClr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>
            <a:hlinkClick r:id="rId2"/>
          </p:cNvPr>
          <p:cNvSpPr txBox="1"/>
          <p:nvPr/>
        </p:nvSpPr>
        <p:spPr>
          <a:xfrm>
            <a:off x="10354674" y="6542424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21" name="Google Shape;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1874" y="65820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173529" y="494682"/>
            <a:ext cx="95001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Empowering Healthcare Data</a:t>
            </a:r>
            <a:endParaRPr sz="8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256405" y="4452000"/>
            <a:ext cx="75279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are the key ally for healthcare organisations</a:t>
            </a:r>
            <a:endParaRPr sz="34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4" name="Google Shape;24;p4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25" name="Google Shape;25;p4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er">
  <p:cSld name="BLANK_3_2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 title="AbstractData4_Blue.png"/>
          <p:cNvPicPr preferRelativeResize="0"/>
          <p:nvPr/>
        </p:nvPicPr>
        <p:blipFill rotWithShape="1">
          <a:blip r:embed="rId2">
            <a:alphaModFix/>
          </a:blip>
          <a:srcRect b="0" l="0" r="0" t="3241"/>
          <a:stretch/>
        </p:blipFill>
        <p:spPr>
          <a:xfrm>
            <a:off x="4466050" y="2653100"/>
            <a:ext cx="7725950" cy="420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>
            <a:hlinkClick r:id="rId3"/>
          </p:cNvPr>
          <p:cNvSpPr txBox="1"/>
          <p:nvPr/>
        </p:nvSpPr>
        <p:spPr>
          <a:xfrm>
            <a:off x="10354674" y="6540121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34" name="Google Shape;3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1874" y="657972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title"/>
          </p:nvPr>
        </p:nvSpPr>
        <p:spPr>
          <a:xfrm>
            <a:off x="173529" y="505033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235686" y="4452000"/>
            <a:ext cx="7527900" cy="20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9pPr>
          </a:lstStyle>
          <a:p/>
        </p:txBody>
      </p:sp>
      <p:grpSp>
        <p:nvGrpSpPr>
          <p:cNvPr id="37" name="Google Shape;37;p5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38" name="Google Shape;38;p5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Inner">
  <p:cSld name="BLANK_3_1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 title="IOMED_Illustrations_AbstractData2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66175" y="-250009"/>
            <a:ext cx="12419851" cy="6986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6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47" name="Google Shape;47;p6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53" name="Google Shape;53;p6">
            <a:hlinkClick r:id="rId3"/>
          </p:cNvPr>
          <p:cNvSpPr txBox="1"/>
          <p:nvPr/>
        </p:nvSpPr>
        <p:spPr>
          <a:xfrm>
            <a:off x="10375393" y="6536438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54" name="Google Shape;5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82593" y="657603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/>
          <p:nvPr>
            <p:ph type="title"/>
          </p:nvPr>
        </p:nvSpPr>
        <p:spPr>
          <a:xfrm>
            <a:off x="173529" y="515393"/>
            <a:ext cx="95001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225326" y="5188950"/>
            <a:ext cx="95001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TA">
  <p:cSld name="BLANK_2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2292" y="0"/>
            <a:ext cx="1218706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5433768" y="6132256"/>
            <a:ext cx="1324118" cy="365743"/>
            <a:chOff x="238675" y="1845875"/>
            <a:chExt cx="7141950" cy="1980200"/>
          </a:xfrm>
        </p:grpSpPr>
        <p:sp>
          <p:nvSpPr>
            <p:cNvPr id="60" name="Google Shape;60;p7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</p:grpSp>
      <p:sp>
        <p:nvSpPr>
          <p:cNvPr id="66" name="Google Shape;66;p7"/>
          <p:cNvSpPr txBox="1"/>
          <p:nvPr/>
        </p:nvSpPr>
        <p:spPr>
          <a:xfrm>
            <a:off x="243480" y="6527857"/>
            <a:ext cx="980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1F17F"/>
                </a:solidFill>
                <a:latin typeface="IBM Plex Sans"/>
                <a:ea typeface="IBM Plex Sans"/>
                <a:cs typeface="IBM Plex Sans"/>
                <a:sym typeface="IBM Plex Sans"/>
              </a:rPr>
              <a:t>[PUBLIC]</a:t>
            </a:r>
            <a:endParaRPr b="1" sz="800">
              <a:solidFill>
                <a:srgbClr val="11F17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">
  <p:cSld name="BLANK_1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232770" y="5099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88066" y="190563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 Header + White">
  <p:cSld name="BLANK_1_3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75" name="Google Shape;75;p9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Header + White">
  <p:cSld name="CUSTOM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0" name="Google Shape;80;p10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82" name="Google Shape;82;p10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">
  <p:cSld name="CUSTOM_2_1">
    <p:bg>
      <p:bgPr>
        <a:solidFill>
          <a:srgbClr val="CFD8FF">
            <a:alpha val="25000"/>
          </a:srgbClr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88" name="Google Shape;88;p11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9" name="Google Shape;89;p11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1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- Soft Blue Header + White">
  <p:cSld name="CUSTOM_2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" name="Google Shape;93;p12"/>
          <p:cNvSpPr/>
          <p:nvPr>
            <p:ph idx="2" type="pic"/>
          </p:nvPr>
        </p:nvSpPr>
        <p:spPr>
          <a:xfrm>
            <a:off x="360000" y="1611600"/>
            <a:ext cx="11472300" cy="48864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95" name="Google Shape;95;p12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2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71">
          <p15:clr>
            <a:srgbClr val="E46962"/>
          </p15:clr>
        </p15:guide>
        <p15:guide id="2" orient="horz" pos="1096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" type="blank">
  <p:cSld name="BLANK">
    <p:bg>
      <p:bgPr>
        <a:solidFill>
          <a:srgbClr val="CFD8FF">
            <a:alpha val="25000"/>
          </a:srgbClr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">
  <p:cSld name="BLANK_4">
    <p:bg>
      <p:bgPr>
        <a:solidFill>
          <a:srgbClr val="CFD8FF">
            <a:alpha val="25000"/>
          </a:srgbClr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09" name="Google Shape;109;p15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>
            <a:hlinkClick r:id="rId2"/>
          </p:cNvPr>
          <p:cNvSpPr txBox="1"/>
          <p:nvPr/>
        </p:nvSpPr>
        <p:spPr>
          <a:xfrm>
            <a:off x="10220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360000" y="360008"/>
            <a:ext cx="95001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Empowering Healthcare Data</a:t>
            </a:r>
            <a:endParaRPr sz="8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360000" y="4452000"/>
            <a:ext cx="75279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are the key ally for healthcare organisations</a:t>
            </a:r>
            <a:endParaRPr sz="34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7" name="Google Shape;117;p16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118" name="Google Shape;118;p16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er">
  <p:cSld name="BLANK_3_2"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title="AbstractData4_Blue.png"/>
          <p:cNvPicPr preferRelativeResize="0"/>
          <p:nvPr/>
        </p:nvPicPr>
        <p:blipFill rotWithShape="1">
          <a:blip r:embed="rId2">
            <a:alphaModFix/>
          </a:blip>
          <a:srcRect b="0" l="0" r="0" t="3241"/>
          <a:stretch/>
        </p:blipFill>
        <p:spPr>
          <a:xfrm>
            <a:off x="4466050" y="2653100"/>
            <a:ext cx="7725950" cy="420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>
            <a:hlinkClick r:id="rId3"/>
          </p:cNvPr>
          <p:cNvSpPr txBox="1"/>
          <p:nvPr/>
        </p:nvSpPr>
        <p:spPr>
          <a:xfrm>
            <a:off x="10220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127" name="Google Shape;12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type="title"/>
          </p:nvPr>
        </p:nvSpPr>
        <p:spPr>
          <a:xfrm>
            <a:off x="360000" y="360000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1" type="subTitle"/>
          </p:nvPr>
        </p:nvSpPr>
        <p:spPr>
          <a:xfrm>
            <a:off x="360000" y="4452000"/>
            <a:ext cx="7527900" cy="20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9pPr>
          </a:lstStyle>
          <a:p/>
        </p:txBody>
      </p:sp>
      <p:grpSp>
        <p:nvGrpSpPr>
          <p:cNvPr id="130" name="Google Shape;130;p17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131" name="Google Shape;131;p17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Inner">
  <p:cSld name="BLANK_3_1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title="IOMED_Illustrations_AbstractData2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66175" y="-250009"/>
            <a:ext cx="12419851" cy="6986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8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140" name="Google Shape;140;p18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46" name="Google Shape;146;p18">
            <a:hlinkClick r:id="rId3"/>
          </p:cNvPr>
          <p:cNvSpPr txBox="1"/>
          <p:nvPr/>
        </p:nvSpPr>
        <p:spPr>
          <a:xfrm>
            <a:off x="10220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147" name="Google Shape;14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>
            <p:ph type="title"/>
          </p:nvPr>
        </p:nvSpPr>
        <p:spPr>
          <a:xfrm>
            <a:off x="360000" y="360000"/>
            <a:ext cx="95001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60000" y="5188950"/>
            <a:ext cx="95001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TA">
  <p:cSld name="BLANK_2"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9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2292" y="0"/>
            <a:ext cx="1218706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9"/>
          <p:cNvGrpSpPr/>
          <p:nvPr/>
        </p:nvGrpSpPr>
        <p:grpSpPr>
          <a:xfrm>
            <a:off x="5433768" y="6132256"/>
            <a:ext cx="1324118" cy="365743"/>
            <a:chOff x="238675" y="1845875"/>
            <a:chExt cx="7141950" cy="1980200"/>
          </a:xfrm>
        </p:grpSpPr>
        <p:sp>
          <p:nvSpPr>
            <p:cNvPr id="154" name="Google Shape;154;p19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</p:grpSp>
      <p:sp>
        <p:nvSpPr>
          <p:cNvPr id="160" name="Google Shape;160;p19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">
  <p:cSld name="BLANK_1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232770" y="5099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88066" y="190563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 Header + White">
  <p:cSld name="BLANK_1_3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7" name="Google Shape;167;p2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68" name="Google Shape;168;p21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69" name="Google Shape;169;p21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Header + White">
  <p:cSld name="CUSTOM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3" name="Google Shape;173;p22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75" name="Google Shape;175;p22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76" name="Google Shape;176;p2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">
  <p:cSld name="CUSTOM_2_1">
    <p:bg>
      <p:bgPr>
        <a:solidFill>
          <a:srgbClr val="CFD8FF">
            <a:alpha val="25000"/>
          </a:srgbClr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81" name="Google Shape;181;p23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2" name="Google Shape;182;p23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- Soft Blue Header + White">
  <p:cSld name="CUSTOM_2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24"/>
          <p:cNvSpPr/>
          <p:nvPr>
            <p:ph idx="2" type="pic"/>
          </p:nvPr>
        </p:nvSpPr>
        <p:spPr>
          <a:xfrm>
            <a:off x="360000" y="1611600"/>
            <a:ext cx="11472300" cy="5115000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88" name="Google Shape;188;p24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9" name="Google Shape;189;p24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71">
          <p15:clr>
            <a:srgbClr val="E46962"/>
          </p15:clr>
        </p15:guide>
        <p15:guide id="2" orient="horz" pos="1096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- Soft Blue ">
  <p:cSld name="CUSTOM_2_1_1_1">
    <p:bg>
      <p:bgPr>
        <a:solidFill>
          <a:srgbClr val="CFD8FF">
            <a:alpha val="25000"/>
          </a:srgbClr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>
            <p:ph idx="2" type="pic"/>
          </p:nvPr>
        </p:nvSpPr>
        <p:spPr>
          <a:xfrm>
            <a:off x="360000" y="1611600"/>
            <a:ext cx="11472300" cy="51150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94" name="Google Shape;194;p25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95" name="Google Shape;195;p25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71">
          <p15:clr>
            <a:srgbClr val="E46962"/>
          </p15:clr>
        </p15:guide>
        <p15:guide id="2" orient="horz" pos="1096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5"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idx="12" type="sldNum"/>
          </p:nvPr>
        </p:nvSpPr>
        <p:spPr>
          <a:xfrm>
            <a:off x="11100295" y="6190209"/>
            <a:ext cx="7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_4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360000" y="360000"/>
            <a:ext cx="75279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7"/>
          <p:cNvSpPr txBox="1"/>
          <p:nvPr>
            <p:ph idx="1" type="body"/>
          </p:nvPr>
        </p:nvSpPr>
        <p:spPr>
          <a:xfrm>
            <a:off x="360000" y="30243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02" name="Google Shape;202;p27"/>
          <p:cNvSpPr txBox="1"/>
          <p:nvPr>
            <p:ph idx="2" type="body"/>
          </p:nvPr>
        </p:nvSpPr>
        <p:spPr>
          <a:xfrm>
            <a:off x="4304100" y="30243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03" name="Google Shape;203;p27"/>
          <p:cNvSpPr txBox="1"/>
          <p:nvPr>
            <p:ph idx="3" type="body"/>
          </p:nvPr>
        </p:nvSpPr>
        <p:spPr>
          <a:xfrm>
            <a:off x="8247900" y="30243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27"/>
          <p:cNvSpPr txBox="1"/>
          <p:nvPr>
            <p:ph idx="4" type="body"/>
          </p:nvPr>
        </p:nvSpPr>
        <p:spPr>
          <a:xfrm>
            <a:off x="4304100" y="24060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05" name="Google Shape;205;p27"/>
          <p:cNvSpPr txBox="1"/>
          <p:nvPr>
            <p:ph idx="5" type="body"/>
          </p:nvPr>
        </p:nvSpPr>
        <p:spPr>
          <a:xfrm>
            <a:off x="8247900" y="24060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idx="6" type="body"/>
          </p:nvPr>
        </p:nvSpPr>
        <p:spPr>
          <a:xfrm>
            <a:off x="360300" y="24060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07" name="Google Shape;207;p27"/>
          <p:cNvSpPr txBox="1"/>
          <p:nvPr>
            <p:ph idx="7" type="body"/>
          </p:nvPr>
        </p:nvSpPr>
        <p:spPr>
          <a:xfrm>
            <a:off x="360000" y="50061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08" name="Google Shape;208;p27"/>
          <p:cNvSpPr txBox="1"/>
          <p:nvPr>
            <p:ph idx="8" type="body"/>
          </p:nvPr>
        </p:nvSpPr>
        <p:spPr>
          <a:xfrm>
            <a:off x="4304100" y="50061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09" name="Google Shape;209;p27"/>
          <p:cNvSpPr txBox="1"/>
          <p:nvPr>
            <p:ph idx="9" type="body"/>
          </p:nvPr>
        </p:nvSpPr>
        <p:spPr>
          <a:xfrm>
            <a:off x="8247900" y="50061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10" name="Google Shape;210;p27"/>
          <p:cNvSpPr txBox="1"/>
          <p:nvPr>
            <p:ph idx="13" type="body"/>
          </p:nvPr>
        </p:nvSpPr>
        <p:spPr>
          <a:xfrm>
            <a:off x="4304100" y="44520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14" type="body"/>
          </p:nvPr>
        </p:nvSpPr>
        <p:spPr>
          <a:xfrm>
            <a:off x="8247900" y="44520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15" type="body"/>
          </p:nvPr>
        </p:nvSpPr>
        <p:spPr>
          <a:xfrm>
            <a:off x="360300" y="44520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3" name="Google Shape;213;p27"/>
          <p:cNvSpPr txBox="1"/>
          <p:nvPr>
            <p:ph idx="12" type="sldNum"/>
          </p:nvPr>
        </p:nvSpPr>
        <p:spPr>
          <a:xfrm>
            <a:off x="10220006" y="6188407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grpSp>
        <p:nvGrpSpPr>
          <p:cNvPr id="214" name="Google Shape;214;p27"/>
          <p:cNvGrpSpPr/>
          <p:nvPr/>
        </p:nvGrpSpPr>
        <p:grpSpPr>
          <a:xfrm>
            <a:off x="10955721" y="399637"/>
            <a:ext cx="832751" cy="228515"/>
            <a:chOff x="238675" y="1845875"/>
            <a:chExt cx="7141950" cy="1980200"/>
          </a:xfrm>
        </p:grpSpPr>
        <p:sp>
          <p:nvSpPr>
            <p:cNvPr id="215" name="Google Shape;215;p27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40F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40F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40F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40F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40F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40F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2_2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/>
          <p:nvPr/>
        </p:nvSpPr>
        <p:spPr>
          <a:xfrm>
            <a:off x="0" y="0"/>
            <a:ext cx="12192000" cy="1257000"/>
          </a:xfrm>
          <a:prstGeom prst="rect">
            <a:avLst/>
          </a:prstGeom>
          <a:solidFill>
            <a:srgbClr val="CFD8FF">
              <a:alpha val="243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23" name="Google Shape;223;p28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/>
        </p:nvSpPr>
        <p:spPr>
          <a:xfrm>
            <a:off x="10580106" y="6498007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3B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 </a:t>
            </a:r>
            <a:fld id="{00000000-1234-1234-1234-123412341234}" type="slidenum">
              <a:rPr b="1" i="0" lang="en" sz="800" u="none" cap="none" strike="noStrike">
                <a:solidFill>
                  <a:srgbClr val="0F3B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‹#›</a:t>
            </a:fld>
            <a:r>
              <a:rPr b="1" i="0" lang="en" sz="800" u="none" cap="none" strike="noStrike">
                <a:solidFill>
                  <a:srgbClr val="0F3B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]</a:t>
            </a:r>
            <a:endParaRPr b="1" i="0" sz="800" u="none" cap="none" strike="noStrike">
              <a:solidFill>
                <a:srgbClr val="0F3BFE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6"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idx="12" type="sldNum"/>
          </p:nvPr>
        </p:nvSpPr>
        <p:spPr>
          <a:xfrm>
            <a:off x="11100295" y="6190209"/>
            <a:ext cx="7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29025" y="1710975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643050" y="1658050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43480" y="6527857"/>
            <a:ext cx="980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1F17F"/>
                </a:solidFill>
                <a:latin typeface="IBM Plex Sans"/>
                <a:ea typeface="IBM Plex Sans"/>
                <a:cs typeface="IBM Plex Sans"/>
                <a:sym typeface="IBM Plex Sans"/>
              </a:rPr>
              <a:t>[PUBLIC]</a:t>
            </a:r>
            <a:endParaRPr b="1" sz="800">
              <a:solidFill>
                <a:srgbClr val="11F17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chemeClr val="accent2"/>
          </p15:clr>
        </p15:guide>
        <p15:guide id="2" pos="7453">
          <p15:clr>
            <a:schemeClr val="accent2"/>
          </p15:clr>
        </p15:guide>
        <p15:guide id="3" orient="horz" pos="227">
          <p15:clr>
            <a:schemeClr val="accent2"/>
          </p15:clr>
        </p15:guide>
        <p15:guide id="4" pos="1242">
          <p15:clr>
            <a:srgbClr val="9900FF"/>
          </p15:clr>
        </p15:guide>
        <p15:guide id="5" pos="1469">
          <p15:clr>
            <a:srgbClr val="9900FF"/>
          </p15:clr>
        </p15:guide>
        <p15:guide id="6" pos="2484">
          <p15:clr>
            <a:srgbClr val="9900FF"/>
          </p15:clr>
        </p15:guide>
        <p15:guide id="7" pos="2711">
          <p15:clr>
            <a:srgbClr val="9900FF"/>
          </p15:clr>
        </p15:guide>
        <p15:guide id="8" pos="3727">
          <p15:clr>
            <a:srgbClr val="9900FF"/>
          </p15:clr>
        </p15:guide>
        <p15:guide id="9" pos="3953">
          <p15:clr>
            <a:srgbClr val="9900FF"/>
          </p15:clr>
        </p15:guide>
        <p15:guide id="10" pos="4969">
          <p15:clr>
            <a:srgbClr val="9900FF"/>
          </p15:clr>
        </p15:guide>
        <p15:guide id="11" pos="5196">
          <p15:clr>
            <a:srgbClr val="9900FF"/>
          </p15:clr>
        </p15:guide>
        <p15:guide id="12" pos="6211">
          <p15:clr>
            <a:srgbClr val="9900FF"/>
          </p15:clr>
        </p15:guide>
        <p15:guide id="13" pos="6438">
          <p15:clr>
            <a:srgbClr val="9900FF"/>
          </p15:clr>
        </p15:guide>
        <p15:guide id="14" pos="3840">
          <p15:clr>
            <a:srgbClr val="00FF00"/>
          </p15:clr>
        </p15:guide>
        <p15:guide id="15" orient="horz" pos="420">
          <p15:clr>
            <a:srgbClr val="E46962"/>
          </p15:clr>
        </p15:guide>
        <p15:guide id="16" orient="horz" pos="4093">
          <p15:clr>
            <a:schemeClr val="accent2"/>
          </p15:clr>
        </p15:guide>
        <p15:guide id="17" orient="horz" pos="4176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>
            <a:off x="829025" y="1710975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1" type="body"/>
          </p:nvPr>
        </p:nvSpPr>
        <p:spPr>
          <a:xfrm>
            <a:off x="8643050" y="1658050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chemeClr val="accent2"/>
          </p15:clr>
        </p15:guide>
        <p15:guide id="2" pos="7453">
          <p15:clr>
            <a:schemeClr val="accent2"/>
          </p15:clr>
        </p15:guide>
        <p15:guide id="3" orient="horz" pos="227">
          <p15:clr>
            <a:schemeClr val="accent2"/>
          </p15:clr>
        </p15:guide>
        <p15:guide id="4" pos="1242">
          <p15:clr>
            <a:srgbClr val="9900FF"/>
          </p15:clr>
        </p15:guide>
        <p15:guide id="5" pos="1469">
          <p15:clr>
            <a:srgbClr val="9900FF"/>
          </p15:clr>
        </p15:guide>
        <p15:guide id="6" pos="2484">
          <p15:clr>
            <a:srgbClr val="9900FF"/>
          </p15:clr>
        </p15:guide>
        <p15:guide id="7" pos="2711">
          <p15:clr>
            <a:srgbClr val="9900FF"/>
          </p15:clr>
        </p15:guide>
        <p15:guide id="8" pos="3727">
          <p15:clr>
            <a:srgbClr val="9900FF"/>
          </p15:clr>
        </p15:guide>
        <p15:guide id="9" pos="3953">
          <p15:clr>
            <a:srgbClr val="9900FF"/>
          </p15:clr>
        </p15:guide>
        <p15:guide id="10" pos="4969">
          <p15:clr>
            <a:srgbClr val="9900FF"/>
          </p15:clr>
        </p15:guide>
        <p15:guide id="11" pos="5196">
          <p15:clr>
            <a:srgbClr val="9900FF"/>
          </p15:clr>
        </p15:guide>
        <p15:guide id="12" pos="6211">
          <p15:clr>
            <a:srgbClr val="9900FF"/>
          </p15:clr>
        </p15:guide>
        <p15:guide id="13" pos="6438">
          <p15:clr>
            <a:srgbClr val="9900FF"/>
          </p15:clr>
        </p15:guide>
        <p15:guide id="14" pos="3840">
          <p15:clr>
            <a:srgbClr val="00FF00"/>
          </p15:clr>
        </p15:guide>
        <p15:guide id="15" orient="horz" pos="420">
          <p15:clr>
            <a:srgbClr val="E46962"/>
          </p15:clr>
        </p15:guide>
        <p15:guide id="16" orient="horz" pos="4093">
          <p15:clr>
            <a:schemeClr val="accent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18.jp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Relationship Id="rId4" Type="http://schemas.openxmlformats.org/officeDocument/2006/relationships/image" Target="../media/image34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jp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18.jp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3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4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18.jp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1.png"/><Relationship Id="rId4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Relationship Id="rId5" Type="http://schemas.openxmlformats.org/officeDocument/2006/relationships/image" Target="../media/image38.png"/><Relationship Id="rId6" Type="http://schemas.openxmlformats.org/officeDocument/2006/relationships/hyperlink" Target="https://www.aepd.es/en/prensa-y-comunicacion/blog/data-spaces-sovereignty-and-privacy-by-design" TargetMode="External"/><Relationship Id="rId7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3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type="title"/>
          </p:nvPr>
        </p:nvSpPr>
        <p:spPr>
          <a:xfrm>
            <a:off x="173529" y="875776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[03]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Ecosystem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can we</a:t>
            </a:r>
            <a:r>
              <a:rPr lang="en" sz="3000"/>
              <a:t>  generate </a:t>
            </a:r>
            <a:r>
              <a:rPr b="1" lang="en" sz="3000"/>
              <a:t>real world evidence</a:t>
            </a:r>
            <a:r>
              <a:rPr lang="en" sz="3000"/>
              <a:t> in a reliable way?</a:t>
            </a:r>
            <a:endParaRPr sz="3000"/>
          </a:p>
        </p:txBody>
      </p:sp>
      <p:sp>
        <p:nvSpPr>
          <p:cNvPr id="241" name="Google Shape;241;p32"/>
          <p:cNvSpPr txBox="1"/>
          <p:nvPr/>
        </p:nvSpPr>
        <p:spPr>
          <a:xfrm>
            <a:off x="638100" y="1836350"/>
            <a:ext cx="63012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must be “</a:t>
            </a:r>
            <a:r>
              <a:rPr b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reproducible</a:t>
            </a: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”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○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result should generalize through different geographies and clinical realities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○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must be interoperable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○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Analysis should yield similar results</a:t>
            </a:r>
            <a:b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do we all store data in the same format? How do we share methods ?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2" name="Google Shape;242;p3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43" name="Google Shape;243;p32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pic>
        <p:nvPicPr>
          <p:cNvPr id="244" name="Google Shape;24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8225" y="2851475"/>
            <a:ext cx="2283550" cy="18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Open Science is sustained by </a:t>
            </a:r>
            <a:r>
              <a:rPr b="1" lang="en" sz="3000"/>
              <a:t>individual with similar goals</a:t>
            </a:r>
            <a:endParaRPr b="1" sz="3000"/>
          </a:p>
        </p:txBody>
      </p:sp>
      <p:sp>
        <p:nvSpPr>
          <p:cNvPr id="250" name="Google Shape;250;p33"/>
          <p:cNvSpPr txBox="1"/>
          <p:nvPr/>
        </p:nvSpPr>
        <p:spPr>
          <a:xfrm>
            <a:off x="638100" y="1836350"/>
            <a:ext cx="76098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single </a:t>
            </a:r>
            <a:r>
              <a:rPr i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Company</a:t>
            </a: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 can develop and validate the analytical methods.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single </a:t>
            </a:r>
            <a:r>
              <a:rPr i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Lab</a:t>
            </a: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 can maintain the vocabularies.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</a:t>
            </a:r>
            <a:r>
              <a:rPr i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Hospital</a:t>
            </a: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 has resources to adapt to every data request.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b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Community efforts are necessary </a:t>
            </a: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standardize the process. A true global effort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1" name="Google Shape;251;p33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52" name="Google Shape;252;p33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OHDSI</a:t>
            </a:r>
            <a:r>
              <a:rPr lang="en" sz="3000"/>
              <a:t> - A global Open Science community</a:t>
            </a:r>
            <a:endParaRPr sz="3000"/>
          </a:p>
        </p:txBody>
      </p:sp>
      <p:sp>
        <p:nvSpPr>
          <p:cNvPr id="258" name="Google Shape;258;p34"/>
          <p:cNvSpPr txBox="1"/>
          <p:nvPr/>
        </p:nvSpPr>
        <p:spPr>
          <a:xfrm>
            <a:off x="638100" y="1836350"/>
            <a:ext cx="73440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Is a </a:t>
            </a:r>
            <a:r>
              <a:rPr b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community</a:t>
            </a: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 of epidemiologist, biostatisticians, computer scientists […] founded in 2013 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build: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○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specifications for </a:t>
            </a: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○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tools to work with data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○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tools to analyze data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○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methodologies to provide reliable evidence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60" name="Google Shape;260;p34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pic>
        <p:nvPicPr>
          <p:cNvPr id="261" name="Google Shape;26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0875" y="1453250"/>
            <a:ext cx="3639301" cy="242620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4"/>
          <p:cNvSpPr txBox="1"/>
          <p:nvPr/>
        </p:nvSpPr>
        <p:spPr>
          <a:xfrm>
            <a:off x="7310750" y="4095750"/>
            <a:ext cx="4052700" cy="1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is governed by each entity, NO data sharing, only methods and results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/>
        </p:nvSpPr>
        <p:spPr>
          <a:xfrm>
            <a:off x="638100" y="1836350"/>
            <a:ext cx="99459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b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Mission</a:t>
            </a:r>
            <a:endParaRPr b="1"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○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improve health by empowering a community to collaboratively generate the evidence that promotes better health decisions and better care.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b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Vision</a:t>
            </a:r>
            <a:endParaRPr b="1"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○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A world in which observational research produces a comprehensive understanding of health and disease.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8" name="Google Shape;268;p35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OHDSI</a:t>
            </a:r>
            <a:r>
              <a:rPr lang="en" sz="3000"/>
              <a:t> - A global Open Science community</a:t>
            </a:r>
            <a:endParaRPr b="1" sz="3000"/>
          </a:p>
        </p:txBody>
      </p:sp>
      <p:sp>
        <p:nvSpPr>
          <p:cNvPr id="269" name="Google Shape;269;p35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70" name="Google Shape;270;p35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pic>
        <p:nvPicPr>
          <p:cNvPr id="271" name="Google Shape;271;p35"/>
          <p:cNvPicPr preferRelativeResize="0"/>
          <p:nvPr/>
        </p:nvPicPr>
        <p:blipFill rotWithShape="1">
          <a:blip r:embed="rId3">
            <a:alphaModFix/>
          </a:blip>
          <a:srcRect b="28920" l="0" r="0" t="28916"/>
          <a:stretch/>
        </p:blipFill>
        <p:spPr>
          <a:xfrm>
            <a:off x="9631275" y="876325"/>
            <a:ext cx="2291375" cy="6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OHDSI</a:t>
            </a:r>
            <a:r>
              <a:rPr lang="en" sz="3000"/>
              <a:t> - </a:t>
            </a:r>
            <a:r>
              <a:rPr b="1" lang="en" sz="3000"/>
              <a:t>By The Numbers</a:t>
            </a:r>
            <a:endParaRPr b="1" sz="3000"/>
          </a:p>
        </p:txBody>
      </p:sp>
      <p:sp>
        <p:nvSpPr>
          <p:cNvPr id="277" name="Google Shape;277;p36"/>
          <p:cNvSpPr txBox="1"/>
          <p:nvPr/>
        </p:nvSpPr>
        <p:spPr>
          <a:xfrm>
            <a:off x="638100" y="1836350"/>
            <a:ext cx="52779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+1.000 M patients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+ 5,000 collaborators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544 data holders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88 countries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21 time zones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6 continents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1 communit</a:t>
            </a: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y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8" name="Google Shape;278;p36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79" name="Google Shape;279;p36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pic>
        <p:nvPicPr>
          <p:cNvPr id="280" name="Google Shape;280;p36"/>
          <p:cNvPicPr preferRelativeResize="0"/>
          <p:nvPr/>
        </p:nvPicPr>
        <p:blipFill rotWithShape="1">
          <a:blip r:embed="rId3">
            <a:alphaModFix/>
          </a:blip>
          <a:srcRect b="28920" l="0" r="0" t="28916"/>
          <a:stretch/>
        </p:blipFill>
        <p:spPr>
          <a:xfrm>
            <a:off x="9631275" y="876325"/>
            <a:ext cx="2291375" cy="64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6" title="Screenshot 2026-04-28 at 06.39.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1650" y="1757425"/>
            <a:ext cx="6790349" cy="474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87" name="Google Shape;287;p37"/>
          <p:cNvSpPr txBox="1"/>
          <p:nvPr>
            <p:ph type="title"/>
          </p:nvPr>
        </p:nvSpPr>
        <p:spPr>
          <a:xfrm>
            <a:off x="238250" y="497525"/>
            <a:ext cx="114012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data and the methods must be standardized to be reproducible</a:t>
            </a:r>
            <a:endParaRPr sz="3000"/>
          </a:p>
        </p:txBody>
      </p:sp>
      <p:pic>
        <p:nvPicPr>
          <p:cNvPr id="288" name="Google Shape;288;p37" title="Screenshot 2026-04-28 at 05.05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25" y="1520525"/>
            <a:ext cx="10289951" cy="467268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7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95" name="Google Shape;295;p38"/>
          <p:cNvSpPr txBox="1"/>
          <p:nvPr/>
        </p:nvSpPr>
        <p:spPr>
          <a:xfrm>
            <a:off x="615775" y="1635863"/>
            <a:ext cx="102585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93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Sharing data specifications, vocabularies, tools and methodologies we can </a:t>
            </a:r>
            <a:r>
              <a:rPr b="1" lang="en" sz="2493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focus on the clinical outcomes</a:t>
            </a:r>
            <a:r>
              <a:rPr lang="en" sz="2493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sz="2493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6" name="Google Shape;296;p38"/>
          <p:cNvSpPr txBox="1"/>
          <p:nvPr/>
        </p:nvSpPr>
        <p:spPr>
          <a:xfrm>
            <a:off x="4033797" y="5227027"/>
            <a:ext cx="24477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For every clinical event</a:t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4033797" y="5543678"/>
            <a:ext cx="3764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shared ID between all databases</a:t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8" name="Google Shape;298;p38"/>
          <p:cNvSpPr txBox="1"/>
          <p:nvPr/>
        </p:nvSpPr>
        <p:spPr>
          <a:xfrm>
            <a:off x="668673" y="5227027"/>
            <a:ext cx="24477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Multiple</a:t>
            </a:r>
            <a:r>
              <a:rPr lang="en" sz="1565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 Hospital</a:t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99" name="Google Shape;299;p38"/>
          <p:cNvSpPr txBox="1"/>
          <p:nvPr/>
        </p:nvSpPr>
        <p:spPr>
          <a:xfrm>
            <a:off x="668673" y="5473646"/>
            <a:ext cx="3764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Same data model</a:t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00" name="Google Shape;300;p38"/>
          <p:cNvPicPr preferRelativeResize="0"/>
          <p:nvPr/>
        </p:nvPicPr>
        <p:blipFill rotWithShape="1">
          <a:blip r:embed="rId3">
            <a:alphaModFix/>
          </a:blip>
          <a:srcRect b="0" l="11237" r="0" t="0"/>
          <a:stretch/>
        </p:blipFill>
        <p:spPr>
          <a:xfrm>
            <a:off x="527699" y="2570338"/>
            <a:ext cx="3106700" cy="24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4150" y="2938476"/>
            <a:ext cx="4467650" cy="17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pic>
        <p:nvPicPr>
          <p:cNvPr id="303" name="Google Shape;303;p38" title="Screenshot 2026-04-28 at 06.49.25.png"/>
          <p:cNvPicPr preferRelativeResize="0"/>
          <p:nvPr/>
        </p:nvPicPr>
        <p:blipFill rotWithShape="1">
          <a:blip r:embed="rId5">
            <a:alphaModFix/>
          </a:blip>
          <a:srcRect b="0" l="0" r="43146" t="0"/>
          <a:stretch/>
        </p:blipFill>
        <p:spPr>
          <a:xfrm>
            <a:off x="8539800" y="2864725"/>
            <a:ext cx="3292201" cy="191436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8"/>
          <p:cNvSpPr txBox="1"/>
          <p:nvPr/>
        </p:nvSpPr>
        <p:spPr>
          <a:xfrm>
            <a:off x="8381797" y="5227027"/>
            <a:ext cx="24477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For every analysis</a:t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8381797" y="5543678"/>
            <a:ext cx="3764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Shared methodology</a:t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6" name="Google Shape;306;p38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At </a:t>
            </a:r>
            <a:r>
              <a:rPr lang="en" sz="3000"/>
              <a:t>OHDSI we build together and learn from each other</a:t>
            </a:r>
            <a:endParaRPr b="1" sz="3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12" name="Google Shape;312;p39"/>
          <p:cNvSpPr txBox="1"/>
          <p:nvPr/>
        </p:nvSpPr>
        <p:spPr>
          <a:xfrm>
            <a:off x="615775" y="1635863"/>
            <a:ext cx="102585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93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Sharing data specifications, vocabularies, tools and methodologies we can </a:t>
            </a:r>
            <a:r>
              <a:rPr b="1" lang="en" sz="2493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focus on the clinical outcomes</a:t>
            </a:r>
            <a:r>
              <a:rPr lang="en" sz="2493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sz="2493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3" name="Google Shape;313;p39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314" name="Google Shape;314;p39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At OHDSI we build together and learn from each other</a:t>
            </a:r>
            <a:endParaRPr b="1" sz="3000"/>
          </a:p>
        </p:txBody>
      </p:sp>
      <p:sp>
        <p:nvSpPr>
          <p:cNvPr id="315" name="Google Shape;315;p39"/>
          <p:cNvSpPr txBox="1"/>
          <p:nvPr/>
        </p:nvSpPr>
        <p:spPr>
          <a:xfrm>
            <a:off x="1693950" y="3628150"/>
            <a:ext cx="8624400" cy="12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69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is governed by each entity, </a:t>
            </a:r>
            <a:br>
              <a:rPr b="1" lang="en" sz="3269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b="1" lang="en" sz="3269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data sharing, only methods and results</a:t>
            </a:r>
            <a:endParaRPr b="1" sz="2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21" name="Google Shape;321;p40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322" name="Google Shape;322;p40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By having standards, we can </a:t>
            </a:r>
            <a:r>
              <a:rPr b="1" lang="en" sz="3000"/>
              <a:t>federate</a:t>
            </a:r>
            <a:r>
              <a:rPr lang="en" sz="3000"/>
              <a:t> our clinical research, </a:t>
            </a:r>
            <a:br>
              <a:rPr lang="en" sz="3000"/>
            </a:br>
            <a:r>
              <a:rPr lang="en" sz="3000"/>
              <a:t>while data stays local to each source (Hospital)</a:t>
            </a:r>
            <a:endParaRPr b="1" sz="3000"/>
          </a:p>
        </p:txBody>
      </p:sp>
      <p:pic>
        <p:nvPicPr>
          <p:cNvPr id="323" name="Google Shape;323;p40" title="Screenshot 2026-04-28 at 06.53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375" y="1836350"/>
            <a:ext cx="8200433" cy="4716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" name="Google Shape;324;p40"/>
          <p:cNvCxnSpPr/>
          <p:nvPr/>
        </p:nvCxnSpPr>
        <p:spPr>
          <a:xfrm>
            <a:off x="1525100" y="5031800"/>
            <a:ext cx="9296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40"/>
          <p:cNvSpPr txBox="1"/>
          <p:nvPr/>
        </p:nvSpPr>
        <p:spPr>
          <a:xfrm>
            <a:off x="563400" y="5546625"/>
            <a:ext cx="147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Researchers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6" name="Google Shape;326;p40"/>
          <p:cNvSpPr txBox="1"/>
          <p:nvPr/>
        </p:nvSpPr>
        <p:spPr>
          <a:xfrm>
            <a:off x="563400" y="4283825"/>
            <a:ext cx="147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Data Holder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7" name="Google Shape;327;p40"/>
          <p:cNvSpPr/>
          <p:nvPr/>
        </p:nvSpPr>
        <p:spPr>
          <a:xfrm>
            <a:off x="8248000" y="5789475"/>
            <a:ext cx="707700" cy="4470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PLD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33" name="Google Shape;333;p41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334" name="Google Shape;334;p41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At OHDSI we build together and learn from each other</a:t>
            </a:r>
            <a:endParaRPr b="1" sz="3000"/>
          </a:p>
        </p:txBody>
      </p:sp>
      <p:pic>
        <p:nvPicPr>
          <p:cNvPr id="335" name="Google Shape;335;p41" title="Screenshot 2026-04-28 at 06.54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575" y="1607750"/>
            <a:ext cx="10020859" cy="47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41" name="Google Shape;341;p42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342" name="Google Shape;342;p42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OHDSI - OMOP Common Data Model</a:t>
            </a:r>
            <a:endParaRPr b="1" sz="3000"/>
          </a:p>
        </p:txBody>
      </p:sp>
      <p:pic>
        <p:nvPicPr>
          <p:cNvPr id="343" name="Google Shape;3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400" y="1739950"/>
            <a:ext cx="5985198" cy="47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49" name="Google Shape;349;p43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350" name="Google Shape;350;p43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OHDSI - OMOP Common Data Model</a:t>
            </a:r>
            <a:endParaRPr b="1" sz="3000"/>
          </a:p>
        </p:txBody>
      </p:sp>
      <p:sp>
        <p:nvSpPr>
          <p:cNvPr id="351" name="Google Shape;351;p43"/>
          <p:cNvSpPr txBox="1"/>
          <p:nvPr>
            <p:ph type="title"/>
          </p:nvPr>
        </p:nvSpPr>
        <p:spPr>
          <a:xfrm>
            <a:off x="3785551" y="2917500"/>
            <a:ext cx="4620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DEMO</a:t>
            </a:r>
            <a:endParaRPr b="1" sz="5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57" name="Google Shape;357;p44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358" name="Google Shape;358;p44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OHDSI - Open Source analysis software</a:t>
            </a:r>
            <a:endParaRPr b="1" sz="3000"/>
          </a:p>
        </p:txBody>
      </p:sp>
      <p:pic>
        <p:nvPicPr>
          <p:cNvPr id="359" name="Google Shape;359;p44" title="Screenshot 2026-04-28 at 06.56.52.png"/>
          <p:cNvPicPr preferRelativeResize="0"/>
          <p:nvPr/>
        </p:nvPicPr>
        <p:blipFill rotWithShape="1">
          <a:blip r:embed="rId3">
            <a:alphaModFix/>
          </a:blip>
          <a:srcRect b="9586" l="0" r="0" t="9586"/>
          <a:stretch/>
        </p:blipFill>
        <p:spPr>
          <a:xfrm>
            <a:off x="3103400" y="1739950"/>
            <a:ext cx="5985197" cy="471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45"/>
          <p:cNvCxnSpPr/>
          <p:nvPr/>
        </p:nvCxnSpPr>
        <p:spPr>
          <a:xfrm>
            <a:off x="2635550" y="2622248"/>
            <a:ext cx="6909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365" name="Google Shape;365;p45"/>
          <p:cNvSpPr/>
          <p:nvPr/>
        </p:nvSpPr>
        <p:spPr>
          <a:xfrm>
            <a:off x="2914975" y="2408073"/>
            <a:ext cx="819000" cy="279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6" name="Google Shape;366;p45"/>
          <p:cNvSpPr/>
          <p:nvPr/>
        </p:nvSpPr>
        <p:spPr>
          <a:xfrm>
            <a:off x="4032238" y="2134198"/>
            <a:ext cx="2118600" cy="332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7" name="Google Shape;367;p45"/>
          <p:cNvSpPr/>
          <p:nvPr/>
        </p:nvSpPr>
        <p:spPr>
          <a:xfrm>
            <a:off x="6449094" y="2134198"/>
            <a:ext cx="2118600" cy="332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8" name="Google Shape;368;p45"/>
          <p:cNvSpPr/>
          <p:nvPr/>
        </p:nvSpPr>
        <p:spPr>
          <a:xfrm>
            <a:off x="9575225" y="2134198"/>
            <a:ext cx="2118600" cy="332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9" name="Google Shape;369;p45"/>
          <p:cNvSpPr/>
          <p:nvPr/>
        </p:nvSpPr>
        <p:spPr>
          <a:xfrm>
            <a:off x="498125" y="2134198"/>
            <a:ext cx="2118600" cy="332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0" name="Google Shape;370;p45"/>
          <p:cNvSpPr/>
          <p:nvPr/>
        </p:nvSpPr>
        <p:spPr>
          <a:xfrm>
            <a:off x="13313444" y="5962061"/>
            <a:ext cx="25381" cy="24467"/>
          </a:xfrm>
          <a:custGeom>
            <a:rect b="b" l="l" r="r" t="t"/>
            <a:pathLst>
              <a:path extrusionOk="0" fill="none" h="106" w="105">
                <a:moveTo>
                  <a:pt x="105" y="105"/>
                </a:moveTo>
                <a:lnTo>
                  <a:pt x="0" y="1"/>
                </a:lnTo>
              </a:path>
            </a:pathLst>
          </a:custGeom>
          <a:solidFill>
            <a:srgbClr val="CFD8FF"/>
          </a:solidFill>
          <a:ln cap="rnd" cmpd="sng" w="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5"/>
          <p:cNvSpPr txBox="1"/>
          <p:nvPr/>
        </p:nvSpPr>
        <p:spPr>
          <a:xfrm>
            <a:off x="503575" y="4456973"/>
            <a:ext cx="211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4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2014</a:t>
            </a:r>
            <a:endParaRPr sz="4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2" name="Google Shape;372;p45"/>
          <p:cNvSpPr txBox="1"/>
          <p:nvPr/>
        </p:nvSpPr>
        <p:spPr>
          <a:xfrm>
            <a:off x="4071174" y="4456980"/>
            <a:ext cx="2079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4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2018</a:t>
            </a:r>
            <a:endParaRPr sz="4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3" name="Google Shape;373;p45"/>
          <p:cNvSpPr txBox="1"/>
          <p:nvPr/>
        </p:nvSpPr>
        <p:spPr>
          <a:xfrm>
            <a:off x="9594048" y="4456980"/>
            <a:ext cx="1611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4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2027</a:t>
            </a:r>
            <a:endParaRPr sz="4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4" name="Google Shape;374;p45"/>
          <p:cNvSpPr txBox="1"/>
          <p:nvPr/>
        </p:nvSpPr>
        <p:spPr>
          <a:xfrm>
            <a:off x="6414224" y="4456980"/>
            <a:ext cx="215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4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2021</a:t>
            </a:r>
            <a:endParaRPr sz="4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5" name="Google Shape;375;p45"/>
          <p:cNvSpPr txBox="1"/>
          <p:nvPr/>
        </p:nvSpPr>
        <p:spPr>
          <a:xfrm>
            <a:off x="503575" y="2976448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Born from the Open-science Data Standard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6" name="Google Shape;376;p45"/>
          <p:cNvSpPr txBox="1"/>
          <p:nvPr/>
        </p:nvSpPr>
        <p:spPr>
          <a:xfrm>
            <a:off x="4028850" y="2976448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European Foundational Pilot on the OHDSI Data Standardization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7" name="Google Shape;377;p45"/>
          <p:cNvSpPr txBox="1"/>
          <p:nvPr/>
        </p:nvSpPr>
        <p:spPr>
          <a:xfrm>
            <a:off x="6449125" y="2976448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Data Standard chosen by the European Medicines Agency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8" name="Google Shape;378;p45"/>
          <p:cNvSpPr txBox="1"/>
          <p:nvPr/>
        </p:nvSpPr>
        <p:spPr>
          <a:xfrm>
            <a:off x="9575275" y="2976448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Regulation of the European Health  Data Space (EHDS)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79" name="Google Shape;37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7899" y="2362604"/>
            <a:ext cx="1611901" cy="423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1960" y="2362604"/>
            <a:ext cx="1250626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HDEN | IMI Innovative Medicines Initiative" id="381" name="Google Shape;38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8575" y="2362604"/>
            <a:ext cx="1519225" cy="4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5"/>
          <p:cNvPicPr preferRelativeResize="0"/>
          <p:nvPr/>
        </p:nvPicPr>
        <p:blipFill rotWithShape="1">
          <a:blip r:embed="rId6">
            <a:alphaModFix/>
          </a:blip>
          <a:srcRect b="9" l="0" r="0" t="7175"/>
          <a:stretch/>
        </p:blipFill>
        <p:spPr>
          <a:xfrm>
            <a:off x="6779674" y="2362604"/>
            <a:ext cx="1399600" cy="6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5"/>
          <p:cNvSpPr txBox="1"/>
          <p:nvPr>
            <p:ph type="title"/>
          </p:nvPr>
        </p:nvSpPr>
        <p:spPr>
          <a:xfrm>
            <a:off x="238250" y="796475"/>
            <a:ext cx="7527900" cy="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From </a:t>
            </a:r>
            <a:r>
              <a:rPr lang="en" sz="3000"/>
              <a:t>open</a:t>
            </a:r>
            <a:r>
              <a:rPr lang="en" sz="3000"/>
              <a:t> innovation to </a:t>
            </a:r>
            <a:r>
              <a:rPr b="1" lang="en" sz="3000"/>
              <a:t>regulation</a:t>
            </a:r>
            <a:endParaRPr b="1" sz="3000"/>
          </a:p>
        </p:txBody>
      </p:sp>
      <p:sp>
        <p:nvSpPr>
          <p:cNvPr id="384" name="Google Shape;384;p45"/>
          <p:cNvSpPr txBox="1"/>
          <p:nvPr/>
        </p:nvSpPr>
        <p:spPr>
          <a:xfrm>
            <a:off x="2826425" y="3310618"/>
            <a:ext cx="98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 </a:t>
            </a:r>
            <a:r>
              <a:rPr lang="en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BORN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5" name="Google Shape;385;p45"/>
          <p:cNvSpPr txBox="1"/>
          <p:nvPr/>
        </p:nvSpPr>
        <p:spPr>
          <a:xfrm>
            <a:off x="2826425" y="3979573"/>
            <a:ext cx="9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[ 2016 ]</a:t>
            </a:r>
            <a:endParaRPr b="1"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6" name="Google Shape;386;p45"/>
          <p:cNvSpPr txBox="1"/>
          <p:nvPr/>
        </p:nvSpPr>
        <p:spPr>
          <a:xfrm>
            <a:off x="8607945" y="3979573"/>
            <a:ext cx="9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 TODAY ]</a:t>
            </a:r>
            <a:endParaRPr b="1"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87" name="Google Shape;387;p45"/>
          <p:cNvCxnSpPr/>
          <p:nvPr/>
        </p:nvCxnSpPr>
        <p:spPr>
          <a:xfrm>
            <a:off x="3590232" y="4154473"/>
            <a:ext cx="5125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diamond"/>
            <a:tailEnd len="med" w="med" type="diamond"/>
          </a:ln>
        </p:spPr>
      </p:cxnSp>
      <p:pic>
        <p:nvPicPr>
          <p:cNvPr id="388" name="Google Shape;388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12303" y="2678773"/>
            <a:ext cx="620975" cy="6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90" name="Google Shape;390;p45"/>
          <p:cNvSpPr txBox="1"/>
          <p:nvPr>
            <p:ph idx="3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"/>
          <p:cNvSpPr txBox="1"/>
          <p:nvPr/>
        </p:nvSpPr>
        <p:spPr>
          <a:xfrm>
            <a:off x="628575" y="1682475"/>
            <a:ext cx="8706000" cy="22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Proof of a new paradigm for the </a:t>
            </a:r>
            <a:r>
              <a:rPr b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discovery and analysis of health data in Europe</a:t>
            </a: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 by building a large-scale, federated network of data sources standardised to a common data model (OMOP), significantly speeding up the generation of reliable evidence.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6" name="Google Shape;396;p46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97" name="Google Shape;397;p46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398" name="Google Shape;398;p46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EHDEN</a:t>
            </a:r>
            <a:r>
              <a:rPr lang="en" sz="3000"/>
              <a:t> - The European </a:t>
            </a:r>
            <a:r>
              <a:rPr b="1" lang="en" sz="3000"/>
              <a:t>proof of concept</a:t>
            </a:r>
            <a:r>
              <a:rPr lang="en" sz="3000"/>
              <a:t> for scalable RWE</a:t>
            </a:r>
            <a:endParaRPr b="1" sz="3000"/>
          </a:p>
        </p:txBody>
      </p:sp>
      <p:pic>
        <p:nvPicPr>
          <p:cNvPr descr="EHDEN | IMI Innovative Medicines Initiative" id="399" name="Google Shape;39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4250" y="1682486"/>
            <a:ext cx="2131000" cy="593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6" title="Screenshot 2026-04-28 at 07.16.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5025" y="4038050"/>
            <a:ext cx="5572982" cy="245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20003" y="5933525"/>
            <a:ext cx="1315147" cy="4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45790" y="5172075"/>
            <a:ext cx="889349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7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08" name="Google Shape;408;p47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409" name="Google Shape;409;p47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EHDEN - The European </a:t>
            </a:r>
            <a:r>
              <a:rPr b="1" lang="en" sz="3000"/>
              <a:t>proof of concept</a:t>
            </a:r>
            <a:r>
              <a:rPr lang="en" sz="3000"/>
              <a:t> for scalable RWE</a:t>
            </a:r>
            <a:endParaRPr b="1" sz="3000"/>
          </a:p>
        </p:txBody>
      </p:sp>
      <p:pic>
        <p:nvPicPr>
          <p:cNvPr descr="EHDEN | IMI Innovative Medicines Initiative" id="410" name="Google Shape;41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4250" y="1682486"/>
            <a:ext cx="2131000" cy="593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0003" y="5933525"/>
            <a:ext cx="1315147" cy="4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45790" y="5172075"/>
            <a:ext cx="889349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1722050"/>
            <a:ext cx="8385510" cy="47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19" name="Google Shape;419;p4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420" name="Google Shape;420;p48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EHDEN - The European </a:t>
            </a:r>
            <a:r>
              <a:rPr b="1" lang="en" sz="3000"/>
              <a:t>proof of concept</a:t>
            </a:r>
            <a:r>
              <a:rPr lang="en" sz="3000"/>
              <a:t> for scalable RWE</a:t>
            </a:r>
            <a:endParaRPr b="1" sz="3000"/>
          </a:p>
        </p:txBody>
      </p:sp>
      <p:pic>
        <p:nvPicPr>
          <p:cNvPr descr="EHDEN | IMI Innovative Medicines Initiative" id="421" name="Google Shape;42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4250" y="1682486"/>
            <a:ext cx="2131000" cy="593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0003" y="5933525"/>
            <a:ext cx="1315147" cy="4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45790" y="5172075"/>
            <a:ext cx="889349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8" title="Screenshot 2026-04-28 at 07.24.2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550" y="1682475"/>
            <a:ext cx="8687150" cy="471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9" name="Google Shape;429;p49"/>
          <p:cNvCxnSpPr/>
          <p:nvPr/>
        </p:nvCxnSpPr>
        <p:spPr>
          <a:xfrm>
            <a:off x="2635550" y="2622248"/>
            <a:ext cx="6909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430" name="Google Shape;430;p49"/>
          <p:cNvSpPr/>
          <p:nvPr/>
        </p:nvSpPr>
        <p:spPr>
          <a:xfrm>
            <a:off x="2914975" y="2408073"/>
            <a:ext cx="819000" cy="279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1" name="Google Shape;431;p49"/>
          <p:cNvSpPr/>
          <p:nvPr/>
        </p:nvSpPr>
        <p:spPr>
          <a:xfrm>
            <a:off x="4032238" y="2134198"/>
            <a:ext cx="2118600" cy="332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2" name="Google Shape;432;p49"/>
          <p:cNvSpPr/>
          <p:nvPr/>
        </p:nvSpPr>
        <p:spPr>
          <a:xfrm>
            <a:off x="6449094" y="2134198"/>
            <a:ext cx="2118600" cy="332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9575225" y="2134198"/>
            <a:ext cx="2118600" cy="332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4" name="Google Shape;434;p49"/>
          <p:cNvSpPr/>
          <p:nvPr/>
        </p:nvSpPr>
        <p:spPr>
          <a:xfrm>
            <a:off x="498125" y="2134198"/>
            <a:ext cx="2118600" cy="332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5" name="Google Shape;435;p49"/>
          <p:cNvSpPr/>
          <p:nvPr/>
        </p:nvSpPr>
        <p:spPr>
          <a:xfrm>
            <a:off x="13313444" y="5962061"/>
            <a:ext cx="25381" cy="24467"/>
          </a:xfrm>
          <a:custGeom>
            <a:rect b="b" l="l" r="r" t="t"/>
            <a:pathLst>
              <a:path extrusionOk="0" fill="none" h="106" w="105">
                <a:moveTo>
                  <a:pt x="105" y="105"/>
                </a:moveTo>
                <a:lnTo>
                  <a:pt x="0" y="1"/>
                </a:lnTo>
              </a:path>
            </a:pathLst>
          </a:custGeom>
          <a:solidFill>
            <a:srgbClr val="CFD8FF"/>
          </a:solidFill>
          <a:ln cap="rnd" cmpd="sng" w="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9"/>
          <p:cNvSpPr txBox="1"/>
          <p:nvPr/>
        </p:nvSpPr>
        <p:spPr>
          <a:xfrm>
            <a:off x="503575" y="4456973"/>
            <a:ext cx="211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4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2014</a:t>
            </a:r>
            <a:endParaRPr sz="4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7" name="Google Shape;437;p49"/>
          <p:cNvSpPr txBox="1"/>
          <p:nvPr/>
        </p:nvSpPr>
        <p:spPr>
          <a:xfrm>
            <a:off x="4071174" y="4456980"/>
            <a:ext cx="2079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4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2018</a:t>
            </a:r>
            <a:endParaRPr sz="4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8" name="Google Shape;438;p49"/>
          <p:cNvSpPr txBox="1"/>
          <p:nvPr/>
        </p:nvSpPr>
        <p:spPr>
          <a:xfrm>
            <a:off x="9594048" y="4456980"/>
            <a:ext cx="1611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4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2027</a:t>
            </a:r>
            <a:endParaRPr sz="4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9" name="Google Shape;439;p49"/>
          <p:cNvSpPr txBox="1"/>
          <p:nvPr/>
        </p:nvSpPr>
        <p:spPr>
          <a:xfrm>
            <a:off x="6414224" y="4456980"/>
            <a:ext cx="215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4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2021</a:t>
            </a:r>
            <a:endParaRPr sz="4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0" name="Google Shape;440;p49"/>
          <p:cNvSpPr txBox="1"/>
          <p:nvPr/>
        </p:nvSpPr>
        <p:spPr>
          <a:xfrm>
            <a:off x="503575" y="2976448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Born from the Open-science Data Standard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1" name="Google Shape;441;p49"/>
          <p:cNvSpPr txBox="1"/>
          <p:nvPr/>
        </p:nvSpPr>
        <p:spPr>
          <a:xfrm>
            <a:off x="4028850" y="2976448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European Foundational Pilot on the OHDSI Data Standardization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2" name="Google Shape;442;p49"/>
          <p:cNvSpPr txBox="1"/>
          <p:nvPr/>
        </p:nvSpPr>
        <p:spPr>
          <a:xfrm>
            <a:off x="6449125" y="2976448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Data Standard chosen by the European Medicines Agency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3" name="Google Shape;443;p49"/>
          <p:cNvSpPr txBox="1"/>
          <p:nvPr/>
        </p:nvSpPr>
        <p:spPr>
          <a:xfrm>
            <a:off x="9575275" y="2976448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Regulation of the European Health  Data Space (EHDS)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44" name="Google Shape;44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7899" y="2362604"/>
            <a:ext cx="1611901" cy="423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1960" y="2362604"/>
            <a:ext cx="1250626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HDEN | IMI Innovative Medicines Initiative" id="446" name="Google Shape;446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8575" y="2362604"/>
            <a:ext cx="1519225" cy="4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9"/>
          <p:cNvPicPr preferRelativeResize="0"/>
          <p:nvPr/>
        </p:nvPicPr>
        <p:blipFill rotWithShape="1">
          <a:blip r:embed="rId6">
            <a:alphaModFix/>
          </a:blip>
          <a:srcRect b="9" l="0" r="0" t="7175"/>
          <a:stretch/>
        </p:blipFill>
        <p:spPr>
          <a:xfrm>
            <a:off x="6779674" y="2362604"/>
            <a:ext cx="1399600" cy="6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9"/>
          <p:cNvSpPr txBox="1"/>
          <p:nvPr>
            <p:ph type="title"/>
          </p:nvPr>
        </p:nvSpPr>
        <p:spPr>
          <a:xfrm>
            <a:off x="238250" y="796475"/>
            <a:ext cx="7527900" cy="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From open innovation to </a:t>
            </a:r>
            <a:r>
              <a:rPr b="1" lang="en" sz="3000"/>
              <a:t>regulation</a:t>
            </a:r>
            <a:endParaRPr b="1" sz="3000"/>
          </a:p>
        </p:txBody>
      </p:sp>
      <p:sp>
        <p:nvSpPr>
          <p:cNvPr id="449" name="Google Shape;449;p49"/>
          <p:cNvSpPr txBox="1"/>
          <p:nvPr/>
        </p:nvSpPr>
        <p:spPr>
          <a:xfrm>
            <a:off x="2826425" y="3310618"/>
            <a:ext cx="98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 </a:t>
            </a:r>
            <a:r>
              <a:rPr lang="en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BORN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0" name="Google Shape;450;p49"/>
          <p:cNvSpPr txBox="1"/>
          <p:nvPr/>
        </p:nvSpPr>
        <p:spPr>
          <a:xfrm>
            <a:off x="2826425" y="3979573"/>
            <a:ext cx="9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[ 2016 ]</a:t>
            </a:r>
            <a:endParaRPr b="1"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1" name="Google Shape;451;p49"/>
          <p:cNvSpPr txBox="1"/>
          <p:nvPr/>
        </p:nvSpPr>
        <p:spPr>
          <a:xfrm>
            <a:off x="8607945" y="3979573"/>
            <a:ext cx="9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 TODAY ]</a:t>
            </a:r>
            <a:endParaRPr b="1"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52" name="Google Shape;452;p49"/>
          <p:cNvCxnSpPr/>
          <p:nvPr/>
        </p:nvCxnSpPr>
        <p:spPr>
          <a:xfrm>
            <a:off x="3590232" y="4154473"/>
            <a:ext cx="5125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diamond"/>
            <a:tailEnd len="med" w="med" type="diamond"/>
          </a:ln>
        </p:spPr>
      </p:cxnSp>
      <p:pic>
        <p:nvPicPr>
          <p:cNvPr id="453" name="Google Shape;453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12303" y="2678773"/>
            <a:ext cx="620975" cy="6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9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55" name="Google Shape;455;p49"/>
          <p:cNvSpPr txBox="1"/>
          <p:nvPr>
            <p:ph idx="3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0"/>
          <p:cNvSpPr txBox="1"/>
          <p:nvPr/>
        </p:nvSpPr>
        <p:spPr>
          <a:xfrm>
            <a:off x="628575" y="1682475"/>
            <a:ext cx="4114800" cy="40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DARWIN EU® is a federated network of data, expertise and services that supports better decision-making throughout the product lifecycle by generating reliable evidence from real world healthcare data.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1" name="Google Shape;461;p50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62" name="Google Shape;462;p50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463" name="Google Shape;463;p50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DARWIN EU</a:t>
            </a:r>
            <a:r>
              <a:rPr lang="en" sz="3000"/>
              <a:t> - The EMA RWE network</a:t>
            </a:r>
            <a:endParaRPr b="1" sz="3000"/>
          </a:p>
        </p:txBody>
      </p:sp>
      <p:pic>
        <p:nvPicPr>
          <p:cNvPr id="464" name="Google Shape;464;p50"/>
          <p:cNvPicPr preferRelativeResize="0"/>
          <p:nvPr/>
        </p:nvPicPr>
        <p:blipFill rotWithShape="1">
          <a:blip r:embed="rId3">
            <a:alphaModFix/>
          </a:blip>
          <a:srcRect b="9" l="0" r="0" t="7175"/>
          <a:stretch/>
        </p:blipFill>
        <p:spPr>
          <a:xfrm>
            <a:off x="9978425" y="931361"/>
            <a:ext cx="1773775" cy="7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0" title="Screenshot 2026-04-28 at 07.26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4850" y="1836350"/>
            <a:ext cx="5734547" cy="4356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71" name="Google Shape;471;p51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472" name="Google Shape;472;p51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DARWIN EU - The process for conducting studies</a:t>
            </a:r>
            <a:endParaRPr b="1" sz="3000"/>
          </a:p>
        </p:txBody>
      </p:sp>
      <p:pic>
        <p:nvPicPr>
          <p:cNvPr id="473" name="Google Shape;473;p51"/>
          <p:cNvPicPr preferRelativeResize="0"/>
          <p:nvPr/>
        </p:nvPicPr>
        <p:blipFill rotWithShape="1">
          <a:blip r:embed="rId3">
            <a:alphaModFix/>
          </a:blip>
          <a:srcRect b="9" l="0" r="0" t="7175"/>
          <a:stretch/>
        </p:blipFill>
        <p:spPr>
          <a:xfrm>
            <a:off x="9978425" y="931361"/>
            <a:ext cx="1773775" cy="7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1" title="Screenshot 2026-04-28 at 07.27.08.png"/>
          <p:cNvPicPr preferRelativeResize="0"/>
          <p:nvPr/>
        </p:nvPicPr>
        <p:blipFill rotWithShape="1">
          <a:blip r:embed="rId4">
            <a:alphaModFix/>
          </a:blip>
          <a:srcRect b="0" l="0" r="0" t="10217"/>
          <a:stretch/>
        </p:blipFill>
        <p:spPr>
          <a:xfrm>
            <a:off x="351200" y="1836350"/>
            <a:ext cx="10052152" cy="444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80" name="Google Shape;480;p52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481" name="Google Shape;481;p52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DARWIN EU - The process for conducting studies</a:t>
            </a:r>
            <a:endParaRPr b="1" sz="3000"/>
          </a:p>
        </p:txBody>
      </p:sp>
      <p:pic>
        <p:nvPicPr>
          <p:cNvPr id="482" name="Google Shape;482;p52"/>
          <p:cNvPicPr preferRelativeResize="0"/>
          <p:nvPr/>
        </p:nvPicPr>
        <p:blipFill rotWithShape="1">
          <a:blip r:embed="rId3">
            <a:alphaModFix/>
          </a:blip>
          <a:srcRect b="9" l="0" r="0" t="7175"/>
          <a:stretch/>
        </p:blipFill>
        <p:spPr>
          <a:xfrm>
            <a:off x="9978425" y="931361"/>
            <a:ext cx="1773775" cy="7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2"/>
          <p:cNvPicPr preferRelativeResize="0"/>
          <p:nvPr/>
        </p:nvPicPr>
        <p:blipFill rotWithShape="1">
          <a:blip r:embed="rId4">
            <a:alphaModFix/>
          </a:blip>
          <a:srcRect b="59" l="0" r="0" t="16287"/>
          <a:stretch/>
        </p:blipFill>
        <p:spPr>
          <a:xfrm>
            <a:off x="360000" y="1975324"/>
            <a:ext cx="9928175" cy="395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89" name="Google Shape;489;p53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490" name="Google Shape;490;p53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DARWIN EU - The process for conducting studies</a:t>
            </a:r>
            <a:endParaRPr b="1" sz="3000"/>
          </a:p>
        </p:txBody>
      </p:sp>
      <p:pic>
        <p:nvPicPr>
          <p:cNvPr id="491" name="Google Shape;491;p53"/>
          <p:cNvPicPr preferRelativeResize="0"/>
          <p:nvPr/>
        </p:nvPicPr>
        <p:blipFill rotWithShape="1">
          <a:blip r:embed="rId3">
            <a:alphaModFix/>
          </a:blip>
          <a:srcRect b="9" l="0" r="0" t="7175"/>
          <a:stretch/>
        </p:blipFill>
        <p:spPr>
          <a:xfrm>
            <a:off x="9978425" y="931361"/>
            <a:ext cx="1773775" cy="7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3" title="Screenshot 2026-04-28 at 07.29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000" y="1718325"/>
            <a:ext cx="10764681" cy="4356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98" name="Google Shape;498;p54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499" name="Google Shape;499;p54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DARWIN EU - Data Partners Phase 1</a:t>
            </a:r>
            <a:endParaRPr b="1" sz="3000"/>
          </a:p>
        </p:txBody>
      </p:sp>
      <p:pic>
        <p:nvPicPr>
          <p:cNvPr id="500" name="Google Shape;500;p54"/>
          <p:cNvPicPr preferRelativeResize="0"/>
          <p:nvPr/>
        </p:nvPicPr>
        <p:blipFill rotWithShape="1">
          <a:blip r:embed="rId3">
            <a:alphaModFix/>
          </a:blip>
          <a:srcRect b="9" l="0" r="0" t="7175"/>
          <a:stretch/>
        </p:blipFill>
        <p:spPr>
          <a:xfrm>
            <a:off x="9978425" y="931361"/>
            <a:ext cx="1773775" cy="7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4" title="Screenshot 2026-04-28 at 07.30.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425" y="1663750"/>
            <a:ext cx="8813967" cy="47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07" name="Google Shape;507;p55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508" name="Google Shape;508;p55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DARWIN EU - v2</a:t>
            </a:r>
            <a:endParaRPr b="1" sz="3000"/>
          </a:p>
        </p:txBody>
      </p:sp>
      <p:pic>
        <p:nvPicPr>
          <p:cNvPr id="509" name="Google Shape;509;p55"/>
          <p:cNvPicPr preferRelativeResize="0"/>
          <p:nvPr/>
        </p:nvPicPr>
        <p:blipFill rotWithShape="1">
          <a:blip r:embed="rId3">
            <a:alphaModFix/>
          </a:blip>
          <a:srcRect b="9" l="0" r="0" t="7175"/>
          <a:stretch/>
        </p:blipFill>
        <p:spPr>
          <a:xfrm>
            <a:off x="9978425" y="931361"/>
            <a:ext cx="1773775" cy="78697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5"/>
          <p:cNvSpPr txBox="1"/>
          <p:nvPr/>
        </p:nvSpPr>
        <p:spPr>
          <a:xfrm>
            <a:off x="628575" y="1682475"/>
            <a:ext cx="8313900" cy="20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established DARWIN initiative operated for five years. 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This year, a new call for proposals will be launched, and new data partners will be engaged by DARWIN EU - v2.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6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16" name="Google Shape;516;p56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517" name="Google Shape;517;p56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DARWIN EU - Data Partners Phase 2</a:t>
            </a:r>
            <a:endParaRPr b="1" sz="3000"/>
          </a:p>
        </p:txBody>
      </p:sp>
      <p:pic>
        <p:nvPicPr>
          <p:cNvPr id="518" name="Google Shape;518;p56"/>
          <p:cNvPicPr preferRelativeResize="0"/>
          <p:nvPr/>
        </p:nvPicPr>
        <p:blipFill rotWithShape="1">
          <a:blip r:embed="rId3">
            <a:alphaModFix/>
          </a:blip>
          <a:srcRect b="9" l="0" r="0" t="7175"/>
          <a:stretch/>
        </p:blipFill>
        <p:spPr>
          <a:xfrm>
            <a:off x="9978425" y="931361"/>
            <a:ext cx="1773775" cy="78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56" title="Screenshot 2026-04-28 at 07.30.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1000" y="1663750"/>
            <a:ext cx="7944166" cy="471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4" name="Google Shape;524;p57"/>
          <p:cNvCxnSpPr/>
          <p:nvPr/>
        </p:nvCxnSpPr>
        <p:spPr>
          <a:xfrm>
            <a:off x="2635550" y="2622248"/>
            <a:ext cx="6909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525" name="Google Shape;525;p57"/>
          <p:cNvSpPr/>
          <p:nvPr/>
        </p:nvSpPr>
        <p:spPr>
          <a:xfrm>
            <a:off x="2914975" y="2408073"/>
            <a:ext cx="819000" cy="279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6" name="Google Shape;526;p57"/>
          <p:cNvSpPr/>
          <p:nvPr/>
        </p:nvSpPr>
        <p:spPr>
          <a:xfrm>
            <a:off x="4032238" y="2134198"/>
            <a:ext cx="2118600" cy="332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7" name="Google Shape;527;p57"/>
          <p:cNvSpPr/>
          <p:nvPr/>
        </p:nvSpPr>
        <p:spPr>
          <a:xfrm>
            <a:off x="6449094" y="2134198"/>
            <a:ext cx="2118600" cy="332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8" name="Google Shape;528;p57"/>
          <p:cNvSpPr/>
          <p:nvPr/>
        </p:nvSpPr>
        <p:spPr>
          <a:xfrm>
            <a:off x="9575225" y="2134198"/>
            <a:ext cx="2118600" cy="332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9" name="Google Shape;529;p57"/>
          <p:cNvSpPr/>
          <p:nvPr/>
        </p:nvSpPr>
        <p:spPr>
          <a:xfrm>
            <a:off x="498125" y="2134198"/>
            <a:ext cx="2118600" cy="332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0" name="Google Shape;530;p57"/>
          <p:cNvSpPr/>
          <p:nvPr/>
        </p:nvSpPr>
        <p:spPr>
          <a:xfrm>
            <a:off x="13313444" y="5962061"/>
            <a:ext cx="25381" cy="24467"/>
          </a:xfrm>
          <a:custGeom>
            <a:rect b="b" l="l" r="r" t="t"/>
            <a:pathLst>
              <a:path extrusionOk="0" fill="none" h="106" w="105">
                <a:moveTo>
                  <a:pt x="105" y="105"/>
                </a:moveTo>
                <a:lnTo>
                  <a:pt x="0" y="1"/>
                </a:lnTo>
              </a:path>
            </a:pathLst>
          </a:custGeom>
          <a:solidFill>
            <a:srgbClr val="CFD8FF"/>
          </a:solidFill>
          <a:ln cap="rnd" cmpd="sng" w="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57"/>
          <p:cNvSpPr txBox="1"/>
          <p:nvPr/>
        </p:nvSpPr>
        <p:spPr>
          <a:xfrm>
            <a:off x="503575" y="4456973"/>
            <a:ext cx="211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4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2014</a:t>
            </a:r>
            <a:endParaRPr sz="4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2" name="Google Shape;532;p57"/>
          <p:cNvSpPr txBox="1"/>
          <p:nvPr/>
        </p:nvSpPr>
        <p:spPr>
          <a:xfrm>
            <a:off x="4071174" y="4456980"/>
            <a:ext cx="2079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4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2018</a:t>
            </a:r>
            <a:endParaRPr sz="4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3" name="Google Shape;533;p57"/>
          <p:cNvSpPr txBox="1"/>
          <p:nvPr/>
        </p:nvSpPr>
        <p:spPr>
          <a:xfrm>
            <a:off x="9594048" y="4456980"/>
            <a:ext cx="1611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4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2027</a:t>
            </a:r>
            <a:endParaRPr sz="4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4" name="Google Shape;534;p57"/>
          <p:cNvSpPr txBox="1"/>
          <p:nvPr/>
        </p:nvSpPr>
        <p:spPr>
          <a:xfrm>
            <a:off x="6414224" y="4456980"/>
            <a:ext cx="2153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4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2021</a:t>
            </a:r>
            <a:endParaRPr sz="4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5" name="Google Shape;535;p57"/>
          <p:cNvSpPr txBox="1"/>
          <p:nvPr/>
        </p:nvSpPr>
        <p:spPr>
          <a:xfrm>
            <a:off x="503575" y="2976448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Born from the Open-science Data Standard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6" name="Google Shape;536;p57"/>
          <p:cNvSpPr txBox="1"/>
          <p:nvPr/>
        </p:nvSpPr>
        <p:spPr>
          <a:xfrm>
            <a:off x="4028850" y="2976448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European Foundational Pilot on the OHDSI Data Standardization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7" name="Google Shape;537;p57"/>
          <p:cNvSpPr txBox="1"/>
          <p:nvPr/>
        </p:nvSpPr>
        <p:spPr>
          <a:xfrm>
            <a:off x="6449125" y="2976448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Data Standard chosen by the European Medicines Agency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8" name="Google Shape;538;p57"/>
          <p:cNvSpPr txBox="1"/>
          <p:nvPr/>
        </p:nvSpPr>
        <p:spPr>
          <a:xfrm>
            <a:off x="9575275" y="2976448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Regulation of the European Health  Data Space (EHDS)</a:t>
            </a:r>
            <a:endParaRPr sz="1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39" name="Google Shape;53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7899" y="2362604"/>
            <a:ext cx="1611901" cy="423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1960" y="2362604"/>
            <a:ext cx="1250626" cy="30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HDEN | IMI Innovative Medicines Initiative" id="541" name="Google Shape;541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8575" y="2362604"/>
            <a:ext cx="1519225" cy="4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7"/>
          <p:cNvPicPr preferRelativeResize="0"/>
          <p:nvPr/>
        </p:nvPicPr>
        <p:blipFill rotWithShape="1">
          <a:blip r:embed="rId6">
            <a:alphaModFix/>
          </a:blip>
          <a:srcRect b="9" l="0" r="0" t="7175"/>
          <a:stretch/>
        </p:blipFill>
        <p:spPr>
          <a:xfrm>
            <a:off x="6779674" y="2362604"/>
            <a:ext cx="1399600" cy="6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57"/>
          <p:cNvSpPr txBox="1"/>
          <p:nvPr>
            <p:ph type="title"/>
          </p:nvPr>
        </p:nvSpPr>
        <p:spPr>
          <a:xfrm>
            <a:off x="238250" y="796475"/>
            <a:ext cx="7527900" cy="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From open innovation to </a:t>
            </a:r>
            <a:r>
              <a:rPr b="1" lang="en" sz="3000"/>
              <a:t>regulation</a:t>
            </a:r>
            <a:endParaRPr b="1" sz="3000"/>
          </a:p>
        </p:txBody>
      </p:sp>
      <p:sp>
        <p:nvSpPr>
          <p:cNvPr id="544" name="Google Shape;544;p57"/>
          <p:cNvSpPr txBox="1"/>
          <p:nvPr/>
        </p:nvSpPr>
        <p:spPr>
          <a:xfrm>
            <a:off x="2826425" y="3310618"/>
            <a:ext cx="98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 </a:t>
            </a:r>
            <a:r>
              <a:rPr lang="en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BORN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5" name="Google Shape;545;p57"/>
          <p:cNvSpPr txBox="1"/>
          <p:nvPr/>
        </p:nvSpPr>
        <p:spPr>
          <a:xfrm>
            <a:off x="2826425" y="3979573"/>
            <a:ext cx="9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[ 2016 ]</a:t>
            </a:r>
            <a:endParaRPr b="1"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6" name="Google Shape;546;p57"/>
          <p:cNvSpPr txBox="1"/>
          <p:nvPr/>
        </p:nvSpPr>
        <p:spPr>
          <a:xfrm>
            <a:off x="8607945" y="3979573"/>
            <a:ext cx="98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[ TODAY ]</a:t>
            </a:r>
            <a:endParaRPr b="1" sz="1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47" name="Google Shape;547;p57"/>
          <p:cNvCxnSpPr/>
          <p:nvPr/>
        </p:nvCxnSpPr>
        <p:spPr>
          <a:xfrm>
            <a:off x="3590232" y="4154473"/>
            <a:ext cx="5125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diamond"/>
            <a:tailEnd len="med" w="med" type="diamond"/>
          </a:ln>
        </p:spPr>
      </p:cxnSp>
      <p:pic>
        <p:nvPicPr>
          <p:cNvPr id="548" name="Google Shape;548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12303" y="2678773"/>
            <a:ext cx="620975" cy="6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57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50" name="Google Shape;550;p57"/>
          <p:cNvSpPr txBox="1"/>
          <p:nvPr>
            <p:ph idx="3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8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56" name="Google Shape;556;p5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557" name="Google Shape;557;p58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European Health Data Space - </a:t>
            </a:r>
            <a:r>
              <a:rPr lang="en" sz="3000"/>
              <a:t>An overview</a:t>
            </a:r>
            <a:endParaRPr sz="3000"/>
          </a:p>
        </p:txBody>
      </p:sp>
      <p:pic>
        <p:nvPicPr>
          <p:cNvPr id="558" name="Google Shape;55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0299" y="1118629"/>
            <a:ext cx="1611901" cy="423114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58"/>
          <p:cNvSpPr txBox="1"/>
          <p:nvPr/>
        </p:nvSpPr>
        <p:spPr>
          <a:xfrm>
            <a:off x="655450" y="1963725"/>
            <a:ext cx="93948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EHDS aims to foster a single market for digital health services and to improve the efficiency and quality of healthcare throughout the EU.</a:t>
            </a:r>
            <a:endParaRPr b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MyHealth@EU </a:t>
            </a:r>
            <a:endParaRPr b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An infrastructure to support the cross-border exchange of personal health data for direct care.</a:t>
            </a:r>
            <a:endParaRPr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HealthData@EU </a:t>
            </a:r>
            <a:br>
              <a:rPr b="1"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A infrastructure designed to support the secondary use of data for research and analysis.</a:t>
            </a:r>
            <a:endParaRPr b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59"/>
          <p:cNvPicPr preferRelativeResize="0"/>
          <p:nvPr/>
        </p:nvPicPr>
        <p:blipFill rotWithShape="1">
          <a:blip r:embed="rId3">
            <a:alphaModFix/>
          </a:blip>
          <a:srcRect b="0" l="35795" r="0" t="0"/>
          <a:stretch/>
        </p:blipFill>
        <p:spPr>
          <a:xfrm>
            <a:off x="5662650" y="1137425"/>
            <a:ext cx="6526876" cy="5720576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59"/>
          <p:cNvSpPr txBox="1"/>
          <p:nvPr>
            <p:ph idx="4294967295" type="body"/>
          </p:nvPr>
        </p:nvSpPr>
        <p:spPr>
          <a:xfrm>
            <a:off x="255875" y="2426975"/>
            <a:ext cx="5556000" cy="41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[01] </a:t>
            </a: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Data </a:t>
            </a:r>
            <a:r>
              <a:rPr lang="en" sz="2000">
                <a:solidFill>
                  <a:schemeClr val="lt1"/>
                </a:solidFill>
                <a:highlight>
                  <a:schemeClr val="accent1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Interoperability</a:t>
            </a:r>
            <a:endParaRPr sz="2000">
              <a:solidFill>
                <a:schemeClr val="lt1"/>
              </a:solidFill>
              <a:highlight>
                <a:schemeClr val="accent1"/>
              </a:highlight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EHDS wants to ensure that health data systems across EU countries can communicate effectively, allowing for comprehensive access to patient records.</a:t>
            </a:r>
            <a:br>
              <a:rPr lang="en"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</a:br>
            <a:endParaRPr sz="18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[02]</a:t>
            </a: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Data Privacy &amp; </a:t>
            </a:r>
            <a:r>
              <a:rPr lang="en" sz="2000">
                <a:solidFill>
                  <a:schemeClr val="lt1"/>
                </a:solidFill>
                <a:highlight>
                  <a:schemeClr val="accent1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Security</a:t>
            </a:r>
            <a:endParaRPr sz="2000">
              <a:solidFill>
                <a:schemeClr val="lt1"/>
              </a:solidFill>
              <a:highlight>
                <a:schemeClr val="accent1"/>
              </a:highlight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Structured in alignment with the EU’s data protection standards, specifically the GDPR.</a:t>
            </a:r>
            <a:endParaRPr sz="18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[03]</a:t>
            </a: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Facilitating Data </a:t>
            </a:r>
            <a:r>
              <a:rPr lang="en" sz="2000">
                <a:solidFill>
                  <a:schemeClr val="lt1"/>
                </a:solidFill>
                <a:highlight>
                  <a:schemeClr val="accent1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Access</a:t>
            </a:r>
            <a:endParaRPr sz="2200">
              <a:solidFill>
                <a:schemeClr val="lt1"/>
              </a:solidFill>
              <a:highlight>
                <a:schemeClr val="accent1"/>
              </a:highlight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Provides a framework for easier access to health data for healthcare providers, researchers, and policymakers.</a:t>
            </a:r>
            <a:endParaRPr sz="18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66" name="Google Shape;566;p59"/>
          <p:cNvSpPr txBox="1"/>
          <p:nvPr>
            <p:ph type="title"/>
          </p:nvPr>
        </p:nvSpPr>
        <p:spPr>
          <a:xfrm>
            <a:off x="232776" y="509975"/>
            <a:ext cx="83676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Key features of </a:t>
            </a:r>
            <a:r>
              <a:rPr b="1" lang="en" sz="3000"/>
              <a:t>European Health Data Space</a:t>
            </a:r>
            <a:endParaRPr b="1" sz="3000"/>
          </a:p>
        </p:txBody>
      </p:sp>
      <p:sp>
        <p:nvSpPr>
          <p:cNvPr id="567" name="Google Shape;567;p59"/>
          <p:cNvSpPr txBox="1"/>
          <p:nvPr/>
        </p:nvSpPr>
        <p:spPr>
          <a:xfrm>
            <a:off x="267950" y="1137425"/>
            <a:ext cx="807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 LEGAL FRAMEWORK TO BUILD A FEDERATED INFRASTRUCTURE TO ENABLE SECURE CROSS-BORDER REUSE OF ELECTRONIC HEALTH DATA FOR RESEARCH, POLICYMAKING AND INNOVATION.</a:t>
            </a:r>
            <a:endParaRPr sz="16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68" name="Google Shape;568;p59"/>
          <p:cNvSpPr txBox="1"/>
          <p:nvPr>
            <p:ph idx="4294967295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69" name="Google Shape;569;p59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0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75" name="Google Shape;575;p60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The Ecosystem</a:t>
            </a:r>
            <a:endParaRPr/>
          </a:p>
        </p:txBody>
      </p:sp>
      <p:sp>
        <p:nvSpPr>
          <p:cNvPr id="576" name="Google Shape;576;p60"/>
          <p:cNvSpPr txBox="1"/>
          <p:nvPr>
            <p:ph type="title"/>
          </p:nvPr>
        </p:nvSpPr>
        <p:spPr>
          <a:xfrm>
            <a:off x="260102" y="813350"/>
            <a:ext cx="11492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European Health Data Space - </a:t>
            </a:r>
            <a:r>
              <a:rPr lang="en" sz="3000"/>
              <a:t>An overview</a:t>
            </a:r>
            <a:endParaRPr sz="3000"/>
          </a:p>
        </p:txBody>
      </p:sp>
      <p:pic>
        <p:nvPicPr>
          <p:cNvPr id="577" name="Google Shape;577;p60"/>
          <p:cNvPicPr preferRelativeResize="0"/>
          <p:nvPr/>
        </p:nvPicPr>
        <p:blipFill rotWithShape="1">
          <a:blip r:embed="rId3">
            <a:alphaModFix/>
          </a:blip>
          <a:srcRect b="0" l="0" r="5696" t="0"/>
          <a:stretch/>
        </p:blipFill>
        <p:spPr>
          <a:xfrm>
            <a:off x="5662187" y="2479888"/>
            <a:ext cx="6169800" cy="30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60"/>
          <p:cNvSpPr txBox="1"/>
          <p:nvPr/>
        </p:nvSpPr>
        <p:spPr>
          <a:xfrm>
            <a:off x="665525" y="1617625"/>
            <a:ext cx="5507700" cy="48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Subjects</a:t>
            </a:r>
            <a:endParaRPr b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Individuals whose health data is managed.</a:t>
            </a:r>
            <a:endParaRPr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Holders</a:t>
            </a:r>
            <a:endParaRPr b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Entities like hospitals that store and manage health data.</a:t>
            </a:r>
            <a:endParaRPr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Space Mediators</a:t>
            </a:r>
            <a:endParaRPr b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Facilitate data exchange and ensure compliance.</a:t>
            </a:r>
            <a:endParaRPr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Users</a:t>
            </a:r>
            <a:endParaRPr b="1"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Researchers and policymakers utilizing health data.</a:t>
            </a:r>
            <a:endParaRPr sz="21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79" name="Google Shape;57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40299" y="1118629"/>
            <a:ext cx="1611901" cy="423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1"/>
          <p:cNvSpPr txBox="1"/>
          <p:nvPr>
            <p:ph type="title"/>
          </p:nvPr>
        </p:nvSpPr>
        <p:spPr>
          <a:xfrm>
            <a:off x="232775" y="509975"/>
            <a:ext cx="10482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EHDS is now a reality with </a:t>
            </a:r>
            <a:r>
              <a:rPr b="1" lang="en" sz="3000"/>
              <a:t>HealthData@EU</a:t>
            </a:r>
            <a:r>
              <a:rPr lang="en" sz="3000"/>
              <a:t> public release</a:t>
            </a:r>
            <a:endParaRPr b="1" sz="3000"/>
          </a:p>
        </p:txBody>
      </p:sp>
      <p:sp>
        <p:nvSpPr>
          <p:cNvPr id="585" name="Google Shape;585;p61"/>
          <p:cNvSpPr txBox="1"/>
          <p:nvPr/>
        </p:nvSpPr>
        <p:spPr>
          <a:xfrm>
            <a:off x="254125" y="1027300"/>
            <a:ext cx="671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TARGET TO BE FULLY OPERATIONAL BY 2028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6" name="Google Shape;586;p61"/>
          <p:cNvSpPr txBox="1"/>
          <p:nvPr>
            <p:ph idx="4294967295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87" name="Google Shape;587;p61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future of healthcare</a:t>
            </a:r>
            <a:endParaRPr/>
          </a:p>
        </p:txBody>
      </p:sp>
      <p:pic>
        <p:nvPicPr>
          <p:cNvPr id="588" name="Google Shape;58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413" y="1655150"/>
            <a:ext cx="8121185" cy="50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2"/>
          <p:cNvSpPr/>
          <p:nvPr/>
        </p:nvSpPr>
        <p:spPr>
          <a:xfrm>
            <a:off x="4304100" y="1866600"/>
            <a:ext cx="3583800" cy="102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Subjects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4" name="Google Shape;594;p62"/>
          <p:cNvSpPr/>
          <p:nvPr/>
        </p:nvSpPr>
        <p:spPr>
          <a:xfrm>
            <a:off x="4303950" y="2886438"/>
            <a:ext cx="3583800" cy="102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Holders</a:t>
            </a:r>
            <a:endParaRPr sz="16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5" name="Google Shape;595;p62"/>
          <p:cNvSpPr/>
          <p:nvPr/>
        </p:nvSpPr>
        <p:spPr>
          <a:xfrm>
            <a:off x="4304100" y="4935600"/>
            <a:ext cx="3583800" cy="102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Users</a:t>
            </a:r>
            <a:endParaRPr sz="16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6" name="Google Shape;596;p62"/>
          <p:cNvSpPr txBox="1"/>
          <p:nvPr>
            <p:ph idx="4294967295" type="body"/>
          </p:nvPr>
        </p:nvSpPr>
        <p:spPr>
          <a:xfrm>
            <a:off x="4304050" y="3912600"/>
            <a:ext cx="3583800" cy="1026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Data Space Platform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597" name="Google Shape;597;p62"/>
          <p:cNvSpPr/>
          <p:nvPr/>
        </p:nvSpPr>
        <p:spPr>
          <a:xfrm>
            <a:off x="2331725" y="3912600"/>
            <a:ext cx="1611900" cy="102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fff&quot;&gt;&lt;path d=&quot;M480-600 340-740l140-140 140 140-140 140ZM40-160v-160q0-34 23.5-57t56.5-23h131q20 0 38 10t29 27q29 39 71.5 61t90.5 22q49 0 91.5-22t70.5-61q13-17 30.5-27t36.5-10h131q34 0 57 23t23 57v160H640v-91q-35 25-75.5 38T480-200q-43 0-84-13.5T320-252v92H40Zm120-280q-50 0-85-35t-35-85q0-51 35-85.5t85-34.5q51 0 85.5 34.5T280-560q0 50-34.5 85T160-440Zm640 0q-50 0-85-35t-35-85q0-51 35-85.5t85-34.5q51 0 85.5 34.5T920-560q0 50-34.5 85T800-440Z&quot;/&gt;&lt;/svg&gt;" id="598" name="Google Shape;59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5100" y="424272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62"/>
          <p:cNvSpPr/>
          <p:nvPr/>
        </p:nvSpPr>
        <p:spPr>
          <a:xfrm>
            <a:off x="2332025" y="4935600"/>
            <a:ext cx="1611900" cy="102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200-40v-40q0-139 58-225.5T418-480q-102-88-160-174.5T200-880v-40h80v40q0 11 .5 20.5T282-840h396q1-10 1.5-19.5t.5-20.5v-40h80v40q0 139-58 225.5T542-480q102 88 160 174.5T760-80v40h-80v-40q0-11-.5-20.5T678-120H282q-1 10-1.5 19.5T280-80v40h-80Zm138-640h284q13-19 22.5-38t17.5-42H298q8 22 17.5 41.5T338-680Zm142 148q20-17 39-34t36-34H405q17 17 36 34t39 34Zm-75 172h150q-17-17-36-34t-39-34q-20 17-39 34t-36 34ZM298-200h364q-8-22-17.5-41.5T622-280H338q-13 19-22.5 38T298-200Z&quot;/&gt;&lt;/svg&gt;" id="600" name="Google Shape;60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5100" y="526572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62"/>
          <p:cNvSpPr/>
          <p:nvPr/>
        </p:nvSpPr>
        <p:spPr>
          <a:xfrm>
            <a:off x="2332025" y="2885913"/>
            <a:ext cx="1611900" cy="102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02" name="Google Shape;602;p62"/>
          <p:cNvGrpSpPr/>
          <p:nvPr/>
        </p:nvGrpSpPr>
        <p:grpSpPr>
          <a:xfrm>
            <a:off x="5680510" y="4014221"/>
            <a:ext cx="833466" cy="228515"/>
            <a:chOff x="238675" y="1845875"/>
            <a:chExt cx="7141950" cy="1980200"/>
          </a:xfrm>
        </p:grpSpPr>
        <p:sp>
          <p:nvSpPr>
            <p:cNvPr id="603" name="Google Shape;603;p62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04" name="Google Shape;604;p62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05" name="Google Shape;605;p62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06" name="Google Shape;606;p62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07" name="Google Shape;607;p62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08" name="Google Shape;608;p62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</p:grpSp>
      <p:pic>
        <p:nvPicPr>
          <p:cNvPr descr="&lt;svg xmlns=&quot;http://www.w3.org/2000/svg&quot; height=&quot;24px&quot; viewBox=&quot;0 -960 960 960&quot; width=&quot;24px&quot; fill=&quot;#0f3bfe&quot;&gt;&lt;path d=&quot;M420-280h120v-140h140v-120H540v-140H420v140H280v120h140v140ZM120-120v-720h720v720H120Zm80-80h560v-560H200v560Zm0 0v-560 560Z&quot;/&gt;&lt;/svg&gt;" id="609" name="Google Shape;609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5095" y="321453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62"/>
          <p:cNvSpPr txBox="1"/>
          <p:nvPr/>
        </p:nvSpPr>
        <p:spPr>
          <a:xfrm>
            <a:off x="359550" y="3634775"/>
            <a:ext cx="161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Request </a:t>
            </a:r>
            <a:endParaRPr sz="12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Governance</a:t>
            </a:r>
            <a:endParaRPr sz="1200">
              <a:solidFill>
                <a:schemeClr val="accent2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611" name="Google Shape;611;p62"/>
          <p:cNvSpPr txBox="1"/>
          <p:nvPr/>
        </p:nvSpPr>
        <p:spPr>
          <a:xfrm>
            <a:off x="359550" y="4659300"/>
            <a:ext cx="161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Catalogue</a:t>
            </a:r>
            <a:endParaRPr sz="12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Request</a:t>
            </a:r>
            <a:endParaRPr sz="1200">
              <a:solidFill>
                <a:schemeClr val="accen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12" name="Google Shape;612;p62"/>
          <p:cNvCxnSpPr/>
          <p:nvPr/>
        </p:nvCxnSpPr>
        <p:spPr>
          <a:xfrm>
            <a:off x="359550" y="3542213"/>
            <a:ext cx="0" cy="739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13" name="Google Shape;613;p62"/>
          <p:cNvCxnSpPr/>
          <p:nvPr/>
        </p:nvCxnSpPr>
        <p:spPr>
          <a:xfrm>
            <a:off x="1971550" y="3542213"/>
            <a:ext cx="0" cy="739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14" name="Google Shape;614;p62"/>
          <p:cNvCxnSpPr/>
          <p:nvPr/>
        </p:nvCxnSpPr>
        <p:spPr>
          <a:xfrm>
            <a:off x="359550" y="4566738"/>
            <a:ext cx="0" cy="739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615" name="Google Shape;615;p62"/>
          <p:cNvCxnSpPr/>
          <p:nvPr/>
        </p:nvCxnSpPr>
        <p:spPr>
          <a:xfrm>
            <a:off x="1971550" y="4566738"/>
            <a:ext cx="0" cy="739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stealth"/>
            <a:tailEnd len="med" w="med" type="none"/>
          </a:ln>
        </p:spPr>
      </p:cxnSp>
      <p:sp>
        <p:nvSpPr>
          <p:cNvPr id="616" name="Google Shape;616;p62"/>
          <p:cNvSpPr txBox="1"/>
          <p:nvPr>
            <p:ph idx="4294967295" type="body"/>
          </p:nvPr>
        </p:nvSpPr>
        <p:spPr>
          <a:xfrm>
            <a:off x="8248853" y="5185500"/>
            <a:ext cx="3582900" cy="52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/>
              <a:t>Researchers and policymakers utilizing health data.</a:t>
            </a:r>
            <a:endParaRPr sz="1000"/>
          </a:p>
        </p:txBody>
      </p:sp>
      <p:sp>
        <p:nvSpPr>
          <p:cNvPr id="617" name="Google Shape;617;p62"/>
          <p:cNvSpPr txBox="1"/>
          <p:nvPr>
            <p:ph idx="4294967295" type="body"/>
          </p:nvPr>
        </p:nvSpPr>
        <p:spPr>
          <a:xfrm>
            <a:off x="8248075" y="3059238"/>
            <a:ext cx="3582900" cy="67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/>
              <a:t>Entities like hospitals that store and manage health data.</a:t>
            </a:r>
            <a:endParaRPr sz="1000"/>
          </a:p>
        </p:txBody>
      </p:sp>
      <p:sp>
        <p:nvSpPr>
          <p:cNvPr id="618" name="Google Shape;618;p62"/>
          <p:cNvSpPr txBox="1"/>
          <p:nvPr>
            <p:ph idx="4294967295" type="body"/>
          </p:nvPr>
        </p:nvSpPr>
        <p:spPr>
          <a:xfrm>
            <a:off x="8248853" y="2116500"/>
            <a:ext cx="3582900" cy="52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/>
              <a:t>Individuals whose health data is managed.</a:t>
            </a:r>
            <a:endParaRPr sz="1000"/>
          </a:p>
        </p:txBody>
      </p:sp>
      <p:cxnSp>
        <p:nvCxnSpPr>
          <p:cNvPr id="619" name="Google Shape;619;p62"/>
          <p:cNvCxnSpPr>
            <a:stCxn id="595" idx="1"/>
            <a:endCxn id="599" idx="3"/>
          </p:cNvCxnSpPr>
          <p:nvPr/>
        </p:nvCxnSpPr>
        <p:spPr>
          <a:xfrm rot="10800000">
            <a:off x="3943800" y="5447100"/>
            <a:ext cx="36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620" name="Google Shape;620;p62"/>
          <p:cNvCxnSpPr>
            <a:stCxn id="596" idx="1"/>
            <a:endCxn id="597" idx="3"/>
          </p:cNvCxnSpPr>
          <p:nvPr/>
        </p:nvCxnSpPr>
        <p:spPr>
          <a:xfrm rot="10800000">
            <a:off x="3943750" y="4424100"/>
            <a:ext cx="3603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621" name="Google Shape;621;p62"/>
          <p:cNvCxnSpPr>
            <a:stCxn id="594" idx="1"/>
            <a:endCxn id="601" idx="3"/>
          </p:cNvCxnSpPr>
          <p:nvPr/>
        </p:nvCxnSpPr>
        <p:spPr>
          <a:xfrm rot="10800000">
            <a:off x="3943950" y="3397338"/>
            <a:ext cx="3600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622" name="Google Shape;622;p62"/>
          <p:cNvSpPr txBox="1"/>
          <p:nvPr>
            <p:ph idx="4294967295" type="body"/>
          </p:nvPr>
        </p:nvSpPr>
        <p:spPr>
          <a:xfrm>
            <a:off x="8248075" y="3933174"/>
            <a:ext cx="3582900" cy="985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9FB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Data Space Enabler, helping healthcare organizations make their data usable for research and innovation, and Data Space Mediation Infrastructure, connecting data holders and users to collaborate on research.</a:t>
            </a:r>
            <a:endParaRPr sz="1000"/>
          </a:p>
        </p:txBody>
      </p:sp>
      <p:cxnSp>
        <p:nvCxnSpPr>
          <p:cNvPr id="623" name="Google Shape;623;p62"/>
          <p:cNvCxnSpPr>
            <a:stCxn id="593" idx="3"/>
            <a:endCxn id="618" idx="1"/>
          </p:cNvCxnSpPr>
          <p:nvPr/>
        </p:nvCxnSpPr>
        <p:spPr>
          <a:xfrm>
            <a:off x="7887900" y="2378100"/>
            <a:ext cx="36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624" name="Google Shape;624;p62"/>
          <p:cNvCxnSpPr>
            <a:stCxn id="594" idx="3"/>
            <a:endCxn id="617" idx="1"/>
          </p:cNvCxnSpPr>
          <p:nvPr/>
        </p:nvCxnSpPr>
        <p:spPr>
          <a:xfrm>
            <a:off x="7887750" y="3397938"/>
            <a:ext cx="36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625" name="Google Shape;625;p62"/>
          <p:cNvCxnSpPr>
            <a:stCxn id="596" idx="3"/>
            <a:endCxn id="622" idx="1"/>
          </p:cNvCxnSpPr>
          <p:nvPr/>
        </p:nvCxnSpPr>
        <p:spPr>
          <a:xfrm>
            <a:off x="7887850" y="4425600"/>
            <a:ext cx="360300" cy="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626" name="Google Shape;626;p62"/>
          <p:cNvCxnSpPr>
            <a:stCxn id="595" idx="3"/>
            <a:endCxn id="616" idx="1"/>
          </p:cNvCxnSpPr>
          <p:nvPr/>
        </p:nvCxnSpPr>
        <p:spPr>
          <a:xfrm>
            <a:off x="7887900" y="5447100"/>
            <a:ext cx="36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627" name="Google Shape;627;p62"/>
          <p:cNvCxnSpPr/>
          <p:nvPr/>
        </p:nvCxnSpPr>
        <p:spPr>
          <a:xfrm>
            <a:off x="4128300" y="3542213"/>
            <a:ext cx="0" cy="739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28" name="Google Shape;628;p62"/>
          <p:cNvCxnSpPr/>
          <p:nvPr/>
        </p:nvCxnSpPr>
        <p:spPr>
          <a:xfrm>
            <a:off x="4128300" y="4566738"/>
            <a:ext cx="0" cy="739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stealth"/>
            <a:tailEnd len="med" w="med" type="none"/>
          </a:ln>
        </p:spPr>
      </p:cxnSp>
      <p:cxnSp>
        <p:nvCxnSpPr>
          <p:cNvPr id="629" name="Google Shape;629;p62"/>
          <p:cNvCxnSpPr/>
          <p:nvPr/>
        </p:nvCxnSpPr>
        <p:spPr>
          <a:xfrm>
            <a:off x="8066200" y="3542213"/>
            <a:ext cx="0" cy="739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30" name="Google Shape;630;p62"/>
          <p:cNvCxnSpPr/>
          <p:nvPr/>
        </p:nvCxnSpPr>
        <p:spPr>
          <a:xfrm>
            <a:off x="8066200" y="4566738"/>
            <a:ext cx="0" cy="739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med" w="med" type="stealth"/>
            <a:tailEnd len="med" w="med" type="none"/>
          </a:ln>
        </p:spPr>
      </p:cxnSp>
      <p:sp>
        <p:nvSpPr>
          <p:cNvPr id="631" name="Google Shape;631;p62"/>
          <p:cNvSpPr txBox="1"/>
          <p:nvPr>
            <p:ph type="title"/>
          </p:nvPr>
        </p:nvSpPr>
        <p:spPr>
          <a:xfrm>
            <a:off x="238250" y="525000"/>
            <a:ext cx="10341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provide </a:t>
            </a:r>
            <a:r>
              <a:rPr b="1" lang="en"/>
              <a:t>the platform</a:t>
            </a:r>
            <a:r>
              <a:rPr lang="en"/>
              <a:t> for the Health Data Infrastructure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32" name="Google Shape;632;p6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633" name="Google Shape;633;p62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Who We Are</a:t>
            </a:r>
            <a:endParaRPr sz="1300">
              <a:solidFill>
                <a:srgbClr val="9FB1FF"/>
              </a:solidFill>
            </a:endParaRPr>
          </a:p>
        </p:txBody>
      </p:sp>
      <p:grpSp>
        <p:nvGrpSpPr>
          <p:cNvPr id="634" name="Google Shape;634;p62"/>
          <p:cNvGrpSpPr/>
          <p:nvPr/>
        </p:nvGrpSpPr>
        <p:grpSpPr>
          <a:xfrm>
            <a:off x="318775" y="6523285"/>
            <a:ext cx="10261250" cy="307800"/>
            <a:chOff x="318775" y="6450768"/>
            <a:chExt cx="10261250" cy="307800"/>
          </a:xfrm>
        </p:grpSpPr>
        <p:sp>
          <p:nvSpPr>
            <p:cNvPr id="635" name="Google Shape;635;p62"/>
            <p:cNvSpPr txBox="1"/>
            <p:nvPr/>
          </p:nvSpPr>
          <p:spPr>
            <a:xfrm>
              <a:off x="349425" y="6450768"/>
              <a:ext cx="10230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u="sng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AEPD on APPROACH TO DATA SPACES FROM GDPR PERSPECTIVE</a:t>
              </a:r>
              <a:endPara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636" name="Google Shape;636;p6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18775" y="6551217"/>
              <a:ext cx="121050" cy="121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CFD8FF">
            <a:alpha val="25000"/>
          </a:srgbClr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642" name="Google Shape;642;p63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Data Space</a:t>
            </a:r>
            <a:r>
              <a:rPr lang="en" sz="3000"/>
              <a:t> Platform</a:t>
            </a:r>
            <a:endParaRPr sz="30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63"/>
          <p:cNvSpPr txBox="1"/>
          <p:nvPr>
            <p:ph idx="4294967295" type="body"/>
          </p:nvPr>
        </p:nvSpPr>
        <p:spPr>
          <a:xfrm>
            <a:off x="234850" y="2128106"/>
            <a:ext cx="4003800" cy="25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E0E0E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By leveraging multimodal generative </a:t>
            </a: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AI</a:t>
            </a:r>
            <a:r>
              <a:rPr lang="en" sz="2000">
                <a:solidFill>
                  <a:srgbClr val="0E0E0E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and integrating unstructured hospital data, IOMED </a:t>
            </a:r>
            <a:r>
              <a:rPr lang="en" sz="2000">
                <a:solidFill>
                  <a:schemeClr val="dk1"/>
                </a:solidFill>
                <a:highlight>
                  <a:srgbClr val="CFD8FF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Data Space Platform</a:t>
            </a:r>
            <a:r>
              <a:rPr lang="en" sz="20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r>
              <a:rPr lang="en" sz="2000">
                <a:solidFill>
                  <a:srgbClr val="0E0E0E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is a powerful tool to enhance the </a:t>
            </a:r>
            <a:r>
              <a:rPr lang="en" sz="2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efficiency, precision, and success</a:t>
            </a:r>
            <a:r>
              <a:rPr lang="en" sz="2000">
                <a:solidFill>
                  <a:srgbClr val="0E0E0E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of clinical research efforts.</a:t>
            </a:r>
            <a:endParaRPr sz="2000">
              <a:solidFill>
                <a:srgbClr val="0E0E0E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44" name="Google Shape;644;p63"/>
          <p:cNvSpPr txBox="1"/>
          <p:nvPr/>
        </p:nvSpPr>
        <p:spPr>
          <a:xfrm>
            <a:off x="254125" y="1027300"/>
            <a:ext cx="799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A health data platform, created to mediate for secondary use of data, ensuring compliance.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45" name="Google Shape;645;p63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What We Do</a:t>
            </a:r>
            <a:endParaRPr sz="1300">
              <a:solidFill>
                <a:srgbClr val="9FB1FF"/>
              </a:solidFill>
            </a:endParaRPr>
          </a:p>
        </p:txBody>
      </p:sp>
      <p:sp>
        <p:nvSpPr>
          <p:cNvPr id="646" name="Google Shape;646;p63"/>
          <p:cNvSpPr txBox="1"/>
          <p:nvPr/>
        </p:nvSpPr>
        <p:spPr>
          <a:xfrm>
            <a:off x="9362147" y="5488426"/>
            <a:ext cx="1486500" cy="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1"/>
              <a:buFont typeface="Arial"/>
              <a:buNone/>
            </a:pPr>
            <a:r>
              <a:rPr b="0" i="0" lang="en" sz="58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HEOR | MED AFFAIRS | SAFETY</a:t>
            </a:r>
            <a:endParaRPr b="0" i="0" sz="7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63"/>
          <p:cNvSpPr txBox="1"/>
          <p:nvPr/>
        </p:nvSpPr>
        <p:spPr>
          <a:xfrm>
            <a:off x="4804645" y="3876640"/>
            <a:ext cx="240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9B6E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</a:t>
            </a:r>
            <a:r>
              <a:rPr b="0" i="0" lang="en" sz="1600" u="none" cap="none" strike="noStrike">
                <a:solidFill>
                  <a:srgbClr val="0F3BFE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Request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63"/>
          <p:cNvSpPr txBox="1"/>
          <p:nvPr/>
        </p:nvSpPr>
        <p:spPr>
          <a:xfrm>
            <a:off x="6199026" y="4829496"/>
            <a:ext cx="240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9B6E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[02] </a:t>
            </a:r>
            <a:r>
              <a:rPr b="0" i="0" lang="en" sz="1600" u="none" cap="none" strike="noStrike">
                <a:solidFill>
                  <a:srgbClr val="0F3BFE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Approval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63"/>
          <p:cNvSpPr txBox="1"/>
          <p:nvPr/>
        </p:nvSpPr>
        <p:spPr>
          <a:xfrm>
            <a:off x="8035527" y="5796936"/>
            <a:ext cx="240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50" lIns="73150" spcFirstLastPara="1" rIns="73150" wrap="square" tIns="73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9B6E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[03] </a:t>
            </a:r>
            <a:r>
              <a:rPr b="0" i="0" lang="en" sz="1600" u="none" cap="none" strike="noStrike">
                <a:solidFill>
                  <a:srgbClr val="0F3BFE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Delivery</a:t>
            </a:r>
            <a:endParaRPr b="0" i="0" sz="11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63"/>
          <p:cNvSpPr/>
          <p:nvPr/>
        </p:nvSpPr>
        <p:spPr>
          <a:xfrm>
            <a:off x="5018525" y="4206050"/>
            <a:ext cx="2999865" cy="1839226"/>
          </a:xfrm>
          <a:custGeom>
            <a:rect b="b" l="l" r="r" t="t"/>
            <a:pathLst>
              <a:path extrusionOk="0" h="78215" w="136404">
                <a:moveTo>
                  <a:pt x="0" y="0"/>
                </a:moveTo>
                <a:lnTo>
                  <a:pt x="0" y="37785"/>
                </a:lnTo>
                <a:lnTo>
                  <a:pt x="54410" y="37785"/>
                </a:lnTo>
                <a:lnTo>
                  <a:pt x="54410" y="78215"/>
                </a:lnTo>
                <a:lnTo>
                  <a:pt x="136404" y="78215"/>
                </a:lnTo>
              </a:path>
            </a:pathLst>
          </a:custGeom>
          <a:noFill/>
          <a:ln cap="flat" cmpd="sng" w="9525">
            <a:solidFill>
              <a:srgbClr val="11F17F"/>
            </a:solidFill>
            <a:prstDash val="lgDash"/>
            <a:round/>
            <a:headEnd len="med" w="med" type="diamond"/>
            <a:tailEnd len="med" w="med" type="diamond"/>
          </a:ln>
        </p:spPr>
      </p:sp>
      <p:sp>
        <p:nvSpPr>
          <p:cNvPr id="651" name="Google Shape;651;p63"/>
          <p:cNvSpPr/>
          <p:nvPr/>
        </p:nvSpPr>
        <p:spPr>
          <a:xfrm>
            <a:off x="6174680" y="5062010"/>
            <a:ext cx="68700" cy="68700"/>
          </a:xfrm>
          <a:prstGeom prst="rect">
            <a:avLst/>
          </a:prstGeom>
          <a:solidFill>
            <a:srgbClr val="11F17F"/>
          </a:solidFill>
          <a:ln cap="flat" cmpd="sng" w="9525">
            <a:solidFill>
              <a:srgbClr val="11F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52" name="Google Shape;652;p63" title="2-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330" y="1827704"/>
            <a:ext cx="3198171" cy="216572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63"/>
          <p:cNvSpPr/>
          <p:nvPr/>
        </p:nvSpPr>
        <p:spPr>
          <a:xfrm>
            <a:off x="7946330" y="6014510"/>
            <a:ext cx="68700" cy="68700"/>
          </a:xfrm>
          <a:prstGeom prst="rect">
            <a:avLst/>
          </a:prstGeom>
          <a:solidFill>
            <a:srgbClr val="11F17F"/>
          </a:solidFill>
          <a:ln cap="flat" cmpd="sng" w="9525">
            <a:solidFill>
              <a:srgbClr val="11F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54" name="Google Shape;654;p63" title="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7905" y="2788772"/>
            <a:ext cx="3157984" cy="213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63" title="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0515" y="3764119"/>
            <a:ext cx="3198171" cy="216572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3"/>
          <p:cNvSpPr/>
          <p:nvPr/>
        </p:nvSpPr>
        <p:spPr>
          <a:xfrm>
            <a:off x="4980880" y="4211110"/>
            <a:ext cx="68700" cy="68700"/>
          </a:xfrm>
          <a:prstGeom prst="rect">
            <a:avLst/>
          </a:prstGeom>
          <a:solidFill>
            <a:srgbClr val="11F17F"/>
          </a:solidFill>
          <a:ln cap="flat" cmpd="sng" w="9525">
            <a:solidFill>
              <a:srgbClr val="11F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73150" spcFirstLastPara="1" rIns="7315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t/>
            </a:r>
            <a:endParaRPr b="0" i="0" sz="112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4"/>
          <p:cNvSpPr txBox="1"/>
          <p:nvPr>
            <p:ph type="title"/>
          </p:nvPr>
        </p:nvSpPr>
        <p:spPr>
          <a:xfrm>
            <a:off x="173529" y="875776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[04]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OMOP CDM</a:t>
            </a:r>
            <a:r>
              <a:rPr lang="en"/>
              <a:t> </a:t>
            </a:r>
            <a:r>
              <a:rPr b="1" lang="en"/>
              <a:t>Foundations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65" title="AbstractData4_Blue.png"/>
          <p:cNvPicPr preferRelativeResize="0"/>
          <p:nvPr/>
        </p:nvPicPr>
        <p:blipFill rotWithShape="1">
          <a:blip r:embed="rId3">
            <a:alphaModFix/>
          </a:blip>
          <a:srcRect b="0" l="0" r="0" t="13066"/>
          <a:stretch/>
        </p:blipFill>
        <p:spPr>
          <a:xfrm>
            <a:off x="3332561" y="2525625"/>
            <a:ext cx="8859427" cy="4332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667" name="Google Shape;66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65"/>
          <p:cNvSpPr txBox="1"/>
          <p:nvPr/>
        </p:nvSpPr>
        <p:spPr>
          <a:xfrm>
            <a:off x="10220000" y="6190200"/>
            <a:ext cx="130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9" name="Google Shape;669;p65"/>
          <p:cNvSpPr txBox="1"/>
          <p:nvPr/>
        </p:nvSpPr>
        <p:spPr>
          <a:xfrm>
            <a:off x="250096" y="6066900"/>
            <a:ext cx="358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C/ de St. Antoni Maria Claret, 167, Sant Leopold Pavillion, 08025 — Barcelona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0" name="Google Shape;670;p65"/>
          <p:cNvSpPr txBox="1"/>
          <p:nvPr/>
        </p:nvSpPr>
        <p:spPr>
          <a:xfrm>
            <a:off x="8248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info@iomed.health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71" name="Google Shape;671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4000" y="2931661"/>
            <a:ext cx="3584000" cy="994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MED ">
  <a:themeElements>
    <a:clrScheme name="Custom 4">
      <a:dk1>
        <a:srgbClr val="0F3BFE"/>
      </a:dk1>
      <a:lt1>
        <a:srgbClr val="FFFFFF"/>
      </a:lt1>
      <a:dk2>
        <a:srgbClr val="040F40"/>
      </a:dk2>
      <a:lt2>
        <a:srgbClr val="FFFFFF"/>
      </a:lt2>
      <a:accent1>
        <a:srgbClr val="11F17F"/>
      </a:accent1>
      <a:accent2>
        <a:srgbClr val="9B6EF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F3BF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OMED ">
  <a:themeElements>
    <a:clrScheme name="Custom 4">
      <a:dk1>
        <a:srgbClr val="0F3BFE"/>
      </a:dk1>
      <a:lt1>
        <a:srgbClr val="FFFFFF"/>
      </a:lt1>
      <a:dk2>
        <a:srgbClr val="E5EAFF"/>
      </a:dk2>
      <a:lt2>
        <a:srgbClr val="CFD8FF"/>
      </a:lt2>
      <a:accent1>
        <a:srgbClr val="11F17F"/>
      </a:accent1>
      <a:accent2>
        <a:srgbClr val="9B6EFF"/>
      </a:accent2>
      <a:accent3>
        <a:srgbClr val="EBE2FF"/>
      </a:accent3>
      <a:accent4>
        <a:srgbClr val="CFD8FF"/>
      </a:accent4>
      <a:accent5>
        <a:srgbClr val="D0FCE5"/>
      </a:accent5>
      <a:accent6>
        <a:srgbClr val="D7C5FF"/>
      </a:accent6>
      <a:hlink>
        <a:srgbClr val="0F3BF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