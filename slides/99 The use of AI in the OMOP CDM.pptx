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6858000" cx="12192000"/>
  <p:notesSz cx="6858000" cy="9144000"/>
  <p:embeddedFontLst>
    <p:embeddedFont>
      <p:font typeface="IBM Plex Sans"/>
      <p:regular r:id="rId42"/>
      <p:bold r:id="rId43"/>
      <p:italic r:id="rId44"/>
      <p:boldItalic r:id="rId45"/>
    </p:embeddedFont>
    <p:embeddedFont>
      <p:font typeface="Plus Jakarta Sans"/>
      <p:regular r:id="rId46"/>
      <p:bold r:id="rId47"/>
      <p:italic r:id="rId48"/>
      <p:boldItalic r:id="rId49"/>
    </p:embeddedFont>
    <p:embeddedFont>
      <p:font typeface="Poppins"/>
      <p:regular r:id="rId50"/>
      <p:bold r:id="rId51"/>
      <p:italic r:id="rId52"/>
      <p:boldItalic r:id="rId53"/>
    </p:embeddedFont>
    <p:embeddedFont>
      <p:font typeface="IBM Plex Sans Medium"/>
      <p:regular r:id="rId54"/>
      <p:bold r:id="rId55"/>
      <p:italic r:id="rId56"/>
      <p:boldItalic r:id="rId57"/>
    </p:embeddedFont>
    <p:embeddedFont>
      <p:font typeface="IBM Plex Sans SemiBold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C5C600E-CDB9-408A-A5F3-D8A6F270D939}">
  <a:tblStyle styleId="{0C5C600E-CDB9-408A-A5F3-D8A6F270D93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IBMPlexSans-regular.fntdata"/><Relationship Id="rId41" Type="http://schemas.openxmlformats.org/officeDocument/2006/relationships/slide" Target="slides/slide36.xml"/><Relationship Id="rId44" Type="http://schemas.openxmlformats.org/officeDocument/2006/relationships/font" Target="fonts/IBMPlexSans-italic.fntdata"/><Relationship Id="rId43" Type="http://schemas.openxmlformats.org/officeDocument/2006/relationships/font" Target="fonts/IBMPlexSans-bold.fntdata"/><Relationship Id="rId46" Type="http://schemas.openxmlformats.org/officeDocument/2006/relationships/font" Target="fonts/PlusJakartaSans-regular.fntdata"/><Relationship Id="rId45" Type="http://schemas.openxmlformats.org/officeDocument/2006/relationships/font" Target="fonts/IBMPlex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lusJakartaSans-italic.fntdata"/><Relationship Id="rId47" Type="http://schemas.openxmlformats.org/officeDocument/2006/relationships/font" Target="fonts/PlusJakartaSans-bold.fntdata"/><Relationship Id="rId49" Type="http://schemas.openxmlformats.org/officeDocument/2006/relationships/font" Target="fonts/PlusJakarta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1" Type="http://schemas.openxmlformats.org/officeDocument/2006/relationships/font" Target="fonts/IBMPlexSansSemiBold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IBMPlexSansSemiBold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oppins-bold.fntdata"/><Relationship Id="rId50" Type="http://schemas.openxmlformats.org/officeDocument/2006/relationships/font" Target="fonts/Poppins-regular.fntdata"/><Relationship Id="rId53" Type="http://schemas.openxmlformats.org/officeDocument/2006/relationships/font" Target="fonts/Poppins-boldItalic.fntdata"/><Relationship Id="rId52" Type="http://schemas.openxmlformats.org/officeDocument/2006/relationships/font" Target="fonts/Poppins-italic.fntdata"/><Relationship Id="rId11" Type="http://schemas.openxmlformats.org/officeDocument/2006/relationships/slide" Target="slides/slide6.xml"/><Relationship Id="rId55" Type="http://schemas.openxmlformats.org/officeDocument/2006/relationships/font" Target="fonts/IBMPlexSansMedium-bold.fntdata"/><Relationship Id="rId10" Type="http://schemas.openxmlformats.org/officeDocument/2006/relationships/slide" Target="slides/slide5.xml"/><Relationship Id="rId54" Type="http://schemas.openxmlformats.org/officeDocument/2006/relationships/font" Target="fonts/IBMPlexSansMedium-regular.fntdata"/><Relationship Id="rId13" Type="http://schemas.openxmlformats.org/officeDocument/2006/relationships/slide" Target="slides/slide8.xml"/><Relationship Id="rId57" Type="http://schemas.openxmlformats.org/officeDocument/2006/relationships/font" Target="fonts/IBMPlexSansMedium-boldItalic.fntdata"/><Relationship Id="rId12" Type="http://schemas.openxmlformats.org/officeDocument/2006/relationships/slide" Target="slides/slide7.xml"/><Relationship Id="rId56" Type="http://schemas.openxmlformats.org/officeDocument/2006/relationships/font" Target="fonts/IBMPlexSansMedium-italic.fntdata"/><Relationship Id="rId15" Type="http://schemas.openxmlformats.org/officeDocument/2006/relationships/slide" Target="slides/slide10.xml"/><Relationship Id="rId59" Type="http://schemas.openxmlformats.org/officeDocument/2006/relationships/font" Target="fonts/IBMPlexSansSemiBold-bold.fntdata"/><Relationship Id="rId14" Type="http://schemas.openxmlformats.org/officeDocument/2006/relationships/slide" Target="slides/slide9.xml"/><Relationship Id="rId58" Type="http://schemas.openxmlformats.org/officeDocument/2006/relationships/font" Target="fonts/IBMPlexSansSemiBold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0bbd4e5f5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0bbd4e5f5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e4271d31d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e4271d31d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e4271d31da_0_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e4271d31da_0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e4271d31da_0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e4271d31da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e4271d31da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e4271d31da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e4271d31da_0_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e4271d31da_0_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e4271d31da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2e4271d31da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e4271d31da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e4271d31da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e4271d31da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e4271d31da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cf3516a91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cf3516a91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e4271d31da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2e4271d31da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e4271d31da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2e4271d31da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2e4271d31da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2e4271d31da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2e4271d31da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2e4271d31da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2e4271d31da_0_2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0" name="Google Shape;500;g2e4271d31da_0_2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2e4271d31da_0_3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8" name="Google Shape;538;g2e4271d31da_0_3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2e4271d31da_0_3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8" name="Google Shape;568;g2e4271d31da_0_3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2e4271d31da_0_7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2e4271d31da_0_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2e4271d31da_0_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2e4271d31da_0_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2e4271d31da_0_3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2" name="Google Shape;622;g2e4271d31da_0_3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2e4271d31da_0_3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7" name="Google Shape;637;g2e4271d31da_0_3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e4271d31da_0_3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1" name="Google Shape;651;g2e4271d31da_0_3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cf3516a91b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2" name="Google Shape;672;g3cf3516a91b_0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2e4271d31da_0_4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7" name="Google Shape;687;g2e4271d31da_0_4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cf3516a91b_0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8" name="Google Shape;708;g3cf3516a91b_0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2e4271d31da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2e4271d31da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3e944d8ea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33e944d8ea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2e4271d31da_0_9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2e4271d31da_0_9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2e4271d31da_0_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2e4271d31da_0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e4271d31da_0_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e4271d31da_0_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0E0E0E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cf3516a91b_14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3cf3516a91b_14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cf3516a91b_14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3cf3516a91b_14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3cf3516a91b_14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3cf3516a91b_14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cf3516a91b_14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3cf3516a91b_14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cf3516a91b_14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3cf3516a91b_14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2d509be9ea5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2d509be9ea5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iomed.health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iomed.health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iomed.health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iomed.health" TargetMode="External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1">
  <p:cSld name="BLANK_3_3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10658523" y="436225"/>
            <a:ext cx="1097266" cy="274327"/>
            <a:chOff x="698472" y="661632"/>
            <a:chExt cx="1294862" cy="300303"/>
          </a:xfrm>
        </p:grpSpPr>
        <p:sp>
          <p:nvSpPr>
            <p:cNvPr id="11" name="Google Shape;11;p2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17" name="Google Shape;17;p2">
            <a:hlinkClick r:id="rId2"/>
          </p:cNvPr>
          <p:cNvSpPr txBox="1"/>
          <p:nvPr/>
        </p:nvSpPr>
        <p:spPr>
          <a:xfrm>
            <a:off x="10220000" y="6190200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IOMED.HEALTH</a:t>
            </a:r>
            <a:endParaRPr b="1"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18" name="Google Shape;18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7200" y="62298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/>
          <p:nvPr/>
        </p:nvSpPr>
        <p:spPr>
          <a:xfrm>
            <a:off x="360000" y="360008"/>
            <a:ext cx="9500100" cy="24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Empowering Healthcare Data</a:t>
            </a:r>
            <a:endParaRPr sz="8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360000" y="4452000"/>
            <a:ext cx="75279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We are the key ally for healthcare organisations</a:t>
            </a:r>
            <a:endParaRPr sz="34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1409045" y="6333134"/>
            <a:ext cx="731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ner 1">
  <p:cSld name="BLANK_3_2_1">
    <p:bg>
      <p:bgPr>
        <a:solidFill>
          <a:schemeClr val="dk2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"/>
          <p:cNvGrpSpPr/>
          <p:nvPr/>
        </p:nvGrpSpPr>
        <p:grpSpPr>
          <a:xfrm>
            <a:off x="10962295" y="461571"/>
            <a:ext cx="768112" cy="182854"/>
            <a:chOff x="698472" y="661632"/>
            <a:chExt cx="1294862" cy="300303"/>
          </a:xfrm>
        </p:grpSpPr>
        <p:sp>
          <p:nvSpPr>
            <p:cNvPr id="24" name="Google Shape;24;p3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30" name="Google Shape;30;p3">
            <a:hlinkClick r:id="rId2"/>
          </p:cNvPr>
          <p:cNvSpPr txBox="1"/>
          <p:nvPr/>
        </p:nvSpPr>
        <p:spPr>
          <a:xfrm>
            <a:off x="10220000" y="6190200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IOMED.HEALTH</a:t>
            </a:r>
            <a:endParaRPr b="1"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31" name="Google Shape;3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7200" y="62298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 txBox="1"/>
          <p:nvPr>
            <p:ph type="title"/>
          </p:nvPr>
        </p:nvSpPr>
        <p:spPr>
          <a:xfrm>
            <a:off x="360000" y="360000"/>
            <a:ext cx="9500100" cy="4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" type="subTitle"/>
          </p:nvPr>
        </p:nvSpPr>
        <p:spPr>
          <a:xfrm>
            <a:off x="360000" y="4452000"/>
            <a:ext cx="7527900" cy="204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9pPr>
          </a:lstStyle>
          <a:p/>
        </p:txBody>
      </p:sp>
      <p:sp>
        <p:nvSpPr>
          <p:cNvPr id="34" name="Google Shape;34;p3"/>
          <p:cNvSpPr txBox="1"/>
          <p:nvPr>
            <p:ph idx="12" type="sldNum"/>
          </p:nvPr>
        </p:nvSpPr>
        <p:spPr>
          <a:xfrm>
            <a:off x="11409045" y="6333134"/>
            <a:ext cx="731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 Inner 1">
  <p:cSld name="BLANK_3_1_1">
    <p:bg>
      <p:bgPr>
        <a:solidFill>
          <a:srgbClr val="081E7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oogle Shape;36;p4"/>
          <p:cNvGrpSpPr/>
          <p:nvPr/>
        </p:nvGrpSpPr>
        <p:grpSpPr>
          <a:xfrm>
            <a:off x="10962295" y="461571"/>
            <a:ext cx="768112" cy="182854"/>
            <a:chOff x="698472" y="661632"/>
            <a:chExt cx="1294862" cy="300303"/>
          </a:xfrm>
        </p:grpSpPr>
        <p:sp>
          <p:nvSpPr>
            <p:cNvPr id="37" name="Google Shape;37;p4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43" name="Google Shape;43;p4">
            <a:hlinkClick r:id="rId2"/>
          </p:cNvPr>
          <p:cNvSpPr txBox="1"/>
          <p:nvPr/>
        </p:nvSpPr>
        <p:spPr>
          <a:xfrm>
            <a:off x="10220000" y="6190200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IOMED.HEALTH</a:t>
            </a:r>
            <a:endParaRPr b="1"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44" name="Google Shape;4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7200" y="62298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"/>
          <p:cNvSpPr txBox="1"/>
          <p:nvPr>
            <p:ph type="title"/>
          </p:nvPr>
        </p:nvSpPr>
        <p:spPr>
          <a:xfrm>
            <a:off x="360000" y="360000"/>
            <a:ext cx="9500100" cy="13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1" type="subTitle"/>
          </p:nvPr>
        </p:nvSpPr>
        <p:spPr>
          <a:xfrm>
            <a:off x="360000" y="1689900"/>
            <a:ext cx="9500100" cy="13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8800"/>
              <a:buNone/>
              <a:defRPr sz="8800">
                <a:solidFill>
                  <a:srgbClr val="9FB1FF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8800"/>
              <a:buNone/>
              <a:defRPr sz="8800">
                <a:solidFill>
                  <a:srgbClr val="9FB1FF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8800"/>
              <a:buNone/>
              <a:defRPr sz="8800">
                <a:solidFill>
                  <a:srgbClr val="9FB1FF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8800"/>
              <a:buNone/>
              <a:defRPr sz="8800">
                <a:solidFill>
                  <a:srgbClr val="9FB1FF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8800"/>
              <a:buNone/>
              <a:defRPr sz="8800">
                <a:solidFill>
                  <a:srgbClr val="9FB1FF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8800"/>
              <a:buNone/>
              <a:defRPr sz="8800">
                <a:solidFill>
                  <a:srgbClr val="9FB1FF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8800"/>
              <a:buNone/>
              <a:defRPr sz="8800">
                <a:solidFill>
                  <a:srgbClr val="9FB1FF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8800"/>
              <a:buNone/>
              <a:defRPr sz="8800">
                <a:solidFill>
                  <a:srgbClr val="9FB1FF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8800"/>
              <a:buNone/>
              <a:defRPr sz="8800">
                <a:solidFill>
                  <a:srgbClr val="9FB1FF"/>
                </a:solidFill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11409045" y="6333134"/>
            <a:ext cx="731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TA">
  <p:cSld name="BLANK_2_1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5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2292" y="0"/>
            <a:ext cx="12187066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/>
          <p:nvPr>
            <p:ph idx="1" type="body"/>
          </p:nvPr>
        </p:nvSpPr>
        <p:spPr>
          <a:xfrm>
            <a:off x="2331725" y="782700"/>
            <a:ext cx="75282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Char char="●"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Char char="○"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Char char="■"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Char char="●"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Char char="○"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Char char="■"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Char char="●"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Char char="○"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indent="-228600" lvl="8" marL="4114800" marR="0" algn="ctr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1" name="Google Shape;51;p5"/>
          <p:cNvSpPr txBox="1"/>
          <p:nvPr>
            <p:ph idx="2" type="body"/>
          </p:nvPr>
        </p:nvSpPr>
        <p:spPr>
          <a:xfrm>
            <a:off x="2331725" y="1383000"/>
            <a:ext cx="7528200" cy="30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577850" lvl="0" marL="4572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Char char="●"/>
              <a:defRPr sz="55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577850" lvl="1" marL="9144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Char char="○"/>
              <a:defRPr sz="55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577850" lvl="2" marL="13716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Char char="■"/>
              <a:defRPr sz="55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577850" lvl="3" marL="18288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Char char="●"/>
              <a:defRPr sz="55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577850" lvl="4" marL="22860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Char char="○"/>
              <a:defRPr sz="55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577850" lvl="5" marL="27432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Char char="■"/>
              <a:defRPr sz="55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577850" lvl="6" marL="32004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Char char="●"/>
              <a:defRPr sz="55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577850" lvl="7" marL="36576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Char char="○"/>
              <a:defRPr sz="55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28600" lvl="8" marL="4114800" marR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3" type="body"/>
          </p:nvPr>
        </p:nvSpPr>
        <p:spPr>
          <a:xfrm>
            <a:off x="3318000" y="4452000"/>
            <a:ext cx="55557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195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2100"/>
              <a:buFont typeface="IBM Plex Sans"/>
              <a:buChar char="●"/>
              <a:defRPr sz="2100">
                <a:solidFill>
                  <a:srgbClr val="CFD8F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61950" lvl="1" marL="9144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2100"/>
              <a:buFont typeface="IBM Plex Sans"/>
              <a:buChar char="○"/>
              <a:defRPr sz="2100">
                <a:solidFill>
                  <a:srgbClr val="CFD8F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61950" lvl="2" marL="1371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2100"/>
              <a:buFont typeface="IBM Plex Sans"/>
              <a:buChar char="■"/>
              <a:defRPr sz="2100">
                <a:solidFill>
                  <a:srgbClr val="CFD8F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61950" lvl="3" marL="18288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2100"/>
              <a:buFont typeface="IBM Plex Sans"/>
              <a:buChar char="●"/>
              <a:defRPr sz="2100">
                <a:solidFill>
                  <a:srgbClr val="CFD8F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61950" lvl="4" marL="22860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2100"/>
              <a:buFont typeface="IBM Plex Sans"/>
              <a:buChar char="○"/>
              <a:defRPr sz="2100">
                <a:solidFill>
                  <a:srgbClr val="CFD8F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61950" lvl="5" marL="2743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2100"/>
              <a:buFont typeface="IBM Plex Sans"/>
              <a:buChar char="■"/>
              <a:defRPr sz="2100">
                <a:solidFill>
                  <a:srgbClr val="CFD8F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61950" lvl="6" marL="32004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2100"/>
              <a:buFont typeface="IBM Plex Sans"/>
              <a:buChar char="●"/>
              <a:defRPr sz="2100">
                <a:solidFill>
                  <a:srgbClr val="CFD8F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61950" lvl="7" marL="3657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2100"/>
              <a:buFont typeface="IBM Plex Sans"/>
              <a:buChar char="○"/>
              <a:defRPr sz="2100">
                <a:solidFill>
                  <a:srgbClr val="CFD8F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28600" lvl="8" marL="41148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CFD8F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grpSp>
        <p:nvGrpSpPr>
          <p:cNvPr id="53" name="Google Shape;53;p5"/>
          <p:cNvGrpSpPr/>
          <p:nvPr/>
        </p:nvGrpSpPr>
        <p:grpSpPr>
          <a:xfrm>
            <a:off x="5433768" y="6132256"/>
            <a:ext cx="1324118" cy="365743"/>
            <a:chOff x="238675" y="1845875"/>
            <a:chExt cx="7141950" cy="1980200"/>
          </a:xfrm>
        </p:grpSpPr>
        <p:sp>
          <p:nvSpPr>
            <p:cNvPr id="54" name="Google Shape;54;p5"/>
            <p:cNvSpPr/>
            <p:nvPr/>
          </p:nvSpPr>
          <p:spPr>
            <a:xfrm>
              <a:off x="238675" y="1845875"/>
              <a:ext cx="2020525" cy="1980200"/>
            </a:xfrm>
            <a:custGeom>
              <a:rect b="b" l="l" r="r" t="t"/>
              <a:pathLst>
                <a:path extrusionOk="0" h="79208" w="80821">
                  <a:moveTo>
                    <a:pt x="31218" y="24333"/>
                  </a:moveTo>
                  <a:cubicBezTo>
                    <a:pt x="32990" y="24333"/>
                    <a:pt x="36184" y="25785"/>
                    <a:pt x="39957" y="31466"/>
                  </a:cubicBezTo>
                  <a:lnTo>
                    <a:pt x="47771" y="43111"/>
                  </a:lnTo>
                  <a:cubicBezTo>
                    <a:pt x="52460" y="50119"/>
                    <a:pt x="51552" y="53749"/>
                    <a:pt x="50544" y="54707"/>
                  </a:cubicBezTo>
                  <a:cubicBezTo>
                    <a:pt x="50283" y="54828"/>
                    <a:pt x="49944" y="54904"/>
                    <a:pt x="49536" y="54904"/>
                  </a:cubicBezTo>
                  <a:cubicBezTo>
                    <a:pt x="47738" y="54904"/>
                    <a:pt x="44594" y="53420"/>
                    <a:pt x="40814" y="47749"/>
                  </a:cubicBezTo>
                  <a:lnTo>
                    <a:pt x="33050" y="36104"/>
                  </a:lnTo>
                  <a:cubicBezTo>
                    <a:pt x="28361" y="29096"/>
                    <a:pt x="29218" y="25466"/>
                    <a:pt x="30277" y="24508"/>
                  </a:cubicBezTo>
                  <a:cubicBezTo>
                    <a:pt x="30519" y="24401"/>
                    <a:pt x="30835" y="24333"/>
                    <a:pt x="31218" y="24333"/>
                  </a:cubicBezTo>
                  <a:close/>
                  <a:moveTo>
                    <a:pt x="44680" y="5687"/>
                  </a:moveTo>
                  <a:cubicBezTo>
                    <a:pt x="52536" y="5687"/>
                    <a:pt x="58771" y="9097"/>
                    <a:pt x="63299" y="15888"/>
                  </a:cubicBezTo>
                  <a:lnTo>
                    <a:pt x="71063" y="27584"/>
                  </a:lnTo>
                  <a:cubicBezTo>
                    <a:pt x="84876" y="48203"/>
                    <a:pt x="59366" y="65646"/>
                    <a:pt x="58257" y="66403"/>
                  </a:cubicBezTo>
                  <a:cubicBezTo>
                    <a:pt x="57904" y="66655"/>
                    <a:pt x="57501" y="66856"/>
                    <a:pt x="57148" y="67108"/>
                  </a:cubicBezTo>
                  <a:cubicBezTo>
                    <a:pt x="56947" y="67209"/>
                    <a:pt x="56694" y="67310"/>
                    <a:pt x="56493" y="67411"/>
                  </a:cubicBezTo>
                  <a:cubicBezTo>
                    <a:pt x="56342" y="67512"/>
                    <a:pt x="56190" y="67562"/>
                    <a:pt x="56039" y="67663"/>
                  </a:cubicBezTo>
                  <a:cubicBezTo>
                    <a:pt x="53968" y="68651"/>
                    <a:pt x="51848" y="69145"/>
                    <a:pt x="49682" y="69145"/>
                  </a:cubicBezTo>
                  <a:cubicBezTo>
                    <a:pt x="46101" y="69145"/>
                    <a:pt x="42397" y="67794"/>
                    <a:pt x="38596" y="65092"/>
                  </a:cubicBezTo>
                  <a:cubicBezTo>
                    <a:pt x="33705" y="61613"/>
                    <a:pt x="30227" y="57026"/>
                    <a:pt x="29370" y="55816"/>
                  </a:cubicBezTo>
                  <a:cubicBezTo>
                    <a:pt x="29319" y="55715"/>
                    <a:pt x="29269" y="55664"/>
                    <a:pt x="29269" y="55614"/>
                  </a:cubicBezTo>
                  <a:cubicBezTo>
                    <a:pt x="29218" y="55614"/>
                    <a:pt x="29168" y="55513"/>
                    <a:pt x="29168" y="55513"/>
                  </a:cubicBezTo>
                  <a:lnTo>
                    <a:pt x="21404" y="43867"/>
                  </a:lnTo>
                  <a:cubicBezTo>
                    <a:pt x="21152" y="43464"/>
                    <a:pt x="17522" y="37364"/>
                    <a:pt x="24076" y="29852"/>
                  </a:cubicBezTo>
                  <a:cubicBezTo>
                    <a:pt x="24580" y="32423"/>
                    <a:pt x="25841" y="35499"/>
                    <a:pt x="28311" y="39229"/>
                  </a:cubicBezTo>
                  <a:lnTo>
                    <a:pt x="36125" y="50925"/>
                  </a:lnTo>
                  <a:cubicBezTo>
                    <a:pt x="41399" y="58822"/>
                    <a:pt x="46261" y="60557"/>
                    <a:pt x="49524" y="60557"/>
                  </a:cubicBezTo>
                  <a:cubicBezTo>
                    <a:pt x="51970" y="60557"/>
                    <a:pt x="53518" y="59582"/>
                    <a:pt x="53670" y="59496"/>
                  </a:cubicBezTo>
                  <a:cubicBezTo>
                    <a:pt x="53670" y="59496"/>
                    <a:pt x="53670" y="59496"/>
                    <a:pt x="53670" y="59446"/>
                  </a:cubicBezTo>
                  <a:cubicBezTo>
                    <a:pt x="54224" y="59093"/>
                    <a:pt x="54779" y="58689"/>
                    <a:pt x="55283" y="58336"/>
                  </a:cubicBezTo>
                  <a:cubicBezTo>
                    <a:pt x="55484" y="58185"/>
                    <a:pt x="55636" y="58034"/>
                    <a:pt x="55837" y="57933"/>
                  </a:cubicBezTo>
                  <a:cubicBezTo>
                    <a:pt x="56140" y="57681"/>
                    <a:pt x="56442" y="57429"/>
                    <a:pt x="56745" y="57227"/>
                  </a:cubicBezTo>
                  <a:cubicBezTo>
                    <a:pt x="56947" y="57026"/>
                    <a:pt x="57148" y="56874"/>
                    <a:pt x="57400" y="56723"/>
                  </a:cubicBezTo>
                  <a:cubicBezTo>
                    <a:pt x="57602" y="56521"/>
                    <a:pt x="57854" y="56320"/>
                    <a:pt x="58056" y="56118"/>
                  </a:cubicBezTo>
                  <a:cubicBezTo>
                    <a:pt x="58257" y="55916"/>
                    <a:pt x="58509" y="55715"/>
                    <a:pt x="58711" y="55513"/>
                  </a:cubicBezTo>
                  <a:cubicBezTo>
                    <a:pt x="58812" y="55412"/>
                    <a:pt x="58913" y="55312"/>
                    <a:pt x="59014" y="55261"/>
                  </a:cubicBezTo>
                  <a:cubicBezTo>
                    <a:pt x="59971" y="54303"/>
                    <a:pt x="60828" y="53396"/>
                    <a:pt x="61585" y="52488"/>
                  </a:cubicBezTo>
                  <a:lnTo>
                    <a:pt x="61635" y="52488"/>
                  </a:lnTo>
                  <a:cubicBezTo>
                    <a:pt x="63551" y="50068"/>
                    <a:pt x="64761" y="47800"/>
                    <a:pt x="65467" y="45682"/>
                  </a:cubicBezTo>
                  <a:cubicBezTo>
                    <a:pt x="65467" y="45632"/>
                    <a:pt x="65517" y="45531"/>
                    <a:pt x="65517" y="45481"/>
                  </a:cubicBezTo>
                  <a:cubicBezTo>
                    <a:pt x="65618" y="45279"/>
                    <a:pt x="65668" y="45027"/>
                    <a:pt x="65719" y="44825"/>
                  </a:cubicBezTo>
                  <a:cubicBezTo>
                    <a:pt x="65769" y="44624"/>
                    <a:pt x="65819" y="44472"/>
                    <a:pt x="65870" y="44321"/>
                  </a:cubicBezTo>
                  <a:cubicBezTo>
                    <a:pt x="65870" y="44170"/>
                    <a:pt x="65920" y="44069"/>
                    <a:pt x="65971" y="43918"/>
                  </a:cubicBezTo>
                  <a:cubicBezTo>
                    <a:pt x="67080" y="38927"/>
                    <a:pt x="65819" y="34642"/>
                    <a:pt x="64156" y="32171"/>
                  </a:cubicBezTo>
                  <a:lnTo>
                    <a:pt x="56392" y="20526"/>
                  </a:lnTo>
                  <a:cubicBezTo>
                    <a:pt x="56392" y="20526"/>
                    <a:pt x="56342" y="20475"/>
                    <a:pt x="56342" y="20475"/>
                  </a:cubicBezTo>
                  <a:cubicBezTo>
                    <a:pt x="56241" y="20324"/>
                    <a:pt x="55989" y="19921"/>
                    <a:pt x="55484" y="19316"/>
                  </a:cubicBezTo>
                  <a:cubicBezTo>
                    <a:pt x="53821" y="16997"/>
                    <a:pt x="51603" y="14476"/>
                    <a:pt x="48981" y="12157"/>
                  </a:cubicBezTo>
                  <a:cubicBezTo>
                    <a:pt x="46410" y="9888"/>
                    <a:pt x="43284" y="7620"/>
                    <a:pt x="39705" y="6107"/>
                  </a:cubicBezTo>
                  <a:cubicBezTo>
                    <a:pt x="41429" y="5827"/>
                    <a:pt x="43088" y="5687"/>
                    <a:pt x="44680" y="5687"/>
                  </a:cubicBezTo>
                  <a:close/>
                  <a:moveTo>
                    <a:pt x="31155" y="10054"/>
                  </a:moveTo>
                  <a:cubicBezTo>
                    <a:pt x="34747" y="10054"/>
                    <a:pt x="38465" y="11411"/>
                    <a:pt x="42276" y="14123"/>
                  </a:cubicBezTo>
                  <a:cubicBezTo>
                    <a:pt x="47872" y="18156"/>
                    <a:pt x="51603" y="23651"/>
                    <a:pt x="51653" y="23702"/>
                  </a:cubicBezTo>
                  <a:lnTo>
                    <a:pt x="59417" y="35347"/>
                  </a:lnTo>
                  <a:cubicBezTo>
                    <a:pt x="59417" y="35347"/>
                    <a:pt x="59467" y="35398"/>
                    <a:pt x="59467" y="35448"/>
                  </a:cubicBezTo>
                  <a:cubicBezTo>
                    <a:pt x="59518" y="35499"/>
                    <a:pt x="59568" y="35600"/>
                    <a:pt x="59618" y="35650"/>
                  </a:cubicBezTo>
                  <a:cubicBezTo>
                    <a:pt x="59618" y="35700"/>
                    <a:pt x="59618" y="35751"/>
                    <a:pt x="59669" y="35751"/>
                  </a:cubicBezTo>
                  <a:cubicBezTo>
                    <a:pt x="59669" y="35852"/>
                    <a:pt x="59719" y="35902"/>
                    <a:pt x="59770" y="35952"/>
                  </a:cubicBezTo>
                  <a:cubicBezTo>
                    <a:pt x="59770" y="36053"/>
                    <a:pt x="59820" y="36104"/>
                    <a:pt x="59871" y="36204"/>
                  </a:cubicBezTo>
                  <a:cubicBezTo>
                    <a:pt x="59921" y="36305"/>
                    <a:pt x="59921" y="36356"/>
                    <a:pt x="59971" y="36457"/>
                  </a:cubicBezTo>
                  <a:cubicBezTo>
                    <a:pt x="59971" y="36507"/>
                    <a:pt x="60022" y="36608"/>
                    <a:pt x="60072" y="36709"/>
                  </a:cubicBezTo>
                  <a:cubicBezTo>
                    <a:pt x="60072" y="36759"/>
                    <a:pt x="60123" y="36860"/>
                    <a:pt x="60123" y="36910"/>
                  </a:cubicBezTo>
                  <a:cubicBezTo>
                    <a:pt x="60173" y="37062"/>
                    <a:pt x="60223" y="37263"/>
                    <a:pt x="60274" y="37414"/>
                  </a:cubicBezTo>
                  <a:cubicBezTo>
                    <a:pt x="60274" y="37515"/>
                    <a:pt x="60324" y="37566"/>
                    <a:pt x="60324" y="37667"/>
                  </a:cubicBezTo>
                  <a:cubicBezTo>
                    <a:pt x="60375" y="37818"/>
                    <a:pt x="60425" y="38019"/>
                    <a:pt x="60476" y="38221"/>
                  </a:cubicBezTo>
                  <a:cubicBezTo>
                    <a:pt x="60476" y="38322"/>
                    <a:pt x="60526" y="38423"/>
                    <a:pt x="60526" y="38524"/>
                  </a:cubicBezTo>
                  <a:cubicBezTo>
                    <a:pt x="60526" y="38675"/>
                    <a:pt x="60576" y="38776"/>
                    <a:pt x="60576" y="38927"/>
                  </a:cubicBezTo>
                  <a:cubicBezTo>
                    <a:pt x="60576" y="39028"/>
                    <a:pt x="60576" y="39129"/>
                    <a:pt x="60627" y="39229"/>
                  </a:cubicBezTo>
                  <a:cubicBezTo>
                    <a:pt x="60627" y="39481"/>
                    <a:pt x="60627" y="39683"/>
                    <a:pt x="60627" y="39935"/>
                  </a:cubicBezTo>
                  <a:lnTo>
                    <a:pt x="60627" y="40338"/>
                  </a:lnTo>
                  <a:cubicBezTo>
                    <a:pt x="60627" y="40490"/>
                    <a:pt x="60627" y="40641"/>
                    <a:pt x="60627" y="40792"/>
                  </a:cubicBezTo>
                  <a:cubicBezTo>
                    <a:pt x="60627" y="40994"/>
                    <a:pt x="60576" y="41246"/>
                    <a:pt x="60576" y="41498"/>
                  </a:cubicBezTo>
                  <a:cubicBezTo>
                    <a:pt x="60526" y="41649"/>
                    <a:pt x="60526" y="41800"/>
                    <a:pt x="60526" y="41952"/>
                  </a:cubicBezTo>
                  <a:cubicBezTo>
                    <a:pt x="60476" y="42103"/>
                    <a:pt x="60425" y="42305"/>
                    <a:pt x="60425" y="42506"/>
                  </a:cubicBezTo>
                  <a:cubicBezTo>
                    <a:pt x="60375" y="42708"/>
                    <a:pt x="60324" y="42910"/>
                    <a:pt x="60274" y="43111"/>
                  </a:cubicBezTo>
                  <a:cubicBezTo>
                    <a:pt x="60223" y="43313"/>
                    <a:pt x="60123" y="43565"/>
                    <a:pt x="60072" y="43767"/>
                  </a:cubicBezTo>
                  <a:cubicBezTo>
                    <a:pt x="60022" y="43918"/>
                    <a:pt x="59971" y="44069"/>
                    <a:pt x="59921" y="44220"/>
                  </a:cubicBezTo>
                  <a:cubicBezTo>
                    <a:pt x="59820" y="44523"/>
                    <a:pt x="59669" y="44825"/>
                    <a:pt x="59518" y="45178"/>
                  </a:cubicBezTo>
                  <a:cubicBezTo>
                    <a:pt x="59467" y="45279"/>
                    <a:pt x="59417" y="45430"/>
                    <a:pt x="59366" y="45531"/>
                  </a:cubicBezTo>
                  <a:cubicBezTo>
                    <a:pt x="59215" y="45834"/>
                    <a:pt x="59064" y="46086"/>
                    <a:pt x="58913" y="46388"/>
                  </a:cubicBezTo>
                  <a:cubicBezTo>
                    <a:pt x="58862" y="46489"/>
                    <a:pt x="58812" y="46590"/>
                    <a:pt x="58711" y="46691"/>
                  </a:cubicBezTo>
                  <a:cubicBezTo>
                    <a:pt x="58509" y="47044"/>
                    <a:pt x="58257" y="47447"/>
                    <a:pt x="58005" y="47800"/>
                  </a:cubicBezTo>
                  <a:cubicBezTo>
                    <a:pt x="57904" y="47901"/>
                    <a:pt x="57804" y="48052"/>
                    <a:pt x="57753" y="48153"/>
                  </a:cubicBezTo>
                  <a:cubicBezTo>
                    <a:pt x="57451" y="48556"/>
                    <a:pt x="57148" y="48909"/>
                    <a:pt x="56795" y="49312"/>
                  </a:cubicBezTo>
                  <a:cubicBezTo>
                    <a:pt x="56795" y="49363"/>
                    <a:pt x="56745" y="49363"/>
                    <a:pt x="56745" y="49413"/>
                  </a:cubicBezTo>
                  <a:cubicBezTo>
                    <a:pt x="56241" y="46842"/>
                    <a:pt x="54980" y="43716"/>
                    <a:pt x="52510" y="39986"/>
                  </a:cubicBezTo>
                  <a:lnTo>
                    <a:pt x="44696" y="28340"/>
                  </a:lnTo>
                  <a:cubicBezTo>
                    <a:pt x="39428" y="20424"/>
                    <a:pt x="34572" y="18671"/>
                    <a:pt x="31308" y="18671"/>
                  </a:cubicBezTo>
                  <a:cubicBezTo>
                    <a:pt x="28856" y="18671"/>
                    <a:pt x="27303" y="19661"/>
                    <a:pt x="27151" y="19769"/>
                  </a:cubicBezTo>
                  <a:cubicBezTo>
                    <a:pt x="11473" y="30256"/>
                    <a:pt x="13439" y="42204"/>
                    <a:pt x="16665" y="47044"/>
                  </a:cubicBezTo>
                  <a:lnTo>
                    <a:pt x="24429" y="58689"/>
                  </a:lnTo>
                  <a:cubicBezTo>
                    <a:pt x="24530" y="58841"/>
                    <a:pt x="24832" y="59294"/>
                    <a:pt x="25337" y="59950"/>
                  </a:cubicBezTo>
                  <a:cubicBezTo>
                    <a:pt x="27000" y="62269"/>
                    <a:pt x="29218" y="64739"/>
                    <a:pt x="31840" y="67058"/>
                  </a:cubicBezTo>
                  <a:cubicBezTo>
                    <a:pt x="34462" y="69377"/>
                    <a:pt x="37587" y="71646"/>
                    <a:pt x="41217" y="73158"/>
                  </a:cubicBezTo>
                  <a:cubicBezTo>
                    <a:pt x="39616" y="73420"/>
                    <a:pt x="37969" y="73573"/>
                    <a:pt x="36306" y="73573"/>
                  </a:cubicBezTo>
                  <a:cubicBezTo>
                    <a:pt x="29642" y="73573"/>
                    <a:pt x="22727" y="71114"/>
                    <a:pt x="17522" y="63327"/>
                  </a:cubicBezTo>
                  <a:lnTo>
                    <a:pt x="9708" y="51631"/>
                  </a:lnTo>
                  <a:cubicBezTo>
                    <a:pt x="-4055" y="31012"/>
                    <a:pt x="21455" y="13568"/>
                    <a:pt x="22513" y="12812"/>
                  </a:cubicBezTo>
                  <a:cubicBezTo>
                    <a:pt x="23068" y="12459"/>
                    <a:pt x="23622" y="12157"/>
                    <a:pt x="24177" y="11854"/>
                  </a:cubicBezTo>
                  <a:cubicBezTo>
                    <a:pt x="24681" y="11602"/>
                    <a:pt x="25185" y="11350"/>
                    <a:pt x="25689" y="11149"/>
                  </a:cubicBezTo>
                  <a:cubicBezTo>
                    <a:pt x="25841" y="11098"/>
                    <a:pt x="26042" y="10997"/>
                    <a:pt x="26194" y="10947"/>
                  </a:cubicBezTo>
                  <a:cubicBezTo>
                    <a:pt x="27818" y="10352"/>
                    <a:pt x="29473" y="10054"/>
                    <a:pt x="31155" y="10054"/>
                  </a:cubicBezTo>
                  <a:close/>
                  <a:moveTo>
                    <a:pt x="44717" y="1"/>
                  </a:moveTo>
                  <a:cubicBezTo>
                    <a:pt x="42217" y="1"/>
                    <a:pt x="39602" y="287"/>
                    <a:pt x="36881" y="864"/>
                  </a:cubicBezTo>
                  <a:cubicBezTo>
                    <a:pt x="29773" y="2376"/>
                    <a:pt x="23824" y="5452"/>
                    <a:pt x="21051" y="7065"/>
                  </a:cubicBezTo>
                  <a:cubicBezTo>
                    <a:pt x="20497" y="7367"/>
                    <a:pt x="19942" y="7720"/>
                    <a:pt x="19388" y="8073"/>
                  </a:cubicBezTo>
                  <a:cubicBezTo>
                    <a:pt x="8498" y="15383"/>
                    <a:pt x="-8542" y="34490"/>
                    <a:pt x="5019" y="54807"/>
                  </a:cubicBezTo>
                  <a:lnTo>
                    <a:pt x="12783" y="66453"/>
                  </a:lnTo>
                  <a:cubicBezTo>
                    <a:pt x="18379" y="74872"/>
                    <a:pt x="26345" y="79208"/>
                    <a:pt x="36075" y="79208"/>
                  </a:cubicBezTo>
                  <a:cubicBezTo>
                    <a:pt x="38596" y="79208"/>
                    <a:pt x="41217" y="78905"/>
                    <a:pt x="43940" y="78351"/>
                  </a:cubicBezTo>
                  <a:cubicBezTo>
                    <a:pt x="51048" y="76838"/>
                    <a:pt x="56997" y="73763"/>
                    <a:pt x="59770" y="72150"/>
                  </a:cubicBezTo>
                  <a:cubicBezTo>
                    <a:pt x="59820" y="72150"/>
                    <a:pt x="59820" y="72100"/>
                    <a:pt x="59871" y="72100"/>
                  </a:cubicBezTo>
                  <a:cubicBezTo>
                    <a:pt x="60324" y="71797"/>
                    <a:pt x="60828" y="71545"/>
                    <a:pt x="61333" y="71192"/>
                  </a:cubicBezTo>
                  <a:cubicBezTo>
                    <a:pt x="61333" y="71192"/>
                    <a:pt x="61383" y="71142"/>
                    <a:pt x="61433" y="71142"/>
                  </a:cubicBezTo>
                  <a:cubicBezTo>
                    <a:pt x="72323" y="63832"/>
                    <a:pt x="89363" y="44725"/>
                    <a:pt x="75802" y="24408"/>
                  </a:cubicBezTo>
                  <a:lnTo>
                    <a:pt x="68038" y="12762"/>
                  </a:lnTo>
                  <a:cubicBezTo>
                    <a:pt x="62422" y="4339"/>
                    <a:pt x="54446" y="1"/>
                    <a:pt x="447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2760100" y="2351450"/>
              <a:ext cx="216800" cy="966700"/>
            </a:xfrm>
            <a:custGeom>
              <a:rect b="b" l="l" r="r" t="t"/>
              <a:pathLst>
                <a:path extrusionOk="0" h="38668" w="8672">
                  <a:moveTo>
                    <a:pt x="1" y="0"/>
                  </a:moveTo>
                  <a:lnTo>
                    <a:pt x="1" y="38668"/>
                  </a:lnTo>
                  <a:lnTo>
                    <a:pt x="8672" y="38668"/>
                  </a:lnTo>
                  <a:lnTo>
                    <a:pt x="86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3116775" y="2342625"/>
              <a:ext cx="973050" cy="984350"/>
            </a:xfrm>
            <a:custGeom>
              <a:rect b="b" l="l" r="r" t="t"/>
              <a:pathLst>
                <a:path extrusionOk="0" h="39374" w="38922">
                  <a:moveTo>
                    <a:pt x="19461" y="7512"/>
                  </a:moveTo>
                  <a:cubicBezTo>
                    <a:pt x="22688" y="7512"/>
                    <a:pt x="25309" y="8672"/>
                    <a:pt x="27275" y="10991"/>
                  </a:cubicBezTo>
                  <a:cubicBezTo>
                    <a:pt x="29241" y="13310"/>
                    <a:pt x="30250" y="16234"/>
                    <a:pt x="30250" y="19662"/>
                  </a:cubicBezTo>
                  <a:cubicBezTo>
                    <a:pt x="30250" y="23140"/>
                    <a:pt x="29292" y="26014"/>
                    <a:pt x="27326" y="28384"/>
                  </a:cubicBezTo>
                  <a:lnTo>
                    <a:pt x="27326" y="28333"/>
                  </a:lnTo>
                  <a:cubicBezTo>
                    <a:pt x="25360" y="30703"/>
                    <a:pt x="22738" y="31862"/>
                    <a:pt x="19461" y="31862"/>
                  </a:cubicBezTo>
                  <a:cubicBezTo>
                    <a:pt x="16184" y="31862"/>
                    <a:pt x="13563" y="30703"/>
                    <a:pt x="11647" y="28384"/>
                  </a:cubicBezTo>
                  <a:cubicBezTo>
                    <a:pt x="9681" y="26064"/>
                    <a:pt x="8723" y="23140"/>
                    <a:pt x="8723" y="19611"/>
                  </a:cubicBezTo>
                  <a:cubicBezTo>
                    <a:pt x="8723" y="16133"/>
                    <a:pt x="9681" y="13310"/>
                    <a:pt x="11647" y="10991"/>
                  </a:cubicBezTo>
                  <a:cubicBezTo>
                    <a:pt x="13613" y="8672"/>
                    <a:pt x="16234" y="7512"/>
                    <a:pt x="19461" y="7512"/>
                  </a:cubicBezTo>
                  <a:close/>
                  <a:moveTo>
                    <a:pt x="19461" y="0"/>
                  </a:moveTo>
                  <a:cubicBezTo>
                    <a:pt x="13815" y="0"/>
                    <a:pt x="9176" y="1866"/>
                    <a:pt x="5496" y="5546"/>
                  </a:cubicBezTo>
                  <a:cubicBezTo>
                    <a:pt x="1866" y="9276"/>
                    <a:pt x="1" y="13965"/>
                    <a:pt x="1" y="19712"/>
                  </a:cubicBezTo>
                  <a:cubicBezTo>
                    <a:pt x="1" y="25409"/>
                    <a:pt x="1866" y="30098"/>
                    <a:pt x="5496" y="33828"/>
                  </a:cubicBezTo>
                  <a:cubicBezTo>
                    <a:pt x="9176" y="37509"/>
                    <a:pt x="13815" y="39374"/>
                    <a:pt x="19461" y="39374"/>
                  </a:cubicBezTo>
                  <a:cubicBezTo>
                    <a:pt x="25057" y="39374"/>
                    <a:pt x="29746" y="37509"/>
                    <a:pt x="33426" y="33778"/>
                  </a:cubicBezTo>
                  <a:cubicBezTo>
                    <a:pt x="37106" y="30047"/>
                    <a:pt x="38921" y="25359"/>
                    <a:pt x="38921" y="19662"/>
                  </a:cubicBezTo>
                  <a:cubicBezTo>
                    <a:pt x="38921" y="14015"/>
                    <a:pt x="37106" y="9276"/>
                    <a:pt x="33426" y="5546"/>
                  </a:cubicBezTo>
                  <a:cubicBezTo>
                    <a:pt x="29746" y="1866"/>
                    <a:pt x="25107" y="0"/>
                    <a:pt x="194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4227175" y="2351450"/>
              <a:ext cx="1188550" cy="965450"/>
            </a:xfrm>
            <a:custGeom>
              <a:rect b="b" l="l" r="r" t="t"/>
              <a:pathLst>
                <a:path extrusionOk="0" h="38618" w="47542">
                  <a:moveTo>
                    <a:pt x="0" y="0"/>
                  </a:moveTo>
                  <a:lnTo>
                    <a:pt x="0" y="38618"/>
                  </a:lnTo>
                  <a:lnTo>
                    <a:pt x="8218" y="38618"/>
                  </a:lnTo>
                  <a:lnTo>
                    <a:pt x="8218" y="3680"/>
                  </a:lnTo>
                  <a:lnTo>
                    <a:pt x="16889" y="38618"/>
                  </a:lnTo>
                  <a:lnTo>
                    <a:pt x="30602" y="38618"/>
                  </a:lnTo>
                  <a:lnTo>
                    <a:pt x="39273" y="3428"/>
                  </a:lnTo>
                  <a:lnTo>
                    <a:pt x="39273" y="38618"/>
                  </a:lnTo>
                  <a:lnTo>
                    <a:pt x="47541" y="38618"/>
                  </a:lnTo>
                  <a:lnTo>
                    <a:pt x="47541" y="0"/>
                  </a:lnTo>
                  <a:lnTo>
                    <a:pt x="32215" y="0"/>
                  </a:lnTo>
                  <a:lnTo>
                    <a:pt x="23796" y="35391"/>
                  </a:lnTo>
                  <a:lnTo>
                    <a:pt x="157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5598450" y="2351450"/>
              <a:ext cx="739850" cy="965450"/>
            </a:xfrm>
            <a:custGeom>
              <a:rect b="b" l="l" r="r" t="t"/>
              <a:pathLst>
                <a:path extrusionOk="0" h="38618" w="29594">
                  <a:moveTo>
                    <a:pt x="0" y="0"/>
                  </a:moveTo>
                  <a:lnTo>
                    <a:pt x="0" y="38618"/>
                  </a:lnTo>
                  <a:lnTo>
                    <a:pt x="29594" y="38618"/>
                  </a:lnTo>
                  <a:lnTo>
                    <a:pt x="29594" y="31358"/>
                  </a:lnTo>
                  <a:lnTo>
                    <a:pt x="8722" y="31358"/>
                  </a:lnTo>
                  <a:lnTo>
                    <a:pt x="8722" y="22535"/>
                  </a:lnTo>
                  <a:lnTo>
                    <a:pt x="26770" y="22535"/>
                  </a:lnTo>
                  <a:lnTo>
                    <a:pt x="26770" y="15326"/>
                  </a:lnTo>
                  <a:lnTo>
                    <a:pt x="8722" y="15326"/>
                  </a:lnTo>
                  <a:lnTo>
                    <a:pt x="8722" y="7260"/>
                  </a:lnTo>
                  <a:lnTo>
                    <a:pt x="29241" y="7260"/>
                  </a:lnTo>
                  <a:lnTo>
                    <a:pt x="292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6492050" y="2351450"/>
              <a:ext cx="888575" cy="965450"/>
            </a:xfrm>
            <a:custGeom>
              <a:rect b="b" l="l" r="r" t="t"/>
              <a:pathLst>
                <a:path extrusionOk="0" h="38618" w="35543">
                  <a:moveTo>
                    <a:pt x="14368" y="7361"/>
                  </a:moveTo>
                  <a:cubicBezTo>
                    <a:pt x="18200" y="7361"/>
                    <a:pt x="21225" y="8470"/>
                    <a:pt x="23494" y="10587"/>
                  </a:cubicBezTo>
                  <a:cubicBezTo>
                    <a:pt x="25762" y="12755"/>
                    <a:pt x="26871" y="15679"/>
                    <a:pt x="26871" y="19309"/>
                  </a:cubicBezTo>
                  <a:cubicBezTo>
                    <a:pt x="26871" y="22989"/>
                    <a:pt x="25762" y="25812"/>
                    <a:pt x="23494" y="27980"/>
                  </a:cubicBezTo>
                  <a:cubicBezTo>
                    <a:pt x="21225" y="30198"/>
                    <a:pt x="18200" y="31307"/>
                    <a:pt x="14368" y="31307"/>
                  </a:cubicBezTo>
                  <a:lnTo>
                    <a:pt x="8571" y="31307"/>
                  </a:lnTo>
                  <a:lnTo>
                    <a:pt x="8571" y="7361"/>
                  </a:lnTo>
                  <a:close/>
                  <a:moveTo>
                    <a:pt x="0" y="0"/>
                  </a:moveTo>
                  <a:lnTo>
                    <a:pt x="0" y="38618"/>
                  </a:lnTo>
                  <a:lnTo>
                    <a:pt x="15528" y="38618"/>
                  </a:lnTo>
                  <a:cubicBezTo>
                    <a:pt x="21326" y="38618"/>
                    <a:pt x="26165" y="36853"/>
                    <a:pt x="29896" y="33223"/>
                  </a:cubicBezTo>
                  <a:cubicBezTo>
                    <a:pt x="33627" y="29593"/>
                    <a:pt x="35543" y="25006"/>
                    <a:pt x="35543" y="19309"/>
                  </a:cubicBezTo>
                  <a:cubicBezTo>
                    <a:pt x="35543" y="13662"/>
                    <a:pt x="33677" y="9075"/>
                    <a:pt x="29947" y="5445"/>
                  </a:cubicBezTo>
                  <a:cubicBezTo>
                    <a:pt x="26216" y="1815"/>
                    <a:pt x="21376" y="0"/>
                    <a:pt x="155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</p:grpSp>
      <p:sp>
        <p:nvSpPr>
          <p:cNvPr id="60" name="Google Shape;60;p5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imple With Chapter">
  <p:cSld name="BLANK_1_3_2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63" name="Google Shape;63;p6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9697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6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imple Without Chapter" type="blank">
  <p:cSld name="BLANK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7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9697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899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ft Background Simple With Chapter">
  <p:cSld name="BLANK_4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/>
          <p:nvPr/>
        </p:nvSpPr>
        <p:spPr>
          <a:xfrm>
            <a:off x="-114950" y="-147800"/>
            <a:ext cx="12546600" cy="7193100"/>
          </a:xfrm>
          <a:prstGeom prst="rect">
            <a:avLst/>
          </a:prstGeom>
          <a:solidFill>
            <a:srgbClr val="F3F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9697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899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ft Background 1/3 With Chapter">
  <p:cSld name="BLANK_4_1"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9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9697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0" y="0"/>
            <a:ext cx="5561700" cy="68736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899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3">
    <p:bg>
      <p:bgPr>
        <a:solidFill>
          <a:schemeClr val="dk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ner">
  <p:cSld name="BLANK_3_2">
    <p:bg>
      <p:bgPr>
        <a:solidFill>
          <a:schemeClr val="dk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1">
  <p:cSld name="CUSTOM_2_1_1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0" name="Google Shape;80;p12"/>
          <p:cNvSpPr txBox="1"/>
          <p:nvPr>
            <p:ph type="title"/>
          </p:nvPr>
        </p:nvSpPr>
        <p:spPr>
          <a:xfrm>
            <a:off x="360000" y="588600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2"/>
          <p:cNvSpPr/>
          <p:nvPr>
            <p:ph idx="2" type="pic"/>
          </p:nvPr>
        </p:nvSpPr>
        <p:spPr>
          <a:xfrm>
            <a:off x="360000" y="1611600"/>
            <a:ext cx="11472300" cy="5115000"/>
          </a:xfrm>
          <a:prstGeom prst="rect">
            <a:avLst/>
          </a:prstGeom>
          <a:noFill/>
          <a:ln>
            <a:noFill/>
          </a:ln>
        </p:spPr>
      </p:sp>
      <p:pic>
        <p:nvPicPr>
          <p:cNvPr id="82" name="Google Shape;82;p12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9697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871">
          <p15:clr>
            <a:srgbClr val="E46962"/>
          </p15:clr>
        </p15:guide>
        <p15:guide id="2" orient="horz" pos="1096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Image 2 1">
  <p:cSld name="CUSTOM_2_3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6" name="Google Shape;86;p13"/>
          <p:cNvSpPr txBox="1"/>
          <p:nvPr>
            <p:ph type="title"/>
          </p:nvPr>
        </p:nvSpPr>
        <p:spPr>
          <a:xfrm>
            <a:off x="360000" y="588600"/>
            <a:ext cx="555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3"/>
          <p:cNvSpPr/>
          <p:nvPr>
            <p:ph idx="2" type="pic"/>
          </p:nvPr>
        </p:nvSpPr>
        <p:spPr>
          <a:xfrm>
            <a:off x="6276000" y="2406000"/>
            <a:ext cx="5556000" cy="40920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3"/>
          <p:cNvSpPr txBox="1"/>
          <p:nvPr>
            <p:ph idx="1" type="body"/>
          </p:nvPr>
        </p:nvSpPr>
        <p:spPr>
          <a:xfrm>
            <a:off x="360000" y="2406000"/>
            <a:ext cx="555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●"/>
              <a:defRPr sz="1600"/>
            </a:lvl1pPr>
            <a:lvl2pPr indent="-330200" lvl="1" marL="91440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○"/>
              <a:defRPr sz="1600"/>
            </a:lvl2pPr>
            <a:lvl3pPr indent="-330200" lvl="2" marL="137160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■"/>
              <a:defRPr sz="1600"/>
            </a:lvl3pPr>
            <a:lvl4pPr indent="-330200" lvl="3" marL="182880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●"/>
              <a:defRPr sz="1600"/>
            </a:lvl4pPr>
            <a:lvl5pPr indent="-330200" lvl="4" marL="228600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○"/>
              <a:defRPr sz="1600"/>
            </a:lvl5pPr>
            <a:lvl6pPr indent="-330200" lvl="5" marL="274320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■"/>
              <a:defRPr sz="1600"/>
            </a:lvl6pPr>
            <a:lvl7pPr indent="-330200" lvl="6" marL="320040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●"/>
              <a:defRPr sz="1600"/>
            </a:lvl7pPr>
            <a:lvl8pPr indent="-330200" lvl="7" marL="365760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○"/>
              <a:defRPr sz="1600"/>
            </a:lvl8pPr>
            <a:lvl9pPr indent="-330200" lvl="8" marL="4114800">
              <a:spcBef>
                <a:spcPts val="800"/>
              </a:spcBef>
              <a:spcAft>
                <a:spcPts val="800"/>
              </a:spcAft>
              <a:buClr>
                <a:schemeClr val="accent2"/>
              </a:buClr>
              <a:buSzPts val="1600"/>
              <a:buChar char="■"/>
              <a:defRPr sz="1600"/>
            </a:lvl9pPr>
          </a:lstStyle>
          <a:p/>
        </p:txBody>
      </p:sp>
      <p:pic>
        <p:nvPicPr>
          <p:cNvPr id="89" name="Google Shape;89;p13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9697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Image 2 2">
  <p:cSld name="CUSTOM_2_4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3" name="Google Shape;93;p14"/>
          <p:cNvSpPr txBox="1"/>
          <p:nvPr>
            <p:ph type="title"/>
          </p:nvPr>
        </p:nvSpPr>
        <p:spPr>
          <a:xfrm>
            <a:off x="360000" y="588600"/>
            <a:ext cx="555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4"/>
          <p:cNvSpPr/>
          <p:nvPr>
            <p:ph idx="2" type="pic"/>
          </p:nvPr>
        </p:nvSpPr>
        <p:spPr>
          <a:xfrm>
            <a:off x="6276000" y="2406000"/>
            <a:ext cx="5556000" cy="40920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360000" y="2406000"/>
            <a:ext cx="555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●"/>
              <a:defRPr sz="1600"/>
            </a:lvl1pPr>
            <a:lvl2pPr indent="-330200" lvl="1" marL="91440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○"/>
              <a:defRPr sz="1600"/>
            </a:lvl2pPr>
            <a:lvl3pPr indent="-330200" lvl="2" marL="137160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■"/>
              <a:defRPr sz="1600"/>
            </a:lvl3pPr>
            <a:lvl4pPr indent="-330200" lvl="3" marL="182880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●"/>
              <a:defRPr sz="1600"/>
            </a:lvl4pPr>
            <a:lvl5pPr indent="-330200" lvl="4" marL="228600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○"/>
              <a:defRPr sz="1600"/>
            </a:lvl5pPr>
            <a:lvl6pPr indent="-330200" lvl="5" marL="274320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■"/>
              <a:defRPr sz="1600"/>
            </a:lvl6pPr>
            <a:lvl7pPr indent="-330200" lvl="6" marL="320040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●"/>
              <a:defRPr sz="1600"/>
            </a:lvl7pPr>
            <a:lvl8pPr indent="-330200" lvl="7" marL="365760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○"/>
              <a:defRPr sz="1600"/>
            </a:lvl8pPr>
            <a:lvl9pPr indent="-330200" lvl="8" marL="4114800">
              <a:spcBef>
                <a:spcPts val="800"/>
              </a:spcBef>
              <a:spcAft>
                <a:spcPts val="800"/>
              </a:spcAft>
              <a:buClr>
                <a:schemeClr val="accent2"/>
              </a:buClr>
              <a:buSzPts val="1600"/>
              <a:buChar char="■"/>
              <a:defRPr sz="1600"/>
            </a:lvl9pPr>
          </a:lstStyle>
          <a:p/>
        </p:txBody>
      </p:sp>
      <p:pic>
        <p:nvPicPr>
          <p:cNvPr id="96" name="Google Shape;96;p14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9697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TA 1">
  <p:cSld name="BLANK_2_2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2292" y="0"/>
            <a:ext cx="12187066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2331725" y="782700"/>
            <a:ext cx="75282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Char char="●"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Char char="○"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Char char="■"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Char char="●"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Char char="○"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Char char="■"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Char char="●"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Char char="○"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indent="-228600" lvl="8" marL="4114800" marR="0" algn="ctr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01" name="Google Shape;101;p15"/>
          <p:cNvSpPr txBox="1"/>
          <p:nvPr>
            <p:ph idx="2" type="body"/>
          </p:nvPr>
        </p:nvSpPr>
        <p:spPr>
          <a:xfrm>
            <a:off x="2331725" y="1383000"/>
            <a:ext cx="7528200" cy="30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577850" lvl="0" marL="4572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Char char="●"/>
              <a:defRPr sz="55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577850" lvl="1" marL="9144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Char char="○"/>
              <a:defRPr sz="55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577850" lvl="2" marL="13716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Char char="■"/>
              <a:defRPr sz="55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577850" lvl="3" marL="18288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Char char="●"/>
              <a:defRPr sz="55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577850" lvl="4" marL="22860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Char char="○"/>
              <a:defRPr sz="55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577850" lvl="5" marL="27432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Char char="■"/>
              <a:defRPr sz="55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577850" lvl="6" marL="32004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Char char="●"/>
              <a:defRPr sz="55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577850" lvl="7" marL="36576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Char char="○"/>
              <a:defRPr sz="55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28600" lvl="8" marL="4114800" marR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2" name="Google Shape;102;p15"/>
          <p:cNvSpPr txBox="1"/>
          <p:nvPr>
            <p:ph idx="3" type="body"/>
          </p:nvPr>
        </p:nvSpPr>
        <p:spPr>
          <a:xfrm>
            <a:off x="3318000" y="4452000"/>
            <a:ext cx="55557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195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2100"/>
              <a:buFont typeface="IBM Plex Sans"/>
              <a:buChar char="●"/>
              <a:defRPr sz="2100">
                <a:solidFill>
                  <a:srgbClr val="CFD8F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61950" lvl="1" marL="9144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2100"/>
              <a:buFont typeface="IBM Plex Sans"/>
              <a:buChar char="○"/>
              <a:defRPr sz="2100">
                <a:solidFill>
                  <a:srgbClr val="CFD8F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61950" lvl="2" marL="1371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2100"/>
              <a:buFont typeface="IBM Plex Sans"/>
              <a:buChar char="■"/>
              <a:defRPr sz="2100">
                <a:solidFill>
                  <a:srgbClr val="CFD8F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61950" lvl="3" marL="18288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2100"/>
              <a:buFont typeface="IBM Plex Sans"/>
              <a:buChar char="●"/>
              <a:defRPr sz="2100">
                <a:solidFill>
                  <a:srgbClr val="CFD8F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61950" lvl="4" marL="22860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2100"/>
              <a:buFont typeface="IBM Plex Sans"/>
              <a:buChar char="○"/>
              <a:defRPr sz="2100">
                <a:solidFill>
                  <a:srgbClr val="CFD8F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61950" lvl="5" marL="2743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2100"/>
              <a:buFont typeface="IBM Plex Sans"/>
              <a:buChar char="■"/>
              <a:defRPr sz="2100">
                <a:solidFill>
                  <a:srgbClr val="CFD8F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61950" lvl="6" marL="32004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2100"/>
              <a:buFont typeface="IBM Plex Sans"/>
              <a:buChar char="●"/>
              <a:defRPr sz="2100">
                <a:solidFill>
                  <a:srgbClr val="CFD8F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61950" lvl="7" marL="3657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2100"/>
              <a:buFont typeface="IBM Plex Sans"/>
              <a:buChar char="○"/>
              <a:defRPr sz="2100">
                <a:solidFill>
                  <a:srgbClr val="CFD8F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28600" lvl="8" marL="41148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CFD8F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grpSp>
        <p:nvGrpSpPr>
          <p:cNvPr id="103" name="Google Shape;103;p15"/>
          <p:cNvGrpSpPr/>
          <p:nvPr/>
        </p:nvGrpSpPr>
        <p:grpSpPr>
          <a:xfrm>
            <a:off x="5433768" y="6132256"/>
            <a:ext cx="1324118" cy="365743"/>
            <a:chOff x="238675" y="1845875"/>
            <a:chExt cx="7141950" cy="1980200"/>
          </a:xfrm>
        </p:grpSpPr>
        <p:sp>
          <p:nvSpPr>
            <p:cNvPr id="104" name="Google Shape;104;p15"/>
            <p:cNvSpPr/>
            <p:nvPr/>
          </p:nvSpPr>
          <p:spPr>
            <a:xfrm>
              <a:off x="238675" y="1845875"/>
              <a:ext cx="2020525" cy="1980200"/>
            </a:xfrm>
            <a:custGeom>
              <a:rect b="b" l="l" r="r" t="t"/>
              <a:pathLst>
                <a:path extrusionOk="0" h="79208" w="80821">
                  <a:moveTo>
                    <a:pt x="31218" y="24333"/>
                  </a:moveTo>
                  <a:cubicBezTo>
                    <a:pt x="32990" y="24333"/>
                    <a:pt x="36184" y="25785"/>
                    <a:pt x="39957" y="31466"/>
                  </a:cubicBezTo>
                  <a:lnTo>
                    <a:pt x="47771" y="43111"/>
                  </a:lnTo>
                  <a:cubicBezTo>
                    <a:pt x="52460" y="50119"/>
                    <a:pt x="51552" y="53749"/>
                    <a:pt x="50544" y="54707"/>
                  </a:cubicBezTo>
                  <a:cubicBezTo>
                    <a:pt x="50283" y="54828"/>
                    <a:pt x="49944" y="54904"/>
                    <a:pt x="49536" y="54904"/>
                  </a:cubicBezTo>
                  <a:cubicBezTo>
                    <a:pt x="47738" y="54904"/>
                    <a:pt x="44594" y="53420"/>
                    <a:pt x="40814" y="47749"/>
                  </a:cubicBezTo>
                  <a:lnTo>
                    <a:pt x="33050" y="36104"/>
                  </a:lnTo>
                  <a:cubicBezTo>
                    <a:pt x="28361" y="29096"/>
                    <a:pt x="29218" y="25466"/>
                    <a:pt x="30277" y="24508"/>
                  </a:cubicBezTo>
                  <a:cubicBezTo>
                    <a:pt x="30519" y="24401"/>
                    <a:pt x="30835" y="24333"/>
                    <a:pt x="31218" y="24333"/>
                  </a:cubicBezTo>
                  <a:close/>
                  <a:moveTo>
                    <a:pt x="44680" y="5687"/>
                  </a:moveTo>
                  <a:cubicBezTo>
                    <a:pt x="52536" y="5687"/>
                    <a:pt x="58771" y="9097"/>
                    <a:pt x="63299" y="15888"/>
                  </a:cubicBezTo>
                  <a:lnTo>
                    <a:pt x="71063" y="27584"/>
                  </a:lnTo>
                  <a:cubicBezTo>
                    <a:pt x="84876" y="48203"/>
                    <a:pt x="59366" y="65646"/>
                    <a:pt x="58257" y="66403"/>
                  </a:cubicBezTo>
                  <a:cubicBezTo>
                    <a:pt x="57904" y="66655"/>
                    <a:pt x="57501" y="66856"/>
                    <a:pt x="57148" y="67108"/>
                  </a:cubicBezTo>
                  <a:cubicBezTo>
                    <a:pt x="56947" y="67209"/>
                    <a:pt x="56694" y="67310"/>
                    <a:pt x="56493" y="67411"/>
                  </a:cubicBezTo>
                  <a:cubicBezTo>
                    <a:pt x="56342" y="67512"/>
                    <a:pt x="56190" y="67562"/>
                    <a:pt x="56039" y="67663"/>
                  </a:cubicBezTo>
                  <a:cubicBezTo>
                    <a:pt x="53968" y="68651"/>
                    <a:pt x="51848" y="69145"/>
                    <a:pt x="49682" y="69145"/>
                  </a:cubicBezTo>
                  <a:cubicBezTo>
                    <a:pt x="46101" y="69145"/>
                    <a:pt x="42397" y="67794"/>
                    <a:pt x="38596" y="65092"/>
                  </a:cubicBezTo>
                  <a:cubicBezTo>
                    <a:pt x="33705" y="61613"/>
                    <a:pt x="30227" y="57026"/>
                    <a:pt x="29370" y="55816"/>
                  </a:cubicBezTo>
                  <a:cubicBezTo>
                    <a:pt x="29319" y="55715"/>
                    <a:pt x="29269" y="55664"/>
                    <a:pt x="29269" y="55614"/>
                  </a:cubicBezTo>
                  <a:cubicBezTo>
                    <a:pt x="29218" y="55614"/>
                    <a:pt x="29168" y="55513"/>
                    <a:pt x="29168" y="55513"/>
                  </a:cubicBezTo>
                  <a:lnTo>
                    <a:pt x="21404" y="43867"/>
                  </a:lnTo>
                  <a:cubicBezTo>
                    <a:pt x="21152" y="43464"/>
                    <a:pt x="17522" y="37364"/>
                    <a:pt x="24076" y="29852"/>
                  </a:cubicBezTo>
                  <a:cubicBezTo>
                    <a:pt x="24580" y="32423"/>
                    <a:pt x="25841" y="35499"/>
                    <a:pt x="28311" y="39229"/>
                  </a:cubicBezTo>
                  <a:lnTo>
                    <a:pt x="36125" y="50925"/>
                  </a:lnTo>
                  <a:cubicBezTo>
                    <a:pt x="41399" y="58822"/>
                    <a:pt x="46261" y="60557"/>
                    <a:pt x="49524" y="60557"/>
                  </a:cubicBezTo>
                  <a:cubicBezTo>
                    <a:pt x="51970" y="60557"/>
                    <a:pt x="53518" y="59582"/>
                    <a:pt x="53670" y="59496"/>
                  </a:cubicBezTo>
                  <a:cubicBezTo>
                    <a:pt x="53670" y="59496"/>
                    <a:pt x="53670" y="59496"/>
                    <a:pt x="53670" y="59446"/>
                  </a:cubicBezTo>
                  <a:cubicBezTo>
                    <a:pt x="54224" y="59093"/>
                    <a:pt x="54779" y="58689"/>
                    <a:pt x="55283" y="58336"/>
                  </a:cubicBezTo>
                  <a:cubicBezTo>
                    <a:pt x="55484" y="58185"/>
                    <a:pt x="55636" y="58034"/>
                    <a:pt x="55837" y="57933"/>
                  </a:cubicBezTo>
                  <a:cubicBezTo>
                    <a:pt x="56140" y="57681"/>
                    <a:pt x="56442" y="57429"/>
                    <a:pt x="56745" y="57227"/>
                  </a:cubicBezTo>
                  <a:cubicBezTo>
                    <a:pt x="56947" y="57026"/>
                    <a:pt x="57148" y="56874"/>
                    <a:pt x="57400" y="56723"/>
                  </a:cubicBezTo>
                  <a:cubicBezTo>
                    <a:pt x="57602" y="56521"/>
                    <a:pt x="57854" y="56320"/>
                    <a:pt x="58056" y="56118"/>
                  </a:cubicBezTo>
                  <a:cubicBezTo>
                    <a:pt x="58257" y="55916"/>
                    <a:pt x="58509" y="55715"/>
                    <a:pt x="58711" y="55513"/>
                  </a:cubicBezTo>
                  <a:cubicBezTo>
                    <a:pt x="58812" y="55412"/>
                    <a:pt x="58913" y="55312"/>
                    <a:pt x="59014" y="55261"/>
                  </a:cubicBezTo>
                  <a:cubicBezTo>
                    <a:pt x="59971" y="54303"/>
                    <a:pt x="60828" y="53396"/>
                    <a:pt x="61585" y="52488"/>
                  </a:cubicBezTo>
                  <a:lnTo>
                    <a:pt x="61635" y="52488"/>
                  </a:lnTo>
                  <a:cubicBezTo>
                    <a:pt x="63551" y="50068"/>
                    <a:pt x="64761" y="47800"/>
                    <a:pt x="65467" y="45682"/>
                  </a:cubicBezTo>
                  <a:cubicBezTo>
                    <a:pt x="65467" y="45632"/>
                    <a:pt x="65517" y="45531"/>
                    <a:pt x="65517" y="45481"/>
                  </a:cubicBezTo>
                  <a:cubicBezTo>
                    <a:pt x="65618" y="45279"/>
                    <a:pt x="65668" y="45027"/>
                    <a:pt x="65719" y="44825"/>
                  </a:cubicBezTo>
                  <a:cubicBezTo>
                    <a:pt x="65769" y="44624"/>
                    <a:pt x="65819" y="44472"/>
                    <a:pt x="65870" y="44321"/>
                  </a:cubicBezTo>
                  <a:cubicBezTo>
                    <a:pt x="65870" y="44170"/>
                    <a:pt x="65920" y="44069"/>
                    <a:pt x="65971" y="43918"/>
                  </a:cubicBezTo>
                  <a:cubicBezTo>
                    <a:pt x="67080" y="38927"/>
                    <a:pt x="65819" y="34642"/>
                    <a:pt x="64156" y="32171"/>
                  </a:cubicBezTo>
                  <a:lnTo>
                    <a:pt x="56392" y="20526"/>
                  </a:lnTo>
                  <a:cubicBezTo>
                    <a:pt x="56392" y="20526"/>
                    <a:pt x="56342" y="20475"/>
                    <a:pt x="56342" y="20475"/>
                  </a:cubicBezTo>
                  <a:cubicBezTo>
                    <a:pt x="56241" y="20324"/>
                    <a:pt x="55989" y="19921"/>
                    <a:pt x="55484" y="19316"/>
                  </a:cubicBezTo>
                  <a:cubicBezTo>
                    <a:pt x="53821" y="16997"/>
                    <a:pt x="51603" y="14476"/>
                    <a:pt x="48981" y="12157"/>
                  </a:cubicBezTo>
                  <a:cubicBezTo>
                    <a:pt x="46410" y="9888"/>
                    <a:pt x="43284" y="7620"/>
                    <a:pt x="39705" y="6107"/>
                  </a:cubicBezTo>
                  <a:cubicBezTo>
                    <a:pt x="41429" y="5827"/>
                    <a:pt x="43088" y="5687"/>
                    <a:pt x="44680" y="5687"/>
                  </a:cubicBezTo>
                  <a:close/>
                  <a:moveTo>
                    <a:pt x="31155" y="10054"/>
                  </a:moveTo>
                  <a:cubicBezTo>
                    <a:pt x="34747" y="10054"/>
                    <a:pt x="38465" y="11411"/>
                    <a:pt x="42276" y="14123"/>
                  </a:cubicBezTo>
                  <a:cubicBezTo>
                    <a:pt x="47872" y="18156"/>
                    <a:pt x="51603" y="23651"/>
                    <a:pt x="51653" y="23702"/>
                  </a:cubicBezTo>
                  <a:lnTo>
                    <a:pt x="59417" y="35347"/>
                  </a:lnTo>
                  <a:cubicBezTo>
                    <a:pt x="59417" y="35347"/>
                    <a:pt x="59467" y="35398"/>
                    <a:pt x="59467" y="35448"/>
                  </a:cubicBezTo>
                  <a:cubicBezTo>
                    <a:pt x="59518" y="35499"/>
                    <a:pt x="59568" y="35600"/>
                    <a:pt x="59618" y="35650"/>
                  </a:cubicBezTo>
                  <a:cubicBezTo>
                    <a:pt x="59618" y="35700"/>
                    <a:pt x="59618" y="35751"/>
                    <a:pt x="59669" y="35751"/>
                  </a:cubicBezTo>
                  <a:cubicBezTo>
                    <a:pt x="59669" y="35852"/>
                    <a:pt x="59719" y="35902"/>
                    <a:pt x="59770" y="35952"/>
                  </a:cubicBezTo>
                  <a:cubicBezTo>
                    <a:pt x="59770" y="36053"/>
                    <a:pt x="59820" y="36104"/>
                    <a:pt x="59871" y="36204"/>
                  </a:cubicBezTo>
                  <a:cubicBezTo>
                    <a:pt x="59921" y="36305"/>
                    <a:pt x="59921" y="36356"/>
                    <a:pt x="59971" y="36457"/>
                  </a:cubicBezTo>
                  <a:cubicBezTo>
                    <a:pt x="59971" y="36507"/>
                    <a:pt x="60022" y="36608"/>
                    <a:pt x="60072" y="36709"/>
                  </a:cubicBezTo>
                  <a:cubicBezTo>
                    <a:pt x="60072" y="36759"/>
                    <a:pt x="60123" y="36860"/>
                    <a:pt x="60123" y="36910"/>
                  </a:cubicBezTo>
                  <a:cubicBezTo>
                    <a:pt x="60173" y="37062"/>
                    <a:pt x="60223" y="37263"/>
                    <a:pt x="60274" y="37414"/>
                  </a:cubicBezTo>
                  <a:cubicBezTo>
                    <a:pt x="60274" y="37515"/>
                    <a:pt x="60324" y="37566"/>
                    <a:pt x="60324" y="37667"/>
                  </a:cubicBezTo>
                  <a:cubicBezTo>
                    <a:pt x="60375" y="37818"/>
                    <a:pt x="60425" y="38019"/>
                    <a:pt x="60476" y="38221"/>
                  </a:cubicBezTo>
                  <a:cubicBezTo>
                    <a:pt x="60476" y="38322"/>
                    <a:pt x="60526" y="38423"/>
                    <a:pt x="60526" y="38524"/>
                  </a:cubicBezTo>
                  <a:cubicBezTo>
                    <a:pt x="60526" y="38675"/>
                    <a:pt x="60576" y="38776"/>
                    <a:pt x="60576" y="38927"/>
                  </a:cubicBezTo>
                  <a:cubicBezTo>
                    <a:pt x="60576" y="39028"/>
                    <a:pt x="60576" y="39129"/>
                    <a:pt x="60627" y="39229"/>
                  </a:cubicBezTo>
                  <a:cubicBezTo>
                    <a:pt x="60627" y="39481"/>
                    <a:pt x="60627" y="39683"/>
                    <a:pt x="60627" y="39935"/>
                  </a:cubicBezTo>
                  <a:lnTo>
                    <a:pt x="60627" y="40338"/>
                  </a:lnTo>
                  <a:cubicBezTo>
                    <a:pt x="60627" y="40490"/>
                    <a:pt x="60627" y="40641"/>
                    <a:pt x="60627" y="40792"/>
                  </a:cubicBezTo>
                  <a:cubicBezTo>
                    <a:pt x="60627" y="40994"/>
                    <a:pt x="60576" y="41246"/>
                    <a:pt x="60576" y="41498"/>
                  </a:cubicBezTo>
                  <a:cubicBezTo>
                    <a:pt x="60526" y="41649"/>
                    <a:pt x="60526" y="41800"/>
                    <a:pt x="60526" y="41952"/>
                  </a:cubicBezTo>
                  <a:cubicBezTo>
                    <a:pt x="60476" y="42103"/>
                    <a:pt x="60425" y="42305"/>
                    <a:pt x="60425" y="42506"/>
                  </a:cubicBezTo>
                  <a:cubicBezTo>
                    <a:pt x="60375" y="42708"/>
                    <a:pt x="60324" y="42910"/>
                    <a:pt x="60274" y="43111"/>
                  </a:cubicBezTo>
                  <a:cubicBezTo>
                    <a:pt x="60223" y="43313"/>
                    <a:pt x="60123" y="43565"/>
                    <a:pt x="60072" y="43767"/>
                  </a:cubicBezTo>
                  <a:cubicBezTo>
                    <a:pt x="60022" y="43918"/>
                    <a:pt x="59971" y="44069"/>
                    <a:pt x="59921" y="44220"/>
                  </a:cubicBezTo>
                  <a:cubicBezTo>
                    <a:pt x="59820" y="44523"/>
                    <a:pt x="59669" y="44825"/>
                    <a:pt x="59518" y="45178"/>
                  </a:cubicBezTo>
                  <a:cubicBezTo>
                    <a:pt x="59467" y="45279"/>
                    <a:pt x="59417" y="45430"/>
                    <a:pt x="59366" y="45531"/>
                  </a:cubicBezTo>
                  <a:cubicBezTo>
                    <a:pt x="59215" y="45834"/>
                    <a:pt x="59064" y="46086"/>
                    <a:pt x="58913" y="46388"/>
                  </a:cubicBezTo>
                  <a:cubicBezTo>
                    <a:pt x="58862" y="46489"/>
                    <a:pt x="58812" y="46590"/>
                    <a:pt x="58711" y="46691"/>
                  </a:cubicBezTo>
                  <a:cubicBezTo>
                    <a:pt x="58509" y="47044"/>
                    <a:pt x="58257" y="47447"/>
                    <a:pt x="58005" y="47800"/>
                  </a:cubicBezTo>
                  <a:cubicBezTo>
                    <a:pt x="57904" y="47901"/>
                    <a:pt x="57804" y="48052"/>
                    <a:pt x="57753" y="48153"/>
                  </a:cubicBezTo>
                  <a:cubicBezTo>
                    <a:pt x="57451" y="48556"/>
                    <a:pt x="57148" y="48909"/>
                    <a:pt x="56795" y="49312"/>
                  </a:cubicBezTo>
                  <a:cubicBezTo>
                    <a:pt x="56795" y="49363"/>
                    <a:pt x="56745" y="49363"/>
                    <a:pt x="56745" y="49413"/>
                  </a:cubicBezTo>
                  <a:cubicBezTo>
                    <a:pt x="56241" y="46842"/>
                    <a:pt x="54980" y="43716"/>
                    <a:pt x="52510" y="39986"/>
                  </a:cubicBezTo>
                  <a:lnTo>
                    <a:pt x="44696" y="28340"/>
                  </a:lnTo>
                  <a:cubicBezTo>
                    <a:pt x="39428" y="20424"/>
                    <a:pt x="34572" y="18671"/>
                    <a:pt x="31308" y="18671"/>
                  </a:cubicBezTo>
                  <a:cubicBezTo>
                    <a:pt x="28856" y="18671"/>
                    <a:pt x="27303" y="19661"/>
                    <a:pt x="27151" y="19769"/>
                  </a:cubicBezTo>
                  <a:cubicBezTo>
                    <a:pt x="11473" y="30256"/>
                    <a:pt x="13439" y="42204"/>
                    <a:pt x="16665" y="47044"/>
                  </a:cubicBezTo>
                  <a:lnTo>
                    <a:pt x="24429" y="58689"/>
                  </a:lnTo>
                  <a:cubicBezTo>
                    <a:pt x="24530" y="58841"/>
                    <a:pt x="24832" y="59294"/>
                    <a:pt x="25337" y="59950"/>
                  </a:cubicBezTo>
                  <a:cubicBezTo>
                    <a:pt x="27000" y="62269"/>
                    <a:pt x="29218" y="64739"/>
                    <a:pt x="31840" y="67058"/>
                  </a:cubicBezTo>
                  <a:cubicBezTo>
                    <a:pt x="34462" y="69377"/>
                    <a:pt x="37587" y="71646"/>
                    <a:pt x="41217" y="73158"/>
                  </a:cubicBezTo>
                  <a:cubicBezTo>
                    <a:pt x="39616" y="73420"/>
                    <a:pt x="37969" y="73573"/>
                    <a:pt x="36306" y="73573"/>
                  </a:cubicBezTo>
                  <a:cubicBezTo>
                    <a:pt x="29642" y="73573"/>
                    <a:pt x="22727" y="71114"/>
                    <a:pt x="17522" y="63327"/>
                  </a:cubicBezTo>
                  <a:lnTo>
                    <a:pt x="9708" y="51631"/>
                  </a:lnTo>
                  <a:cubicBezTo>
                    <a:pt x="-4055" y="31012"/>
                    <a:pt x="21455" y="13568"/>
                    <a:pt x="22513" y="12812"/>
                  </a:cubicBezTo>
                  <a:cubicBezTo>
                    <a:pt x="23068" y="12459"/>
                    <a:pt x="23622" y="12157"/>
                    <a:pt x="24177" y="11854"/>
                  </a:cubicBezTo>
                  <a:cubicBezTo>
                    <a:pt x="24681" y="11602"/>
                    <a:pt x="25185" y="11350"/>
                    <a:pt x="25689" y="11149"/>
                  </a:cubicBezTo>
                  <a:cubicBezTo>
                    <a:pt x="25841" y="11098"/>
                    <a:pt x="26042" y="10997"/>
                    <a:pt x="26194" y="10947"/>
                  </a:cubicBezTo>
                  <a:cubicBezTo>
                    <a:pt x="27818" y="10352"/>
                    <a:pt x="29473" y="10054"/>
                    <a:pt x="31155" y="10054"/>
                  </a:cubicBezTo>
                  <a:close/>
                  <a:moveTo>
                    <a:pt x="44717" y="1"/>
                  </a:moveTo>
                  <a:cubicBezTo>
                    <a:pt x="42217" y="1"/>
                    <a:pt x="39602" y="287"/>
                    <a:pt x="36881" y="864"/>
                  </a:cubicBezTo>
                  <a:cubicBezTo>
                    <a:pt x="29773" y="2376"/>
                    <a:pt x="23824" y="5452"/>
                    <a:pt x="21051" y="7065"/>
                  </a:cubicBezTo>
                  <a:cubicBezTo>
                    <a:pt x="20497" y="7367"/>
                    <a:pt x="19942" y="7720"/>
                    <a:pt x="19388" y="8073"/>
                  </a:cubicBezTo>
                  <a:cubicBezTo>
                    <a:pt x="8498" y="15383"/>
                    <a:pt x="-8542" y="34490"/>
                    <a:pt x="5019" y="54807"/>
                  </a:cubicBezTo>
                  <a:lnTo>
                    <a:pt x="12783" y="66453"/>
                  </a:lnTo>
                  <a:cubicBezTo>
                    <a:pt x="18379" y="74872"/>
                    <a:pt x="26345" y="79208"/>
                    <a:pt x="36075" y="79208"/>
                  </a:cubicBezTo>
                  <a:cubicBezTo>
                    <a:pt x="38596" y="79208"/>
                    <a:pt x="41217" y="78905"/>
                    <a:pt x="43940" y="78351"/>
                  </a:cubicBezTo>
                  <a:cubicBezTo>
                    <a:pt x="51048" y="76838"/>
                    <a:pt x="56997" y="73763"/>
                    <a:pt x="59770" y="72150"/>
                  </a:cubicBezTo>
                  <a:cubicBezTo>
                    <a:pt x="59820" y="72150"/>
                    <a:pt x="59820" y="72100"/>
                    <a:pt x="59871" y="72100"/>
                  </a:cubicBezTo>
                  <a:cubicBezTo>
                    <a:pt x="60324" y="71797"/>
                    <a:pt x="60828" y="71545"/>
                    <a:pt x="61333" y="71192"/>
                  </a:cubicBezTo>
                  <a:cubicBezTo>
                    <a:pt x="61333" y="71192"/>
                    <a:pt x="61383" y="71142"/>
                    <a:pt x="61433" y="71142"/>
                  </a:cubicBezTo>
                  <a:cubicBezTo>
                    <a:pt x="72323" y="63832"/>
                    <a:pt x="89363" y="44725"/>
                    <a:pt x="75802" y="24408"/>
                  </a:cubicBezTo>
                  <a:lnTo>
                    <a:pt x="68038" y="12762"/>
                  </a:lnTo>
                  <a:cubicBezTo>
                    <a:pt x="62422" y="4339"/>
                    <a:pt x="54446" y="1"/>
                    <a:pt x="447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2760100" y="2351450"/>
              <a:ext cx="216800" cy="966700"/>
            </a:xfrm>
            <a:custGeom>
              <a:rect b="b" l="l" r="r" t="t"/>
              <a:pathLst>
                <a:path extrusionOk="0" h="38668" w="8672">
                  <a:moveTo>
                    <a:pt x="1" y="0"/>
                  </a:moveTo>
                  <a:lnTo>
                    <a:pt x="1" y="38668"/>
                  </a:lnTo>
                  <a:lnTo>
                    <a:pt x="8672" y="38668"/>
                  </a:lnTo>
                  <a:lnTo>
                    <a:pt x="86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3116775" y="2342625"/>
              <a:ext cx="973050" cy="984350"/>
            </a:xfrm>
            <a:custGeom>
              <a:rect b="b" l="l" r="r" t="t"/>
              <a:pathLst>
                <a:path extrusionOk="0" h="39374" w="38922">
                  <a:moveTo>
                    <a:pt x="19461" y="7512"/>
                  </a:moveTo>
                  <a:cubicBezTo>
                    <a:pt x="22688" y="7512"/>
                    <a:pt x="25309" y="8672"/>
                    <a:pt x="27275" y="10991"/>
                  </a:cubicBezTo>
                  <a:cubicBezTo>
                    <a:pt x="29241" y="13310"/>
                    <a:pt x="30250" y="16234"/>
                    <a:pt x="30250" y="19662"/>
                  </a:cubicBezTo>
                  <a:cubicBezTo>
                    <a:pt x="30250" y="23140"/>
                    <a:pt x="29292" y="26014"/>
                    <a:pt x="27326" y="28384"/>
                  </a:cubicBezTo>
                  <a:lnTo>
                    <a:pt x="27326" y="28333"/>
                  </a:lnTo>
                  <a:cubicBezTo>
                    <a:pt x="25360" y="30703"/>
                    <a:pt x="22738" y="31862"/>
                    <a:pt x="19461" y="31862"/>
                  </a:cubicBezTo>
                  <a:cubicBezTo>
                    <a:pt x="16184" y="31862"/>
                    <a:pt x="13563" y="30703"/>
                    <a:pt x="11647" y="28384"/>
                  </a:cubicBezTo>
                  <a:cubicBezTo>
                    <a:pt x="9681" y="26064"/>
                    <a:pt x="8723" y="23140"/>
                    <a:pt x="8723" y="19611"/>
                  </a:cubicBezTo>
                  <a:cubicBezTo>
                    <a:pt x="8723" y="16133"/>
                    <a:pt x="9681" y="13310"/>
                    <a:pt x="11647" y="10991"/>
                  </a:cubicBezTo>
                  <a:cubicBezTo>
                    <a:pt x="13613" y="8672"/>
                    <a:pt x="16234" y="7512"/>
                    <a:pt x="19461" y="7512"/>
                  </a:cubicBezTo>
                  <a:close/>
                  <a:moveTo>
                    <a:pt x="19461" y="0"/>
                  </a:moveTo>
                  <a:cubicBezTo>
                    <a:pt x="13815" y="0"/>
                    <a:pt x="9176" y="1866"/>
                    <a:pt x="5496" y="5546"/>
                  </a:cubicBezTo>
                  <a:cubicBezTo>
                    <a:pt x="1866" y="9276"/>
                    <a:pt x="1" y="13965"/>
                    <a:pt x="1" y="19712"/>
                  </a:cubicBezTo>
                  <a:cubicBezTo>
                    <a:pt x="1" y="25409"/>
                    <a:pt x="1866" y="30098"/>
                    <a:pt x="5496" y="33828"/>
                  </a:cubicBezTo>
                  <a:cubicBezTo>
                    <a:pt x="9176" y="37509"/>
                    <a:pt x="13815" y="39374"/>
                    <a:pt x="19461" y="39374"/>
                  </a:cubicBezTo>
                  <a:cubicBezTo>
                    <a:pt x="25057" y="39374"/>
                    <a:pt x="29746" y="37509"/>
                    <a:pt x="33426" y="33778"/>
                  </a:cubicBezTo>
                  <a:cubicBezTo>
                    <a:pt x="37106" y="30047"/>
                    <a:pt x="38921" y="25359"/>
                    <a:pt x="38921" y="19662"/>
                  </a:cubicBezTo>
                  <a:cubicBezTo>
                    <a:pt x="38921" y="14015"/>
                    <a:pt x="37106" y="9276"/>
                    <a:pt x="33426" y="5546"/>
                  </a:cubicBezTo>
                  <a:cubicBezTo>
                    <a:pt x="29746" y="1866"/>
                    <a:pt x="25107" y="0"/>
                    <a:pt x="194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4227175" y="2351450"/>
              <a:ext cx="1188550" cy="965450"/>
            </a:xfrm>
            <a:custGeom>
              <a:rect b="b" l="l" r="r" t="t"/>
              <a:pathLst>
                <a:path extrusionOk="0" h="38618" w="47542">
                  <a:moveTo>
                    <a:pt x="0" y="0"/>
                  </a:moveTo>
                  <a:lnTo>
                    <a:pt x="0" y="38618"/>
                  </a:lnTo>
                  <a:lnTo>
                    <a:pt x="8218" y="38618"/>
                  </a:lnTo>
                  <a:lnTo>
                    <a:pt x="8218" y="3680"/>
                  </a:lnTo>
                  <a:lnTo>
                    <a:pt x="16889" y="38618"/>
                  </a:lnTo>
                  <a:lnTo>
                    <a:pt x="30602" y="38618"/>
                  </a:lnTo>
                  <a:lnTo>
                    <a:pt x="39273" y="3428"/>
                  </a:lnTo>
                  <a:lnTo>
                    <a:pt x="39273" y="38618"/>
                  </a:lnTo>
                  <a:lnTo>
                    <a:pt x="47541" y="38618"/>
                  </a:lnTo>
                  <a:lnTo>
                    <a:pt x="47541" y="0"/>
                  </a:lnTo>
                  <a:lnTo>
                    <a:pt x="32215" y="0"/>
                  </a:lnTo>
                  <a:lnTo>
                    <a:pt x="23796" y="35391"/>
                  </a:lnTo>
                  <a:lnTo>
                    <a:pt x="157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5598450" y="2351450"/>
              <a:ext cx="739850" cy="965450"/>
            </a:xfrm>
            <a:custGeom>
              <a:rect b="b" l="l" r="r" t="t"/>
              <a:pathLst>
                <a:path extrusionOk="0" h="38618" w="29594">
                  <a:moveTo>
                    <a:pt x="0" y="0"/>
                  </a:moveTo>
                  <a:lnTo>
                    <a:pt x="0" y="38618"/>
                  </a:lnTo>
                  <a:lnTo>
                    <a:pt x="29594" y="38618"/>
                  </a:lnTo>
                  <a:lnTo>
                    <a:pt x="29594" y="31358"/>
                  </a:lnTo>
                  <a:lnTo>
                    <a:pt x="8722" y="31358"/>
                  </a:lnTo>
                  <a:lnTo>
                    <a:pt x="8722" y="22535"/>
                  </a:lnTo>
                  <a:lnTo>
                    <a:pt x="26770" y="22535"/>
                  </a:lnTo>
                  <a:lnTo>
                    <a:pt x="26770" y="15326"/>
                  </a:lnTo>
                  <a:lnTo>
                    <a:pt x="8722" y="15326"/>
                  </a:lnTo>
                  <a:lnTo>
                    <a:pt x="8722" y="7260"/>
                  </a:lnTo>
                  <a:lnTo>
                    <a:pt x="29241" y="7260"/>
                  </a:lnTo>
                  <a:lnTo>
                    <a:pt x="292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6492050" y="2351450"/>
              <a:ext cx="888575" cy="965450"/>
            </a:xfrm>
            <a:custGeom>
              <a:rect b="b" l="l" r="r" t="t"/>
              <a:pathLst>
                <a:path extrusionOk="0" h="38618" w="35543">
                  <a:moveTo>
                    <a:pt x="14368" y="7361"/>
                  </a:moveTo>
                  <a:cubicBezTo>
                    <a:pt x="18200" y="7361"/>
                    <a:pt x="21225" y="8470"/>
                    <a:pt x="23494" y="10587"/>
                  </a:cubicBezTo>
                  <a:cubicBezTo>
                    <a:pt x="25762" y="12755"/>
                    <a:pt x="26871" y="15679"/>
                    <a:pt x="26871" y="19309"/>
                  </a:cubicBezTo>
                  <a:cubicBezTo>
                    <a:pt x="26871" y="22989"/>
                    <a:pt x="25762" y="25812"/>
                    <a:pt x="23494" y="27980"/>
                  </a:cubicBezTo>
                  <a:cubicBezTo>
                    <a:pt x="21225" y="30198"/>
                    <a:pt x="18200" y="31307"/>
                    <a:pt x="14368" y="31307"/>
                  </a:cubicBezTo>
                  <a:lnTo>
                    <a:pt x="8571" y="31307"/>
                  </a:lnTo>
                  <a:lnTo>
                    <a:pt x="8571" y="7361"/>
                  </a:lnTo>
                  <a:close/>
                  <a:moveTo>
                    <a:pt x="0" y="0"/>
                  </a:moveTo>
                  <a:lnTo>
                    <a:pt x="0" y="38618"/>
                  </a:lnTo>
                  <a:lnTo>
                    <a:pt x="15528" y="38618"/>
                  </a:lnTo>
                  <a:cubicBezTo>
                    <a:pt x="21326" y="38618"/>
                    <a:pt x="26165" y="36853"/>
                    <a:pt x="29896" y="33223"/>
                  </a:cubicBezTo>
                  <a:cubicBezTo>
                    <a:pt x="33627" y="29593"/>
                    <a:pt x="35543" y="25006"/>
                    <a:pt x="35543" y="19309"/>
                  </a:cubicBezTo>
                  <a:cubicBezTo>
                    <a:pt x="35543" y="13662"/>
                    <a:pt x="33677" y="9075"/>
                    <a:pt x="29947" y="5445"/>
                  </a:cubicBezTo>
                  <a:cubicBezTo>
                    <a:pt x="26216" y="1815"/>
                    <a:pt x="21376" y="0"/>
                    <a:pt x="155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</p:grpSp>
      <p:sp>
        <p:nvSpPr>
          <p:cNvPr id="110" name="Google Shape;110;p15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images 1">
  <p:cSld name="CUSTOM_2_1_3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3" name="Google Shape;113;p16"/>
          <p:cNvSpPr txBox="1"/>
          <p:nvPr>
            <p:ph type="title"/>
          </p:nvPr>
        </p:nvSpPr>
        <p:spPr>
          <a:xfrm>
            <a:off x="360000" y="588600"/>
            <a:ext cx="555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6"/>
          <p:cNvSpPr/>
          <p:nvPr>
            <p:ph idx="2" type="pic"/>
          </p:nvPr>
        </p:nvSpPr>
        <p:spPr>
          <a:xfrm>
            <a:off x="8248000" y="2406000"/>
            <a:ext cx="3584100" cy="40920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16"/>
          <p:cNvSpPr txBox="1"/>
          <p:nvPr>
            <p:ph idx="1" type="body"/>
          </p:nvPr>
        </p:nvSpPr>
        <p:spPr>
          <a:xfrm>
            <a:off x="360000" y="2406000"/>
            <a:ext cx="3584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Clr>
                <a:schemeClr val="accent2"/>
              </a:buClr>
              <a:buSzPts val="1400"/>
              <a:buChar char="■"/>
              <a:defRPr sz="1400"/>
            </a:lvl9pPr>
          </a:lstStyle>
          <a:p/>
        </p:txBody>
      </p:sp>
      <p:sp>
        <p:nvSpPr>
          <p:cNvPr id="116" name="Google Shape;116;p16"/>
          <p:cNvSpPr/>
          <p:nvPr>
            <p:ph idx="3" type="pic"/>
          </p:nvPr>
        </p:nvSpPr>
        <p:spPr>
          <a:xfrm>
            <a:off x="4303950" y="2406000"/>
            <a:ext cx="3584100" cy="4092000"/>
          </a:xfrm>
          <a:prstGeom prst="rect">
            <a:avLst/>
          </a:prstGeom>
          <a:noFill/>
          <a:ln>
            <a:noFill/>
          </a:ln>
        </p:spPr>
      </p:sp>
      <p:pic>
        <p:nvPicPr>
          <p:cNvPr id="117" name="Google Shape;117;p16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9697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col 1">
  <p:cSld name="BLANK_1_5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1" name="Google Shape;121;p17"/>
          <p:cNvSpPr txBox="1"/>
          <p:nvPr>
            <p:ph type="title"/>
          </p:nvPr>
        </p:nvSpPr>
        <p:spPr>
          <a:xfrm>
            <a:off x="360000" y="588600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7"/>
          <p:cNvSpPr txBox="1"/>
          <p:nvPr>
            <p:ph idx="1" type="body"/>
          </p:nvPr>
        </p:nvSpPr>
        <p:spPr>
          <a:xfrm>
            <a:off x="360000" y="3024300"/>
            <a:ext cx="3583800" cy="20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123" name="Google Shape;123;p17"/>
          <p:cNvSpPr txBox="1"/>
          <p:nvPr>
            <p:ph idx="2" type="body"/>
          </p:nvPr>
        </p:nvSpPr>
        <p:spPr>
          <a:xfrm>
            <a:off x="4304100" y="3024300"/>
            <a:ext cx="3583800" cy="20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124" name="Google Shape;124;p17"/>
          <p:cNvSpPr txBox="1"/>
          <p:nvPr>
            <p:ph idx="3" type="body"/>
          </p:nvPr>
        </p:nvSpPr>
        <p:spPr>
          <a:xfrm>
            <a:off x="8247900" y="3024300"/>
            <a:ext cx="3583800" cy="20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125" name="Google Shape;125;p17"/>
          <p:cNvSpPr txBox="1"/>
          <p:nvPr>
            <p:ph idx="4" type="body"/>
          </p:nvPr>
        </p:nvSpPr>
        <p:spPr>
          <a:xfrm>
            <a:off x="4304100" y="2406000"/>
            <a:ext cx="3583800" cy="20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6" name="Google Shape;126;p17"/>
          <p:cNvSpPr txBox="1"/>
          <p:nvPr>
            <p:ph idx="5" type="body"/>
          </p:nvPr>
        </p:nvSpPr>
        <p:spPr>
          <a:xfrm>
            <a:off x="8247900" y="2406000"/>
            <a:ext cx="3583800" cy="20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7" name="Google Shape;127;p17"/>
          <p:cNvSpPr txBox="1"/>
          <p:nvPr>
            <p:ph idx="6" type="body"/>
          </p:nvPr>
        </p:nvSpPr>
        <p:spPr>
          <a:xfrm>
            <a:off x="360300" y="2406000"/>
            <a:ext cx="3583800" cy="20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28" name="Google Shape;128;p17"/>
          <p:cNvSpPr txBox="1"/>
          <p:nvPr>
            <p:ph idx="7" type="body"/>
          </p:nvPr>
        </p:nvSpPr>
        <p:spPr>
          <a:xfrm>
            <a:off x="360000" y="5006100"/>
            <a:ext cx="3583800" cy="20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129" name="Google Shape;129;p17"/>
          <p:cNvSpPr txBox="1"/>
          <p:nvPr>
            <p:ph idx="8" type="body"/>
          </p:nvPr>
        </p:nvSpPr>
        <p:spPr>
          <a:xfrm>
            <a:off x="4304100" y="5006100"/>
            <a:ext cx="3583800" cy="20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130" name="Google Shape;130;p17"/>
          <p:cNvSpPr txBox="1"/>
          <p:nvPr>
            <p:ph idx="9" type="body"/>
          </p:nvPr>
        </p:nvSpPr>
        <p:spPr>
          <a:xfrm>
            <a:off x="8247900" y="5006100"/>
            <a:ext cx="3583800" cy="20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131" name="Google Shape;131;p17"/>
          <p:cNvSpPr txBox="1"/>
          <p:nvPr>
            <p:ph idx="13" type="body"/>
          </p:nvPr>
        </p:nvSpPr>
        <p:spPr>
          <a:xfrm>
            <a:off x="4304100" y="4452000"/>
            <a:ext cx="3583800" cy="20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32" name="Google Shape;132;p17"/>
          <p:cNvSpPr txBox="1"/>
          <p:nvPr>
            <p:ph idx="14" type="body"/>
          </p:nvPr>
        </p:nvSpPr>
        <p:spPr>
          <a:xfrm>
            <a:off x="8247900" y="4452000"/>
            <a:ext cx="3583800" cy="20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33" name="Google Shape;133;p17"/>
          <p:cNvSpPr txBox="1"/>
          <p:nvPr>
            <p:ph idx="15" type="body"/>
          </p:nvPr>
        </p:nvSpPr>
        <p:spPr>
          <a:xfrm>
            <a:off x="360300" y="4452000"/>
            <a:ext cx="3583800" cy="20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pic>
        <p:nvPicPr>
          <p:cNvPr id="134" name="Google Shape;134;p17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9697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images">
  <p:cSld name="CUSTOM_2_1_4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8" name="Google Shape;138;p18"/>
          <p:cNvSpPr txBox="1"/>
          <p:nvPr>
            <p:ph type="title"/>
          </p:nvPr>
        </p:nvSpPr>
        <p:spPr>
          <a:xfrm>
            <a:off x="360000" y="588600"/>
            <a:ext cx="555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8"/>
          <p:cNvSpPr/>
          <p:nvPr>
            <p:ph idx="2" type="pic"/>
          </p:nvPr>
        </p:nvSpPr>
        <p:spPr>
          <a:xfrm>
            <a:off x="8248000" y="2406000"/>
            <a:ext cx="3584100" cy="40920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18"/>
          <p:cNvSpPr/>
          <p:nvPr>
            <p:ph idx="3" type="pic"/>
          </p:nvPr>
        </p:nvSpPr>
        <p:spPr>
          <a:xfrm>
            <a:off x="4303950" y="2406000"/>
            <a:ext cx="3584100" cy="4092000"/>
          </a:xfrm>
          <a:prstGeom prst="rect">
            <a:avLst/>
          </a:prstGeom>
          <a:noFill/>
          <a:ln>
            <a:noFill/>
          </a:ln>
        </p:spPr>
      </p:sp>
      <p:pic>
        <p:nvPicPr>
          <p:cNvPr id="141" name="Google Shape;141;p18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9697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">
  <p:cSld name="CUSTOM_2_1_1_3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5" name="Google Shape;145;p19"/>
          <p:cNvSpPr txBox="1"/>
          <p:nvPr>
            <p:ph type="title"/>
          </p:nvPr>
        </p:nvSpPr>
        <p:spPr>
          <a:xfrm>
            <a:off x="360000" y="588600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19"/>
          <p:cNvSpPr/>
          <p:nvPr>
            <p:ph idx="2" type="pic"/>
          </p:nvPr>
        </p:nvSpPr>
        <p:spPr>
          <a:xfrm>
            <a:off x="360000" y="1611600"/>
            <a:ext cx="11472300" cy="5115000"/>
          </a:xfrm>
          <a:prstGeom prst="rect">
            <a:avLst/>
          </a:prstGeom>
          <a:noFill/>
          <a:ln>
            <a:noFill/>
          </a:ln>
        </p:spPr>
      </p:sp>
      <p:pic>
        <p:nvPicPr>
          <p:cNvPr id="147" name="Google Shape;147;p19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9697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871">
          <p15:clr>
            <a:srgbClr val="E46962"/>
          </p15:clr>
        </p15:guide>
        <p15:guide id="2" orient="horz" pos="1096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ner 2">
  <p:cSld name="BLANK_3_2_2">
    <p:bg>
      <p:bgPr>
        <a:solidFill>
          <a:schemeClr val="dk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20"/>
          <p:cNvGrpSpPr/>
          <p:nvPr/>
        </p:nvGrpSpPr>
        <p:grpSpPr>
          <a:xfrm>
            <a:off x="10962295" y="461571"/>
            <a:ext cx="768112" cy="182854"/>
            <a:chOff x="698472" y="661632"/>
            <a:chExt cx="1294862" cy="300303"/>
          </a:xfrm>
        </p:grpSpPr>
        <p:sp>
          <p:nvSpPr>
            <p:cNvPr id="151" name="Google Shape;151;p20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2" name="Google Shape;152;p20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3" name="Google Shape;153;p20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4" name="Google Shape;154;p20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5" name="Google Shape;155;p20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6" name="Google Shape;156;p20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157" name="Google Shape;157;p20">
            <a:hlinkClick r:id="rId2"/>
          </p:cNvPr>
          <p:cNvSpPr txBox="1"/>
          <p:nvPr/>
        </p:nvSpPr>
        <p:spPr>
          <a:xfrm>
            <a:off x="10220000" y="6190200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IOMED.HEALTH</a:t>
            </a:r>
            <a:endParaRPr b="1"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158" name="Google Shape;15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7200" y="62298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 txBox="1"/>
          <p:nvPr>
            <p:ph type="title"/>
          </p:nvPr>
        </p:nvSpPr>
        <p:spPr>
          <a:xfrm>
            <a:off x="360000" y="360000"/>
            <a:ext cx="9500100" cy="4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1" type="subTitle"/>
          </p:nvPr>
        </p:nvSpPr>
        <p:spPr>
          <a:xfrm>
            <a:off x="360000" y="4452000"/>
            <a:ext cx="7527900" cy="204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9pPr>
          </a:lstStyle>
          <a:p/>
        </p:txBody>
      </p:sp>
      <p:sp>
        <p:nvSpPr>
          <p:cNvPr id="161" name="Google Shape;161;p20"/>
          <p:cNvSpPr txBox="1"/>
          <p:nvPr>
            <p:ph idx="12" type="sldNum"/>
          </p:nvPr>
        </p:nvSpPr>
        <p:spPr>
          <a:xfrm>
            <a:off x="11409045" y="6333134"/>
            <a:ext cx="731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1_3_2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4" name="Google Shape;164;p21"/>
          <p:cNvSpPr txBox="1"/>
          <p:nvPr>
            <p:ph type="title"/>
          </p:nvPr>
        </p:nvSpPr>
        <p:spPr>
          <a:xfrm>
            <a:off x="360000" y="588600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65" name="Google Shape;165;p21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9697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1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images 2">
  <p:cSld name="CUSTOM_2_1_5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9" name="Google Shape;169;p22"/>
          <p:cNvSpPr txBox="1"/>
          <p:nvPr>
            <p:ph type="title"/>
          </p:nvPr>
        </p:nvSpPr>
        <p:spPr>
          <a:xfrm>
            <a:off x="360000" y="588600"/>
            <a:ext cx="555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2"/>
          <p:cNvSpPr/>
          <p:nvPr>
            <p:ph idx="2" type="pic"/>
          </p:nvPr>
        </p:nvSpPr>
        <p:spPr>
          <a:xfrm>
            <a:off x="8248000" y="2406000"/>
            <a:ext cx="3584100" cy="40920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22"/>
          <p:cNvSpPr/>
          <p:nvPr>
            <p:ph idx="3" type="pic"/>
          </p:nvPr>
        </p:nvSpPr>
        <p:spPr>
          <a:xfrm>
            <a:off x="4303950" y="2406000"/>
            <a:ext cx="3584100" cy="4092000"/>
          </a:xfrm>
          <a:prstGeom prst="rect">
            <a:avLst/>
          </a:prstGeom>
          <a:noFill/>
          <a:ln>
            <a:noFill/>
          </a:ln>
        </p:spPr>
      </p:sp>
      <p:pic>
        <p:nvPicPr>
          <p:cNvPr id="172" name="Google Shape;172;p22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9697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2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2">
  <p:cSld name="CUSTOM_2_1_1_4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6" name="Google Shape;176;p23"/>
          <p:cNvSpPr txBox="1"/>
          <p:nvPr>
            <p:ph type="title"/>
          </p:nvPr>
        </p:nvSpPr>
        <p:spPr>
          <a:xfrm>
            <a:off x="360000" y="588600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23"/>
          <p:cNvSpPr/>
          <p:nvPr>
            <p:ph idx="2" type="pic"/>
          </p:nvPr>
        </p:nvSpPr>
        <p:spPr>
          <a:xfrm>
            <a:off x="360000" y="1611600"/>
            <a:ext cx="11472300" cy="5115000"/>
          </a:xfrm>
          <a:prstGeom prst="rect">
            <a:avLst/>
          </a:prstGeom>
          <a:noFill/>
          <a:ln>
            <a:noFill/>
          </a:ln>
        </p:spPr>
      </p:sp>
      <p:pic>
        <p:nvPicPr>
          <p:cNvPr id="178" name="Google Shape;178;p23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9697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3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871">
          <p15:clr>
            <a:srgbClr val="E46962"/>
          </p15:clr>
        </p15:guide>
        <p15:guide id="2" orient="horz" pos="1096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 1">
  <p:cSld name="BLANK_1_3_2_2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2" name="Google Shape;182;p24"/>
          <p:cNvSpPr txBox="1"/>
          <p:nvPr>
            <p:ph type="title"/>
          </p:nvPr>
        </p:nvSpPr>
        <p:spPr>
          <a:xfrm>
            <a:off x="360000" y="588600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83" name="Google Shape;183;p24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9697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4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360006" y="6159300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829025" y="1710975"/>
            <a:ext cx="3389400" cy="3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8643050" y="1658050"/>
            <a:ext cx="3389400" cy="3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●"/>
              <a:defRPr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○"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■"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●"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○"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■"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●"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○"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■"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27">
          <p15:clr>
            <a:schemeClr val="accent2"/>
          </p15:clr>
        </p15:guide>
        <p15:guide id="2" pos="7453">
          <p15:clr>
            <a:schemeClr val="accent2"/>
          </p15:clr>
        </p15:guide>
        <p15:guide id="3" orient="horz" pos="227">
          <p15:clr>
            <a:schemeClr val="accent2"/>
          </p15:clr>
        </p15:guide>
        <p15:guide id="4" pos="1242">
          <p15:clr>
            <a:srgbClr val="9900FF"/>
          </p15:clr>
        </p15:guide>
        <p15:guide id="5" pos="1469">
          <p15:clr>
            <a:srgbClr val="9900FF"/>
          </p15:clr>
        </p15:guide>
        <p15:guide id="6" pos="2484">
          <p15:clr>
            <a:srgbClr val="9900FF"/>
          </p15:clr>
        </p15:guide>
        <p15:guide id="7" pos="2711">
          <p15:clr>
            <a:srgbClr val="9900FF"/>
          </p15:clr>
        </p15:guide>
        <p15:guide id="8" pos="3727">
          <p15:clr>
            <a:srgbClr val="9900FF"/>
          </p15:clr>
        </p15:guide>
        <p15:guide id="9" pos="3953">
          <p15:clr>
            <a:srgbClr val="9900FF"/>
          </p15:clr>
        </p15:guide>
        <p15:guide id="10" pos="4969">
          <p15:clr>
            <a:srgbClr val="9900FF"/>
          </p15:clr>
        </p15:guide>
        <p15:guide id="11" pos="5196">
          <p15:clr>
            <a:srgbClr val="9900FF"/>
          </p15:clr>
        </p15:guide>
        <p15:guide id="12" pos="6211">
          <p15:clr>
            <a:srgbClr val="9900FF"/>
          </p15:clr>
        </p15:guide>
        <p15:guide id="13" pos="6438">
          <p15:clr>
            <a:srgbClr val="9900FF"/>
          </p15:clr>
        </p15:guide>
        <p15:guide id="14" pos="3840">
          <p15:clr>
            <a:srgbClr val="00FF00"/>
          </p15:clr>
        </p15:guide>
        <p15:guide id="15" orient="horz" pos="420">
          <p15:clr>
            <a:srgbClr val="E46962"/>
          </p15:clr>
        </p15:guide>
        <p15:guide id="16" orient="horz" pos="4093">
          <p15:clr>
            <a:schemeClr val="accent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hyperlink" Target="http://www.iomed.health" TargetMode="External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0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17.png"/><Relationship Id="rId5" Type="http://schemas.openxmlformats.org/officeDocument/2006/relationships/image" Target="../media/image26.png"/><Relationship Id="rId6" Type="http://schemas.openxmlformats.org/officeDocument/2006/relationships/image" Target="../media/image21.png"/><Relationship Id="rId7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29.png"/><Relationship Id="rId6" Type="http://schemas.openxmlformats.org/officeDocument/2006/relationships/image" Target="../media/image2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8.png"/><Relationship Id="rId5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.png"/><Relationship Id="rId4" Type="http://schemas.openxmlformats.org/officeDocument/2006/relationships/image" Target="../media/image3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Relationship Id="rId4" Type="http://schemas.openxmlformats.org/officeDocument/2006/relationships/image" Target="../media/image33.png"/><Relationship Id="rId5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Relationship Id="rId4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Relationship Id="rId4" Type="http://schemas.openxmlformats.org/officeDocument/2006/relationships/image" Target="../media/image3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Relationship Id="rId4" Type="http://schemas.openxmlformats.org/officeDocument/2006/relationships/image" Target="../media/image4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Relationship Id="rId4" Type="http://schemas.openxmlformats.org/officeDocument/2006/relationships/image" Target="../media/image2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0.png"/><Relationship Id="rId4" Type="http://schemas.openxmlformats.org/officeDocument/2006/relationships/image" Target="../media/image4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6.png"/><Relationship Id="rId4" Type="http://schemas.openxmlformats.org/officeDocument/2006/relationships/image" Target="../media/image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25"/>
          <p:cNvGrpSpPr/>
          <p:nvPr/>
        </p:nvGrpSpPr>
        <p:grpSpPr>
          <a:xfrm>
            <a:off x="3318000" y="359984"/>
            <a:ext cx="1611900" cy="307800"/>
            <a:chOff x="10220000" y="6190200"/>
            <a:chExt cx="1611900" cy="307800"/>
          </a:xfrm>
        </p:grpSpPr>
        <p:sp>
          <p:nvSpPr>
            <p:cNvPr id="190" name="Google Shape;190;p25">
              <a:hlinkClick r:id="rId4"/>
            </p:cNvPr>
            <p:cNvSpPr txBox="1"/>
            <p:nvPr/>
          </p:nvSpPr>
          <p:spPr>
            <a:xfrm>
              <a:off x="10220000" y="6190200"/>
              <a:ext cx="16119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457200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IOMED.HEALTH</a:t>
              </a:r>
              <a:endParaRPr b="1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pic>
          <p:nvPicPr>
  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191" name="Google Shape;191;p2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527200" y="622980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2" name="Google Shape;192;p25"/>
          <p:cNvSpPr txBox="1"/>
          <p:nvPr/>
        </p:nvSpPr>
        <p:spPr>
          <a:xfrm>
            <a:off x="360000" y="3682150"/>
            <a:ext cx="9400500" cy="26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Rol de Inteligencia Artificial en estudios con datos de la vida real </a:t>
            </a:r>
            <a:endParaRPr sz="55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1" lang="en" sz="2100">
                <a:solidFill>
                  <a:srgbClr val="CFD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Gabriel Maeztu </a:t>
            </a:r>
            <a:r>
              <a:rPr b="1" lang="en">
                <a:solidFill>
                  <a:srgbClr val="CFD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M.D.</a:t>
            </a:r>
            <a:r>
              <a:rPr b="1" lang="en" sz="2100">
                <a:solidFill>
                  <a:srgbClr val="CFD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" sz="2100">
                <a:solidFill>
                  <a:srgbClr val="CFD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- Director Médico y Técnico </a:t>
            </a:r>
            <a:r>
              <a:rPr lang="en" sz="2100">
                <a:solidFill>
                  <a:srgbClr val="CFD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@</a:t>
            </a:r>
            <a:r>
              <a:rPr lang="en" sz="2100">
                <a:solidFill>
                  <a:srgbClr val="CFD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IOMED</a:t>
            </a:r>
            <a:endParaRPr sz="2100">
              <a:solidFill>
                <a:srgbClr val="CFD8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93" name="Google Shape;193;p25"/>
          <p:cNvGrpSpPr/>
          <p:nvPr/>
        </p:nvGrpSpPr>
        <p:grpSpPr>
          <a:xfrm>
            <a:off x="436196" y="399637"/>
            <a:ext cx="832751" cy="228515"/>
            <a:chOff x="238675" y="1845875"/>
            <a:chExt cx="7141950" cy="1980200"/>
          </a:xfrm>
        </p:grpSpPr>
        <p:sp>
          <p:nvSpPr>
            <p:cNvPr id="194" name="Google Shape;194;p25"/>
            <p:cNvSpPr/>
            <p:nvPr/>
          </p:nvSpPr>
          <p:spPr>
            <a:xfrm>
              <a:off x="238675" y="1845875"/>
              <a:ext cx="2020525" cy="1980200"/>
            </a:xfrm>
            <a:custGeom>
              <a:rect b="b" l="l" r="r" t="t"/>
              <a:pathLst>
                <a:path extrusionOk="0" h="79208" w="80821">
                  <a:moveTo>
                    <a:pt x="31218" y="24333"/>
                  </a:moveTo>
                  <a:cubicBezTo>
                    <a:pt x="32990" y="24333"/>
                    <a:pt x="36184" y="25785"/>
                    <a:pt x="39957" y="31466"/>
                  </a:cubicBezTo>
                  <a:lnTo>
                    <a:pt x="47771" y="43111"/>
                  </a:lnTo>
                  <a:cubicBezTo>
                    <a:pt x="52460" y="50119"/>
                    <a:pt x="51552" y="53749"/>
                    <a:pt x="50544" y="54707"/>
                  </a:cubicBezTo>
                  <a:cubicBezTo>
                    <a:pt x="50283" y="54828"/>
                    <a:pt x="49944" y="54904"/>
                    <a:pt x="49536" y="54904"/>
                  </a:cubicBezTo>
                  <a:cubicBezTo>
                    <a:pt x="47738" y="54904"/>
                    <a:pt x="44594" y="53420"/>
                    <a:pt x="40814" y="47749"/>
                  </a:cubicBezTo>
                  <a:lnTo>
                    <a:pt x="33050" y="36104"/>
                  </a:lnTo>
                  <a:cubicBezTo>
                    <a:pt x="28361" y="29096"/>
                    <a:pt x="29218" y="25466"/>
                    <a:pt x="30277" y="24508"/>
                  </a:cubicBezTo>
                  <a:cubicBezTo>
                    <a:pt x="30519" y="24401"/>
                    <a:pt x="30835" y="24333"/>
                    <a:pt x="31218" y="24333"/>
                  </a:cubicBezTo>
                  <a:close/>
                  <a:moveTo>
                    <a:pt x="44680" y="5687"/>
                  </a:moveTo>
                  <a:cubicBezTo>
                    <a:pt x="52536" y="5687"/>
                    <a:pt x="58771" y="9097"/>
                    <a:pt x="63299" y="15888"/>
                  </a:cubicBezTo>
                  <a:lnTo>
                    <a:pt x="71063" y="27584"/>
                  </a:lnTo>
                  <a:cubicBezTo>
                    <a:pt x="84876" y="48203"/>
                    <a:pt x="59366" y="65646"/>
                    <a:pt x="58257" y="66403"/>
                  </a:cubicBezTo>
                  <a:cubicBezTo>
                    <a:pt x="57904" y="66655"/>
                    <a:pt x="57501" y="66856"/>
                    <a:pt x="57148" y="67108"/>
                  </a:cubicBezTo>
                  <a:cubicBezTo>
                    <a:pt x="56947" y="67209"/>
                    <a:pt x="56694" y="67310"/>
                    <a:pt x="56493" y="67411"/>
                  </a:cubicBezTo>
                  <a:cubicBezTo>
                    <a:pt x="56342" y="67512"/>
                    <a:pt x="56190" y="67562"/>
                    <a:pt x="56039" y="67663"/>
                  </a:cubicBezTo>
                  <a:cubicBezTo>
                    <a:pt x="53968" y="68651"/>
                    <a:pt x="51848" y="69145"/>
                    <a:pt x="49682" y="69145"/>
                  </a:cubicBezTo>
                  <a:cubicBezTo>
                    <a:pt x="46101" y="69145"/>
                    <a:pt x="42397" y="67794"/>
                    <a:pt x="38596" y="65092"/>
                  </a:cubicBezTo>
                  <a:cubicBezTo>
                    <a:pt x="33705" y="61613"/>
                    <a:pt x="30227" y="57026"/>
                    <a:pt x="29370" y="55816"/>
                  </a:cubicBezTo>
                  <a:cubicBezTo>
                    <a:pt x="29319" y="55715"/>
                    <a:pt x="29269" y="55664"/>
                    <a:pt x="29269" y="55614"/>
                  </a:cubicBezTo>
                  <a:cubicBezTo>
                    <a:pt x="29218" y="55614"/>
                    <a:pt x="29168" y="55513"/>
                    <a:pt x="29168" y="55513"/>
                  </a:cubicBezTo>
                  <a:lnTo>
                    <a:pt x="21404" y="43867"/>
                  </a:lnTo>
                  <a:cubicBezTo>
                    <a:pt x="21152" y="43464"/>
                    <a:pt x="17522" y="37364"/>
                    <a:pt x="24076" y="29852"/>
                  </a:cubicBezTo>
                  <a:cubicBezTo>
                    <a:pt x="24580" y="32423"/>
                    <a:pt x="25841" y="35499"/>
                    <a:pt x="28311" y="39229"/>
                  </a:cubicBezTo>
                  <a:lnTo>
                    <a:pt x="36125" y="50925"/>
                  </a:lnTo>
                  <a:cubicBezTo>
                    <a:pt x="41399" y="58822"/>
                    <a:pt x="46261" y="60557"/>
                    <a:pt x="49524" y="60557"/>
                  </a:cubicBezTo>
                  <a:cubicBezTo>
                    <a:pt x="51970" y="60557"/>
                    <a:pt x="53518" y="59582"/>
                    <a:pt x="53670" y="59496"/>
                  </a:cubicBezTo>
                  <a:cubicBezTo>
                    <a:pt x="53670" y="59496"/>
                    <a:pt x="53670" y="59496"/>
                    <a:pt x="53670" y="59446"/>
                  </a:cubicBezTo>
                  <a:cubicBezTo>
                    <a:pt x="54224" y="59093"/>
                    <a:pt x="54779" y="58689"/>
                    <a:pt x="55283" y="58336"/>
                  </a:cubicBezTo>
                  <a:cubicBezTo>
                    <a:pt x="55484" y="58185"/>
                    <a:pt x="55636" y="58034"/>
                    <a:pt x="55837" y="57933"/>
                  </a:cubicBezTo>
                  <a:cubicBezTo>
                    <a:pt x="56140" y="57681"/>
                    <a:pt x="56442" y="57429"/>
                    <a:pt x="56745" y="57227"/>
                  </a:cubicBezTo>
                  <a:cubicBezTo>
                    <a:pt x="56947" y="57026"/>
                    <a:pt x="57148" y="56874"/>
                    <a:pt x="57400" y="56723"/>
                  </a:cubicBezTo>
                  <a:cubicBezTo>
                    <a:pt x="57602" y="56521"/>
                    <a:pt x="57854" y="56320"/>
                    <a:pt x="58056" y="56118"/>
                  </a:cubicBezTo>
                  <a:cubicBezTo>
                    <a:pt x="58257" y="55916"/>
                    <a:pt x="58509" y="55715"/>
                    <a:pt x="58711" y="55513"/>
                  </a:cubicBezTo>
                  <a:cubicBezTo>
                    <a:pt x="58812" y="55412"/>
                    <a:pt x="58913" y="55312"/>
                    <a:pt x="59014" y="55261"/>
                  </a:cubicBezTo>
                  <a:cubicBezTo>
                    <a:pt x="59971" y="54303"/>
                    <a:pt x="60828" y="53396"/>
                    <a:pt x="61585" y="52488"/>
                  </a:cubicBezTo>
                  <a:lnTo>
                    <a:pt x="61635" y="52488"/>
                  </a:lnTo>
                  <a:cubicBezTo>
                    <a:pt x="63551" y="50068"/>
                    <a:pt x="64761" y="47800"/>
                    <a:pt x="65467" y="45682"/>
                  </a:cubicBezTo>
                  <a:cubicBezTo>
                    <a:pt x="65467" y="45632"/>
                    <a:pt x="65517" y="45531"/>
                    <a:pt x="65517" y="45481"/>
                  </a:cubicBezTo>
                  <a:cubicBezTo>
                    <a:pt x="65618" y="45279"/>
                    <a:pt x="65668" y="45027"/>
                    <a:pt x="65719" y="44825"/>
                  </a:cubicBezTo>
                  <a:cubicBezTo>
                    <a:pt x="65769" y="44624"/>
                    <a:pt x="65819" y="44472"/>
                    <a:pt x="65870" y="44321"/>
                  </a:cubicBezTo>
                  <a:cubicBezTo>
                    <a:pt x="65870" y="44170"/>
                    <a:pt x="65920" y="44069"/>
                    <a:pt x="65971" y="43918"/>
                  </a:cubicBezTo>
                  <a:cubicBezTo>
                    <a:pt x="67080" y="38927"/>
                    <a:pt x="65819" y="34642"/>
                    <a:pt x="64156" y="32171"/>
                  </a:cubicBezTo>
                  <a:lnTo>
                    <a:pt x="56392" y="20526"/>
                  </a:lnTo>
                  <a:cubicBezTo>
                    <a:pt x="56392" y="20526"/>
                    <a:pt x="56342" y="20475"/>
                    <a:pt x="56342" y="20475"/>
                  </a:cubicBezTo>
                  <a:cubicBezTo>
                    <a:pt x="56241" y="20324"/>
                    <a:pt x="55989" y="19921"/>
                    <a:pt x="55484" y="19316"/>
                  </a:cubicBezTo>
                  <a:cubicBezTo>
                    <a:pt x="53821" y="16997"/>
                    <a:pt x="51603" y="14476"/>
                    <a:pt x="48981" y="12157"/>
                  </a:cubicBezTo>
                  <a:cubicBezTo>
                    <a:pt x="46410" y="9888"/>
                    <a:pt x="43284" y="7620"/>
                    <a:pt x="39705" y="6107"/>
                  </a:cubicBezTo>
                  <a:cubicBezTo>
                    <a:pt x="41429" y="5827"/>
                    <a:pt x="43088" y="5687"/>
                    <a:pt x="44680" y="5687"/>
                  </a:cubicBezTo>
                  <a:close/>
                  <a:moveTo>
                    <a:pt x="31155" y="10054"/>
                  </a:moveTo>
                  <a:cubicBezTo>
                    <a:pt x="34747" y="10054"/>
                    <a:pt x="38465" y="11411"/>
                    <a:pt x="42276" y="14123"/>
                  </a:cubicBezTo>
                  <a:cubicBezTo>
                    <a:pt x="47872" y="18156"/>
                    <a:pt x="51603" y="23651"/>
                    <a:pt x="51653" y="23702"/>
                  </a:cubicBezTo>
                  <a:lnTo>
                    <a:pt x="59417" y="35347"/>
                  </a:lnTo>
                  <a:cubicBezTo>
                    <a:pt x="59417" y="35347"/>
                    <a:pt x="59467" y="35398"/>
                    <a:pt x="59467" y="35448"/>
                  </a:cubicBezTo>
                  <a:cubicBezTo>
                    <a:pt x="59518" y="35499"/>
                    <a:pt x="59568" y="35600"/>
                    <a:pt x="59618" y="35650"/>
                  </a:cubicBezTo>
                  <a:cubicBezTo>
                    <a:pt x="59618" y="35700"/>
                    <a:pt x="59618" y="35751"/>
                    <a:pt x="59669" y="35751"/>
                  </a:cubicBezTo>
                  <a:cubicBezTo>
                    <a:pt x="59669" y="35852"/>
                    <a:pt x="59719" y="35902"/>
                    <a:pt x="59770" y="35952"/>
                  </a:cubicBezTo>
                  <a:cubicBezTo>
                    <a:pt x="59770" y="36053"/>
                    <a:pt x="59820" y="36104"/>
                    <a:pt x="59871" y="36204"/>
                  </a:cubicBezTo>
                  <a:cubicBezTo>
                    <a:pt x="59921" y="36305"/>
                    <a:pt x="59921" y="36356"/>
                    <a:pt x="59971" y="36457"/>
                  </a:cubicBezTo>
                  <a:cubicBezTo>
                    <a:pt x="59971" y="36507"/>
                    <a:pt x="60022" y="36608"/>
                    <a:pt x="60072" y="36709"/>
                  </a:cubicBezTo>
                  <a:cubicBezTo>
                    <a:pt x="60072" y="36759"/>
                    <a:pt x="60123" y="36860"/>
                    <a:pt x="60123" y="36910"/>
                  </a:cubicBezTo>
                  <a:cubicBezTo>
                    <a:pt x="60173" y="37062"/>
                    <a:pt x="60223" y="37263"/>
                    <a:pt x="60274" y="37414"/>
                  </a:cubicBezTo>
                  <a:cubicBezTo>
                    <a:pt x="60274" y="37515"/>
                    <a:pt x="60324" y="37566"/>
                    <a:pt x="60324" y="37667"/>
                  </a:cubicBezTo>
                  <a:cubicBezTo>
                    <a:pt x="60375" y="37818"/>
                    <a:pt x="60425" y="38019"/>
                    <a:pt x="60476" y="38221"/>
                  </a:cubicBezTo>
                  <a:cubicBezTo>
                    <a:pt x="60476" y="38322"/>
                    <a:pt x="60526" y="38423"/>
                    <a:pt x="60526" y="38524"/>
                  </a:cubicBezTo>
                  <a:cubicBezTo>
                    <a:pt x="60526" y="38675"/>
                    <a:pt x="60576" y="38776"/>
                    <a:pt x="60576" y="38927"/>
                  </a:cubicBezTo>
                  <a:cubicBezTo>
                    <a:pt x="60576" y="39028"/>
                    <a:pt x="60576" y="39129"/>
                    <a:pt x="60627" y="39229"/>
                  </a:cubicBezTo>
                  <a:cubicBezTo>
                    <a:pt x="60627" y="39481"/>
                    <a:pt x="60627" y="39683"/>
                    <a:pt x="60627" y="39935"/>
                  </a:cubicBezTo>
                  <a:lnTo>
                    <a:pt x="60627" y="40338"/>
                  </a:lnTo>
                  <a:cubicBezTo>
                    <a:pt x="60627" y="40490"/>
                    <a:pt x="60627" y="40641"/>
                    <a:pt x="60627" y="40792"/>
                  </a:cubicBezTo>
                  <a:cubicBezTo>
                    <a:pt x="60627" y="40994"/>
                    <a:pt x="60576" y="41246"/>
                    <a:pt x="60576" y="41498"/>
                  </a:cubicBezTo>
                  <a:cubicBezTo>
                    <a:pt x="60526" y="41649"/>
                    <a:pt x="60526" y="41800"/>
                    <a:pt x="60526" y="41952"/>
                  </a:cubicBezTo>
                  <a:cubicBezTo>
                    <a:pt x="60476" y="42103"/>
                    <a:pt x="60425" y="42305"/>
                    <a:pt x="60425" y="42506"/>
                  </a:cubicBezTo>
                  <a:cubicBezTo>
                    <a:pt x="60375" y="42708"/>
                    <a:pt x="60324" y="42910"/>
                    <a:pt x="60274" y="43111"/>
                  </a:cubicBezTo>
                  <a:cubicBezTo>
                    <a:pt x="60223" y="43313"/>
                    <a:pt x="60123" y="43565"/>
                    <a:pt x="60072" y="43767"/>
                  </a:cubicBezTo>
                  <a:cubicBezTo>
                    <a:pt x="60022" y="43918"/>
                    <a:pt x="59971" y="44069"/>
                    <a:pt x="59921" y="44220"/>
                  </a:cubicBezTo>
                  <a:cubicBezTo>
                    <a:pt x="59820" y="44523"/>
                    <a:pt x="59669" y="44825"/>
                    <a:pt x="59518" y="45178"/>
                  </a:cubicBezTo>
                  <a:cubicBezTo>
                    <a:pt x="59467" y="45279"/>
                    <a:pt x="59417" y="45430"/>
                    <a:pt x="59366" y="45531"/>
                  </a:cubicBezTo>
                  <a:cubicBezTo>
                    <a:pt x="59215" y="45834"/>
                    <a:pt x="59064" y="46086"/>
                    <a:pt x="58913" y="46388"/>
                  </a:cubicBezTo>
                  <a:cubicBezTo>
                    <a:pt x="58862" y="46489"/>
                    <a:pt x="58812" y="46590"/>
                    <a:pt x="58711" y="46691"/>
                  </a:cubicBezTo>
                  <a:cubicBezTo>
                    <a:pt x="58509" y="47044"/>
                    <a:pt x="58257" y="47447"/>
                    <a:pt x="58005" y="47800"/>
                  </a:cubicBezTo>
                  <a:cubicBezTo>
                    <a:pt x="57904" y="47901"/>
                    <a:pt x="57804" y="48052"/>
                    <a:pt x="57753" y="48153"/>
                  </a:cubicBezTo>
                  <a:cubicBezTo>
                    <a:pt x="57451" y="48556"/>
                    <a:pt x="57148" y="48909"/>
                    <a:pt x="56795" y="49312"/>
                  </a:cubicBezTo>
                  <a:cubicBezTo>
                    <a:pt x="56795" y="49363"/>
                    <a:pt x="56745" y="49363"/>
                    <a:pt x="56745" y="49413"/>
                  </a:cubicBezTo>
                  <a:cubicBezTo>
                    <a:pt x="56241" y="46842"/>
                    <a:pt x="54980" y="43716"/>
                    <a:pt x="52510" y="39986"/>
                  </a:cubicBezTo>
                  <a:lnTo>
                    <a:pt x="44696" y="28340"/>
                  </a:lnTo>
                  <a:cubicBezTo>
                    <a:pt x="39428" y="20424"/>
                    <a:pt x="34572" y="18671"/>
                    <a:pt x="31308" y="18671"/>
                  </a:cubicBezTo>
                  <a:cubicBezTo>
                    <a:pt x="28856" y="18671"/>
                    <a:pt x="27303" y="19661"/>
                    <a:pt x="27151" y="19769"/>
                  </a:cubicBezTo>
                  <a:cubicBezTo>
                    <a:pt x="11473" y="30256"/>
                    <a:pt x="13439" y="42204"/>
                    <a:pt x="16665" y="47044"/>
                  </a:cubicBezTo>
                  <a:lnTo>
                    <a:pt x="24429" y="58689"/>
                  </a:lnTo>
                  <a:cubicBezTo>
                    <a:pt x="24530" y="58841"/>
                    <a:pt x="24832" y="59294"/>
                    <a:pt x="25337" y="59950"/>
                  </a:cubicBezTo>
                  <a:cubicBezTo>
                    <a:pt x="27000" y="62269"/>
                    <a:pt x="29218" y="64739"/>
                    <a:pt x="31840" y="67058"/>
                  </a:cubicBezTo>
                  <a:cubicBezTo>
                    <a:pt x="34462" y="69377"/>
                    <a:pt x="37587" y="71646"/>
                    <a:pt x="41217" y="73158"/>
                  </a:cubicBezTo>
                  <a:cubicBezTo>
                    <a:pt x="39616" y="73420"/>
                    <a:pt x="37969" y="73573"/>
                    <a:pt x="36306" y="73573"/>
                  </a:cubicBezTo>
                  <a:cubicBezTo>
                    <a:pt x="29642" y="73573"/>
                    <a:pt x="22727" y="71114"/>
                    <a:pt x="17522" y="63327"/>
                  </a:cubicBezTo>
                  <a:lnTo>
                    <a:pt x="9708" y="51631"/>
                  </a:lnTo>
                  <a:cubicBezTo>
                    <a:pt x="-4055" y="31012"/>
                    <a:pt x="21455" y="13568"/>
                    <a:pt x="22513" y="12812"/>
                  </a:cubicBezTo>
                  <a:cubicBezTo>
                    <a:pt x="23068" y="12459"/>
                    <a:pt x="23622" y="12157"/>
                    <a:pt x="24177" y="11854"/>
                  </a:cubicBezTo>
                  <a:cubicBezTo>
                    <a:pt x="24681" y="11602"/>
                    <a:pt x="25185" y="11350"/>
                    <a:pt x="25689" y="11149"/>
                  </a:cubicBezTo>
                  <a:cubicBezTo>
                    <a:pt x="25841" y="11098"/>
                    <a:pt x="26042" y="10997"/>
                    <a:pt x="26194" y="10947"/>
                  </a:cubicBezTo>
                  <a:cubicBezTo>
                    <a:pt x="27818" y="10352"/>
                    <a:pt x="29473" y="10054"/>
                    <a:pt x="31155" y="10054"/>
                  </a:cubicBezTo>
                  <a:close/>
                  <a:moveTo>
                    <a:pt x="44717" y="1"/>
                  </a:moveTo>
                  <a:cubicBezTo>
                    <a:pt x="42217" y="1"/>
                    <a:pt x="39602" y="287"/>
                    <a:pt x="36881" y="864"/>
                  </a:cubicBezTo>
                  <a:cubicBezTo>
                    <a:pt x="29773" y="2376"/>
                    <a:pt x="23824" y="5452"/>
                    <a:pt x="21051" y="7065"/>
                  </a:cubicBezTo>
                  <a:cubicBezTo>
                    <a:pt x="20497" y="7367"/>
                    <a:pt x="19942" y="7720"/>
                    <a:pt x="19388" y="8073"/>
                  </a:cubicBezTo>
                  <a:cubicBezTo>
                    <a:pt x="8498" y="15383"/>
                    <a:pt x="-8542" y="34490"/>
                    <a:pt x="5019" y="54807"/>
                  </a:cubicBezTo>
                  <a:lnTo>
                    <a:pt x="12783" y="66453"/>
                  </a:lnTo>
                  <a:cubicBezTo>
                    <a:pt x="18379" y="74872"/>
                    <a:pt x="26345" y="79208"/>
                    <a:pt x="36075" y="79208"/>
                  </a:cubicBezTo>
                  <a:cubicBezTo>
                    <a:pt x="38596" y="79208"/>
                    <a:pt x="41217" y="78905"/>
                    <a:pt x="43940" y="78351"/>
                  </a:cubicBezTo>
                  <a:cubicBezTo>
                    <a:pt x="51048" y="76838"/>
                    <a:pt x="56997" y="73763"/>
                    <a:pt x="59770" y="72150"/>
                  </a:cubicBezTo>
                  <a:cubicBezTo>
                    <a:pt x="59820" y="72150"/>
                    <a:pt x="59820" y="72100"/>
                    <a:pt x="59871" y="72100"/>
                  </a:cubicBezTo>
                  <a:cubicBezTo>
                    <a:pt x="60324" y="71797"/>
                    <a:pt x="60828" y="71545"/>
                    <a:pt x="61333" y="71192"/>
                  </a:cubicBezTo>
                  <a:cubicBezTo>
                    <a:pt x="61333" y="71192"/>
                    <a:pt x="61383" y="71142"/>
                    <a:pt x="61433" y="71142"/>
                  </a:cubicBezTo>
                  <a:cubicBezTo>
                    <a:pt x="72323" y="63832"/>
                    <a:pt x="89363" y="44725"/>
                    <a:pt x="75802" y="24408"/>
                  </a:cubicBezTo>
                  <a:lnTo>
                    <a:pt x="68038" y="12762"/>
                  </a:lnTo>
                  <a:cubicBezTo>
                    <a:pt x="62422" y="4339"/>
                    <a:pt x="54446" y="1"/>
                    <a:pt x="447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195" name="Google Shape;195;p25"/>
            <p:cNvSpPr/>
            <p:nvPr/>
          </p:nvSpPr>
          <p:spPr>
            <a:xfrm>
              <a:off x="2760100" y="2351450"/>
              <a:ext cx="216800" cy="966700"/>
            </a:xfrm>
            <a:custGeom>
              <a:rect b="b" l="l" r="r" t="t"/>
              <a:pathLst>
                <a:path extrusionOk="0" h="38668" w="8672">
                  <a:moveTo>
                    <a:pt x="1" y="0"/>
                  </a:moveTo>
                  <a:lnTo>
                    <a:pt x="1" y="38668"/>
                  </a:lnTo>
                  <a:lnTo>
                    <a:pt x="8672" y="38668"/>
                  </a:lnTo>
                  <a:lnTo>
                    <a:pt x="86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196" name="Google Shape;196;p25"/>
            <p:cNvSpPr/>
            <p:nvPr/>
          </p:nvSpPr>
          <p:spPr>
            <a:xfrm>
              <a:off x="3116775" y="2342625"/>
              <a:ext cx="973050" cy="984350"/>
            </a:xfrm>
            <a:custGeom>
              <a:rect b="b" l="l" r="r" t="t"/>
              <a:pathLst>
                <a:path extrusionOk="0" h="39374" w="38922">
                  <a:moveTo>
                    <a:pt x="19461" y="7512"/>
                  </a:moveTo>
                  <a:cubicBezTo>
                    <a:pt x="22688" y="7512"/>
                    <a:pt x="25309" y="8672"/>
                    <a:pt x="27275" y="10991"/>
                  </a:cubicBezTo>
                  <a:cubicBezTo>
                    <a:pt x="29241" y="13310"/>
                    <a:pt x="30250" y="16234"/>
                    <a:pt x="30250" y="19662"/>
                  </a:cubicBezTo>
                  <a:cubicBezTo>
                    <a:pt x="30250" y="23140"/>
                    <a:pt x="29292" y="26014"/>
                    <a:pt x="27326" y="28384"/>
                  </a:cubicBezTo>
                  <a:lnTo>
                    <a:pt x="27326" y="28333"/>
                  </a:lnTo>
                  <a:cubicBezTo>
                    <a:pt x="25360" y="30703"/>
                    <a:pt x="22738" y="31862"/>
                    <a:pt x="19461" y="31862"/>
                  </a:cubicBezTo>
                  <a:cubicBezTo>
                    <a:pt x="16184" y="31862"/>
                    <a:pt x="13563" y="30703"/>
                    <a:pt x="11647" y="28384"/>
                  </a:cubicBezTo>
                  <a:cubicBezTo>
                    <a:pt x="9681" y="26064"/>
                    <a:pt x="8723" y="23140"/>
                    <a:pt x="8723" y="19611"/>
                  </a:cubicBezTo>
                  <a:cubicBezTo>
                    <a:pt x="8723" y="16133"/>
                    <a:pt x="9681" y="13310"/>
                    <a:pt x="11647" y="10991"/>
                  </a:cubicBezTo>
                  <a:cubicBezTo>
                    <a:pt x="13613" y="8672"/>
                    <a:pt x="16234" y="7512"/>
                    <a:pt x="19461" y="7512"/>
                  </a:cubicBezTo>
                  <a:close/>
                  <a:moveTo>
                    <a:pt x="19461" y="0"/>
                  </a:moveTo>
                  <a:cubicBezTo>
                    <a:pt x="13815" y="0"/>
                    <a:pt x="9176" y="1866"/>
                    <a:pt x="5496" y="5546"/>
                  </a:cubicBezTo>
                  <a:cubicBezTo>
                    <a:pt x="1866" y="9276"/>
                    <a:pt x="1" y="13965"/>
                    <a:pt x="1" y="19712"/>
                  </a:cubicBezTo>
                  <a:cubicBezTo>
                    <a:pt x="1" y="25409"/>
                    <a:pt x="1866" y="30098"/>
                    <a:pt x="5496" y="33828"/>
                  </a:cubicBezTo>
                  <a:cubicBezTo>
                    <a:pt x="9176" y="37509"/>
                    <a:pt x="13815" y="39374"/>
                    <a:pt x="19461" y="39374"/>
                  </a:cubicBezTo>
                  <a:cubicBezTo>
                    <a:pt x="25057" y="39374"/>
                    <a:pt x="29746" y="37509"/>
                    <a:pt x="33426" y="33778"/>
                  </a:cubicBezTo>
                  <a:cubicBezTo>
                    <a:pt x="37106" y="30047"/>
                    <a:pt x="38921" y="25359"/>
                    <a:pt x="38921" y="19662"/>
                  </a:cubicBezTo>
                  <a:cubicBezTo>
                    <a:pt x="38921" y="14015"/>
                    <a:pt x="37106" y="9276"/>
                    <a:pt x="33426" y="5546"/>
                  </a:cubicBezTo>
                  <a:cubicBezTo>
                    <a:pt x="29746" y="1866"/>
                    <a:pt x="25107" y="0"/>
                    <a:pt x="194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197" name="Google Shape;197;p25"/>
            <p:cNvSpPr/>
            <p:nvPr/>
          </p:nvSpPr>
          <p:spPr>
            <a:xfrm>
              <a:off x="4227175" y="2351450"/>
              <a:ext cx="1188550" cy="965450"/>
            </a:xfrm>
            <a:custGeom>
              <a:rect b="b" l="l" r="r" t="t"/>
              <a:pathLst>
                <a:path extrusionOk="0" h="38618" w="47542">
                  <a:moveTo>
                    <a:pt x="0" y="0"/>
                  </a:moveTo>
                  <a:lnTo>
                    <a:pt x="0" y="38618"/>
                  </a:lnTo>
                  <a:lnTo>
                    <a:pt x="8218" y="38618"/>
                  </a:lnTo>
                  <a:lnTo>
                    <a:pt x="8218" y="3680"/>
                  </a:lnTo>
                  <a:lnTo>
                    <a:pt x="16889" y="38618"/>
                  </a:lnTo>
                  <a:lnTo>
                    <a:pt x="30602" y="38618"/>
                  </a:lnTo>
                  <a:lnTo>
                    <a:pt x="39273" y="3428"/>
                  </a:lnTo>
                  <a:lnTo>
                    <a:pt x="39273" y="38618"/>
                  </a:lnTo>
                  <a:lnTo>
                    <a:pt x="47541" y="38618"/>
                  </a:lnTo>
                  <a:lnTo>
                    <a:pt x="47541" y="0"/>
                  </a:lnTo>
                  <a:lnTo>
                    <a:pt x="32215" y="0"/>
                  </a:lnTo>
                  <a:lnTo>
                    <a:pt x="23796" y="35391"/>
                  </a:lnTo>
                  <a:lnTo>
                    <a:pt x="157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198" name="Google Shape;198;p25"/>
            <p:cNvSpPr/>
            <p:nvPr/>
          </p:nvSpPr>
          <p:spPr>
            <a:xfrm>
              <a:off x="5598450" y="2351450"/>
              <a:ext cx="739850" cy="965450"/>
            </a:xfrm>
            <a:custGeom>
              <a:rect b="b" l="l" r="r" t="t"/>
              <a:pathLst>
                <a:path extrusionOk="0" h="38618" w="29594">
                  <a:moveTo>
                    <a:pt x="0" y="0"/>
                  </a:moveTo>
                  <a:lnTo>
                    <a:pt x="0" y="38618"/>
                  </a:lnTo>
                  <a:lnTo>
                    <a:pt x="29594" y="38618"/>
                  </a:lnTo>
                  <a:lnTo>
                    <a:pt x="29594" y="31358"/>
                  </a:lnTo>
                  <a:lnTo>
                    <a:pt x="8722" y="31358"/>
                  </a:lnTo>
                  <a:lnTo>
                    <a:pt x="8722" y="22535"/>
                  </a:lnTo>
                  <a:lnTo>
                    <a:pt x="26770" y="22535"/>
                  </a:lnTo>
                  <a:lnTo>
                    <a:pt x="26770" y="15326"/>
                  </a:lnTo>
                  <a:lnTo>
                    <a:pt x="8722" y="15326"/>
                  </a:lnTo>
                  <a:lnTo>
                    <a:pt x="8722" y="7260"/>
                  </a:lnTo>
                  <a:lnTo>
                    <a:pt x="29241" y="7260"/>
                  </a:lnTo>
                  <a:lnTo>
                    <a:pt x="292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199" name="Google Shape;199;p25"/>
            <p:cNvSpPr/>
            <p:nvPr/>
          </p:nvSpPr>
          <p:spPr>
            <a:xfrm>
              <a:off x="6492050" y="2351450"/>
              <a:ext cx="888575" cy="965450"/>
            </a:xfrm>
            <a:custGeom>
              <a:rect b="b" l="l" r="r" t="t"/>
              <a:pathLst>
                <a:path extrusionOk="0" h="38618" w="35543">
                  <a:moveTo>
                    <a:pt x="14368" y="7361"/>
                  </a:moveTo>
                  <a:cubicBezTo>
                    <a:pt x="18200" y="7361"/>
                    <a:pt x="21225" y="8470"/>
                    <a:pt x="23494" y="10587"/>
                  </a:cubicBezTo>
                  <a:cubicBezTo>
                    <a:pt x="25762" y="12755"/>
                    <a:pt x="26871" y="15679"/>
                    <a:pt x="26871" y="19309"/>
                  </a:cubicBezTo>
                  <a:cubicBezTo>
                    <a:pt x="26871" y="22989"/>
                    <a:pt x="25762" y="25812"/>
                    <a:pt x="23494" y="27980"/>
                  </a:cubicBezTo>
                  <a:cubicBezTo>
                    <a:pt x="21225" y="30198"/>
                    <a:pt x="18200" y="31307"/>
                    <a:pt x="14368" y="31307"/>
                  </a:cubicBezTo>
                  <a:lnTo>
                    <a:pt x="8571" y="31307"/>
                  </a:lnTo>
                  <a:lnTo>
                    <a:pt x="8571" y="7361"/>
                  </a:lnTo>
                  <a:close/>
                  <a:moveTo>
                    <a:pt x="0" y="0"/>
                  </a:moveTo>
                  <a:lnTo>
                    <a:pt x="0" y="38618"/>
                  </a:lnTo>
                  <a:lnTo>
                    <a:pt x="15528" y="38618"/>
                  </a:lnTo>
                  <a:cubicBezTo>
                    <a:pt x="21326" y="38618"/>
                    <a:pt x="26165" y="36853"/>
                    <a:pt x="29896" y="33223"/>
                  </a:cubicBezTo>
                  <a:cubicBezTo>
                    <a:pt x="33627" y="29593"/>
                    <a:pt x="35543" y="25006"/>
                    <a:pt x="35543" y="19309"/>
                  </a:cubicBezTo>
                  <a:cubicBezTo>
                    <a:pt x="35543" y="13662"/>
                    <a:pt x="33677" y="9075"/>
                    <a:pt x="29947" y="5445"/>
                  </a:cubicBezTo>
                  <a:cubicBezTo>
                    <a:pt x="26216" y="1815"/>
                    <a:pt x="21376" y="0"/>
                    <a:pt x="155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4" name="Google Shape;204;p26"/>
          <p:cNvCxnSpPr/>
          <p:nvPr/>
        </p:nvCxnSpPr>
        <p:spPr>
          <a:xfrm>
            <a:off x="5703578" y="1897700"/>
            <a:ext cx="0" cy="4362300"/>
          </a:xfrm>
          <a:prstGeom prst="straightConnector1">
            <a:avLst/>
          </a:prstGeom>
          <a:noFill/>
          <a:ln cap="flat" cmpd="sng" w="71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26"/>
          <p:cNvCxnSpPr/>
          <p:nvPr/>
        </p:nvCxnSpPr>
        <p:spPr>
          <a:xfrm rot="10800000">
            <a:off x="5702161" y="6260665"/>
            <a:ext cx="5679300" cy="0"/>
          </a:xfrm>
          <a:prstGeom prst="straightConnector1">
            <a:avLst/>
          </a:prstGeom>
          <a:noFill/>
          <a:ln cap="flat" cmpd="sng" w="71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26"/>
          <p:cNvSpPr txBox="1"/>
          <p:nvPr>
            <p:ph idx="4294967295" type="body"/>
          </p:nvPr>
        </p:nvSpPr>
        <p:spPr>
          <a:xfrm>
            <a:off x="636175" y="3158625"/>
            <a:ext cx="35841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No se trata de replicar capacidades humanas, sino más bien de una respuesta autónoma a un problema específico que necesita solución a gran escala.</a:t>
            </a:r>
            <a:endParaRPr sz="2200"/>
          </a:p>
        </p:txBody>
      </p:sp>
      <p:sp>
        <p:nvSpPr>
          <p:cNvPr id="207" name="Google Shape;207;p26"/>
          <p:cNvSpPr txBox="1"/>
          <p:nvPr>
            <p:ph type="title"/>
          </p:nvPr>
        </p:nvSpPr>
        <p:spPr>
          <a:xfrm>
            <a:off x="180050" y="874700"/>
            <a:ext cx="6779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➔"/>
            </a:pPr>
            <a:r>
              <a:rPr lang="en">
                <a:highlight>
                  <a:schemeClr val="lt2"/>
                </a:highlight>
              </a:rPr>
              <a:t>La IA como es el m</a:t>
            </a:r>
            <a:r>
              <a:rPr lang="en">
                <a:highlight>
                  <a:schemeClr val="lt2"/>
                </a:highlight>
              </a:rPr>
              <a:t>úsculo que nos permite alcanzar una gran escala</a:t>
            </a:r>
            <a:endParaRPr sz="2000">
              <a:highlight>
                <a:schemeClr val="lt2"/>
              </a:highlight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5668851" y="1970622"/>
            <a:ext cx="3225379" cy="4290149"/>
          </a:xfrm>
          <a:custGeom>
            <a:rect b="b" l="l" r="r" t="t"/>
            <a:pathLst>
              <a:path extrusionOk="0" h="229144" w="170362">
                <a:moveTo>
                  <a:pt x="0" y="229144"/>
                </a:moveTo>
                <a:cubicBezTo>
                  <a:pt x="18869" y="224336"/>
                  <a:pt x="84818" y="238488"/>
                  <a:pt x="113212" y="200297"/>
                </a:cubicBezTo>
                <a:cubicBezTo>
                  <a:pt x="141606" y="162106"/>
                  <a:pt x="160837" y="33383"/>
                  <a:pt x="170362" y="0"/>
                </a:cubicBezTo>
              </a:path>
            </a:pathLst>
          </a:custGeom>
          <a:noFill/>
          <a:ln cap="flat" cmpd="sng" w="21400">
            <a:solidFill>
              <a:schemeClr val="accent1"/>
            </a:solidFill>
            <a:prstDash val="dash"/>
            <a:round/>
            <a:headEnd len="med" w="med" type="diamond"/>
            <a:tailEnd len="med" w="med" type="diamond"/>
          </a:ln>
        </p:spPr>
      </p:sp>
      <p:cxnSp>
        <p:nvCxnSpPr>
          <p:cNvPr id="209" name="Google Shape;209;p26"/>
          <p:cNvCxnSpPr/>
          <p:nvPr/>
        </p:nvCxnSpPr>
        <p:spPr>
          <a:xfrm flipH="1" rot="10800000">
            <a:off x="5658552" y="4018820"/>
            <a:ext cx="5688300" cy="1854600"/>
          </a:xfrm>
          <a:prstGeom prst="straightConnector1">
            <a:avLst/>
          </a:prstGeom>
          <a:noFill/>
          <a:ln cap="flat" cmpd="sng" w="21400">
            <a:solidFill>
              <a:schemeClr val="dk1"/>
            </a:solidFill>
            <a:prstDash val="dash"/>
            <a:round/>
            <a:headEnd len="med" w="med" type="diamond"/>
            <a:tailEnd len="med" w="med" type="diamond"/>
          </a:ln>
        </p:spPr>
      </p:cxnSp>
      <p:sp>
        <p:nvSpPr>
          <p:cNvPr id="210" name="Google Shape;210;p26"/>
          <p:cNvSpPr txBox="1"/>
          <p:nvPr/>
        </p:nvSpPr>
        <p:spPr>
          <a:xfrm>
            <a:off x="9590150" y="3552518"/>
            <a:ext cx="13701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5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Human capabilities</a:t>
            </a:r>
            <a:endParaRPr i="1" sz="165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5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5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5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1" name="Google Shape;211;p26"/>
          <p:cNvSpPr txBox="1"/>
          <p:nvPr/>
        </p:nvSpPr>
        <p:spPr>
          <a:xfrm>
            <a:off x="6895636" y="3285200"/>
            <a:ext cx="13701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5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capabilities</a:t>
            </a:r>
            <a:endParaRPr i="1" sz="165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5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5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5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8492521" y="3487101"/>
            <a:ext cx="125700" cy="125700"/>
          </a:xfrm>
          <a:prstGeom prst="rect">
            <a:avLst/>
          </a:prstGeom>
          <a:solidFill>
            <a:srgbClr val="D0FCE5"/>
          </a:solidFill>
          <a:ln cap="flat" cmpd="sng" w="142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475" lIns="68475" spcFirstLastPara="1" rIns="68475" wrap="square" tIns="68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8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10380229" y="4243013"/>
            <a:ext cx="125700" cy="125700"/>
          </a:xfrm>
          <a:prstGeom prst="rect">
            <a:avLst/>
          </a:prstGeom>
          <a:solidFill>
            <a:srgbClr val="D0FCE5"/>
          </a:solidFill>
          <a:ln cap="flat" cmpd="sng" w="142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475" lIns="68475" spcFirstLastPara="1" rIns="68475" wrap="square" tIns="68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8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5668851" y="1970641"/>
            <a:ext cx="3612100" cy="4290149"/>
          </a:xfrm>
          <a:custGeom>
            <a:rect b="b" l="l" r="r" t="t"/>
            <a:pathLst>
              <a:path extrusionOk="0" h="229144" w="170362">
                <a:moveTo>
                  <a:pt x="0" y="229144"/>
                </a:moveTo>
                <a:cubicBezTo>
                  <a:pt x="18869" y="224336"/>
                  <a:pt x="84818" y="238488"/>
                  <a:pt x="113212" y="200297"/>
                </a:cubicBezTo>
                <a:cubicBezTo>
                  <a:pt x="141606" y="162106"/>
                  <a:pt x="160837" y="33383"/>
                  <a:pt x="170362" y="0"/>
                </a:cubicBezTo>
              </a:path>
            </a:pathLst>
          </a:custGeom>
          <a:noFill/>
          <a:ln cap="flat" cmpd="sng" w="14275">
            <a:solidFill>
              <a:schemeClr val="accent1"/>
            </a:solidFill>
            <a:prstDash val="dash"/>
            <a:round/>
            <a:headEnd len="med" w="med" type="diamond"/>
            <a:tailEnd len="med" w="med" type="diamond"/>
          </a:ln>
        </p:spPr>
      </p:sp>
      <p:sp>
        <p:nvSpPr>
          <p:cNvPr id="215" name="Google Shape;215;p26"/>
          <p:cNvSpPr/>
          <p:nvPr/>
        </p:nvSpPr>
        <p:spPr>
          <a:xfrm>
            <a:off x="5668851" y="1970641"/>
            <a:ext cx="4043542" cy="4290149"/>
          </a:xfrm>
          <a:custGeom>
            <a:rect b="b" l="l" r="r" t="t"/>
            <a:pathLst>
              <a:path extrusionOk="0" h="229144" w="170362">
                <a:moveTo>
                  <a:pt x="0" y="229144"/>
                </a:moveTo>
                <a:cubicBezTo>
                  <a:pt x="18869" y="224336"/>
                  <a:pt x="84818" y="238488"/>
                  <a:pt x="113212" y="200297"/>
                </a:cubicBezTo>
                <a:cubicBezTo>
                  <a:pt x="141606" y="162106"/>
                  <a:pt x="160837" y="33383"/>
                  <a:pt x="170362" y="0"/>
                </a:cubicBezTo>
              </a:path>
            </a:pathLst>
          </a:custGeom>
          <a:noFill/>
          <a:ln cap="flat" cmpd="sng" w="7125">
            <a:solidFill>
              <a:schemeClr val="accent1"/>
            </a:solidFill>
            <a:prstDash val="dash"/>
            <a:round/>
            <a:headEnd len="med" w="med" type="diamond"/>
            <a:tailEnd len="med" w="med" type="diamond"/>
          </a:ln>
        </p:spPr>
      </p:sp>
      <p:cxnSp>
        <p:nvCxnSpPr>
          <p:cNvPr id="216" name="Google Shape;216;p26"/>
          <p:cNvCxnSpPr/>
          <p:nvPr/>
        </p:nvCxnSpPr>
        <p:spPr>
          <a:xfrm flipH="1" rot="10800000">
            <a:off x="5668851" y="4529720"/>
            <a:ext cx="5688300" cy="1343700"/>
          </a:xfrm>
          <a:prstGeom prst="straightConnector1">
            <a:avLst/>
          </a:prstGeom>
          <a:noFill/>
          <a:ln cap="flat" cmpd="sng" w="7125">
            <a:solidFill>
              <a:schemeClr val="dk1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217" name="Google Shape;217;p26"/>
          <p:cNvCxnSpPr/>
          <p:nvPr/>
        </p:nvCxnSpPr>
        <p:spPr>
          <a:xfrm flipH="1" rot="10800000">
            <a:off x="5668851" y="4253120"/>
            <a:ext cx="5688300" cy="1620300"/>
          </a:xfrm>
          <a:prstGeom prst="straightConnector1">
            <a:avLst/>
          </a:prstGeom>
          <a:noFill/>
          <a:ln cap="flat" cmpd="sng" w="14275">
            <a:solidFill>
              <a:schemeClr val="dk1"/>
            </a:solidFill>
            <a:prstDash val="dash"/>
            <a:round/>
            <a:headEnd len="med" w="med" type="diamond"/>
            <a:tailEnd len="med" w="med" type="diamond"/>
          </a:ln>
        </p:spPr>
      </p:cxnSp>
      <p:sp>
        <p:nvSpPr>
          <p:cNvPr id="218" name="Google Shape;218;p26"/>
          <p:cNvSpPr txBox="1"/>
          <p:nvPr/>
        </p:nvSpPr>
        <p:spPr>
          <a:xfrm>
            <a:off x="274410" y="45810"/>
            <a:ext cx="619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| Intro 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9" name="Google Shape;219;p26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/>
          <p:nvPr/>
        </p:nvSpPr>
        <p:spPr>
          <a:xfrm>
            <a:off x="5108975" y="0"/>
            <a:ext cx="7083000" cy="68736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5" name="Google Shape;225;p27"/>
          <p:cNvSpPr txBox="1"/>
          <p:nvPr>
            <p:ph idx="4294967295" type="body"/>
          </p:nvPr>
        </p:nvSpPr>
        <p:spPr>
          <a:xfrm>
            <a:off x="6353077" y="1760674"/>
            <a:ext cx="55617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2"/>
                </a:solidFill>
              </a:rPr>
              <a:t>1. </a:t>
            </a:r>
            <a:r>
              <a:rPr lang="en" sz="2700">
                <a:solidFill>
                  <a:schemeClr val="dk2"/>
                </a:solidFill>
              </a:rPr>
              <a:t>Mapeo y </a:t>
            </a:r>
            <a:r>
              <a:rPr b="1" lang="en" sz="2700">
                <a:solidFill>
                  <a:schemeClr val="lt2"/>
                </a:solidFill>
                <a:highlight>
                  <a:schemeClr val="accent2"/>
                </a:highlight>
              </a:rPr>
              <a:t>Estandarización</a:t>
            </a:r>
            <a:endParaRPr b="1" sz="2700">
              <a:solidFill>
                <a:schemeClr val="lt2"/>
              </a:solidFill>
              <a:highlight>
                <a:schemeClr val="accent2"/>
              </a:highlight>
            </a:endParaRPr>
          </a:p>
        </p:txBody>
      </p:sp>
      <p:sp>
        <p:nvSpPr>
          <p:cNvPr id="226" name="Google Shape;226;p27"/>
          <p:cNvSpPr txBox="1"/>
          <p:nvPr>
            <p:ph idx="4294967295" type="body"/>
          </p:nvPr>
        </p:nvSpPr>
        <p:spPr>
          <a:xfrm>
            <a:off x="6353077" y="2760628"/>
            <a:ext cx="55617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2"/>
                </a:solidFill>
              </a:rPr>
              <a:t>2. </a:t>
            </a:r>
            <a:r>
              <a:rPr b="1" lang="en" sz="2700">
                <a:solidFill>
                  <a:schemeClr val="lt1"/>
                </a:solidFill>
                <a:highlight>
                  <a:schemeClr val="accent1"/>
                </a:highlight>
              </a:rPr>
              <a:t>Análisis</a:t>
            </a:r>
            <a:r>
              <a:rPr lang="en" sz="2700">
                <a:solidFill>
                  <a:schemeClr val="dk2"/>
                </a:solidFill>
              </a:rPr>
              <a:t> de los datos</a:t>
            </a:r>
            <a:endParaRPr sz="2700">
              <a:solidFill>
                <a:schemeClr val="lt1"/>
              </a:solidFill>
              <a:highlight>
                <a:schemeClr val="accent2"/>
              </a:highlight>
            </a:endParaRPr>
          </a:p>
        </p:txBody>
      </p:sp>
      <p:sp>
        <p:nvSpPr>
          <p:cNvPr id="227" name="Google Shape;227;p27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228" name="Google Shape;228;p27"/>
          <p:cNvSpPr txBox="1"/>
          <p:nvPr>
            <p:ph idx="4294967295" type="title"/>
          </p:nvPr>
        </p:nvSpPr>
        <p:spPr>
          <a:xfrm>
            <a:off x="714297" y="2265000"/>
            <a:ext cx="3722700" cy="11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6159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100"/>
              <a:buChar char="➔"/>
            </a:pPr>
            <a:r>
              <a:rPr lang="en" sz="6100">
                <a:solidFill>
                  <a:schemeClr val="dk1"/>
                </a:solidFill>
              </a:rPr>
              <a:t>Donde?</a:t>
            </a:r>
            <a:endParaRPr sz="6100">
              <a:solidFill>
                <a:schemeClr val="dk1"/>
              </a:solidFill>
            </a:endParaRPr>
          </a:p>
        </p:txBody>
      </p:sp>
      <p:pic>
        <p:nvPicPr>
          <p:cNvPr id="229" name="Google Shape;229;p27"/>
          <p:cNvPicPr preferRelativeResize="0"/>
          <p:nvPr/>
        </p:nvPicPr>
        <p:blipFill rotWithShape="1">
          <a:blip r:embed="rId3">
            <a:alphaModFix/>
          </a:blip>
          <a:srcRect b="20293" l="8421" r="7708" t="23650"/>
          <a:stretch/>
        </p:blipFill>
        <p:spPr>
          <a:xfrm>
            <a:off x="109697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7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31" name="Google Shape;231;p27" title="line-char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2002" y="2896485"/>
            <a:ext cx="328586" cy="3285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344-60-76-128-144-32 14-148-98-112 98-112-14-148 144-32 76-128 136 58 136-58 76 128 144 32-14 148 98 112-98 112 14 148-144 32-76 128-136-58-136 58Zm34-102 102-44 104 44 56-96 110-26-10-112 74-84-74-86 10-112-110-24-58-96-102 44-104-44-56 96-110 24 10 112-74 86 74 84-10 114 110 24 58 96Zm102-318Zm-42 142 226-226-56-58-170 170-86-84-56 56 142 142Z&quot;/&gt;&lt;/svg&gt;" id="232" name="Google Shape;23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7402" y="1896537"/>
            <a:ext cx="328586" cy="32858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7"/>
          <p:cNvSpPr txBox="1"/>
          <p:nvPr>
            <p:ph idx="4294967295" type="body"/>
          </p:nvPr>
        </p:nvSpPr>
        <p:spPr>
          <a:xfrm>
            <a:off x="6353077" y="3896428"/>
            <a:ext cx="55617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2"/>
                </a:solidFill>
              </a:rPr>
              <a:t>3. </a:t>
            </a:r>
            <a:r>
              <a:rPr lang="en" sz="2700">
                <a:solidFill>
                  <a:schemeClr val="dk2"/>
                </a:solidFill>
              </a:rPr>
              <a:t>Optimizaci</a:t>
            </a:r>
            <a:r>
              <a:rPr lang="en" sz="2700">
                <a:solidFill>
                  <a:schemeClr val="dk2"/>
                </a:solidFill>
              </a:rPr>
              <a:t>ón </a:t>
            </a:r>
            <a:r>
              <a:rPr lang="en" sz="2700">
                <a:solidFill>
                  <a:schemeClr val="dk2"/>
                </a:solidFill>
              </a:rPr>
              <a:t>de </a:t>
            </a:r>
            <a:r>
              <a:rPr b="1" lang="en" sz="2700">
                <a:solidFill>
                  <a:schemeClr val="lt2"/>
                </a:solidFill>
                <a:highlight>
                  <a:schemeClr val="dk1"/>
                </a:highlight>
              </a:rPr>
              <a:t>Procesos</a:t>
            </a:r>
            <a:endParaRPr b="1" sz="2700">
              <a:solidFill>
                <a:schemeClr val="lt2"/>
              </a:solidFill>
              <a:highlight>
                <a:schemeClr val="dk1"/>
              </a:highlight>
            </a:endParaRPr>
          </a:p>
        </p:txBody>
      </p:sp>
      <p:pic>
        <p:nvPicPr>
          <p:cNvPr id="234" name="Google Shape;234;p27" title="wrench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32002" y="4032285"/>
            <a:ext cx="328586" cy="328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8"/>
          <p:cNvSpPr/>
          <p:nvPr/>
        </p:nvSpPr>
        <p:spPr>
          <a:xfrm>
            <a:off x="0" y="0"/>
            <a:ext cx="5561700" cy="68736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0" name="Google Shape;240;p28"/>
          <p:cNvSpPr txBox="1"/>
          <p:nvPr>
            <p:ph idx="4294967295" type="title"/>
          </p:nvPr>
        </p:nvSpPr>
        <p:spPr>
          <a:xfrm>
            <a:off x="568340" y="2265000"/>
            <a:ext cx="5201700" cy="20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6159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100"/>
              <a:buChar char="➔"/>
            </a:pPr>
            <a:r>
              <a:rPr lang="en" sz="6100">
                <a:solidFill>
                  <a:schemeClr val="dk1"/>
                </a:solidFill>
              </a:rPr>
              <a:t>Usos</a:t>
            </a:r>
            <a:br>
              <a:rPr lang="en" sz="6100">
                <a:solidFill>
                  <a:schemeClr val="dk1"/>
                </a:solidFill>
              </a:rPr>
            </a:br>
            <a:r>
              <a:rPr lang="en" sz="6100">
                <a:solidFill>
                  <a:schemeClr val="dk1"/>
                </a:solidFill>
              </a:rPr>
              <a:t>de la IA</a:t>
            </a:r>
            <a:endParaRPr sz="6100">
              <a:solidFill>
                <a:schemeClr val="dk1"/>
              </a:solidFill>
            </a:endParaRPr>
          </a:p>
        </p:txBody>
      </p:sp>
      <p:sp>
        <p:nvSpPr>
          <p:cNvPr id="241" name="Google Shape;241;p28"/>
          <p:cNvSpPr txBox="1"/>
          <p:nvPr>
            <p:ph idx="4294967295" type="body"/>
          </p:nvPr>
        </p:nvSpPr>
        <p:spPr>
          <a:xfrm>
            <a:off x="6282100" y="1728475"/>
            <a:ext cx="4532400" cy="45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Char char="■"/>
            </a:pPr>
            <a:r>
              <a:rPr lang="en" sz="2100">
                <a:solidFill>
                  <a:srgbClr val="040F40"/>
                </a:solidFill>
              </a:rPr>
              <a:t>El objetivo principal es </a:t>
            </a:r>
            <a:r>
              <a:rPr b="1" lang="en" sz="2100">
                <a:solidFill>
                  <a:srgbClr val="040F40"/>
                </a:solidFill>
              </a:rPr>
              <a:t>estandarizar </a:t>
            </a:r>
            <a:r>
              <a:rPr lang="en" sz="2100">
                <a:solidFill>
                  <a:srgbClr val="040F40"/>
                </a:solidFill>
              </a:rPr>
              <a:t>los datos del centro a gran escala.</a:t>
            </a:r>
            <a:endParaRPr sz="2100">
              <a:solidFill>
                <a:srgbClr val="040F40"/>
              </a:solidFill>
            </a:endParaRPr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100"/>
              <a:buChar char="■"/>
            </a:pPr>
            <a:r>
              <a:rPr lang="en" sz="2100">
                <a:solidFill>
                  <a:srgbClr val="040F40"/>
                </a:solidFill>
              </a:rPr>
              <a:t>Esto permite acceder a nuevas fuentes de datos como:</a:t>
            </a:r>
            <a:endParaRPr sz="2100">
              <a:solidFill>
                <a:srgbClr val="040F40"/>
              </a:solidFill>
            </a:endParaRPr>
          </a:p>
          <a:p>
            <a:pPr indent="-361950" lvl="1" marL="914400" rtl="0" algn="l">
              <a:spcBef>
                <a:spcPts val="1000"/>
              </a:spcBef>
              <a:spcAft>
                <a:spcPts val="0"/>
              </a:spcAft>
              <a:buClr>
                <a:srgbClr val="040F40"/>
              </a:buClr>
              <a:buSzPts val="2100"/>
              <a:buChar char="○"/>
            </a:pPr>
            <a:r>
              <a:rPr lang="en" sz="2100">
                <a:solidFill>
                  <a:srgbClr val="040F40"/>
                </a:solidFill>
              </a:rPr>
              <a:t>Textos cl</a:t>
            </a:r>
            <a:r>
              <a:rPr lang="en" sz="2100">
                <a:solidFill>
                  <a:srgbClr val="040F40"/>
                </a:solidFill>
              </a:rPr>
              <a:t>ínicos</a:t>
            </a:r>
            <a:endParaRPr sz="2100">
              <a:solidFill>
                <a:srgbClr val="040F40"/>
              </a:solidFill>
            </a:endParaRPr>
          </a:p>
          <a:p>
            <a:pPr indent="-361950" lvl="1" marL="914400" rtl="0" algn="l">
              <a:spcBef>
                <a:spcPts val="1000"/>
              </a:spcBef>
              <a:spcAft>
                <a:spcPts val="0"/>
              </a:spcAft>
              <a:buClr>
                <a:srgbClr val="040F40"/>
              </a:buClr>
              <a:buSzPts val="2100"/>
              <a:buChar char="○"/>
            </a:pPr>
            <a:r>
              <a:rPr lang="en" sz="2100">
                <a:solidFill>
                  <a:srgbClr val="040F40"/>
                </a:solidFill>
              </a:rPr>
              <a:t>Imagen médica</a:t>
            </a:r>
            <a:endParaRPr sz="2100">
              <a:solidFill>
                <a:srgbClr val="040F40"/>
              </a:solidFill>
            </a:endParaRPr>
          </a:p>
          <a:p>
            <a:pPr indent="-361950" lvl="1" marL="914400" rtl="0" algn="l">
              <a:spcBef>
                <a:spcPts val="1000"/>
              </a:spcBef>
              <a:spcAft>
                <a:spcPts val="1000"/>
              </a:spcAft>
              <a:buClr>
                <a:srgbClr val="040F40"/>
              </a:buClr>
              <a:buSzPts val="2100"/>
              <a:buChar char="○"/>
            </a:pPr>
            <a:r>
              <a:rPr lang="en" sz="2100">
                <a:solidFill>
                  <a:srgbClr val="040F40"/>
                </a:solidFill>
              </a:rPr>
              <a:t>Datos ómicos</a:t>
            </a:r>
            <a:endParaRPr sz="2100">
              <a:solidFill>
                <a:srgbClr val="040F40"/>
              </a:solidFill>
            </a:endParaRPr>
          </a:p>
        </p:txBody>
      </p:sp>
      <p:sp>
        <p:nvSpPr>
          <p:cNvPr id="242" name="Google Shape;242;p28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pic>
        <p:nvPicPr>
          <p:cNvPr id="243" name="Google Shape;243;p28"/>
          <p:cNvPicPr preferRelativeResize="0"/>
          <p:nvPr/>
        </p:nvPicPr>
        <p:blipFill rotWithShape="1">
          <a:blip r:embed="rId3">
            <a:alphaModFix/>
          </a:blip>
          <a:srcRect b="20293" l="8421" r="7708" t="23650"/>
          <a:stretch/>
        </p:blipFill>
        <p:spPr>
          <a:xfrm>
            <a:off x="109697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8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5" name="Google Shape;245;p28"/>
          <p:cNvSpPr txBox="1"/>
          <p:nvPr>
            <p:ph idx="4294967295" type="body"/>
          </p:nvPr>
        </p:nvSpPr>
        <p:spPr>
          <a:xfrm>
            <a:off x="6234829" y="980549"/>
            <a:ext cx="55617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2"/>
                </a:solidFill>
              </a:rPr>
              <a:t> 1. </a:t>
            </a:r>
            <a:r>
              <a:rPr lang="en" sz="2700">
                <a:solidFill>
                  <a:schemeClr val="dk2"/>
                </a:solidFill>
              </a:rPr>
              <a:t>Mapeo y </a:t>
            </a:r>
            <a:r>
              <a:rPr lang="en" sz="2700">
                <a:solidFill>
                  <a:schemeClr val="lt2"/>
                </a:solidFill>
                <a:highlight>
                  <a:schemeClr val="accent2"/>
                </a:highlight>
              </a:rPr>
              <a:t>Estandarización</a:t>
            </a:r>
            <a:endParaRPr sz="2700">
              <a:solidFill>
                <a:schemeClr val="lt2"/>
              </a:solidFill>
              <a:highlight>
                <a:schemeClr val="accent2"/>
              </a:highlight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0f3bfe&quot;&gt;&lt;path d=&quot;m344-60-76-128-144-32 14-148-98-112 98-112-14-148 144-32 76-128 136 58 136-58 76 128 144 32-14 148 98 112-98 112 14 148-144 32-76 128-136-58-136 58Zm34-102 102-44 104 44 56-96 110-26-10-112 74-84-74-86 10-112-110-24-58-96-102 44-104-44-56 96-110 24 10 112-74 86 74 84-10 114 110 24 58 96Zm102-318Zm-42 142 226-226-56-58-170 170-86-84-56 56 142 142Z&quot;/&gt;&lt;/svg&gt;" id="246" name="Google Shape;24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3502" y="1116412"/>
            <a:ext cx="328586" cy="328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9"/>
          <p:cNvSpPr txBox="1"/>
          <p:nvPr>
            <p:ph idx="4294967295" type="body"/>
          </p:nvPr>
        </p:nvSpPr>
        <p:spPr>
          <a:xfrm>
            <a:off x="359950" y="1515200"/>
            <a:ext cx="4532400" cy="45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■"/>
            </a:pPr>
            <a:r>
              <a:rPr lang="en" sz="1600">
                <a:solidFill>
                  <a:srgbClr val="040F40"/>
                </a:solidFill>
              </a:rPr>
              <a:t>La </a:t>
            </a:r>
            <a:r>
              <a:rPr b="1" lang="en" sz="1600">
                <a:solidFill>
                  <a:srgbClr val="040F40"/>
                </a:solidFill>
              </a:rPr>
              <a:t>digitalización</a:t>
            </a:r>
            <a:r>
              <a:rPr lang="en" sz="1600">
                <a:solidFill>
                  <a:srgbClr val="040F40"/>
                </a:solidFill>
              </a:rPr>
              <a:t> en los hospitales se ha </a:t>
            </a:r>
            <a:r>
              <a:rPr b="1" lang="en" sz="1600">
                <a:solidFill>
                  <a:srgbClr val="040F40"/>
                </a:solidFill>
              </a:rPr>
              <a:t>centrado en los procesos del hospita</a:t>
            </a:r>
            <a:r>
              <a:rPr lang="en" sz="1600">
                <a:solidFill>
                  <a:srgbClr val="040F40"/>
                </a:solidFill>
              </a:rPr>
              <a:t>l y no en representar pacientes.</a:t>
            </a:r>
            <a:endParaRPr sz="1600">
              <a:solidFill>
                <a:srgbClr val="040F4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■"/>
            </a:pPr>
            <a:r>
              <a:rPr lang="en" sz="1600">
                <a:solidFill>
                  <a:srgbClr val="040F40"/>
                </a:solidFill>
              </a:rPr>
              <a:t>En cada centro tiende a haber </a:t>
            </a:r>
            <a:r>
              <a:rPr b="1" lang="en" sz="1600">
                <a:solidFill>
                  <a:srgbClr val="040F40"/>
                </a:solidFill>
              </a:rPr>
              <a:t>varios sistemas de información</a:t>
            </a:r>
            <a:r>
              <a:rPr lang="en" sz="1600">
                <a:solidFill>
                  <a:srgbClr val="040F40"/>
                </a:solidFill>
              </a:rPr>
              <a:t> que dan soporte a procesos diferentes:</a:t>
            </a:r>
            <a:endParaRPr sz="1600">
              <a:solidFill>
                <a:srgbClr val="040F40"/>
              </a:solidFill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○"/>
            </a:pPr>
            <a:r>
              <a:rPr lang="en" sz="1600">
                <a:solidFill>
                  <a:srgbClr val="040F40"/>
                </a:solidFill>
              </a:rPr>
              <a:t>Historia Clínica Electrónica</a:t>
            </a:r>
            <a:endParaRPr sz="1600">
              <a:solidFill>
                <a:srgbClr val="040F40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○"/>
            </a:pPr>
            <a:r>
              <a:rPr lang="en" sz="1600">
                <a:solidFill>
                  <a:srgbClr val="040F40"/>
                </a:solidFill>
              </a:rPr>
              <a:t>Sistemas de gestión de Laboratorio</a:t>
            </a:r>
            <a:endParaRPr sz="1600">
              <a:solidFill>
                <a:srgbClr val="040F40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○"/>
            </a:pPr>
            <a:r>
              <a:rPr lang="en" sz="1600">
                <a:solidFill>
                  <a:srgbClr val="040F40"/>
                </a:solidFill>
              </a:rPr>
              <a:t>Farmacia y dispensación</a:t>
            </a:r>
            <a:endParaRPr sz="1600">
              <a:solidFill>
                <a:srgbClr val="040F40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○"/>
            </a:pPr>
            <a:r>
              <a:rPr lang="en" sz="1600">
                <a:solidFill>
                  <a:srgbClr val="040F40"/>
                </a:solidFill>
              </a:rPr>
              <a:t>Sistema de gestión de visitas</a:t>
            </a:r>
            <a:endParaRPr sz="1600">
              <a:solidFill>
                <a:srgbClr val="040F40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○"/>
            </a:pPr>
            <a:r>
              <a:rPr lang="en" sz="1600">
                <a:solidFill>
                  <a:srgbClr val="040F40"/>
                </a:solidFill>
              </a:rPr>
              <a:t>[...]</a:t>
            </a:r>
            <a:endParaRPr sz="1600">
              <a:solidFill>
                <a:srgbClr val="040F40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40F4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■"/>
            </a:pPr>
            <a:r>
              <a:rPr lang="en" sz="1600">
                <a:solidFill>
                  <a:srgbClr val="040F40"/>
                </a:solidFill>
              </a:rPr>
              <a:t>El proceso de mapear los datos al OHDSI OMOP CDM se trata de construir</a:t>
            </a:r>
            <a:r>
              <a:rPr b="1" lang="en" sz="1600">
                <a:solidFill>
                  <a:srgbClr val="040F40"/>
                </a:solidFill>
              </a:rPr>
              <a:t> una versión digital del paciente</a:t>
            </a:r>
            <a:r>
              <a:rPr lang="en" sz="1600">
                <a:solidFill>
                  <a:srgbClr val="040F40"/>
                </a:solidFill>
              </a:rPr>
              <a:t> sumando los datos de múltiples fuentes, convirtiendo datos proceso-céntricos en datos paciente-céntricos.</a:t>
            </a:r>
            <a:endParaRPr sz="1600">
              <a:solidFill>
                <a:srgbClr val="040F40"/>
              </a:solidFill>
            </a:endParaRPr>
          </a:p>
        </p:txBody>
      </p:sp>
      <p:sp>
        <p:nvSpPr>
          <p:cNvPr id="252" name="Google Shape;252;p29"/>
          <p:cNvSpPr txBox="1"/>
          <p:nvPr>
            <p:ph type="title"/>
          </p:nvPr>
        </p:nvSpPr>
        <p:spPr>
          <a:xfrm>
            <a:off x="207600" y="664800"/>
            <a:ext cx="111474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➔"/>
            </a:pPr>
            <a:r>
              <a:rPr lang="en"/>
              <a:t>Creando datos paciente-céntricos</a:t>
            </a:r>
            <a:endParaRPr sz="2000"/>
          </a:p>
        </p:txBody>
      </p:sp>
      <p:sp>
        <p:nvSpPr>
          <p:cNvPr id="253" name="Google Shape;253;p29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254" name="Google Shape;254;p29"/>
          <p:cNvSpPr txBox="1"/>
          <p:nvPr>
            <p:ph idx="4294967295" type="body"/>
          </p:nvPr>
        </p:nvSpPr>
        <p:spPr>
          <a:xfrm>
            <a:off x="4979650" y="5106975"/>
            <a:ext cx="35841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500"/>
              </a:spcAft>
              <a:buNone/>
            </a:pPr>
            <a:r>
              <a:rPr lang="en" sz="1000">
                <a:solidFill>
                  <a:srgbClr val="040F40"/>
                </a:solidFill>
              </a:rPr>
              <a:t>Operational Data Architecture</a:t>
            </a:r>
            <a:endParaRPr sz="1000">
              <a:solidFill>
                <a:srgbClr val="040F40"/>
              </a:solidFill>
            </a:endParaRPr>
          </a:p>
        </p:txBody>
      </p:sp>
      <p:sp>
        <p:nvSpPr>
          <p:cNvPr id="255" name="Google Shape;255;p29"/>
          <p:cNvSpPr txBox="1"/>
          <p:nvPr>
            <p:ph idx="4294967295" type="body"/>
          </p:nvPr>
        </p:nvSpPr>
        <p:spPr>
          <a:xfrm>
            <a:off x="8607900" y="5106975"/>
            <a:ext cx="35841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500"/>
              </a:spcAft>
              <a:buNone/>
            </a:pPr>
            <a:r>
              <a:rPr lang="en" sz="1000">
                <a:solidFill>
                  <a:srgbClr val="040F40"/>
                </a:solidFill>
              </a:rPr>
              <a:t>Patient-centric Data Architecture</a:t>
            </a:r>
            <a:endParaRPr sz="1000">
              <a:solidFill>
                <a:srgbClr val="040F40"/>
              </a:solidFill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0f3bfe&quot;&gt;&lt;path d=&quot;M540-80q-108 0-184-76t-76-184v-23q-86-14-143-80.5T80-600v-240h120v-40h80v160h-80v-40h-40v160q0 66 47 113t113 47q66 0 113-47t47-113v-160h-40v40h-80v-160h80v40h120v240q0 90-57 156.5T360-363v23q0 75 52.5 127.5T540-160q75 0 127.5-52.5T720-340v-67q-35-12-57.5-43T640-520q0-50 35-85t85-35q50 0 85 35t35 85q0 39-22.5 70T800-407v67q0 108-76 184T540-80Zm220-400q17 0 28.5-11.5T800-520q0-17-11.5-28.5T760-560q-17 0-28.5 11.5T720-520q0 17 11.5 28.5T760-480Zm0-40Z&quot;/&gt;&lt;/svg&gt;" id="256" name="Google Shape;25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5650" y="22993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80-160v-640h320l80 80h400v560H80Zm80-80h640v-400H447l-80-80H160v480Zm0 0v-480 480Zm400-80h80v-80h80v-80h-80v-80h-80v80h-80v80h80v80Z&quot;/&gt;&lt;/svg&gt;" id="257" name="Google Shape;25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17700" y="3290850"/>
            <a:ext cx="228600" cy="22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" name="Google Shape;258;p29"/>
          <p:cNvGrpSpPr/>
          <p:nvPr/>
        </p:nvGrpSpPr>
        <p:grpSpPr>
          <a:xfrm>
            <a:off x="10139400" y="2993700"/>
            <a:ext cx="521100" cy="822900"/>
            <a:chOff x="9927050" y="3865950"/>
            <a:chExt cx="521100" cy="822900"/>
          </a:xfrm>
        </p:grpSpPr>
        <p:sp>
          <p:nvSpPr>
            <p:cNvPr id="259" name="Google Shape;259;p29"/>
            <p:cNvSpPr/>
            <p:nvPr/>
          </p:nvSpPr>
          <p:spPr>
            <a:xfrm>
              <a:off x="9927050" y="3865950"/>
              <a:ext cx="521100" cy="822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rgbClr val="CFD8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pic>
          <p:nvPicPr>
            <p:cNvPr descr="&lt;svg xmlns=&quot;http://www.w3.org/2000/svg&quot; height=&quot;24px&quot; viewBox=&quot;0 -960 960 960&quot; width=&quot;24px&quot; fill=&quot;#000&quot;&gt;&lt;path d=&quot;M40-160v-112q0-34 17.5-62.5T104-378q62-31 126-46.5T360-440q66 0 130 15.5T616-378q29 15 46.5 43.5T680-272v112H40Zm720 0v-120q0-44-24.5-84.5T666-434q51 6 96 20.5t84 35.5q36 20 55 44.5t19 53.5v120H760ZM360-480q-66 0-113-47t-47-113q0-66 47-113t113-47q66 0 113 47t47 113q0 66-47 113t-113 47Zm400-160q0 66-47 113t-113 47q-11 0-28-2.5t-28-5.5q27-32 41.5-71t14.5-81q0-42-14.5-81T544-792q14-5 28-6.5t28-1.5q66 0 113 47t47 113ZM120-240h480v-32q0-11-5.5-20T580-306q-54-27-109-40.5T360-360q-56 0-111 13.5T140-306q-9 5-14.5 14t-5.5 20v32Zm240-320q33 0 56.5-23.5T440-640q0-33-23.5-56.5T360-720q-33 0-56.5 23.5T280-640q0 33 23.5 56.5T360-560Zm0 320Zm0-400Z&quot;/&gt;&lt;/svg&gt;" id="260" name="Google Shape;260;p2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073300" y="4016663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svg xmlns=&quot;http://www.w3.org/2000/svg&quot; height=&quot;24px&quot; viewBox=&quot;0 -960 960 960&quot; width=&quot;24px&quot; fill=&quot;#0f3bfe&quot;&gt;&lt;path d=&quot;M540-80q-108 0-184-76t-76-184v-23q-86-14-143-80.5T80-600v-240h120v-40h80v160h-80v-40h-40v160q0 66 47 113t113 47q66 0 113-47t47-113v-160h-40v40h-80v-160h80v40h120v240q0 90-57 156.5T360-363v23q0 75 52.5 127.5T540-160q75 0 127.5-52.5T720-340v-67q-35-12-57.5-43T640-520q0-50 35-85t85-35q50 0 85 35t35 85q0 39-22.5 70T800-407v67q0 108-76 184T540-80Zm220-400q17 0 28.5-11.5T800-520q0-17-11.5-28.5T760-560q-17 0-28.5 11.5T720-520q0 17 11.5 28.5T760-480Zm0-40Z&quot;/&gt;&lt;/svg&gt;" id="261" name="Google Shape;26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5650" y="42823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80-160v-640h320l80 80h400v560H80Zm80-80h640v-400H447l-80-80H160v480Zm0 0v-480 480Zm400-80h80v-80h80v-80h-80v-80h-80v80h-80v80h80v80Z&quot;/&gt;&lt;/svg&gt;" id="262" name="Google Shape;26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53600" y="3290850"/>
            <a:ext cx="228600" cy="22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" name="Google Shape;263;p29"/>
          <p:cNvCxnSpPr>
            <a:stCxn id="259" idx="1"/>
            <a:endCxn id="262" idx="3"/>
          </p:cNvCxnSpPr>
          <p:nvPr/>
        </p:nvCxnSpPr>
        <p:spPr>
          <a:xfrm rot="10800000">
            <a:off x="9682200" y="340515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264" name="Google Shape;264;p29"/>
          <p:cNvCxnSpPr>
            <a:stCxn id="259" idx="0"/>
            <a:endCxn id="256" idx="2"/>
          </p:cNvCxnSpPr>
          <p:nvPr/>
        </p:nvCxnSpPr>
        <p:spPr>
          <a:xfrm rot="10800000">
            <a:off x="10399950" y="2528100"/>
            <a:ext cx="0" cy="465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265" name="Google Shape;265;p29"/>
          <p:cNvCxnSpPr>
            <a:stCxn id="259" idx="3"/>
            <a:endCxn id="257" idx="1"/>
          </p:cNvCxnSpPr>
          <p:nvPr/>
        </p:nvCxnSpPr>
        <p:spPr>
          <a:xfrm>
            <a:off x="10660500" y="340515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266" name="Google Shape;266;p29"/>
          <p:cNvCxnSpPr>
            <a:stCxn id="259" idx="2"/>
            <a:endCxn id="261" idx="0"/>
          </p:cNvCxnSpPr>
          <p:nvPr/>
        </p:nvCxnSpPr>
        <p:spPr>
          <a:xfrm>
            <a:off x="10399950" y="3816600"/>
            <a:ext cx="0" cy="465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267" name="Google Shape;267;p29"/>
          <p:cNvCxnSpPr>
            <a:stCxn id="262" idx="2"/>
          </p:cNvCxnSpPr>
          <p:nvPr/>
        </p:nvCxnSpPr>
        <p:spPr>
          <a:xfrm>
            <a:off x="9567900" y="3519450"/>
            <a:ext cx="0" cy="88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268" name="Google Shape;268;p29"/>
          <p:cNvCxnSpPr>
            <a:stCxn id="261" idx="1"/>
          </p:cNvCxnSpPr>
          <p:nvPr/>
        </p:nvCxnSpPr>
        <p:spPr>
          <a:xfrm rot="10800000">
            <a:off x="9566850" y="4396650"/>
            <a:ext cx="71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269" name="Google Shape;269;p29"/>
          <p:cNvCxnSpPr>
            <a:stCxn id="262" idx="0"/>
          </p:cNvCxnSpPr>
          <p:nvPr/>
        </p:nvCxnSpPr>
        <p:spPr>
          <a:xfrm rot="10800000">
            <a:off x="9567900" y="2413650"/>
            <a:ext cx="0" cy="87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270" name="Google Shape;270;p29"/>
          <p:cNvCxnSpPr>
            <a:stCxn id="256" idx="1"/>
          </p:cNvCxnSpPr>
          <p:nvPr/>
        </p:nvCxnSpPr>
        <p:spPr>
          <a:xfrm rot="10800000">
            <a:off x="9584550" y="2413650"/>
            <a:ext cx="70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271" name="Google Shape;271;p29"/>
          <p:cNvCxnSpPr>
            <a:stCxn id="256" idx="3"/>
          </p:cNvCxnSpPr>
          <p:nvPr/>
        </p:nvCxnSpPr>
        <p:spPr>
          <a:xfrm>
            <a:off x="10514250" y="2413650"/>
            <a:ext cx="72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272" name="Google Shape;272;p29"/>
          <p:cNvCxnSpPr>
            <a:stCxn id="257" idx="2"/>
          </p:cNvCxnSpPr>
          <p:nvPr/>
        </p:nvCxnSpPr>
        <p:spPr>
          <a:xfrm>
            <a:off x="11232000" y="3519450"/>
            <a:ext cx="0" cy="867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273" name="Google Shape;273;p29"/>
          <p:cNvCxnSpPr>
            <a:stCxn id="261" idx="3"/>
          </p:cNvCxnSpPr>
          <p:nvPr/>
        </p:nvCxnSpPr>
        <p:spPr>
          <a:xfrm>
            <a:off x="10514250" y="4396650"/>
            <a:ext cx="72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274" name="Google Shape;274;p29"/>
          <p:cNvCxnSpPr>
            <a:stCxn id="257" idx="0"/>
          </p:cNvCxnSpPr>
          <p:nvPr/>
        </p:nvCxnSpPr>
        <p:spPr>
          <a:xfrm rot="10800000">
            <a:off x="11232000" y="2422650"/>
            <a:ext cx="0" cy="86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sp>
        <p:nvSpPr>
          <p:cNvPr id="275" name="Google Shape;275;p29"/>
          <p:cNvSpPr/>
          <p:nvPr/>
        </p:nvSpPr>
        <p:spPr>
          <a:xfrm>
            <a:off x="6232138" y="2756550"/>
            <a:ext cx="521100" cy="52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C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0f3bfe&quot;&gt;&lt;path d=&quot;M540-80q-108 0-184-76t-76-184v-23q-86-14-143-80.5T80-600v-240h120v-40h80v160h-80v-40h-40v160q0 66 47 113t113 47q66 0 113-47t47-113v-160h-40v40h-80v-160h80v40h120v240q0 90-57 156.5T360-363v23q0 75 52.5 127.5T540-160q75 0 127.5-52.5T720-340v-67q-35-12-57.5-43T640-520q0-50 35-85t85-35q50 0 85 35t35 85q0 39-22.5 70T800-407v67q0 108-76 184T540-80Zm220-400q17 0 28.5-11.5T800-520q0-17-11.5-28.5T760-560q-17 0-28.5 11.5T720-520q0 17 11.5 28.5T760-480Zm0-40Z&quot;/&gt;&lt;/svg&gt;" id="276" name="Google Shape;27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8400" y="20707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120-160v-160h720v160H120Zm80-40h80v-80h-80v80Zm-80-440v-160h720v160H120Zm80-40h80v-80h-80v80Zm-80 280v-160h720v160H120Zm80-40h80v-80h-80v80Z&quot;/&gt;&lt;/svg&gt;" id="277" name="Google Shape;277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97813" y="26743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80-160v-640h320l80 80h400v560H80Zm80-80h640v-400H447l-80-80H160v480Zm0 0v-480 480Zm400-80h80v-80h80v-80h-80v-80h-80v80h-80v80h80v80Z&quot;/&gt;&lt;/svg&gt;" id="278" name="Google Shape;27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7350" y="32631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540-80q-108 0-184-76t-76-184v-23q-86-14-143-80.5T80-600v-240h120v-40h80v160h-80v-40h-40v160q0 66 47 113t113 47q66 0 113-47t47-113v-160h-40v40h-80v-160h80v40h120v240q0 90-57 156.5T360-363v23q0 75 52.5 127.5T540-160q75 0 127.5-52.5T720-340v-67q-35-12-57.5-43T640-520q0-50 35-85t85-35q50 0 85 35t35 85q0 39-22.5 70T800-407v67q0 108-76 184T540-80Zm220-400q17 0 28.5-11.5T800-520q0-17-11.5-28.5T760-560q-17 0-28.5 11.5T720-520q0 17 11.5 28.5T760-480Zm0-40Z&quot;/&gt;&lt;/svg&gt;" id="279" name="Google Shape;27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7350" y="38437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120-160v-160h720v160H120Zm80-40h80v-80h-80v80Zm-80-440v-160h720v160H120Zm80-40h80v-80h-80v80Zm-80 280v-160h720v160H120Zm80-40h80v-80h-80v80Z&quot;/&gt;&lt;/svg&gt;" id="280" name="Google Shape;280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52763" y="32908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80-160v-640h320l80 80h400v560H80Zm80-80h640v-400H447l-80-80H160v480Zm0 0v-480 480Zm400-80h80v-80h80v-80h-80v-80h-80v80h-80v80h80v80Z&quot;/&gt;&lt;/svg&gt;" id="281" name="Google Shape;28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1875" y="32080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120-160v-160h720v160H120Zm80-40h80v-80h-80v80Zm-80-440v-160h720v160H120Zm80-40h80v-80h-80v80Zm-80 280v-160h720v160H120Zm80-40h80v-80h-80v80Z&quot;/&gt;&lt;/svg&gt;" id="282" name="Google Shape;282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48738" y="25279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120-160v-160h720v160H120Zm80-40h80v-80h-80v80Zm-80-440v-160h720v160H120Zm80-40h80v-80h-80v80Zm-80 280v-160h720v160H120Zm80-40h80v-80h-80v80Z&quot;/&gt;&lt;/svg&gt;" id="283" name="Google Shape;283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78388" y="2902800"/>
            <a:ext cx="228600" cy="22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4" name="Google Shape;284;p29"/>
          <p:cNvCxnSpPr>
            <a:stCxn id="275" idx="1"/>
            <a:endCxn id="281" idx="3"/>
          </p:cNvCxnSpPr>
          <p:nvPr/>
        </p:nvCxnSpPr>
        <p:spPr>
          <a:xfrm flipH="1">
            <a:off x="5850538" y="3017100"/>
            <a:ext cx="381600" cy="305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285" name="Google Shape;285;p29"/>
          <p:cNvCxnSpPr>
            <a:stCxn id="275" idx="0"/>
            <a:endCxn id="276" idx="2"/>
          </p:cNvCxnSpPr>
          <p:nvPr/>
        </p:nvCxnSpPr>
        <p:spPr>
          <a:xfrm rot="10800000">
            <a:off x="6492688" y="2299350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286" name="Google Shape;286;p29"/>
          <p:cNvCxnSpPr>
            <a:stCxn id="275" idx="3"/>
            <a:endCxn id="278" idx="1"/>
          </p:cNvCxnSpPr>
          <p:nvPr/>
        </p:nvCxnSpPr>
        <p:spPr>
          <a:xfrm>
            <a:off x="6753238" y="3017100"/>
            <a:ext cx="564000" cy="36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287" name="Google Shape;287;p29"/>
          <p:cNvCxnSpPr>
            <a:stCxn id="275" idx="2"/>
            <a:endCxn id="279" idx="0"/>
          </p:cNvCxnSpPr>
          <p:nvPr/>
        </p:nvCxnSpPr>
        <p:spPr>
          <a:xfrm>
            <a:off x="6492688" y="3277650"/>
            <a:ext cx="279000" cy="566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grpSp>
        <p:nvGrpSpPr>
          <p:cNvPr id="288" name="Google Shape;288;p29"/>
          <p:cNvGrpSpPr/>
          <p:nvPr/>
        </p:nvGrpSpPr>
        <p:grpSpPr>
          <a:xfrm>
            <a:off x="7464325" y="2251650"/>
            <a:ext cx="521100" cy="521100"/>
            <a:chOff x="7318325" y="3666150"/>
            <a:chExt cx="521100" cy="521100"/>
          </a:xfrm>
        </p:grpSpPr>
        <p:pic>
          <p:nvPicPr>
            <p:cNvPr descr="&lt;svg xmlns=&quot;http://www.w3.org/2000/svg&quot; height=&quot;24px&quot; viewBox=&quot;0 -960 960 960&quot; width=&quot;24px&quot; fill=&quot;#000&quot;&gt;&lt;path d=&quot;M420-280h120v-140h140v-120H540v-140H420v140H280v120h140v140ZM120-120v-720h720v720H120Zm80-80h560v-560H200v560Zm0 0v-560 560Z&quot;/&gt;&lt;/svg&gt;" id="289" name="Google Shape;289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464575" y="381240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" name="Google Shape;290;p29"/>
            <p:cNvSpPr/>
            <p:nvPr/>
          </p:nvSpPr>
          <p:spPr>
            <a:xfrm>
              <a:off x="7318325" y="3666150"/>
              <a:ext cx="521100" cy="521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rgbClr val="CFD8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pic>
          <p:nvPicPr>
            <p:cNvPr descr="&lt;svg xmlns=&quot;http://www.w3.org/2000/svg&quot; height=&quot;24px&quot; viewBox=&quot;0 -960 960 960&quot; width=&quot;24px&quot; fill=&quot;#000&quot;&gt;&lt;path d=&quot;M420-280h120v-140h140v-120H540v-140H420v140H280v120h140v140ZM120-120v-720h720v720H120Zm80-80h560v-560H200v560Zm0 0v-560 560Z&quot;/&gt;&lt;/svg&gt;" id="291" name="Google Shape;291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464575" y="381240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2" name="Google Shape;292;p29"/>
          <p:cNvGrpSpPr/>
          <p:nvPr/>
        </p:nvGrpSpPr>
        <p:grpSpPr>
          <a:xfrm>
            <a:off x="7232525" y="4242600"/>
            <a:ext cx="521100" cy="521100"/>
            <a:chOff x="7318325" y="3666150"/>
            <a:chExt cx="521100" cy="521100"/>
          </a:xfrm>
        </p:grpSpPr>
        <p:pic>
          <p:nvPicPr>
            <p:cNvPr descr="&lt;svg xmlns=&quot;http://www.w3.org/2000/svg&quot; height=&quot;24px&quot; viewBox=&quot;0 -960 960 960&quot; width=&quot;24px&quot; fill=&quot;#000&quot;&gt;&lt;path d=&quot;M420-280h120v-140h140v-120H540v-140H420v140H280v120h140v140ZM120-120v-720h720v720H120Zm80-80h560v-560H200v560Zm0 0v-560 560Z&quot;/&gt;&lt;/svg&gt;" id="293" name="Google Shape;293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464575" y="381240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4" name="Google Shape;294;p29"/>
            <p:cNvSpPr/>
            <p:nvPr/>
          </p:nvSpPr>
          <p:spPr>
            <a:xfrm>
              <a:off x="7318325" y="3666150"/>
              <a:ext cx="521100" cy="521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rgbClr val="CFD8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pic>
          <p:nvPicPr>
            <p:cNvPr descr="&lt;svg xmlns=&quot;http://www.w3.org/2000/svg&quot; height=&quot;24px&quot; viewBox=&quot;0 -960 960 960&quot; width=&quot;24px&quot; fill=&quot;#000&quot;&gt;&lt;path d=&quot;M420-280h120v-140h140v-120H540v-140H420v140H280v120h140v140ZM120-120v-720h720v720H120Zm80-80h560v-560H200v560Zm0 0v-560 560Z&quot;/&gt;&lt;/svg&gt;" id="295" name="Google Shape;295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464575" y="381240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6" name="Google Shape;296;p29"/>
          <p:cNvGrpSpPr/>
          <p:nvPr/>
        </p:nvGrpSpPr>
        <p:grpSpPr>
          <a:xfrm>
            <a:off x="5418488" y="4116750"/>
            <a:ext cx="521100" cy="521100"/>
            <a:chOff x="5835450" y="3931350"/>
            <a:chExt cx="521100" cy="521100"/>
          </a:xfrm>
        </p:grpSpPr>
        <p:sp>
          <p:nvSpPr>
            <p:cNvPr id="297" name="Google Shape;297;p29"/>
            <p:cNvSpPr/>
            <p:nvPr/>
          </p:nvSpPr>
          <p:spPr>
            <a:xfrm>
              <a:off x="5835450" y="3931350"/>
              <a:ext cx="521100" cy="521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rgbClr val="CFD8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pic>
          <p:nvPicPr>
            <p:cNvPr descr="&lt;svg xmlns=&quot;http://www.w3.org/2000/svg&quot; height=&quot;24px&quot; viewBox=&quot;0 -960 960 960&quot; width=&quot;24px&quot; fill=&quot;#000&quot;&gt;&lt;path d=&quot;M40-160v-112q0-34 17.5-62.5T104-378q62-31 126-46.5T360-440q66 0 130 15.5T616-378q29 15 46.5 43.5T680-272v112H40Zm720 0v-120q0-44-24.5-84.5T666-434q51 6 96 20.5t84 35.5q36 20 55 44.5t19 53.5v120H760ZM360-480q-66 0-113-47t-47-113q0-66 47-113t113-47q66 0 113 47t47 113q0 66-47 113t-113 47Zm400-160q0 66-47 113t-113 47q-11 0-28-2.5t-28-5.5q27-32 41.5-71t14.5-81q0-42-14.5-81T544-792q14-5 28-6.5t28-1.5q66 0 113 47t47 113ZM120-240h480v-32q0-11-5.5-20T580-306q-54-27-109-40.5T360-360q-56 0-111 13.5T140-306q-9 5-14.5 14t-5.5 20v32Zm240-320q33 0 56.5-23.5T440-640q0-33-23.5-56.5T360-720q-33 0-56.5 23.5T280-640q0 33 23.5 56.5T360-560Zm0 320Zm0-400Z&quot;/&gt;&lt;/svg&gt;" id="298" name="Google Shape;298;p2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981700" y="407760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99" name="Google Shape;299;p29"/>
          <p:cNvCxnSpPr>
            <a:stCxn id="290" idx="1"/>
            <a:endCxn id="276" idx="3"/>
          </p:cNvCxnSpPr>
          <p:nvPr/>
        </p:nvCxnSpPr>
        <p:spPr>
          <a:xfrm rot="10800000">
            <a:off x="6606925" y="2185200"/>
            <a:ext cx="857400" cy="32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300" name="Google Shape;300;p29"/>
          <p:cNvCxnSpPr>
            <a:stCxn id="290" idx="2"/>
            <a:endCxn id="278" idx="0"/>
          </p:cNvCxnSpPr>
          <p:nvPr/>
        </p:nvCxnSpPr>
        <p:spPr>
          <a:xfrm flipH="1">
            <a:off x="7431775" y="2772750"/>
            <a:ext cx="293100" cy="490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301" name="Google Shape;301;p29"/>
          <p:cNvCxnSpPr>
            <a:stCxn id="294" idx="0"/>
            <a:endCxn id="278" idx="2"/>
          </p:cNvCxnSpPr>
          <p:nvPr/>
        </p:nvCxnSpPr>
        <p:spPr>
          <a:xfrm rot="10800000">
            <a:off x="7431575" y="3491700"/>
            <a:ext cx="61500" cy="750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302" name="Google Shape;302;p29"/>
          <p:cNvCxnSpPr>
            <a:stCxn id="294" idx="1"/>
            <a:endCxn id="279" idx="3"/>
          </p:cNvCxnSpPr>
          <p:nvPr/>
        </p:nvCxnSpPr>
        <p:spPr>
          <a:xfrm rot="10800000">
            <a:off x="6886025" y="3958050"/>
            <a:ext cx="346500" cy="54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303" name="Google Shape;303;p29"/>
          <p:cNvCxnSpPr>
            <a:stCxn id="297" idx="0"/>
            <a:endCxn id="281" idx="2"/>
          </p:cNvCxnSpPr>
          <p:nvPr/>
        </p:nvCxnSpPr>
        <p:spPr>
          <a:xfrm flipH="1" rot="10800000">
            <a:off x="5679038" y="3436650"/>
            <a:ext cx="57000" cy="68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304" name="Google Shape;304;p29"/>
          <p:cNvCxnSpPr>
            <a:stCxn id="297" idx="3"/>
            <a:endCxn id="279" idx="2"/>
          </p:cNvCxnSpPr>
          <p:nvPr/>
        </p:nvCxnSpPr>
        <p:spPr>
          <a:xfrm flipH="1" rot="10800000">
            <a:off x="5939588" y="4072500"/>
            <a:ext cx="832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pic>
        <p:nvPicPr>
          <p:cNvPr descr="&lt;svg xmlns=&quot;http://www.w3.org/2000/svg&quot; height=&quot;24px&quot; viewBox=&quot;0 -960 960 960&quot; width=&quot;24px&quot; fill=&quot;#0f3bfe&quot;&gt;&lt;path d=&quot;M120-160v-160h720v160H120Zm80-40h80v-80h-80v80Zm-80-440v-160h720v160H120Zm80-40h80v-80h-80v80Zm-80 280v-160h720v160H120Zm80-40h80v-80h-80v80Z&quot;/&gt;&lt;/svg&gt;" id="305" name="Google Shape;305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17888" y="46653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9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</a:t>
            </a: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| [1] </a:t>
            </a:r>
            <a:r>
              <a:rPr b="1"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Proceso de estandarización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7" name="Google Shape;307;p29"/>
          <p:cNvSpPr/>
          <p:nvPr/>
        </p:nvSpPr>
        <p:spPr>
          <a:xfrm>
            <a:off x="8488897" y="3124838"/>
            <a:ext cx="457200" cy="54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8" name="Google Shape;308;p29"/>
          <p:cNvSpPr txBox="1"/>
          <p:nvPr/>
        </p:nvSpPr>
        <p:spPr>
          <a:xfrm>
            <a:off x="6158350" y="1725375"/>
            <a:ext cx="5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rPr>
              <a:t>EHR</a:t>
            </a:r>
            <a:endParaRPr b="1">
              <a:solidFill>
                <a:schemeClr val="accen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9" name="Google Shape;309;p29"/>
          <p:cNvSpPr txBox="1"/>
          <p:nvPr/>
        </p:nvSpPr>
        <p:spPr>
          <a:xfrm>
            <a:off x="7673550" y="3519450"/>
            <a:ext cx="5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rPr>
              <a:t>LIS</a:t>
            </a:r>
            <a:endParaRPr b="1">
              <a:solidFill>
                <a:schemeClr val="accen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0" name="Google Shape;310;p29"/>
          <p:cNvSpPr txBox="1"/>
          <p:nvPr/>
        </p:nvSpPr>
        <p:spPr>
          <a:xfrm>
            <a:off x="5866688" y="3596700"/>
            <a:ext cx="5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rPr>
              <a:t>PMS</a:t>
            </a:r>
            <a:endParaRPr b="1">
              <a:solidFill>
                <a:schemeClr val="accen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9567900" y="4655063"/>
            <a:ext cx="166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rPr>
              <a:t>OMOP</a:t>
            </a:r>
            <a:endParaRPr b="1">
              <a:solidFill>
                <a:schemeClr val="accen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0f3bfe&quot;&gt;&lt;path d=&quot;M120-160v-160h720v160H120Zm80-40h80v-80h-80v80Zm-80-440v-160h720v160H120Zm80-40h80v-80h-80v80Zm-80 280v-160h720v160H120Zm80-40h80v-80h-80v80Z&quot;/&gt;&lt;/svg&gt;" id="312" name="Google Shape;312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85638" y="3420063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0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pic>
        <p:nvPicPr>
          <p:cNvPr descr="alt text" id="318" name="Google Shape;31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9174" y="1960407"/>
            <a:ext cx="675600" cy="6933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18000"/>
              </a:srgbClr>
            </a:outerShdw>
          </a:effectLst>
        </p:spPr>
      </p:pic>
      <p:pic>
        <p:nvPicPr>
          <p:cNvPr id="319" name="Google Shape;31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93123" y="1933323"/>
            <a:ext cx="738900" cy="7476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18000"/>
              </a:srgbClr>
            </a:outerShdw>
          </a:effectLst>
        </p:spPr>
      </p:pic>
      <p:pic>
        <p:nvPicPr>
          <p:cNvPr descr="http://www.ohdsi.org/web/wiki/lib/exe/fetch.php?w=100&amp;tok=44f68f&amp;media=t-ohdsi-logo-only.png" id="320" name="Google Shape;32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67499" y="1947763"/>
            <a:ext cx="766500" cy="7665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18000"/>
              </a:srgbClr>
            </a:outerShdw>
          </a:effectLst>
        </p:spPr>
      </p:pic>
      <p:sp>
        <p:nvSpPr>
          <p:cNvPr id="321" name="Google Shape;321;p30"/>
          <p:cNvSpPr txBox="1"/>
          <p:nvPr/>
        </p:nvSpPr>
        <p:spPr>
          <a:xfrm rot="-5400000">
            <a:off x="527075" y="2447334"/>
            <a:ext cx="1880400" cy="36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OHDSI Tools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22" name="Google Shape;322;p30"/>
          <p:cNvCxnSpPr/>
          <p:nvPr/>
        </p:nvCxnSpPr>
        <p:spPr>
          <a:xfrm>
            <a:off x="1651962" y="1691933"/>
            <a:ext cx="88974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23" name="Google Shape;323;p30"/>
          <p:cNvSpPr/>
          <p:nvPr/>
        </p:nvSpPr>
        <p:spPr>
          <a:xfrm>
            <a:off x="1712457" y="2887600"/>
            <a:ext cx="8874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White </a:t>
            </a:r>
            <a:endParaRPr b="1" sz="12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Rabbit</a:t>
            </a:r>
            <a:endParaRPr b="1" sz="12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24" name="Google Shape;324;p30"/>
          <p:cNvSpPr/>
          <p:nvPr/>
        </p:nvSpPr>
        <p:spPr>
          <a:xfrm>
            <a:off x="2705420" y="2922314"/>
            <a:ext cx="1026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Rabbit In a Hat</a:t>
            </a:r>
            <a:endParaRPr b="1" sz="12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25" name="Google Shape;325;p30"/>
          <p:cNvSpPr/>
          <p:nvPr/>
        </p:nvSpPr>
        <p:spPr>
          <a:xfrm>
            <a:off x="7897700" y="2958288"/>
            <a:ext cx="127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ACHILLES</a:t>
            </a:r>
            <a:endParaRPr b="1" sz="12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326" name="Google Shape;326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16500" y="1915962"/>
            <a:ext cx="786000" cy="7665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18000"/>
              </a:srgbClr>
            </a:outerShdw>
          </a:effectLst>
        </p:spPr>
      </p:pic>
      <p:sp>
        <p:nvSpPr>
          <p:cNvPr id="327" name="Google Shape;327;p30"/>
          <p:cNvSpPr/>
          <p:nvPr/>
        </p:nvSpPr>
        <p:spPr>
          <a:xfrm>
            <a:off x="9047562" y="2937259"/>
            <a:ext cx="114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DQD</a:t>
            </a:r>
            <a:endParaRPr b="1" sz="12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28" name="Google Shape;328;p30"/>
          <p:cNvSpPr txBox="1"/>
          <p:nvPr/>
        </p:nvSpPr>
        <p:spPr>
          <a:xfrm>
            <a:off x="1651963" y="3809900"/>
            <a:ext cx="27045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Expertos en los datos evalúan las fuentes y definen la transformación de los datos al OMOP CDM</a:t>
            </a:r>
            <a:endParaRPr/>
          </a:p>
        </p:txBody>
      </p:sp>
      <p:sp>
        <p:nvSpPr>
          <p:cNvPr id="329" name="Google Shape;329;p30"/>
          <p:cNvSpPr/>
          <p:nvPr/>
        </p:nvSpPr>
        <p:spPr>
          <a:xfrm>
            <a:off x="4285875" y="2240259"/>
            <a:ext cx="457200" cy="36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30" name="Google Shape;330;p30"/>
          <p:cNvSpPr/>
          <p:nvPr/>
        </p:nvSpPr>
        <p:spPr>
          <a:xfrm>
            <a:off x="7085238" y="2240259"/>
            <a:ext cx="457200" cy="36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31" name="Google Shape;331;p30"/>
          <p:cNvSpPr txBox="1"/>
          <p:nvPr/>
        </p:nvSpPr>
        <p:spPr>
          <a:xfrm>
            <a:off x="4735363" y="3835700"/>
            <a:ext cx="27045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Personas con conocimientos médicos crean las asignaciones de códigos.</a:t>
            </a:r>
            <a:endParaRPr/>
          </a:p>
        </p:txBody>
      </p:sp>
      <p:cxnSp>
        <p:nvCxnSpPr>
          <p:cNvPr id="332" name="Google Shape;332;p30"/>
          <p:cNvCxnSpPr/>
          <p:nvPr/>
        </p:nvCxnSpPr>
        <p:spPr>
          <a:xfrm>
            <a:off x="1651962" y="3568507"/>
            <a:ext cx="88173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33" name="Google Shape;333;p30"/>
          <p:cNvSpPr txBox="1"/>
          <p:nvPr/>
        </p:nvSpPr>
        <p:spPr>
          <a:xfrm>
            <a:off x="7982250" y="3809400"/>
            <a:ext cx="2567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La calidad de los datos es evaluado, y se replantean los procesos de carga de datos y mapeos.</a:t>
            </a:r>
            <a:endParaRPr/>
          </a:p>
        </p:txBody>
      </p:sp>
      <p:sp>
        <p:nvSpPr>
          <p:cNvPr id="334" name="Google Shape;334;p30"/>
          <p:cNvSpPr/>
          <p:nvPr/>
        </p:nvSpPr>
        <p:spPr>
          <a:xfrm rot="10800000">
            <a:off x="2546100" y="5018515"/>
            <a:ext cx="6739800" cy="747600"/>
          </a:xfrm>
          <a:prstGeom prst="uturnArrow">
            <a:avLst>
              <a:gd fmla="val 25415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35" name="Google Shape;335;p30"/>
          <p:cNvCxnSpPr/>
          <p:nvPr/>
        </p:nvCxnSpPr>
        <p:spPr>
          <a:xfrm>
            <a:off x="10549250" y="1711438"/>
            <a:ext cx="0" cy="18609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36" name="Google Shape;336;p30"/>
          <p:cNvSpPr txBox="1"/>
          <p:nvPr/>
        </p:nvSpPr>
        <p:spPr>
          <a:xfrm>
            <a:off x="1743075" y="933800"/>
            <a:ext cx="192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lt1"/>
                </a:solidFill>
                <a:highlight>
                  <a:schemeClr val="accent2"/>
                </a:highlight>
                <a:latin typeface="IBM Plex Sans"/>
                <a:ea typeface="IBM Plex Sans"/>
                <a:cs typeface="IBM Plex Sans"/>
                <a:sym typeface="IBM Plex Sans"/>
              </a:rPr>
              <a:t>Extracción</a:t>
            </a:r>
            <a:r>
              <a:rPr lang="en" sz="27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/>
          </a:p>
        </p:txBody>
      </p:sp>
      <p:sp>
        <p:nvSpPr>
          <p:cNvPr id="337" name="Google Shape;337;p30"/>
          <p:cNvSpPr txBox="1"/>
          <p:nvPr/>
        </p:nvSpPr>
        <p:spPr>
          <a:xfrm>
            <a:off x="4708338" y="933788"/>
            <a:ext cx="2704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lt1"/>
                </a:solidFill>
                <a:highlight>
                  <a:schemeClr val="accent2"/>
                </a:highlight>
                <a:latin typeface="IBM Plex Sans"/>
                <a:ea typeface="IBM Plex Sans"/>
                <a:cs typeface="IBM Plex Sans"/>
                <a:sym typeface="IBM Plex Sans"/>
              </a:rPr>
              <a:t>Estandarización</a:t>
            </a:r>
            <a:r>
              <a:rPr lang="en" sz="27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/>
          </a:p>
        </p:txBody>
      </p:sp>
      <p:sp>
        <p:nvSpPr>
          <p:cNvPr id="338" name="Google Shape;338;p30"/>
          <p:cNvSpPr txBox="1"/>
          <p:nvPr/>
        </p:nvSpPr>
        <p:spPr>
          <a:xfrm>
            <a:off x="7982250" y="933800"/>
            <a:ext cx="192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lt1"/>
                </a:solidFill>
                <a:highlight>
                  <a:schemeClr val="accent2"/>
                </a:highlight>
                <a:latin typeface="IBM Plex Sans"/>
                <a:ea typeface="IBM Plex Sans"/>
                <a:cs typeface="IBM Plex Sans"/>
                <a:sym typeface="IBM Plex Sans"/>
              </a:rPr>
              <a:t>Calidad</a:t>
            </a:r>
            <a:r>
              <a:rPr lang="en" sz="27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/>
          </a:p>
        </p:txBody>
      </p:sp>
      <p:sp>
        <p:nvSpPr>
          <p:cNvPr id="339" name="Google Shape;339;p30"/>
          <p:cNvSpPr txBox="1"/>
          <p:nvPr/>
        </p:nvSpPr>
        <p:spPr>
          <a:xfrm>
            <a:off x="1434425" y="1080050"/>
            <a:ext cx="36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1.</a:t>
            </a:r>
            <a:endParaRPr b="1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40" name="Google Shape;340;p30"/>
          <p:cNvSpPr txBox="1"/>
          <p:nvPr/>
        </p:nvSpPr>
        <p:spPr>
          <a:xfrm>
            <a:off x="4432550" y="1080050"/>
            <a:ext cx="36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2.</a:t>
            </a:r>
            <a:endParaRPr b="1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41" name="Google Shape;341;p30"/>
          <p:cNvSpPr txBox="1"/>
          <p:nvPr/>
        </p:nvSpPr>
        <p:spPr>
          <a:xfrm>
            <a:off x="7703350" y="1080050"/>
            <a:ext cx="36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3.</a:t>
            </a:r>
            <a:endParaRPr b="1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42" name="Google Shape;342;p30"/>
          <p:cNvSpPr txBox="1"/>
          <p:nvPr/>
        </p:nvSpPr>
        <p:spPr>
          <a:xfrm>
            <a:off x="5480500" y="5874025"/>
            <a:ext cx="192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lt1"/>
                </a:solidFill>
                <a:highlight>
                  <a:schemeClr val="accent2"/>
                </a:highlight>
                <a:latin typeface="IBM Plex Sans"/>
                <a:ea typeface="IBM Plex Sans"/>
                <a:cs typeface="IBM Plex Sans"/>
                <a:sym typeface="IBM Plex Sans"/>
              </a:rPr>
              <a:t>Ajustar</a:t>
            </a:r>
            <a:r>
              <a:rPr lang="en" sz="27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/>
          </a:p>
        </p:txBody>
      </p:sp>
      <p:sp>
        <p:nvSpPr>
          <p:cNvPr id="343" name="Google Shape;343;p30"/>
          <p:cNvSpPr txBox="1"/>
          <p:nvPr/>
        </p:nvSpPr>
        <p:spPr>
          <a:xfrm>
            <a:off x="5201600" y="6020275"/>
            <a:ext cx="36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4.</a:t>
            </a:r>
            <a:endParaRPr b="1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44" name="Google Shape;344;p30"/>
          <p:cNvSpPr/>
          <p:nvPr/>
        </p:nvSpPr>
        <p:spPr>
          <a:xfrm rot="10800000">
            <a:off x="5811000" y="5016700"/>
            <a:ext cx="3474900" cy="747600"/>
          </a:xfrm>
          <a:prstGeom prst="uturnArrow">
            <a:avLst>
              <a:gd fmla="val 25415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45" name="Google Shape;345;p30"/>
          <p:cNvSpPr/>
          <p:nvPr/>
        </p:nvSpPr>
        <p:spPr>
          <a:xfrm>
            <a:off x="4893613" y="2958300"/>
            <a:ext cx="180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IBM Plex Sans"/>
                <a:ea typeface="IBM Plex Sans"/>
                <a:cs typeface="IBM Plex Sans"/>
                <a:sym typeface="IBM Plex Sans"/>
              </a:rPr>
              <a:t>Equipo responsable</a:t>
            </a:r>
            <a:endParaRPr b="1" sz="12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000&quot;&gt;&lt;path d=&quot;M40-160v-112q0-34 17.5-62.5T104-378q62-31 126-46.5T360-440q66 0 130 15.5T616-378q29 15 46.5 43.5T680-272v112H40Zm720 0v-120q0-44-24.5-84.5T666-434q51 6 96 20.5t84 35.5q36 20 55 44.5t19 53.5v120H760ZM360-480q-66 0-113-47t-47-113q0-66 47-113t113-47q66 0 113 47t47 113q0 66-47 113t-113 47Zm400-160q0 66-47 113t-113 47q-11 0-28-2.5t-28-5.5q27-32 41.5-71t14.5-81q0-42-14.5-81T544-792q14-5 28-6.5t28-1.5q66 0 113 47t47 113ZM120-240h480v-32q0-11-5.5-20T580-306q-54-27-109-40.5T360-360q-56 0-111 13.5T140-306q-9 5-14.5 14t-5.5 20v32Zm240-320q33 0 56.5-23.5T440-640q0-33-23.5-56.5T360-720q-33 0-56.5 23.5T280-640q0 33 23.5 56.5T360-560Zm0 320Zm0-400Z&quot;/&gt;&lt;/svg&gt;" id="346" name="Google Shape;346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24675" y="2081927"/>
            <a:ext cx="738900" cy="738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0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| [1] </a:t>
            </a:r>
            <a:r>
              <a:rPr b="1"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Proceso de estandarización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1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53" name="Google Shape;353;p31"/>
          <p:cNvSpPr/>
          <p:nvPr/>
        </p:nvSpPr>
        <p:spPr>
          <a:xfrm>
            <a:off x="3476782" y="4433325"/>
            <a:ext cx="1848300" cy="88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354" name="Google Shape;354;p31"/>
          <p:cNvGrpSpPr/>
          <p:nvPr/>
        </p:nvGrpSpPr>
        <p:grpSpPr>
          <a:xfrm>
            <a:off x="779282" y="1687810"/>
            <a:ext cx="7528083" cy="4093986"/>
            <a:chOff x="1388950" y="1440000"/>
            <a:chExt cx="8729224" cy="4747201"/>
          </a:xfrm>
        </p:grpSpPr>
        <p:pic>
          <p:nvPicPr>
            <p:cNvPr id="355" name="Google Shape;355;p31"/>
            <p:cNvPicPr preferRelativeResize="0"/>
            <p:nvPr/>
          </p:nvPicPr>
          <p:blipFill rotWithShape="1">
            <a:blip r:embed="rId3">
              <a:alphaModFix/>
            </a:blip>
            <a:srcRect b="2607" l="0" r="0" t="494"/>
            <a:stretch/>
          </p:blipFill>
          <p:spPr>
            <a:xfrm>
              <a:off x="1388950" y="1440000"/>
              <a:ext cx="8729224" cy="474720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BFBFBF">
                  <a:alpha val="50000"/>
                </a:srgbClr>
              </a:outerShdw>
            </a:effectLst>
          </p:spPr>
        </p:pic>
        <p:pic>
          <p:nvPicPr>
            <p:cNvPr id="356" name="Google Shape;356;p31"/>
            <p:cNvPicPr preferRelativeResize="0"/>
            <p:nvPr/>
          </p:nvPicPr>
          <p:blipFill rotWithShape="1">
            <a:blip r:embed="rId4">
              <a:alphaModFix/>
            </a:blip>
            <a:srcRect b="43544" l="29175" r="26606" t="14911"/>
            <a:stretch/>
          </p:blipFill>
          <p:spPr>
            <a:xfrm>
              <a:off x="1871250" y="4022200"/>
              <a:ext cx="3276649" cy="19098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7" name="Google Shape;357;p31"/>
          <p:cNvSpPr txBox="1"/>
          <p:nvPr>
            <p:ph type="title"/>
          </p:nvPr>
        </p:nvSpPr>
        <p:spPr>
          <a:xfrm>
            <a:off x="215316" y="664800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➔"/>
            </a:pPr>
            <a:r>
              <a:rPr lang="en"/>
              <a:t>Estructurando datos a gran escala</a:t>
            </a:r>
            <a:endParaRPr sz="2000">
              <a:solidFill>
                <a:srgbClr val="9FB1FF"/>
              </a:solidFill>
            </a:endParaRPr>
          </a:p>
        </p:txBody>
      </p:sp>
      <p:pic>
        <p:nvPicPr>
          <p:cNvPr id="358" name="Google Shape;358;p31"/>
          <p:cNvPicPr preferRelativeResize="0"/>
          <p:nvPr/>
        </p:nvPicPr>
        <p:blipFill rotWithShape="1">
          <a:blip r:embed="rId5">
            <a:alphaModFix/>
          </a:blip>
          <a:srcRect b="15995" l="0" r="0" t="0"/>
          <a:stretch/>
        </p:blipFill>
        <p:spPr>
          <a:xfrm>
            <a:off x="4038100" y="4591150"/>
            <a:ext cx="5971149" cy="16158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-excitation syndromes • LITFL • ECG Library Diagnosis" id="359" name="Google Shape;359;p31"/>
          <p:cNvPicPr preferRelativeResize="0"/>
          <p:nvPr/>
        </p:nvPicPr>
        <p:blipFill rotWithShape="1">
          <a:blip r:embed="rId6">
            <a:alphaModFix/>
          </a:blip>
          <a:srcRect b="0" l="0" r="0" t="40"/>
          <a:stretch/>
        </p:blipFill>
        <p:spPr>
          <a:xfrm>
            <a:off x="7663164" y="2254400"/>
            <a:ext cx="3638876" cy="2496679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1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| [1] </a:t>
            </a:r>
            <a:r>
              <a:rPr b="1"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Proceso de estandarización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8589" r="8589" t="0"/>
          <a:stretch/>
        </p:blipFill>
        <p:spPr>
          <a:xfrm>
            <a:off x="1602837" y="507500"/>
            <a:ext cx="9346337" cy="6350499"/>
          </a:xfrm>
          <a:prstGeom prst="rect">
            <a:avLst/>
          </a:prstGeom>
        </p:spPr>
      </p:pic>
      <p:sp>
        <p:nvSpPr>
          <p:cNvPr id="366" name="Google Shape;366;p32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67" name="Google Shape;367;p32"/>
          <p:cNvSpPr txBox="1"/>
          <p:nvPr>
            <p:ph type="title"/>
          </p:nvPr>
        </p:nvSpPr>
        <p:spPr>
          <a:xfrm>
            <a:off x="215321" y="664800"/>
            <a:ext cx="4286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➔"/>
            </a:pPr>
            <a:r>
              <a:rPr lang="en"/>
              <a:t>Estructurando datos a gran escala</a:t>
            </a:r>
            <a:endParaRPr sz="2000">
              <a:solidFill>
                <a:srgbClr val="9FB1FF"/>
              </a:solidFill>
            </a:endParaRPr>
          </a:p>
        </p:txBody>
      </p:sp>
      <p:sp>
        <p:nvSpPr>
          <p:cNvPr id="368" name="Google Shape;368;p32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| [1] </a:t>
            </a:r>
            <a:r>
              <a:rPr b="1"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Proceso de estandarización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3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74" name="Google Shape;374;p33"/>
          <p:cNvSpPr/>
          <p:nvPr/>
        </p:nvSpPr>
        <p:spPr>
          <a:xfrm>
            <a:off x="3476782" y="4433325"/>
            <a:ext cx="1848300" cy="88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375" name="Google Shape;375;p33"/>
          <p:cNvGrpSpPr/>
          <p:nvPr/>
        </p:nvGrpSpPr>
        <p:grpSpPr>
          <a:xfrm>
            <a:off x="2331969" y="1893510"/>
            <a:ext cx="7528083" cy="4093986"/>
            <a:chOff x="1388950" y="1440000"/>
            <a:chExt cx="8729224" cy="4747201"/>
          </a:xfrm>
        </p:grpSpPr>
        <p:pic>
          <p:nvPicPr>
            <p:cNvPr id="376" name="Google Shape;376;p33"/>
            <p:cNvPicPr preferRelativeResize="0"/>
            <p:nvPr/>
          </p:nvPicPr>
          <p:blipFill rotWithShape="1">
            <a:blip r:embed="rId3">
              <a:alphaModFix/>
            </a:blip>
            <a:srcRect b="2607" l="0" r="0" t="494"/>
            <a:stretch/>
          </p:blipFill>
          <p:spPr>
            <a:xfrm>
              <a:off x="1388950" y="1440000"/>
              <a:ext cx="8729224" cy="474720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BFBFBF">
                  <a:alpha val="50000"/>
                </a:srgbClr>
              </a:outerShdw>
            </a:effectLst>
          </p:spPr>
        </p:pic>
        <p:pic>
          <p:nvPicPr>
            <p:cNvPr id="377" name="Google Shape;377;p33"/>
            <p:cNvPicPr preferRelativeResize="0"/>
            <p:nvPr/>
          </p:nvPicPr>
          <p:blipFill rotWithShape="1">
            <a:blip r:embed="rId4">
              <a:alphaModFix/>
            </a:blip>
            <a:srcRect b="43544" l="29175" r="26606" t="14911"/>
            <a:stretch/>
          </p:blipFill>
          <p:spPr>
            <a:xfrm>
              <a:off x="1871250" y="4022200"/>
              <a:ext cx="3276649" cy="19098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8" name="Google Shape;378;p33"/>
          <p:cNvSpPr/>
          <p:nvPr/>
        </p:nvSpPr>
        <p:spPr>
          <a:xfrm>
            <a:off x="2656975" y="4236150"/>
            <a:ext cx="3371400" cy="17514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3"/>
          <p:cNvSpPr/>
          <p:nvPr/>
        </p:nvSpPr>
        <p:spPr>
          <a:xfrm>
            <a:off x="6178725" y="4236125"/>
            <a:ext cx="3521700" cy="17514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3"/>
          <p:cNvSpPr txBox="1"/>
          <p:nvPr/>
        </p:nvSpPr>
        <p:spPr>
          <a:xfrm>
            <a:off x="6731183" y="5987497"/>
            <a:ext cx="2416800" cy="52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40F4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CLINICAL NOTES </a:t>
            </a:r>
            <a:endParaRPr sz="1200">
              <a:solidFill>
                <a:srgbClr val="040F4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80% of the patient information</a:t>
            </a:r>
            <a:endParaRPr sz="1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1" name="Google Shape;381;p33"/>
          <p:cNvSpPr txBox="1"/>
          <p:nvPr/>
        </p:nvSpPr>
        <p:spPr>
          <a:xfrm>
            <a:off x="3134283" y="5987497"/>
            <a:ext cx="2416800" cy="52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STRUCTURED DATA </a:t>
            </a:r>
            <a:endParaRPr sz="12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20% of the patient information</a:t>
            </a:r>
            <a:endParaRPr sz="10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2" name="Google Shape;382;p33"/>
          <p:cNvSpPr txBox="1"/>
          <p:nvPr>
            <p:ph type="title"/>
          </p:nvPr>
        </p:nvSpPr>
        <p:spPr>
          <a:xfrm>
            <a:off x="215316" y="664800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➔"/>
            </a:pPr>
            <a:r>
              <a:rPr lang="en"/>
              <a:t>Estructurando datos a gran escala</a:t>
            </a:r>
            <a:endParaRPr sz="2000">
              <a:solidFill>
                <a:srgbClr val="9FB1FF"/>
              </a:solidFill>
            </a:endParaRPr>
          </a:p>
        </p:txBody>
      </p:sp>
      <p:sp>
        <p:nvSpPr>
          <p:cNvPr id="383" name="Google Shape;383;p33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| [1] </a:t>
            </a:r>
            <a:r>
              <a:rPr b="1"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Proceso de estandarización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4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89" name="Google Shape;389;p34"/>
          <p:cNvSpPr/>
          <p:nvPr/>
        </p:nvSpPr>
        <p:spPr>
          <a:xfrm>
            <a:off x="3476782" y="4433325"/>
            <a:ext cx="1848300" cy="88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390" name="Google Shape;390;p34"/>
          <p:cNvGrpSpPr/>
          <p:nvPr/>
        </p:nvGrpSpPr>
        <p:grpSpPr>
          <a:xfrm>
            <a:off x="2331975" y="1692699"/>
            <a:ext cx="7528076" cy="2761300"/>
            <a:chOff x="1388957" y="2985326"/>
            <a:chExt cx="8729216" cy="3201879"/>
          </a:xfrm>
        </p:grpSpPr>
        <p:pic>
          <p:nvPicPr>
            <p:cNvPr id="391" name="Google Shape;391;p34"/>
            <p:cNvPicPr preferRelativeResize="0"/>
            <p:nvPr/>
          </p:nvPicPr>
          <p:blipFill rotWithShape="1">
            <a:blip r:embed="rId3">
              <a:alphaModFix/>
            </a:blip>
            <a:srcRect b="2608" l="0" r="0" t="32037"/>
            <a:stretch/>
          </p:blipFill>
          <p:spPr>
            <a:xfrm>
              <a:off x="1388957" y="2985326"/>
              <a:ext cx="8729216" cy="3201879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BFBFBF">
                  <a:alpha val="50000"/>
                </a:srgbClr>
              </a:outerShdw>
            </a:effectLst>
          </p:spPr>
        </p:pic>
        <p:pic>
          <p:nvPicPr>
            <p:cNvPr id="392" name="Google Shape;392;p34"/>
            <p:cNvPicPr preferRelativeResize="0"/>
            <p:nvPr/>
          </p:nvPicPr>
          <p:blipFill rotWithShape="1">
            <a:blip r:embed="rId4">
              <a:alphaModFix/>
            </a:blip>
            <a:srcRect b="43544" l="29175" r="26606" t="14911"/>
            <a:stretch/>
          </p:blipFill>
          <p:spPr>
            <a:xfrm>
              <a:off x="1871250" y="4022200"/>
              <a:ext cx="3276649" cy="19098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3" name="Google Shape;393;p34"/>
          <p:cNvSpPr/>
          <p:nvPr/>
        </p:nvSpPr>
        <p:spPr>
          <a:xfrm>
            <a:off x="2656975" y="2702650"/>
            <a:ext cx="3371400" cy="17514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4"/>
          <p:cNvSpPr/>
          <p:nvPr/>
        </p:nvSpPr>
        <p:spPr>
          <a:xfrm>
            <a:off x="6178725" y="2702625"/>
            <a:ext cx="3521700" cy="17514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4"/>
          <p:cNvSpPr txBox="1"/>
          <p:nvPr/>
        </p:nvSpPr>
        <p:spPr>
          <a:xfrm>
            <a:off x="6731183" y="4453997"/>
            <a:ext cx="2416800" cy="52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40F4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CLINICAL NOTES </a:t>
            </a:r>
            <a:endParaRPr sz="1200">
              <a:solidFill>
                <a:srgbClr val="040F4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80% of the patient information</a:t>
            </a:r>
            <a:endParaRPr sz="1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96" name="Google Shape;396;p34"/>
          <p:cNvSpPr txBox="1"/>
          <p:nvPr/>
        </p:nvSpPr>
        <p:spPr>
          <a:xfrm>
            <a:off x="3134283" y="4453997"/>
            <a:ext cx="2416800" cy="52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STRUCTURED DATA </a:t>
            </a:r>
            <a:endParaRPr sz="12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20% of the patient information</a:t>
            </a:r>
            <a:endParaRPr sz="10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397" name="Google Shape;397;p34"/>
          <p:cNvGraphicFramePr/>
          <p:nvPr/>
        </p:nvGraphicFramePr>
        <p:xfrm>
          <a:off x="6275988" y="51095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{0C5C600E-CDB9-408A-A5F3-D8A6F270D939}</a:tableStyleId>
              </a:tblPr>
              <a:tblGrid>
                <a:gridCol w="479275"/>
                <a:gridCol w="699350"/>
                <a:gridCol w="733475"/>
                <a:gridCol w="3260225"/>
                <a:gridCol w="383675"/>
              </a:tblGrid>
              <a:tr h="152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noteID</a:t>
                      </a:r>
                      <a:endParaRPr b="1" sz="10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person_id</a:t>
                      </a:r>
                      <a:endParaRPr b="1" sz="10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date</a:t>
                      </a:r>
                      <a:endParaRPr b="1" sz="10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value</a:t>
                      </a:r>
                      <a:endParaRPr b="1" sz="10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visit</a:t>
                      </a:r>
                      <a:endParaRPr b="1" sz="10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</a:tr>
              <a:tr h="761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243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2021-10-12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follow up, 02-17-2015 usual f/up Follow-Up: Consultation on pian left arm since yesterday.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Thi smorning pain persists.  Had similar pain whn had AMI.  Has taken nitrostat without improvement. Request of ECG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FC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367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8" name="Google Shape;398;p34"/>
          <p:cNvGraphicFramePr/>
          <p:nvPr/>
        </p:nvGraphicFramePr>
        <p:xfrm>
          <a:off x="360000" y="51095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{0C5C600E-CDB9-408A-A5F3-D8A6F270D939}</a:tableStyleId>
              </a:tblPr>
              <a:tblGrid>
                <a:gridCol w="569350"/>
                <a:gridCol w="847075"/>
                <a:gridCol w="968450"/>
                <a:gridCol w="1022750"/>
                <a:gridCol w="832900"/>
                <a:gridCol w="746100"/>
                <a:gridCol w="5693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ID</a:t>
                      </a:r>
                      <a:endParaRPr b="1" sz="10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patient_id</a:t>
                      </a:r>
                      <a:endParaRPr b="1" sz="10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data_id</a:t>
                      </a:r>
                      <a:endParaRPr b="1" sz="10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453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date</a:t>
                      </a:r>
                      <a:endParaRPr b="1" sz="10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value</a:t>
                      </a:r>
                      <a:endParaRPr b="1" sz="10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unit</a:t>
                      </a:r>
                      <a:endParaRPr b="1" sz="10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visit</a:t>
                      </a:r>
                      <a:endParaRPr b="1" sz="10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</a:tr>
              <a:tr h="380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643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243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weight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2021-10-12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190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lbs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367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0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2891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243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weight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2021-11-21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170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lbs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458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9" name="Google Shape;399;p34"/>
          <p:cNvSpPr txBox="1"/>
          <p:nvPr/>
        </p:nvSpPr>
        <p:spPr>
          <a:xfrm>
            <a:off x="6276000" y="6183900"/>
            <a:ext cx="5556000" cy="314100"/>
          </a:xfrm>
          <a:prstGeom prst="rect">
            <a:avLst/>
          </a:prstGeom>
          <a:solidFill>
            <a:srgbClr val="040F40"/>
          </a:solidFill>
          <a:ln cap="flat" cmpd="sng" w="9525">
            <a:solidFill>
              <a:srgbClr val="9FB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stored in free-text format</a:t>
            </a:r>
            <a:endParaRPr sz="16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00" name="Google Shape;400;p34"/>
          <p:cNvSpPr txBox="1"/>
          <p:nvPr/>
        </p:nvSpPr>
        <p:spPr>
          <a:xfrm>
            <a:off x="359950" y="6183900"/>
            <a:ext cx="5556000" cy="314100"/>
          </a:xfrm>
          <a:prstGeom prst="rect">
            <a:avLst/>
          </a:prstGeom>
          <a:solidFill>
            <a:srgbClr val="040F40"/>
          </a:solidFill>
          <a:ln cap="flat" cmpd="sng" w="9525">
            <a:solidFill>
              <a:srgbClr val="9FB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Non-standard codification</a:t>
            </a:r>
            <a:endParaRPr sz="16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01" name="Google Shape;401;p34"/>
          <p:cNvSpPr/>
          <p:nvPr/>
        </p:nvSpPr>
        <p:spPr>
          <a:xfrm>
            <a:off x="1950975" y="666875"/>
            <a:ext cx="8247900" cy="2055000"/>
          </a:xfrm>
          <a:prstGeom prst="rect">
            <a:avLst/>
          </a:prstGeom>
          <a:gradFill>
            <a:gsLst>
              <a:gs pos="0">
                <a:schemeClr val="lt1"/>
              </a:gs>
              <a:gs pos="50000">
                <a:schemeClr val="lt1"/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02" name="Google Shape;402;p34"/>
          <p:cNvCxnSpPr/>
          <p:nvPr/>
        </p:nvCxnSpPr>
        <p:spPr>
          <a:xfrm rot="5400000">
            <a:off x="2557675" y="4532898"/>
            <a:ext cx="393900" cy="759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diamond"/>
            <a:tailEnd len="med" w="med" type="stealth"/>
          </a:ln>
        </p:spPr>
      </p:cxnSp>
      <p:cxnSp>
        <p:nvCxnSpPr>
          <p:cNvPr id="403" name="Google Shape;403;p34"/>
          <p:cNvCxnSpPr/>
          <p:nvPr/>
        </p:nvCxnSpPr>
        <p:spPr>
          <a:xfrm flipH="1" rot="-5400000">
            <a:off x="9330975" y="4532598"/>
            <a:ext cx="393900" cy="7599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med" w="med" type="diamond"/>
            <a:tailEnd len="med" w="med" type="stealth"/>
          </a:ln>
        </p:spPr>
      </p:cxnSp>
      <p:sp>
        <p:nvSpPr>
          <p:cNvPr id="404" name="Google Shape;404;p34"/>
          <p:cNvSpPr txBox="1"/>
          <p:nvPr>
            <p:ph type="title"/>
          </p:nvPr>
        </p:nvSpPr>
        <p:spPr>
          <a:xfrm>
            <a:off x="215316" y="664800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➔"/>
            </a:pPr>
            <a:r>
              <a:rPr lang="en"/>
              <a:t>Estructurando datos a gran escala</a:t>
            </a:r>
            <a:endParaRPr sz="2000">
              <a:solidFill>
                <a:srgbClr val="9FB1FF"/>
              </a:solidFill>
            </a:endParaRPr>
          </a:p>
        </p:txBody>
      </p:sp>
      <p:sp>
        <p:nvSpPr>
          <p:cNvPr id="405" name="Google Shape;405;p34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| [1] </a:t>
            </a:r>
            <a:r>
              <a:rPr b="1"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Proceso de estandarización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5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411" name="Google Shape;411;p35"/>
          <p:cNvSpPr/>
          <p:nvPr/>
        </p:nvSpPr>
        <p:spPr>
          <a:xfrm>
            <a:off x="3476782" y="4433325"/>
            <a:ext cx="1848300" cy="88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412" name="Google Shape;412;p35"/>
          <p:cNvGrpSpPr/>
          <p:nvPr/>
        </p:nvGrpSpPr>
        <p:grpSpPr>
          <a:xfrm>
            <a:off x="2331975" y="1320799"/>
            <a:ext cx="7528076" cy="3133200"/>
            <a:chOff x="1388957" y="2554088"/>
            <a:chExt cx="8729216" cy="3633116"/>
          </a:xfrm>
        </p:grpSpPr>
        <p:pic>
          <p:nvPicPr>
            <p:cNvPr id="413" name="Google Shape;413;p35"/>
            <p:cNvPicPr preferRelativeResize="0"/>
            <p:nvPr/>
          </p:nvPicPr>
          <p:blipFill rotWithShape="1">
            <a:blip r:embed="rId3">
              <a:alphaModFix/>
            </a:blip>
            <a:srcRect b="2610" l="0" r="0" t="23233"/>
            <a:stretch/>
          </p:blipFill>
          <p:spPr>
            <a:xfrm>
              <a:off x="1388957" y="2554088"/>
              <a:ext cx="8729216" cy="363311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BFBFBF">
                  <a:alpha val="50000"/>
                </a:srgbClr>
              </a:outerShdw>
            </a:effectLst>
          </p:spPr>
        </p:pic>
        <p:pic>
          <p:nvPicPr>
            <p:cNvPr id="414" name="Google Shape;414;p35"/>
            <p:cNvPicPr preferRelativeResize="0"/>
            <p:nvPr/>
          </p:nvPicPr>
          <p:blipFill rotWithShape="1">
            <a:blip r:embed="rId4">
              <a:alphaModFix/>
            </a:blip>
            <a:srcRect b="43544" l="29175" r="26606" t="14911"/>
            <a:stretch/>
          </p:blipFill>
          <p:spPr>
            <a:xfrm>
              <a:off x="1871250" y="4022200"/>
              <a:ext cx="3276649" cy="19098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5" name="Google Shape;415;p35"/>
          <p:cNvSpPr/>
          <p:nvPr/>
        </p:nvSpPr>
        <p:spPr>
          <a:xfrm>
            <a:off x="2656975" y="2702650"/>
            <a:ext cx="3371400" cy="17514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5"/>
          <p:cNvSpPr/>
          <p:nvPr/>
        </p:nvSpPr>
        <p:spPr>
          <a:xfrm>
            <a:off x="6178725" y="2702625"/>
            <a:ext cx="3521700" cy="17514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5"/>
          <p:cNvSpPr txBox="1"/>
          <p:nvPr/>
        </p:nvSpPr>
        <p:spPr>
          <a:xfrm>
            <a:off x="9234000" y="6211650"/>
            <a:ext cx="2598000" cy="258600"/>
          </a:xfrm>
          <a:prstGeom prst="rect">
            <a:avLst/>
          </a:prstGeom>
          <a:solidFill>
            <a:srgbClr val="040F40"/>
          </a:solidFill>
          <a:ln cap="flat" cmpd="sng" w="9525">
            <a:solidFill>
              <a:srgbClr val="9FB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OMOP CDM Condition Occurrence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18" name="Google Shape;418;p35"/>
          <p:cNvSpPr txBox="1"/>
          <p:nvPr/>
        </p:nvSpPr>
        <p:spPr>
          <a:xfrm>
            <a:off x="3318000" y="6211650"/>
            <a:ext cx="2598000" cy="258600"/>
          </a:xfrm>
          <a:prstGeom prst="rect">
            <a:avLst/>
          </a:prstGeom>
          <a:solidFill>
            <a:srgbClr val="040F40"/>
          </a:solidFill>
          <a:ln cap="flat" cmpd="sng" w="9525">
            <a:solidFill>
              <a:srgbClr val="9FB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OMOP CDM Measurement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19" name="Google Shape;419;p35"/>
          <p:cNvSpPr/>
          <p:nvPr/>
        </p:nvSpPr>
        <p:spPr>
          <a:xfrm>
            <a:off x="1972000" y="1028700"/>
            <a:ext cx="8247900" cy="1674000"/>
          </a:xfrm>
          <a:prstGeom prst="rect">
            <a:avLst/>
          </a:prstGeom>
          <a:gradFill>
            <a:gsLst>
              <a:gs pos="0">
                <a:schemeClr val="lt1"/>
              </a:gs>
              <a:gs pos="50000">
                <a:schemeClr val="lt1"/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420" name="Google Shape;420;p35"/>
          <p:cNvGraphicFramePr/>
          <p:nvPr/>
        </p:nvGraphicFramePr>
        <p:xfrm>
          <a:off x="360000" y="5109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{0C5C600E-CDB9-408A-A5F3-D8A6F270D939}</a:tableStyleId>
              </a:tblPr>
              <a:tblGrid>
                <a:gridCol w="359650"/>
                <a:gridCol w="723725"/>
                <a:gridCol w="1793700"/>
                <a:gridCol w="1268225"/>
                <a:gridCol w="1142300"/>
                <a:gridCol w="212075"/>
              </a:tblGrid>
              <a:tr h="237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…</a:t>
                      </a:r>
                      <a:endParaRPr b="1" sz="1000">
                        <a:solidFill>
                          <a:srgbClr val="040F4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person_id</a:t>
                      </a:r>
                      <a:endParaRPr b="1" sz="1000">
                        <a:solidFill>
                          <a:srgbClr val="040F4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measurement_concept_id</a:t>
                      </a:r>
                      <a:endParaRPr b="1"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453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measurement</a:t>
                      </a: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_date</a:t>
                      </a:r>
                      <a:endParaRPr b="1" sz="1000">
                        <a:solidFill>
                          <a:srgbClr val="040F4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value_as_number</a:t>
                      </a:r>
                      <a:endParaRPr b="1" sz="1000">
                        <a:solidFill>
                          <a:srgbClr val="040F4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…</a:t>
                      </a:r>
                      <a:endParaRPr b="1" sz="1000">
                        <a:solidFill>
                          <a:srgbClr val="040F4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</a:tr>
              <a:tr h="302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…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243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3025315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2021-10-12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86.18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…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1" name="Google Shape;421;p35"/>
          <p:cNvGraphicFramePr/>
          <p:nvPr/>
        </p:nvGraphicFramePr>
        <p:xfrm>
          <a:off x="6275964" y="51104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{0C5C600E-CDB9-408A-A5F3-D8A6F270D939}</a:tableStyleId>
              </a:tblPr>
              <a:tblGrid>
                <a:gridCol w="337150"/>
                <a:gridCol w="987300"/>
                <a:gridCol w="1126575"/>
                <a:gridCol w="1249800"/>
                <a:gridCol w="1386500"/>
                <a:gridCol w="468700"/>
              </a:tblGrid>
              <a:tr h="185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...</a:t>
                      </a:r>
                      <a:endParaRPr b="1" sz="1000">
                        <a:solidFill>
                          <a:srgbClr val="040F4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person_id</a:t>
                      </a:r>
                      <a:endParaRPr b="1" sz="1000">
                        <a:solidFill>
                          <a:srgbClr val="040F4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condition</a:t>
                      </a: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_</a:t>
                      </a:r>
                      <a:b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</a:b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concept_id</a:t>
                      </a:r>
                      <a:endParaRPr b="1" sz="1000">
                        <a:solidFill>
                          <a:srgbClr val="040F4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condition_date</a:t>
                      </a:r>
                      <a:endParaRPr b="1" sz="1000">
                        <a:solidFill>
                          <a:srgbClr val="040F4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visit_occurrence_id</a:t>
                      </a:r>
                      <a:endParaRPr b="1" sz="1000">
                        <a:solidFill>
                          <a:srgbClr val="040F4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…</a:t>
                      </a:r>
                      <a:endParaRPr b="1" sz="1000">
                        <a:solidFill>
                          <a:srgbClr val="040F4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</a:tr>
              <a:tr h="235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243</a:t>
                      </a:r>
                      <a:endParaRPr sz="1000"/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4115169</a:t>
                      </a:r>
                      <a:endParaRPr sz="1000"/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FC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2021-10-12</a:t>
                      </a:r>
                      <a:endParaRPr sz="1000"/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896</a:t>
                      </a:r>
                      <a:endParaRPr sz="1000"/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2" name="Google Shape;422;p35"/>
          <p:cNvSpPr txBox="1"/>
          <p:nvPr/>
        </p:nvSpPr>
        <p:spPr>
          <a:xfrm>
            <a:off x="1443375" y="6183900"/>
            <a:ext cx="1577700" cy="314100"/>
          </a:xfrm>
          <a:prstGeom prst="rect">
            <a:avLst/>
          </a:prstGeom>
          <a:noFill/>
          <a:ln cap="flat" cmpd="sng" w="9525">
            <a:solidFill>
              <a:srgbClr val="9FB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IBM Plex Sans"/>
                <a:ea typeface="IBM Plex Sans"/>
                <a:cs typeface="IBM Plex Sans"/>
                <a:sym typeface="IBM Plex Sans"/>
              </a:rPr>
              <a:t>Weight</a:t>
            </a:r>
            <a:endParaRPr sz="1600">
              <a:solidFill>
                <a:schemeClr val="accent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23" name="Google Shape;423;p35"/>
          <p:cNvSpPr txBox="1"/>
          <p:nvPr/>
        </p:nvSpPr>
        <p:spPr>
          <a:xfrm>
            <a:off x="6613125" y="6183900"/>
            <a:ext cx="2150100" cy="314100"/>
          </a:xfrm>
          <a:prstGeom prst="rect">
            <a:avLst/>
          </a:prstGeom>
          <a:noFill/>
          <a:ln cap="flat" cmpd="sng" w="9525">
            <a:solidFill>
              <a:srgbClr val="9FB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B7940"/>
                </a:solidFill>
                <a:latin typeface="IBM Plex Sans"/>
                <a:ea typeface="IBM Plex Sans"/>
                <a:cs typeface="IBM Plex Sans"/>
                <a:sym typeface="IBM Plex Sans"/>
              </a:rPr>
              <a:t>Pain in the left arm</a:t>
            </a:r>
            <a:endParaRPr sz="1600">
              <a:solidFill>
                <a:srgbClr val="0B79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24" name="Google Shape;424;p35"/>
          <p:cNvSpPr txBox="1"/>
          <p:nvPr/>
        </p:nvSpPr>
        <p:spPr>
          <a:xfrm>
            <a:off x="6731183" y="2179497"/>
            <a:ext cx="2416800" cy="52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40F4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CLINICAL NOTES </a:t>
            </a:r>
            <a:endParaRPr sz="1200">
              <a:solidFill>
                <a:srgbClr val="040F4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80% of the patient information</a:t>
            </a:r>
            <a:endParaRPr sz="1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25" name="Google Shape;425;p35"/>
          <p:cNvSpPr txBox="1"/>
          <p:nvPr/>
        </p:nvSpPr>
        <p:spPr>
          <a:xfrm>
            <a:off x="3134283" y="2179497"/>
            <a:ext cx="2416800" cy="52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STRUCTURED DATA </a:t>
            </a:r>
            <a:endParaRPr sz="12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20% of the patient information</a:t>
            </a:r>
            <a:endParaRPr sz="10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26" name="Google Shape;426;p35"/>
          <p:cNvCxnSpPr>
            <a:stCxn id="422" idx="0"/>
          </p:cNvCxnSpPr>
          <p:nvPr/>
        </p:nvCxnSpPr>
        <p:spPr>
          <a:xfrm rot="10800000">
            <a:off x="2232225" y="5740200"/>
            <a:ext cx="0" cy="4437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stealth"/>
            <a:tailEnd len="med" w="med" type="diamond"/>
          </a:ln>
        </p:spPr>
      </p:cxnSp>
      <p:cxnSp>
        <p:nvCxnSpPr>
          <p:cNvPr id="427" name="Google Shape;427;p35"/>
          <p:cNvCxnSpPr>
            <a:stCxn id="422" idx="3"/>
            <a:endCxn id="418" idx="1"/>
          </p:cNvCxnSpPr>
          <p:nvPr/>
        </p:nvCxnSpPr>
        <p:spPr>
          <a:xfrm>
            <a:off x="3021075" y="6340950"/>
            <a:ext cx="2970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diamond"/>
            <a:tailEnd len="med" w="med" type="stealth"/>
          </a:ln>
        </p:spPr>
      </p:cxnSp>
      <p:cxnSp>
        <p:nvCxnSpPr>
          <p:cNvPr id="428" name="Google Shape;428;p35"/>
          <p:cNvCxnSpPr>
            <a:stCxn id="423" idx="3"/>
            <a:endCxn id="417" idx="1"/>
          </p:cNvCxnSpPr>
          <p:nvPr/>
        </p:nvCxnSpPr>
        <p:spPr>
          <a:xfrm>
            <a:off x="8763225" y="6340950"/>
            <a:ext cx="4707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diamond"/>
            <a:tailEnd len="med" w="med" type="stealth"/>
          </a:ln>
        </p:spPr>
      </p:cxnSp>
      <p:cxnSp>
        <p:nvCxnSpPr>
          <p:cNvPr id="429" name="Google Shape;429;p35"/>
          <p:cNvCxnSpPr>
            <a:stCxn id="423" idx="0"/>
          </p:cNvCxnSpPr>
          <p:nvPr/>
        </p:nvCxnSpPr>
        <p:spPr>
          <a:xfrm rot="10800000">
            <a:off x="7688175" y="5702400"/>
            <a:ext cx="0" cy="481500"/>
          </a:xfrm>
          <a:prstGeom prst="straightConnector1">
            <a:avLst/>
          </a:prstGeom>
          <a:noFill/>
          <a:ln cap="flat" cmpd="sng" w="9525">
            <a:solidFill>
              <a:srgbClr val="0B7940"/>
            </a:solidFill>
            <a:prstDash val="dash"/>
            <a:round/>
            <a:headEnd len="med" w="med" type="stealth"/>
            <a:tailEnd len="med" w="med" type="diamond"/>
          </a:ln>
        </p:spPr>
      </p:cxnSp>
      <p:sp>
        <p:nvSpPr>
          <p:cNvPr id="430" name="Google Shape;430;p35"/>
          <p:cNvSpPr txBox="1"/>
          <p:nvPr>
            <p:ph type="title"/>
          </p:nvPr>
        </p:nvSpPr>
        <p:spPr>
          <a:xfrm>
            <a:off x="215316" y="664800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➔"/>
            </a:pPr>
            <a:r>
              <a:rPr lang="en"/>
              <a:t>Estructurando datos a gran escala</a:t>
            </a:r>
            <a:endParaRPr sz="2000">
              <a:solidFill>
                <a:srgbClr val="9FB1FF"/>
              </a:solidFill>
            </a:endParaRPr>
          </a:p>
        </p:txBody>
      </p:sp>
      <p:sp>
        <p:nvSpPr>
          <p:cNvPr id="431" name="Google Shape;431;p35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| [1] </a:t>
            </a:r>
            <a:r>
              <a:rPr b="1"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Proceso de estandarización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6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graphicFrame>
        <p:nvGraphicFramePr>
          <p:cNvPr id="437" name="Google Shape;437;p36"/>
          <p:cNvGraphicFramePr/>
          <p:nvPr/>
        </p:nvGraphicFramePr>
        <p:xfrm>
          <a:off x="6276050" y="5198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{0C5C600E-CDB9-408A-A5F3-D8A6F270D939}</a:tableStyleId>
              </a:tblPr>
              <a:tblGrid>
                <a:gridCol w="363325"/>
                <a:gridCol w="731125"/>
                <a:gridCol w="1593950"/>
                <a:gridCol w="1470150"/>
                <a:gridCol w="1116800"/>
                <a:gridCol w="280600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…</a:t>
                      </a:r>
                      <a:endParaRPr b="1" sz="1000">
                        <a:solidFill>
                          <a:srgbClr val="040F4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person_id</a:t>
                      </a:r>
                      <a:endParaRPr b="1" sz="1000">
                        <a:solidFill>
                          <a:srgbClr val="040F4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measurement_concept_id</a:t>
                      </a:r>
                      <a:endParaRPr b="1" sz="10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453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measurement</a:t>
                      </a:r>
                      <a:r>
                        <a:rPr b="1" lang="en" sz="1000">
                          <a:solidFill>
                            <a:schemeClr val="dk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_date</a:t>
                      </a:r>
                      <a:endParaRPr b="1" sz="1000">
                        <a:solidFill>
                          <a:srgbClr val="040F4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value_as_number</a:t>
                      </a:r>
                      <a:endParaRPr b="1" sz="1000">
                        <a:solidFill>
                          <a:srgbClr val="040F4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…</a:t>
                      </a:r>
                      <a:endParaRPr b="1" sz="1000">
                        <a:solidFill>
                          <a:srgbClr val="040F4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</a:tr>
              <a:tr h="480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…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243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3025315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2021-10-12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86.18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…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8" name="Google Shape;438;p36"/>
          <p:cNvSpPr txBox="1"/>
          <p:nvPr/>
        </p:nvSpPr>
        <p:spPr>
          <a:xfrm>
            <a:off x="6845400" y="3968694"/>
            <a:ext cx="2598000" cy="406200"/>
          </a:xfrm>
          <a:prstGeom prst="rect">
            <a:avLst/>
          </a:prstGeom>
          <a:noFill/>
          <a:ln cap="flat" cmpd="sng" w="9525">
            <a:solidFill>
              <a:srgbClr val="9FB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200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Automapping model</a:t>
            </a:r>
            <a:endParaRPr sz="1600">
              <a:solidFill>
                <a:schemeClr val="accent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39" name="Google Shape;439;p36"/>
          <p:cNvCxnSpPr>
            <a:stCxn id="438" idx="0"/>
          </p:cNvCxnSpPr>
          <p:nvPr/>
        </p:nvCxnSpPr>
        <p:spPr>
          <a:xfrm rot="10800000">
            <a:off x="8144400" y="3098394"/>
            <a:ext cx="0" cy="8703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stealth"/>
            <a:tailEnd len="med" w="med" type="diamond"/>
          </a:ln>
        </p:spPr>
      </p:cxnSp>
      <p:graphicFrame>
        <p:nvGraphicFramePr>
          <p:cNvPr id="440" name="Google Shape;440;p36"/>
          <p:cNvGraphicFramePr/>
          <p:nvPr/>
        </p:nvGraphicFramePr>
        <p:xfrm>
          <a:off x="6276050" y="21299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{0C5C600E-CDB9-408A-A5F3-D8A6F270D939}</a:tableStyleId>
              </a:tblPr>
              <a:tblGrid>
                <a:gridCol w="569350"/>
                <a:gridCol w="847075"/>
                <a:gridCol w="968450"/>
                <a:gridCol w="1022750"/>
                <a:gridCol w="832900"/>
                <a:gridCol w="746100"/>
                <a:gridCol w="5693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ID</a:t>
                      </a:r>
                      <a:endParaRPr b="1" sz="10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patient_id</a:t>
                      </a:r>
                      <a:endParaRPr b="1" sz="10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data_id</a:t>
                      </a:r>
                      <a:endParaRPr b="1" sz="10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453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date</a:t>
                      </a:r>
                      <a:endParaRPr b="1" sz="10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value</a:t>
                      </a:r>
                      <a:endParaRPr b="1" sz="10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unit</a:t>
                      </a:r>
                      <a:endParaRPr b="1" sz="10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visit</a:t>
                      </a:r>
                      <a:endParaRPr b="1" sz="10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</a:tr>
              <a:tr h="380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643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243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weight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2021-10-12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190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lbs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367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0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2891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243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weight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2021-11-21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170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lbs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458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1" name="Google Shape;441;p36"/>
          <p:cNvSpPr txBox="1"/>
          <p:nvPr/>
        </p:nvSpPr>
        <p:spPr>
          <a:xfrm>
            <a:off x="6276000" y="1739688"/>
            <a:ext cx="5556000" cy="314100"/>
          </a:xfrm>
          <a:prstGeom prst="rect">
            <a:avLst/>
          </a:prstGeom>
          <a:solidFill>
            <a:srgbClr val="040F40"/>
          </a:solidFill>
          <a:ln cap="flat" cmpd="sng" w="9525">
            <a:solidFill>
              <a:srgbClr val="9FB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Non-standard codification</a:t>
            </a:r>
            <a:endParaRPr sz="16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42" name="Google Shape;442;p36"/>
          <p:cNvCxnSpPr>
            <a:endCxn id="438" idx="2"/>
          </p:cNvCxnSpPr>
          <p:nvPr/>
        </p:nvCxnSpPr>
        <p:spPr>
          <a:xfrm rot="10800000">
            <a:off x="8144400" y="4374894"/>
            <a:ext cx="0" cy="7458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stealth"/>
            <a:tailEnd len="med" w="med" type="diamond"/>
          </a:ln>
        </p:spPr>
      </p:cxnSp>
      <p:sp>
        <p:nvSpPr>
          <p:cNvPr id="443" name="Google Shape;443;p36"/>
          <p:cNvSpPr txBox="1"/>
          <p:nvPr/>
        </p:nvSpPr>
        <p:spPr>
          <a:xfrm>
            <a:off x="6276000" y="5907888"/>
            <a:ext cx="5556000" cy="314100"/>
          </a:xfrm>
          <a:prstGeom prst="rect">
            <a:avLst/>
          </a:prstGeom>
          <a:solidFill>
            <a:srgbClr val="040F40"/>
          </a:solidFill>
          <a:ln cap="flat" cmpd="sng" w="9525">
            <a:solidFill>
              <a:srgbClr val="9FB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OMOP CDM Measurement</a:t>
            </a:r>
            <a:endParaRPr sz="16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9b6eff&quot;&gt;&lt;path d=&quot;m370-80-16-128q-13-5-24.5-12T307-235l-119 50L78-375l103-78q-1-7-1-13.5v-27q0-6.5 1-13.5L78-585l110-190 119 50q11-8 23-15t24-12l16-128h220l16 128q13 5 24.5 12t22.5 15l119-50 110 190-103 78q1 7 1 13.5v27q0 6.5-2 13.5l103 78-110 190-118-50q-11 8-23 15t-24 12L590-80H370Zm70-80h79l14-106q31-8 57.5-23.5T639-327l99 41 39-68-86-65q5-14 7-29.5t2-31.5q0-16-2-31.5t-7-29.5l86-65-39-68-99 42q-22-23-48.5-38.5T533-694l-13-106h-79l-14 106q-31 8-57.5 23.5T321-633l-99-41-39 68 86 64q-5 15-7 30t-2 32q0 16 2 31t7 30l-86 65 39 68 99-42q22 23 48.5 38.5T427-266l13 106Zm42-180q58 0 99-41t41-99q0-58-41-99t-99-41q-59 0-99.5 41T342-480q0 58 40.5 99t99.5 41Zm-2-140Z&quot;/&gt;&lt;/svg&gt;" id="444" name="Google Shape;44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1732" y="405749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6"/>
          <p:cNvSpPr txBox="1"/>
          <p:nvPr>
            <p:ph type="title"/>
          </p:nvPr>
        </p:nvSpPr>
        <p:spPr>
          <a:xfrm>
            <a:off x="215316" y="664800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➔"/>
            </a:pPr>
            <a:r>
              <a:rPr lang="en"/>
              <a:t>[01] Automated Terminology Mapping</a:t>
            </a:r>
            <a:endParaRPr sz="2000">
              <a:solidFill>
                <a:srgbClr val="9FB1FF"/>
              </a:solidFill>
            </a:endParaRPr>
          </a:p>
        </p:txBody>
      </p:sp>
      <p:grpSp>
        <p:nvGrpSpPr>
          <p:cNvPr id="446" name="Google Shape;446;p36"/>
          <p:cNvGrpSpPr/>
          <p:nvPr/>
        </p:nvGrpSpPr>
        <p:grpSpPr>
          <a:xfrm>
            <a:off x="800100" y="2167425"/>
            <a:ext cx="4303949" cy="3071000"/>
            <a:chOff x="1388957" y="2626213"/>
            <a:chExt cx="4990665" cy="3560993"/>
          </a:xfrm>
        </p:grpSpPr>
        <p:pic>
          <p:nvPicPr>
            <p:cNvPr id="447" name="Google Shape;447;p36"/>
            <p:cNvPicPr preferRelativeResize="0"/>
            <p:nvPr/>
          </p:nvPicPr>
          <p:blipFill rotWithShape="1">
            <a:blip r:embed="rId4">
              <a:alphaModFix/>
            </a:blip>
            <a:srcRect b="2609" l="0" r="42828" t="24706"/>
            <a:stretch/>
          </p:blipFill>
          <p:spPr>
            <a:xfrm>
              <a:off x="1388957" y="2626213"/>
              <a:ext cx="4990665" cy="3560993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BFBFBF">
                  <a:alpha val="50000"/>
                </a:srgbClr>
              </a:outerShdw>
            </a:effectLst>
          </p:spPr>
        </p:pic>
        <p:pic>
          <p:nvPicPr>
            <p:cNvPr id="448" name="Google Shape;448;p36"/>
            <p:cNvPicPr preferRelativeResize="0"/>
            <p:nvPr/>
          </p:nvPicPr>
          <p:blipFill rotWithShape="1">
            <a:blip r:embed="rId5">
              <a:alphaModFix/>
            </a:blip>
            <a:srcRect b="43544" l="29175" r="26606" t="14911"/>
            <a:stretch/>
          </p:blipFill>
          <p:spPr>
            <a:xfrm>
              <a:off x="1871250" y="4022200"/>
              <a:ext cx="3276649" cy="19098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9" name="Google Shape;449;p36"/>
          <p:cNvSpPr/>
          <p:nvPr/>
        </p:nvSpPr>
        <p:spPr>
          <a:xfrm>
            <a:off x="1125100" y="3487075"/>
            <a:ext cx="3371400" cy="17514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6"/>
          <p:cNvSpPr/>
          <p:nvPr/>
        </p:nvSpPr>
        <p:spPr>
          <a:xfrm>
            <a:off x="800100" y="2167425"/>
            <a:ext cx="4597500" cy="1319700"/>
          </a:xfrm>
          <a:prstGeom prst="rect">
            <a:avLst/>
          </a:prstGeom>
          <a:gradFill>
            <a:gsLst>
              <a:gs pos="0">
                <a:schemeClr val="lt1"/>
              </a:gs>
              <a:gs pos="50000">
                <a:schemeClr val="lt1"/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51" name="Google Shape;451;p36"/>
          <p:cNvSpPr txBox="1"/>
          <p:nvPr/>
        </p:nvSpPr>
        <p:spPr>
          <a:xfrm>
            <a:off x="1602408" y="2963922"/>
            <a:ext cx="2416800" cy="52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STRUCTURED DATA </a:t>
            </a:r>
            <a:endParaRPr sz="12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20% of the patient information</a:t>
            </a:r>
            <a:endParaRPr sz="10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52" name="Google Shape;452;p36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| [1] </a:t>
            </a:r>
            <a:r>
              <a:rPr b="1"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Proceso de estandarización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7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cxnSp>
        <p:nvCxnSpPr>
          <p:cNvPr id="458" name="Google Shape;458;p37"/>
          <p:cNvCxnSpPr>
            <a:stCxn id="459" idx="3"/>
            <a:endCxn id="460" idx="0"/>
          </p:cNvCxnSpPr>
          <p:nvPr/>
        </p:nvCxnSpPr>
        <p:spPr>
          <a:xfrm>
            <a:off x="4929999" y="2682563"/>
            <a:ext cx="4124100" cy="836100"/>
          </a:xfrm>
          <a:prstGeom prst="bentConnector2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diamond"/>
            <a:tailEnd len="med" w="med" type="stealth"/>
          </a:ln>
        </p:spPr>
      </p:cxnSp>
      <p:cxnSp>
        <p:nvCxnSpPr>
          <p:cNvPr id="461" name="Google Shape;461;p37"/>
          <p:cNvCxnSpPr>
            <a:stCxn id="462" idx="3"/>
            <a:endCxn id="460" idx="2"/>
          </p:cNvCxnSpPr>
          <p:nvPr/>
        </p:nvCxnSpPr>
        <p:spPr>
          <a:xfrm flipH="1" rot="10800000">
            <a:off x="4929999" y="4541650"/>
            <a:ext cx="4124100" cy="835800"/>
          </a:xfrm>
          <a:prstGeom prst="bentConnector2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diamond"/>
            <a:tailEnd len="med" w="med" type="stealth"/>
          </a:ln>
        </p:spPr>
      </p:cxnSp>
      <p:sp>
        <p:nvSpPr>
          <p:cNvPr id="459" name="Google Shape;459;p37"/>
          <p:cNvSpPr txBox="1"/>
          <p:nvPr/>
        </p:nvSpPr>
        <p:spPr>
          <a:xfrm>
            <a:off x="1345899" y="2171063"/>
            <a:ext cx="3584100" cy="1023000"/>
          </a:xfrm>
          <a:prstGeom prst="rect">
            <a:avLst/>
          </a:prstGeom>
          <a:noFill/>
          <a:ln cap="flat" cmpd="sng" w="9525">
            <a:solidFill>
              <a:srgbClr val="9FB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6400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F89FE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Hemoglob [g/dL] BLOOD</a:t>
            </a:r>
            <a:endParaRPr sz="1600">
              <a:solidFill>
                <a:srgbClr val="6F89FE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F89FE"/>
                </a:solidFill>
                <a:latin typeface="IBM Plex Sans"/>
                <a:ea typeface="IBM Plex Sans"/>
                <a:cs typeface="IBM Plex Sans"/>
                <a:sym typeface="IBM Plex Sans"/>
              </a:rPr>
              <a:t>[ 523466 ]</a:t>
            </a:r>
            <a:endParaRPr sz="1600">
              <a:solidFill>
                <a:srgbClr val="6F89F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63" name="Google Shape;463;p37"/>
          <p:cNvSpPr txBox="1"/>
          <p:nvPr/>
        </p:nvSpPr>
        <p:spPr>
          <a:xfrm>
            <a:off x="1345899" y="1806575"/>
            <a:ext cx="358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Hospital A — </a:t>
            </a:r>
            <a:r>
              <a:rPr lang="en" sz="12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International Standards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464" name="Google Shape;464;p37"/>
          <p:cNvGrpSpPr/>
          <p:nvPr/>
        </p:nvGrpSpPr>
        <p:grpSpPr>
          <a:xfrm>
            <a:off x="7755049" y="2479462"/>
            <a:ext cx="2598000" cy="406200"/>
            <a:chOff x="6465750" y="5474994"/>
            <a:chExt cx="2598000" cy="406200"/>
          </a:xfrm>
        </p:grpSpPr>
        <p:sp>
          <p:nvSpPr>
            <p:cNvPr id="465" name="Google Shape;465;p37"/>
            <p:cNvSpPr txBox="1"/>
            <p:nvPr/>
          </p:nvSpPr>
          <p:spPr>
            <a:xfrm>
              <a:off x="6465750" y="5474994"/>
              <a:ext cx="2598000" cy="406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9FB1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457200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Automapping model</a:t>
              </a:r>
              <a:endParaRPr sz="1600">
                <a:solidFill>
                  <a:schemeClr val="accent2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pic>
          <p:nvPicPr>
            <p:cNvPr descr="&lt;svg xmlns=&quot;http://www.w3.org/2000/svg&quot; height=&quot;24px&quot; viewBox=&quot;0 -960 960 960&quot; width=&quot;24px&quot; fill=&quot;#9b6eff&quot;&gt;&lt;path d=&quot;m370-80-16-128q-13-5-24.5-12T307-235l-119 50L78-375l103-78q-1-7-1-13.5v-27q0-6.5 1-13.5L78-585l110-190 119 50q11-8 23-15t24-12l16-128h220l16 128q13 5 24.5 12t22.5 15l119-50 110 190-103 78q1 7 1 13.5v27q0 6.5-2 13.5l103 78-110 190-118-50q-11 8-23 15t-24 12L590-80H370Zm70-80h79l14-106q31-8 57.5-23.5T639-327l99 41 39-68-86-65q5-14 7-29.5t2-31.5q0-16-2-31.5t-7-29.5l86-65-39-68-99 42q-22-23-48.5-38.5T533-694l-13-106h-79l-14 106q-31 8-57.5 23.5T321-633l-99-41-39 68 86 64q-5 15-7 30t-2 32q0 16 2 31t7 30l-86 65 39 68 99-42q22 23 48.5 38.5T427-266l13 106Zm42-180q58 0 99-41t41-99q0-58-41-99t-99-41q-59 0-99.5 41T342-480q0 58 40.5 99t99.5 41Zm-2-140Z&quot;/&gt;&lt;/svg&gt;" id="466" name="Google Shape;466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592082" y="5563794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2" name="Google Shape;462;p37"/>
          <p:cNvSpPr txBox="1"/>
          <p:nvPr/>
        </p:nvSpPr>
        <p:spPr>
          <a:xfrm>
            <a:off x="1345899" y="4865950"/>
            <a:ext cx="3584100" cy="1023000"/>
          </a:xfrm>
          <a:prstGeom prst="rect">
            <a:avLst/>
          </a:prstGeom>
          <a:noFill/>
          <a:ln cap="flat" cmpd="sng" w="9525">
            <a:solidFill>
              <a:srgbClr val="9FB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6400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F89FE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Hgb suero in blood g/dL</a:t>
            </a:r>
            <a:endParaRPr sz="1600">
              <a:solidFill>
                <a:srgbClr val="6F89FE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F89FE"/>
                </a:solidFill>
                <a:latin typeface="IBM Plex Sans"/>
                <a:ea typeface="IBM Plex Sans"/>
                <a:cs typeface="IBM Plex Sans"/>
                <a:sym typeface="IBM Plex Sans"/>
              </a:rPr>
              <a:t>[ 00452 ]</a:t>
            </a:r>
            <a:endParaRPr sz="1600">
              <a:solidFill>
                <a:srgbClr val="6F89F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67" name="Google Shape;467;p37"/>
          <p:cNvSpPr txBox="1"/>
          <p:nvPr/>
        </p:nvSpPr>
        <p:spPr>
          <a:xfrm>
            <a:off x="1345899" y="5898575"/>
            <a:ext cx="358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Hospital B — </a:t>
            </a:r>
            <a:r>
              <a:rPr lang="en" sz="12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Internal Source Code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468" name="Google Shape;468;p37"/>
          <p:cNvGrpSpPr/>
          <p:nvPr/>
        </p:nvGrpSpPr>
        <p:grpSpPr>
          <a:xfrm>
            <a:off x="7755049" y="5174344"/>
            <a:ext cx="2598000" cy="406200"/>
            <a:chOff x="6465750" y="5474994"/>
            <a:chExt cx="2598000" cy="406200"/>
          </a:xfrm>
        </p:grpSpPr>
        <p:sp>
          <p:nvSpPr>
            <p:cNvPr id="469" name="Google Shape;469;p37"/>
            <p:cNvSpPr txBox="1"/>
            <p:nvPr/>
          </p:nvSpPr>
          <p:spPr>
            <a:xfrm>
              <a:off x="6465750" y="5474994"/>
              <a:ext cx="2598000" cy="406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9FB1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457200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Automapping model</a:t>
              </a:r>
              <a:endParaRPr sz="1600">
                <a:solidFill>
                  <a:schemeClr val="accent2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pic>
          <p:nvPicPr>
            <p:cNvPr descr="&lt;svg xmlns=&quot;http://www.w3.org/2000/svg&quot; height=&quot;24px&quot; viewBox=&quot;0 -960 960 960&quot; width=&quot;24px&quot; fill=&quot;#9b6eff&quot;&gt;&lt;path d=&quot;m370-80-16-128q-13-5-24.5-12T307-235l-119 50L78-375l103-78q-1-7-1-13.5v-27q0-6.5 1-13.5L78-585l110-190 119 50q11-8 23-15t24-12l16-128h220l16 128q13 5 24.5 12t22.5 15l119-50 110 190-103 78q1 7 1 13.5v27q0 6.5-2 13.5l103 78-110 190-118-50q-11 8-23 15t-24 12L590-80H370Zm70-80h79l14-106q31-8 57.5-23.5T639-327l99 41 39-68-86-65q5-14 7-29.5t2-31.5q0-16-2-31.5t-7-29.5l86-65-39-68-99 42q-22-23-48.5-38.5T533-694l-13-106h-79l-14 106q-31 8-57.5 23.5T321-633l-99-41-39 68 86 64q-5 15-7 30t-2 32q0 16 2 31t7 30l-86 65 39 68 99-42q22 23 48.5 38.5T427-266l13 106Zm42-180q58 0 99-41t41-99q0-58-41-99t-99-41q-59 0-99.5 41T342-480q0 58 40.5 99t99.5 41Zm-2-140Z&quot;/&gt;&lt;/svg&gt;" id="470" name="Google Shape;470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592082" y="5563794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1" name="Google Shape;471;p37"/>
          <p:cNvGrpSpPr/>
          <p:nvPr/>
        </p:nvGrpSpPr>
        <p:grpSpPr>
          <a:xfrm>
            <a:off x="5289999" y="3518513"/>
            <a:ext cx="5556100" cy="1023000"/>
            <a:chOff x="4304000" y="3424200"/>
            <a:chExt cx="5556100" cy="1023000"/>
          </a:xfrm>
        </p:grpSpPr>
        <p:sp>
          <p:nvSpPr>
            <p:cNvPr id="460" name="Google Shape;460;p37"/>
            <p:cNvSpPr txBox="1"/>
            <p:nvPr/>
          </p:nvSpPr>
          <p:spPr>
            <a:xfrm>
              <a:off x="6276000" y="3424200"/>
              <a:ext cx="3584100" cy="1023000"/>
            </a:xfrm>
            <a:prstGeom prst="rect">
              <a:avLst/>
            </a:prstGeom>
            <a:noFill/>
            <a:ln cap="flat" cmpd="sng" w="9525">
              <a:solidFill>
                <a:srgbClr val="9FB1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6400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Hemoglobin [Mass/volume] </a:t>
              </a:r>
              <a:br>
                <a:rPr lang="en" sz="1600">
                  <a:solidFill>
                    <a:schemeClr val="dk1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</a:br>
              <a:r>
                <a:rPr lang="en" sz="1600">
                  <a:solidFill>
                    <a:schemeClr val="dk1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in Blood </a:t>
              </a:r>
              <a:r>
                <a:rPr lang="en" sz="160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[ 3000963 ]</a:t>
              </a:r>
              <a:endParaRPr sz="1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pic>
          <p:nvPicPr>
            <p:cNvPr descr="&lt;svg xmlns=&quot;http://www.w3.org/2000/svg&quot; height=&quot;24px&quot; viewBox=&quot;0 -960 960 960&quot; width=&quot;24px&quot; fill=&quot;#0f3bfe&quot;&gt;&lt;path d=&quot;M120-160v-160h720v160H120Zm80-40h80v-80h-80v80Zm-80-440v-160h720v160H120Zm80-40h80v-80h-80v80Zm-80 280v-160h720v160H120Zm80-40h80v-80h-80v80Z&quot;/&gt;&lt;/svg&gt;" id="472" name="Google Shape;472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459825" y="3821375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3" name="Google Shape;473;p37"/>
            <p:cNvSpPr txBox="1"/>
            <p:nvPr/>
          </p:nvSpPr>
          <p:spPr>
            <a:xfrm>
              <a:off x="4304000" y="3751050"/>
              <a:ext cx="1972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OMOP CDM</a:t>
              </a:r>
              <a:endParaRPr sz="12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pic>
        <p:nvPicPr>
          <p:cNvPr descr="&lt;svg xmlns=&quot;http://www.w3.org/2000/svg&quot; height=&quot;24px&quot; viewBox=&quot;0 -960 960 960&quot; width=&quot;24px&quot; fill=&quot;#6f89fe&quot;&gt;&lt;path d=&quot;M120-160v-160h720v160H120Zm80-40h80v-80h-80v80Zm-80-440v-160h720v160H120Zm80-40h80v-80h-80v80Zm-80 280v-160h720v160H120Zm80-40h80v-80h-80v80Z&quot;/&gt;&lt;/svg&gt;" id="474" name="Google Shape;474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44649" y="256826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6f89fe&quot;&gt;&lt;path d=&quot;M120-160v-160h720v160H120Zm80-40h80v-80h-80v80Zm-80-440v-160h720v160H120Zm80-40h80v-80h-80v80Zm-80 280v-160h720v160H120Zm80-40h80v-80h-80v80Z&quot;/&gt;&lt;/svg&gt;" id="475" name="Google Shape;475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44649" y="526313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37"/>
          <p:cNvSpPr txBox="1"/>
          <p:nvPr>
            <p:ph type="title"/>
          </p:nvPr>
        </p:nvSpPr>
        <p:spPr>
          <a:xfrm>
            <a:off x="215316" y="664800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➔"/>
            </a:pPr>
            <a:r>
              <a:rPr lang="en"/>
              <a:t>[01] Automated Terminology Mapping</a:t>
            </a:r>
            <a:endParaRPr sz="2000">
              <a:solidFill>
                <a:srgbClr val="9FB1FF"/>
              </a:solidFill>
            </a:endParaRPr>
          </a:p>
        </p:txBody>
      </p:sp>
      <p:sp>
        <p:nvSpPr>
          <p:cNvPr id="477" name="Google Shape;477;p37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| [1] </a:t>
            </a:r>
            <a:r>
              <a:rPr b="1"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Proceso de estandarización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Google Shape;482;p38"/>
          <p:cNvPicPr preferRelativeResize="0"/>
          <p:nvPr/>
        </p:nvPicPr>
        <p:blipFill rotWithShape="1">
          <a:blip r:embed="rId3">
            <a:alphaModFix/>
          </a:blip>
          <a:srcRect b="2609" l="47608" r="0" t="24706"/>
          <a:stretch/>
        </p:blipFill>
        <p:spPr>
          <a:xfrm>
            <a:off x="799228" y="2174509"/>
            <a:ext cx="3944175" cy="30710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BFBFBF">
                <a:alpha val="50000"/>
              </a:srgbClr>
            </a:outerShdw>
          </a:effectLst>
        </p:spPr>
      </p:pic>
      <p:sp>
        <p:nvSpPr>
          <p:cNvPr id="483" name="Google Shape;483;p38"/>
          <p:cNvSpPr/>
          <p:nvPr/>
        </p:nvSpPr>
        <p:spPr>
          <a:xfrm>
            <a:off x="799378" y="2174509"/>
            <a:ext cx="3944100" cy="1319700"/>
          </a:xfrm>
          <a:prstGeom prst="rect">
            <a:avLst/>
          </a:prstGeom>
          <a:gradFill>
            <a:gsLst>
              <a:gs pos="0">
                <a:schemeClr val="lt1"/>
              </a:gs>
              <a:gs pos="50000">
                <a:schemeClr val="lt1"/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84" name="Google Shape;484;p38"/>
          <p:cNvSpPr txBox="1"/>
          <p:nvPr>
            <p:ph idx="12" type="sldNum"/>
          </p:nvPr>
        </p:nvSpPr>
        <p:spPr>
          <a:xfrm>
            <a:off x="9799430" y="54312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graphicFrame>
        <p:nvGraphicFramePr>
          <p:cNvPr id="485" name="Google Shape;485;p38"/>
          <p:cNvGraphicFramePr/>
          <p:nvPr/>
        </p:nvGraphicFramePr>
        <p:xfrm>
          <a:off x="6294564" y="51996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{0C5C600E-CDB9-408A-A5F3-D8A6F270D939}</a:tableStyleId>
              </a:tblPr>
              <a:tblGrid>
                <a:gridCol w="363325"/>
                <a:gridCol w="731125"/>
                <a:gridCol w="1593950"/>
                <a:gridCol w="1127250"/>
                <a:gridCol w="1243800"/>
                <a:gridCol w="496500"/>
              </a:tblGrid>
              <a:tr h="237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...</a:t>
                      </a:r>
                      <a:endParaRPr b="1" sz="10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person_id</a:t>
                      </a:r>
                      <a:endParaRPr b="1" sz="10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Condition_</a:t>
                      </a:r>
                      <a:r>
                        <a:rPr b="1" lang="en" sz="10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concept_id</a:t>
                      </a:r>
                      <a:endParaRPr b="1" sz="10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condition</a:t>
                      </a:r>
                      <a:r>
                        <a:rPr b="1" lang="en" sz="10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_date</a:t>
                      </a:r>
                      <a:endParaRPr b="1" sz="10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visit_occurrence_id</a:t>
                      </a:r>
                      <a:endParaRPr b="1" sz="10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…</a:t>
                      </a:r>
                      <a:endParaRPr b="1" sz="10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</a:tr>
              <a:tr h="32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…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243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4115169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FC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2021-10-12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896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…</a:t>
                      </a:r>
                      <a:endParaRPr sz="10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6" name="Google Shape;486;p38"/>
          <p:cNvSpPr txBox="1"/>
          <p:nvPr/>
        </p:nvSpPr>
        <p:spPr>
          <a:xfrm>
            <a:off x="6294514" y="1740396"/>
            <a:ext cx="5556000" cy="314100"/>
          </a:xfrm>
          <a:prstGeom prst="rect">
            <a:avLst/>
          </a:prstGeom>
          <a:solidFill>
            <a:srgbClr val="040F40"/>
          </a:solidFill>
          <a:ln cap="flat" cmpd="sng" w="9525">
            <a:solidFill>
              <a:srgbClr val="9FB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stored in free-text format</a:t>
            </a:r>
            <a:endParaRPr sz="16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87" name="Google Shape;487;p38"/>
          <p:cNvSpPr txBox="1"/>
          <p:nvPr/>
        </p:nvSpPr>
        <p:spPr>
          <a:xfrm>
            <a:off x="6294514" y="5908596"/>
            <a:ext cx="5556000" cy="314100"/>
          </a:xfrm>
          <a:prstGeom prst="rect">
            <a:avLst/>
          </a:prstGeom>
          <a:solidFill>
            <a:srgbClr val="040F40"/>
          </a:solidFill>
          <a:ln cap="flat" cmpd="sng" w="9525">
            <a:solidFill>
              <a:srgbClr val="9FB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OMOP CDM Condition Occurrence</a:t>
            </a:r>
            <a:endParaRPr sz="16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88" name="Google Shape;488;p38"/>
          <p:cNvSpPr/>
          <p:nvPr/>
        </p:nvSpPr>
        <p:spPr>
          <a:xfrm>
            <a:off x="1062078" y="3494134"/>
            <a:ext cx="3521700" cy="17514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8"/>
          <p:cNvSpPr txBox="1"/>
          <p:nvPr/>
        </p:nvSpPr>
        <p:spPr>
          <a:xfrm>
            <a:off x="1614536" y="2971005"/>
            <a:ext cx="2416800" cy="52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40F4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CLINICAL NOTES </a:t>
            </a:r>
            <a:endParaRPr sz="1200">
              <a:solidFill>
                <a:srgbClr val="040F4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80% of the patient information</a:t>
            </a:r>
            <a:endParaRPr sz="1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490" name="Google Shape;490;p38"/>
          <p:cNvGraphicFramePr/>
          <p:nvPr/>
        </p:nvGraphicFramePr>
        <p:xfrm>
          <a:off x="6294664" y="21257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{0C5C600E-CDB9-408A-A5F3-D8A6F270D939}</a:tableStyleId>
              </a:tblPr>
              <a:tblGrid>
                <a:gridCol w="479275"/>
                <a:gridCol w="699350"/>
                <a:gridCol w="733475"/>
                <a:gridCol w="3260225"/>
                <a:gridCol w="383675"/>
              </a:tblGrid>
              <a:tr h="152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noteID</a:t>
                      </a:r>
                      <a:endParaRPr b="1" sz="10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person_id</a:t>
                      </a:r>
                      <a:endParaRPr b="1" sz="10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date</a:t>
                      </a:r>
                      <a:endParaRPr b="1" sz="10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value</a:t>
                      </a:r>
                      <a:endParaRPr b="1" sz="10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visit</a:t>
                      </a:r>
                      <a:endParaRPr b="1" sz="10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</a:tr>
              <a:tr h="761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243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2021-10-12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follow up, 02-17-2015 usual f/up Follow-Up: Consultation </a:t>
                      </a:r>
                      <a:br>
                        <a:rPr lang="en" sz="8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</a:br>
                      <a:r>
                        <a:rPr lang="en" sz="8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on </a:t>
                      </a:r>
                      <a:r>
                        <a:rPr lang="en" sz="800">
                          <a:highlight>
                            <a:schemeClr val="accent1"/>
                          </a:highlight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pian left arm</a:t>
                      </a:r>
                      <a:r>
                        <a:rPr lang="en" sz="800">
                          <a:solidFill>
                            <a:srgbClr val="9FB1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</a:t>
                      </a:r>
                      <a:r>
                        <a:rPr lang="en" sz="8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since yesterday.</a:t>
                      </a:r>
                      <a:endParaRPr sz="8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Thi smorning pain persists.  Had similar pain whn had AMI.  Has taken nitrostat without improvement. Request of ECG</a:t>
                      </a:r>
                      <a:endParaRPr sz="8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367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descr="&lt;svg xmlns=&quot;http://www.w3.org/2000/svg&quot; height=&quot;24px&quot; viewBox=&quot;0 -960 960 960&quot; width=&quot;24px&quot; fill=&quot;#10b55f&quot;&gt;&lt;path d=&quot;m370-80-16-128q-13-5-24.5-12T307-235l-119 50L78-375l103-78q-1-7-1-13.5v-27q0-6.5 1-13.5L78-585l110-190 119 50q11-8 23-15t24-12l16-128h220l16 128q13 5 24.5 12t22.5 15l119-50 110 190-103 78q1 7 1 13.5v27q0 6.5-2 13.5l103 78-110 190-118-50q-11 8-23 15t-24 12L590-80H370Zm70-80h79l14-106q31-8 57.5-23.5T639-327l99 41 39-68-86-65q5-14 7-29.5t2-31.5q0-16-2-31.5t-7-29.5l86-65-39-68-99 42q-22-23-48.5-38.5T533-694l-13-106h-79l-14 106q-31 8-57.5 23.5T321-633l-99-41-39 68 86 64q-5 15-7 30t-2 32q0 16 2 31t7 30l-86 65 39 68 99-42q22 23 48.5 38.5T427-266l13 106Zm42-180q58 0 99-41t41-99q0-58-41-99t-99-41q-59 0-99.5 41T342-480q0 58 40.5 99t99.5 41Zm-2-140Z&quot;/&gt;&lt;/svg&gt;" id="491" name="Google Shape;49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0246" y="400807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8"/>
          <p:cNvSpPr txBox="1"/>
          <p:nvPr/>
        </p:nvSpPr>
        <p:spPr>
          <a:xfrm>
            <a:off x="6863926" y="3919271"/>
            <a:ext cx="3374700" cy="406200"/>
          </a:xfrm>
          <a:prstGeom prst="rect">
            <a:avLst/>
          </a:prstGeom>
          <a:noFill/>
          <a:ln cap="flat" cmpd="sng" w="9525">
            <a:solidFill>
              <a:srgbClr val="9FB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200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0B55F"/>
                </a:solidFill>
                <a:latin typeface="IBM Plex Sans"/>
                <a:ea typeface="IBM Plex Sans"/>
                <a:cs typeface="IBM Plex Sans"/>
                <a:sym typeface="IBM Plex Sans"/>
              </a:rPr>
              <a:t>Natural Language Processing</a:t>
            </a:r>
            <a:endParaRPr sz="1600">
              <a:solidFill>
                <a:srgbClr val="10B55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93" name="Google Shape;493;p38"/>
          <p:cNvCxnSpPr>
            <a:stCxn id="492" idx="0"/>
          </p:cNvCxnSpPr>
          <p:nvPr/>
        </p:nvCxnSpPr>
        <p:spPr>
          <a:xfrm rot="10800000">
            <a:off x="8551276" y="2545571"/>
            <a:ext cx="0" cy="1373700"/>
          </a:xfrm>
          <a:prstGeom prst="straightConnector1">
            <a:avLst/>
          </a:prstGeom>
          <a:noFill/>
          <a:ln cap="flat" cmpd="sng" w="9525">
            <a:solidFill>
              <a:srgbClr val="10B55F"/>
            </a:solidFill>
            <a:prstDash val="dash"/>
            <a:round/>
            <a:headEnd len="med" w="med" type="stealth"/>
            <a:tailEnd len="med" w="med" type="diamond"/>
          </a:ln>
        </p:spPr>
      </p:cxnSp>
      <p:cxnSp>
        <p:nvCxnSpPr>
          <p:cNvPr id="494" name="Google Shape;494;p38"/>
          <p:cNvCxnSpPr>
            <a:endCxn id="492" idx="2"/>
          </p:cNvCxnSpPr>
          <p:nvPr/>
        </p:nvCxnSpPr>
        <p:spPr>
          <a:xfrm rot="10800000">
            <a:off x="8551276" y="4325471"/>
            <a:ext cx="0" cy="745800"/>
          </a:xfrm>
          <a:prstGeom prst="straightConnector1">
            <a:avLst/>
          </a:prstGeom>
          <a:noFill/>
          <a:ln cap="flat" cmpd="sng" w="9525">
            <a:solidFill>
              <a:srgbClr val="10B55F"/>
            </a:solidFill>
            <a:prstDash val="dash"/>
            <a:round/>
            <a:headEnd len="med" w="med" type="stealth"/>
            <a:tailEnd len="med" w="med" type="diamond"/>
          </a:ln>
        </p:spPr>
      </p:cxnSp>
      <p:sp>
        <p:nvSpPr>
          <p:cNvPr id="495" name="Google Shape;495;p38"/>
          <p:cNvSpPr txBox="1"/>
          <p:nvPr>
            <p:ph type="title"/>
          </p:nvPr>
        </p:nvSpPr>
        <p:spPr>
          <a:xfrm>
            <a:off x="215316" y="664800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➔"/>
            </a:pPr>
            <a:r>
              <a:rPr lang="en"/>
              <a:t>[02] Natural Language Processing</a:t>
            </a:r>
            <a:endParaRPr sz="2000">
              <a:solidFill>
                <a:srgbClr val="9FB1FF"/>
              </a:solidFill>
            </a:endParaRPr>
          </a:p>
        </p:txBody>
      </p:sp>
      <p:sp>
        <p:nvSpPr>
          <p:cNvPr id="496" name="Google Shape;496;p38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497" name="Google Shape;497;p38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| [1] </a:t>
            </a:r>
            <a:r>
              <a:rPr b="1"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Proceso de estandarización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9"/>
          <p:cNvSpPr txBox="1"/>
          <p:nvPr/>
        </p:nvSpPr>
        <p:spPr>
          <a:xfrm>
            <a:off x="8861273" y="1383003"/>
            <a:ext cx="1017600" cy="384900"/>
          </a:xfrm>
          <a:prstGeom prst="rect">
            <a:avLst/>
          </a:prstGeom>
          <a:noFill/>
          <a:ln cap="flat" cmpd="sng" w="9525">
            <a:solidFill>
              <a:srgbClr val="C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Pain</a:t>
            </a:r>
            <a:endParaRPr sz="13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03" name="Google Shape;503;p39"/>
          <p:cNvSpPr txBox="1"/>
          <p:nvPr/>
        </p:nvSpPr>
        <p:spPr>
          <a:xfrm>
            <a:off x="8861273" y="1729978"/>
            <a:ext cx="10176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0B55F"/>
                </a:solidFill>
                <a:latin typeface="IBM Plex Sans"/>
                <a:ea typeface="IBM Plex Sans"/>
                <a:cs typeface="IBM Plex Sans"/>
                <a:sym typeface="IBM Plex Sans"/>
              </a:rPr>
              <a:t>[ 4329041 ]</a:t>
            </a:r>
            <a:endParaRPr sz="1000">
              <a:solidFill>
                <a:srgbClr val="10B55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04" name="Google Shape;504;p39"/>
          <p:cNvSpPr txBox="1"/>
          <p:nvPr/>
        </p:nvSpPr>
        <p:spPr>
          <a:xfrm>
            <a:off x="8861273" y="2406002"/>
            <a:ext cx="1017600" cy="384900"/>
          </a:xfrm>
          <a:prstGeom prst="rect">
            <a:avLst/>
          </a:prstGeom>
          <a:noFill/>
          <a:ln cap="flat" cmpd="sng" w="9525">
            <a:solidFill>
              <a:srgbClr val="C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ECG</a:t>
            </a:r>
            <a:endParaRPr sz="13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05" name="Google Shape;505;p39"/>
          <p:cNvSpPr txBox="1"/>
          <p:nvPr/>
        </p:nvSpPr>
        <p:spPr>
          <a:xfrm>
            <a:off x="10788729" y="1384951"/>
            <a:ext cx="1017600" cy="384900"/>
          </a:xfrm>
          <a:prstGeom prst="rect">
            <a:avLst/>
          </a:prstGeom>
          <a:noFill/>
          <a:ln cap="flat" cmpd="sng" w="9525">
            <a:solidFill>
              <a:srgbClr val="C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AMI</a:t>
            </a:r>
            <a:endParaRPr sz="13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06" name="Google Shape;506;p39"/>
          <p:cNvSpPr txBox="1"/>
          <p:nvPr/>
        </p:nvSpPr>
        <p:spPr>
          <a:xfrm>
            <a:off x="10788729" y="2406011"/>
            <a:ext cx="1017600" cy="384900"/>
          </a:xfrm>
          <a:prstGeom prst="rect">
            <a:avLst/>
          </a:prstGeom>
          <a:noFill/>
          <a:ln cap="flat" cmpd="sng" w="9525">
            <a:solidFill>
              <a:srgbClr val="C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Left arm</a:t>
            </a:r>
            <a:endParaRPr sz="13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07" name="Google Shape;507;p39"/>
          <p:cNvSpPr txBox="1"/>
          <p:nvPr/>
        </p:nvSpPr>
        <p:spPr>
          <a:xfrm>
            <a:off x="10705179" y="1728000"/>
            <a:ext cx="11847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0B55F"/>
                </a:solidFill>
                <a:latin typeface="IBM Plex Sans"/>
                <a:ea typeface="IBM Plex Sans"/>
                <a:cs typeface="IBM Plex Sans"/>
                <a:sym typeface="IBM Plex Sans"/>
              </a:rPr>
              <a:t>[ 312327 ]</a:t>
            </a:r>
            <a:endParaRPr sz="1000">
              <a:solidFill>
                <a:srgbClr val="10B55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08" name="Google Shape;508;p39"/>
          <p:cNvSpPr txBox="1"/>
          <p:nvPr/>
        </p:nvSpPr>
        <p:spPr>
          <a:xfrm>
            <a:off x="10788729" y="4452011"/>
            <a:ext cx="1017600" cy="384900"/>
          </a:xfrm>
          <a:prstGeom prst="rect">
            <a:avLst/>
          </a:prstGeom>
          <a:noFill/>
          <a:ln cap="flat" cmpd="sng" w="9525">
            <a:solidFill>
              <a:srgbClr val="C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Persists</a:t>
            </a:r>
            <a:endParaRPr sz="13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09" name="Google Shape;509;p39"/>
          <p:cNvSpPr txBox="1"/>
          <p:nvPr/>
        </p:nvSpPr>
        <p:spPr>
          <a:xfrm>
            <a:off x="10788729" y="2811503"/>
            <a:ext cx="10176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0B55F"/>
                </a:solidFill>
                <a:latin typeface="IBM Plex Sans"/>
                <a:ea typeface="IBM Plex Sans"/>
                <a:cs typeface="IBM Plex Sans"/>
                <a:sym typeface="IBM Plex Sans"/>
              </a:rPr>
              <a:t>[ 4283159 ]</a:t>
            </a:r>
            <a:endParaRPr sz="1000">
              <a:solidFill>
                <a:srgbClr val="10B55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10" name="Google Shape;510;p39"/>
          <p:cNvSpPr txBox="1"/>
          <p:nvPr/>
        </p:nvSpPr>
        <p:spPr>
          <a:xfrm>
            <a:off x="10705179" y="3429010"/>
            <a:ext cx="1184700" cy="384900"/>
          </a:xfrm>
          <a:prstGeom prst="rect">
            <a:avLst/>
          </a:prstGeom>
          <a:noFill/>
          <a:ln cap="flat" cmpd="sng" w="9525">
            <a:solidFill>
              <a:srgbClr val="C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Nitrostat</a:t>
            </a:r>
            <a:endParaRPr sz="13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11" name="Google Shape;511;p39"/>
          <p:cNvSpPr txBox="1"/>
          <p:nvPr/>
        </p:nvSpPr>
        <p:spPr>
          <a:xfrm>
            <a:off x="10788729" y="4857503"/>
            <a:ext cx="10176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0B55F"/>
                </a:solidFill>
                <a:latin typeface="IBM Plex Sans"/>
                <a:ea typeface="IBM Plex Sans"/>
                <a:cs typeface="IBM Plex Sans"/>
                <a:sym typeface="IBM Plex Sans"/>
              </a:rPr>
              <a:t>[ 4038788 ]</a:t>
            </a:r>
            <a:endParaRPr sz="1000">
              <a:solidFill>
                <a:srgbClr val="10B55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12" name="Google Shape;512;p39"/>
          <p:cNvSpPr txBox="1"/>
          <p:nvPr/>
        </p:nvSpPr>
        <p:spPr>
          <a:xfrm>
            <a:off x="10658529" y="5466817"/>
            <a:ext cx="1278000" cy="384900"/>
          </a:xfrm>
          <a:prstGeom prst="rect">
            <a:avLst/>
          </a:prstGeom>
          <a:noFill/>
          <a:ln cap="flat" cmpd="sng" w="9525">
            <a:solidFill>
              <a:srgbClr val="C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Yesterday</a:t>
            </a:r>
            <a:endParaRPr sz="13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13" name="Google Shape;513;p39"/>
          <p:cNvSpPr txBox="1"/>
          <p:nvPr/>
        </p:nvSpPr>
        <p:spPr>
          <a:xfrm>
            <a:off x="10788729" y="3842678"/>
            <a:ext cx="10176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0B55F"/>
                </a:solidFill>
                <a:latin typeface="IBM Plex Sans"/>
                <a:ea typeface="IBM Plex Sans"/>
                <a:cs typeface="IBM Plex Sans"/>
                <a:sym typeface="IBM Plex Sans"/>
              </a:rPr>
              <a:t>[ 40071533 ]</a:t>
            </a:r>
            <a:endParaRPr sz="1000">
              <a:solidFill>
                <a:srgbClr val="10B55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14" name="Google Shape;514;p39"/>
          <p:cNvSpPr txBox="1"/>
          <p:nvPr/>
        </p:nvSpPr>
        <p:spPr>
          <a:xfrm>
            <a:off x="8777723" y="2749050"/>
            <a:ext cx="11847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0B55F"/>
                </a:solidFill>
                <a:latin typeface="IBM Plex Sans"/>
                <a:ea typeface="IBM Plex Sans"/>
                <a:cs typeface="IBM Plex Sans"/>
                <a:sym typeface="IBM Plex Sans"/>
              </a:rPr>
              <a:t>[ 36308175 ]</a:t>
            </a:r>
            <a:endParaRPr sz="1000">
              <a:solidFill>
                <a:srgbClr val="10B55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15" name="Google Shape;515;p39"/>
          <p:cNvSpPr txBox="1"/>
          <p:nvPr/>
        </p:nvSpPr>
        <p:spPr>
          <a:xfrm>
            <a:off x="8777723" y="4452935"/>
            <a:ext cx="1184700" cy="384900"/>
          </a:xfrm>
          <a:prstGeom prst="rect">
            <a:avLst/>
          </a:prstGeom>
          <a:noFill/>
          <a:ln cap="flat" cmpd="sng" w="9525">
            <a:solidFill>
              <a:srgbClr val="C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This morning</a:t>
            </a:r>
            <a:endParaRPr sz="13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16" name="Google Shape;516;p39"/>
          <p:cNvSpPr txBox="1"/>
          <p:nvPr/>
        </p:nvSpPr>
        <p:spPr>
          <a:xfrm>
            <a:off x="10788729" y="5868553"/>
            <a:ext cx="10176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IBM Plex Sans"/>
                <a:ea typeface="IBM Plex Sans"/>
                <a:cs typeface="IBM Plex Sans"/>
                <a:sym typeface="IBM Plex Sans"/>
              </a:rPr>
              <a:t>-</a:t>
            </a:r>
            <a:endParaRPr sz="1000">
              <a:solidFill>
                <a:schemeClr val="accent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17" name="Google Shape;517;p39"/>
          <p:cNvSpPr txBox="1"/>
          <p:nvPr/>
        </p:nvSpPr>
        <p:spPr>
          <a:xfrm>
            <a:off x="8861273" y="4856578"/>
            <a:ext cx="10176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IBM Plex Sans"/>
                <a:ea typeface="IBM Plex Sans"/>
                <a:cs typeface="IBM Plex Sans"/>
                <a:sym typeface="IBM Plex Sans"/>
              </a:rPr>
              <a:t>-</a:t>
            </a:r>
            <a:endParaRPr sz="1000">
              <a:solidFill>
                <a:schemeClr val="accent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18" name="Google Shape;518;p39"/>
          <p:cNvSpPr txBox="1"/>
          <p:nvPr/>
        </p:nvSpPr>
        <p:spPr>
          <a:xfrm>
            <a:off x="8686523" y="5466835"/>
            <a:ext cx="1367100" cy="384900"/>
          </a:xfrm>
          <a:prstGeom prst="rect">
            <a:avLst/>
          </a:prstGeom>
          <a:noFill/>
          <a:ln cap="flat" cmpd="sng" w="9525">
            <a:solidFill>
              <a:srgbClr val="C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Improvement</a:t>
            </a:r>
            <a:endParaRPr sz="13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19" name="Google Shape;519;p39"/>
          <p:cNvSpPr txBox="1"/>
          <p:nvPr/>
        </p:nvSpPr>
        <p:spPr>
          <a:xfrm>
            <a:off x="8861273" y="5870478"/>
            <a:ext cx="10176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0B55F"/>
                </a:solidFill>
                <a:latin typeface="IBM Plex Sans"/>
                <a:ea typeface="IBM Plex Sans"/>
                <a:cs typeface="IBM Plex Sans"/>
                <a:sym typeface="IBM Plex Sans"/>
              </a:rPr>
              <a:t>[ 3223949 ]</a:t>
            </a:r>
            <a:endParaRPr sz="1000">
              <a:solidFill>
                <a:srgbClr val="10B55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20" name="Google Shape;520;p39"/>
          <p:cNvSpPr txBox="1"/>
          <p:nvPr/>
        </p:nvSpPr>
        <p:spPr>
          <a:xfrm>
            <a:off x="798524" y="2406000"/>
            <a:ext cx="2958000" cy="3069000"/>
          </a:xfrm>
          <a:prstGeom prst="rect">
            <a:avLst/>
          </a:prstGeom>
          <a:noFill/>
          <a:ln cap="flat" cmpd="sng" w="9525">
            <a:solidFill>
              <a:srgbClr val="C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21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Consultation on </a:t>
            </a:r>
            <a:r>
              <a:rPr lang="en">
                <a:solidFill>
                  <a:srgbClr val="040F40"/>
                </a:solidFill>
                <a:highlight>
                  <a:schemeClr val="accent1"/>
                </a:highlight>
                <a:latin typeface="IBM Plex Sans"/>
                <a:ea typeface="IBM Plex Sans"/>
                <a:cs typeface="IBM Plex Sans"/>
                <a:sym typeface="IBM Plex Sans"/>
              </a:rPr>
              <a:t>pian left arm</a:t>
            </a: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since </a:t>
            </a:r>
            <a:r>
              <a:rPr lang="en">
                <a:solidFill>
                  <a:srgbClr val="040F40"/>
                </a:solidFill>
                <a:highlight>
                  <a:srgbClr val="D0FCE5"/>
                </a:highlight>
                <a:latin typeface="IBM Plex Sans"/>
                <a:ea typeface="IBM Plex Sans"/>
                <a:cs typeface="IBM Plex Sans"/>
                <a:sym typeface="IBM Plex Sans"/>
              </a:rPr>
              <a:t>yesterday</a:t>
            </a: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1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Thi s</a:t>
            </a:r>
            <a:r>
              <a:rPr lang="en">
                <a:solidFill>
                  <a:srgbClr val="040F40"/>
                </a:solidFill>
                <a:highlight>
                  <a:srgbClr val="D0FCE5"/>
                </a:highlight>
                <a:latin typeface="IBM Plex Sans"/>
                <a:ea typeface="IBM Plex Sans"/>
                <a:cs typeface="IBM Plex Sans"/>
                <a:sym typeface="IBM Plex Sans"/>
              </a:rPr>
              <a:t>morning</a:t>
            </a:r>
            <a:r>
              <a:rPr lang="en">
                <a:solidFill>
                  <a:srgbClr val="040F40"/>
                </a:solidFill>
                <a:highlight>
                  <a:schemeClr val="accent1"/>
                </a:highlight>
                <a:latin typeface="IBM Plex Sans"/>
                <a:ea typeface="IBM Plex Sans"/>
                <a:cs typeface="IBM Plex Sans"/>
                <a:sym typeface="IBM Plex Sans"/>
              </a:rPr>
              <a:t> pain persists</a:t>
            </a: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.  </a:t>
            </a:r>
            <a:endParaRPr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1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Had similar pain whn had </a:t>
            </a:r>
            <a:r>
              <a:rPr lang="en">
                <a:solidFill>
                  <a:srgbClr val="040F40"/>
                </a:solidFill>
                <a:highlight>
                  <a:schemeClr val="accent1"/>
                </a:highlight>
                <a:latin typeface="IBM Plex Sans"/>
                <a:ea typeface="IBM Plex Sans"/>
                <a:cs typeface="IBM Plex Sans"/>
                <a:sym typeface="IBM Plex Sans"/>
              </a:rPr>
              <a:t>AMI</a:t>
            </a: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.  </a:t>
            </a:r>
            <a:endParaRPr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1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Has taken </a:t>
            </a:r>
            <a:r>
              <a:rPr lang="en">
                <a:solidFill>
                  <a:srgbClr val="040F40"/>
                </a:solidFill>
                <a:highlight>
                  <a:schemeClr val="accent1"/>
                </a:highlight>
                <a:latin typeface="IBM Plex Sans"/>
                <a:ea typeface="IBM Plex Sans"/>
                <a:cs typeface="IBM Plex Sans"/>
                <a:sym typeface="IBM Plex Sans"/>
              </a:rPr>
              <a:t>nitrostat</a:t>
            </a: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without </a:t>
            </a:r>
            <a:r>
              <a:rPr lang="en">
                <a:solidFill>
                  <a:srgbClr val="040F40"/>
                </a:solidFill>
                <a:highlight>
                  <a:schemeClr val="accent1"/>
                </a:highlight>
                <a:latin typeface="IBM Plex Sans"/>
                <a:ea typeface="IBM Plex Sans"/>
                <a:cs typeface="IBM Plex Sans"/>
                <a:sym typeface="IBM Plex Sans"/>
              </a:rPr>
              <a:t>improvement</a:t>
            </a: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21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Request of </a:t>
            </a:r>
            <a:r>
              <a:rPr lang="en">
                <a:solidFill>
                  <a:srgbClr val="040F40"/>
                </a:solidFill>
                <a:highlight>
                  <a:schemeClr val="accent1"/>
                </a:highlight>
                <a:latin typeface="IBM Plex Sans"/>
                <a:ea typeface="IBM Plex Sans"/>
                <a:cs typeface="IBM Plex Sans"/>
                <a:sym typeface="IBM Plex Sans"/>
              </a:rPr>
              <a:t>ECG</a:t>
            </a: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21" name="Google Shape;521;p39"/>
          <p:cNvSpPr txBox="1"/>
          <p:nvPr/>
        </p:nvSpPr>
        <p:spPr>
          <a:xfrm>
            <a:off x="4742524" y="3737400"/>
            <a:ext cx="3583800" cy="406200"/>
          </a:xfrm>
          <a:prstGeom prst="rect">
            <a:avLst/>
          </a:prstGeom>
          <a:noFill/>
          <a:ln cap="flat" cmpd="sng" w="9525">
            <a:solidFill>
              <a:srgbClr val="9FB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200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0B55F"/>
                </a:solidFill>
                <a:latin typeface="IBM Plex Sans"/>
                <a:ea typeface="IBM Plex Sans"/>
                <a:cs typeface="IBM Plex Sans"/>
                <a:sym typeface="IBM Plex Sans"/>
              </a:rPr>
              <a:t>Natural Language Processing</a:t>
            </a:r>
            <a:endParaRPr sz="1600">
              <a:solidFill>
                <a:srgbClr val="10B55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22" name="Google Shape;522;p39"/>
          <p:cNvCxnSpPr>
            <a:stCxn id="521" idx="1"/>
            <a:endCxn id="520" idx="3"/>
          </p:cNvCxnSpPr>
          <p:nvPr/>
        </p:nvCxnSpPr>
        <p:spPr>
          <a:xfrm rot="10800000">
            <a:off x="3756424" y="3940500"/>
            <a:ext cx="986100" cy="0"/>
          </a:xfrm>
          <a:prstGeom prst="straightConnector1">
            <a:avLst/>
          </a:prstGeom>
          <a:noFill/>
          <a:ln cap="flat" cmpd="sng" w="9525">
            <a:solidFill>
              <a:srgbClr val="10B55F"/>
            </a:solidFill>
            <a:prstDash val="dash"/>
            <a:round/>
            <a:headEnd len="med" w="med" type="stealth"/>
            <a:tailEnd len="med" w="med" type="diamond"/>
          </a:ln>
        </p:spPr>
      </p:cxnSp>
      <p:cxnSp>
        <p:nvCxnSpPr>
          <p:cNvPr id="523" name="Google Shape;523;p39"/>
          <p:cNvCxnSpPr>
            <a:stCxn id="521" idx="3"/>
            <a:endCxn id="512" idx="1"/>
          </p:cNvCxnSpPr>
          <p:nvPr/>
        </p:nvCxnSpPr>
        <p:spPr>
          <a:xfrm>
            <a:off x="8326324" y="3940500"/>
            <a:ext cx="2332200" cy="1718700"/>
          </a:xfrm>
          <a:prstGeom prst="bentConnector3">
            <a:avLst>
              <a:gd fmla="val 84877" name="adj1"/>
            </a:avLst>
          </a:prstGeom>
          <a:noFill/>
          <a:ln cap="flat" cmpd="sng" w="9525">
            <a:solidFill>
              <a:srgbClr val="10B55F"/>
            </a:solidFill>
            <a:prstDash val="dash"/>
            <a:round/>
            <a:headEnd len="med" w="med" type="diamond"/>
            <a:tailEnd len="med" w="med" type="stealth"/>
          </a:ln>
        </p:spPr>
      </p:cxnSp>
      <p:cxnSp>
        <p:nvCxnSpPr>
          <p:cNvPr id="524" name="Google Shape;524;p39"/>
          <p:cNvCxnSpPr>
            <a:stCxn id="521" idx="3"/>
            <a:endCxn id="504" idx="1"/>
          </p:cNvCxnSpPr>
          <p:nvPr/>
        </p:nvCxnSpPr>
        <p:spPr>
          <a:xfrm flipH="1" rot="10800000">
            <a:off x="8326324" y="2598600"/>
            <a:ext cx="534900" cy="1341900"/>
          </a:xfrm>
          <a:prstGeom prst="bentConnector3">
            <a:avLst>
              <a:gd fmla="val 50005" name="adj1"/>
            </a:avLst>
          </a:prstGeom>
          <a:noFill/>
          <a:ln cap="flat" cmpd="sng" w="9525">
            <a:solidFill>
              <a:srgbClr val="10B55F"/>
            </a:solidFill>
            <a:prstDash val="dash"/>
            <a:round/>
            <a:headEnd len="med" w="med" type="diamond"/>
            <a:tailEnd len="med" w="med" type="stealth"/>
          </a:ln>
        </p:spPr>
      </p:cxnSp>
      <p:cxnSp>
        <p:nvCxnSpPr>
          <p:cNvPr id="525" name="Google Shape;525;p39"/>
          <p:cNvCxnSpPr>
            <a:stCxn id="521" idx="3"/>
            <a:endCxn id="502" idx="1"/>
          </p:cNvCxnSpPr>
          <p:nvPr/>
        </p:nvCxnSpPr>
        <p:spPr>
          <a:xfrm flipH="1" rot="10800000">
            <a:off x="8326324" y="1575600"/>
            <a:ext cx="534900" cy="2364900"/>
          </a:xfrm>
          <a:prstGeom prst="bentConnector3">
            <a:avLst>
              <a:gd fmla="val 50005" name="adj1"/>
            </a:avLst>
          </a:prstGeom>
          <a:noFill/>
          <a:ln cap="flat" cmpd="sng" w="9525">
            <a:solidFill>
              <a:srgbClr val="10B55F"/>
            </a:solidFill>
            <a:prstDash val="dash"/>
            <a:round/>
            <a:headEnd len="med" w="med" type="diamond"/>
            <a:tailEnd len="med" w="med" type="stealth"/>
          </a:ln>
        </p:spPr>
      </p:cxnSp>
      <p:cxnSp>
        <p:nvCxnSpPr>
          <p:cNvPr id="526" name="Google Shape;526;p39"/>
          <p:cNvCxnSpPr>
            <a:stCxn id="521" idx="3"/>
            <a:endCxn id="515" idx="1"/>
          </p:cNvCxnSpPr>
          <p:nvPr/>
        </p:nvCxnSpPr>
        <p:spPr>
          <a:xfrm>
            <a:off x="8326324" y="3940500"/>
            <a:ext cx="451500" cy="705000"/>
          </a:xfrm>
          <a:prstGeom prst="bentConnector3">
            <a:avLst>
              <a:gd fmla="val 57392" name="adj1"/>
            </a:avLst>
          </a:prstGeom>
          <a:noFill/>
          <a:ln cap="flat" cmpd="sng" w="9525">
            <a:solidFill>
              <a:srgbClr val="10B55F"/>
            </a:solidFill>
            <a:prstDash val="dash"/>
            <a:round/>
            <a:headEnd len="med" w="med" type="diamond"/>
            <a:tailEnd len="med" w="med" type="stealth"/>
          </a:ln>
        </p:spPr>
      </p:cxnSp>
      <p:cxnSp>
        <p:nvCxnSpPr>
          <p:cNvPr id="527" name="Google Shape;527;p39"/>
          <p:cNvCxnSpPr>
            <a:stCxn id="521" idx="3"/>
            <a:endCxn id="518" idx="1"/>
          </p:cNvCxnSpPr>
          <p:nvPr/>
        </p:nvCxnSpPr>
        <p:spPr>
          <a:xfrm>
            <a:off x="8326324" y="3940500"/>
            <a:ext cx="360300" cy="1718700"/>
          </a:xfrm>
          <a:prstGeom prst="bentConnector3">
            <a:avLst>
              <a:gd fmla="val 71919" name="adj1"/>
            </a:avLst>
          </a:prstGeom>
          <a:noFill/>
          <a:ln cap="flat" cmpd="sng" w="9525">
            <a:solidFill>
              <a:srgbClr val="10B55F"/>
            </a:solidFill>
            <a:prstDash val="dash"/>
            <a:round/>
            <a:headEnd len="med" w="med" type="diamond"/>
            <a:tailEnd len="med" w="med" type="stealth"/>
          </a:ln>
        </p:spPr>
      </p:cxnSp>
      <p:cxnSp>
        <p:nvCxnSpPr>
          <p:cNvPr id="528" name="Google Shape;528;p39"/>
          <p:cNvCxnSpPr>
            <a:stCxn id="521" idx="3"/>
            <a:endCxn id="510" idx="1"/>
          </p:cNvCxnSpPr>
          <p:nvPr/>
        </p:nvCxnSpPr>
        <p:spPr>
          <a:xfrm flipH="1" rot="10800000">
            <a:off x="8326324" y="3621600"/>
            <a:ext cx="2379000" cy="318900"/>
          </a:xfrm>
          <a:prstGeom prst="bentConnector3">
            <a:avLst>
              <a:gd fmla="val 83232" name="adj1"/>
            </a:avLst>
          </a:prstGeom>
          <a:noFill/>
          <a:ln cap="flat" cmpd="sng" w="9525">
            <a:solidFill>
              <a:srgbClr val="10B55F"/>
            </a:solidFill>
            <a:prstDash val="dash"/>
            <a:round/>
            <a:headEnd len="med" w="med" type="diamond"/>
            <a:tailEnd len="med" w="med" type="stealth"/>
          </a:ln>
        </p:spPr>
      </p:cxnSp>
      <p:cxnSp>
        <p:nvCxnSpPr>
          <p:cNvPr id="529" name="Google Shape;529;p39"/>
          <p:cNvCxnSpPr>
            <a:stCxn id="521" idx="3"/>
            <a:endCxn id="506" idx="1"/>
          </p:cNvCxnSpPr>
          <p:nvPr/>
        </p:nvCxnSpPr>
        <p:spPr>
          <a:xfrm flipH="1" rot="10800000">
            <a:off x="8326324" y="2598600"/>
            <a:ext cx="2462400" cy="1341900"/>
          </a:xfrm>
          <a:prstGeom prst="bentConnector3">
            <a:avLst>
              <a:gd fmla="val 80088" name="adj1"/>
            </a:avLst>
          </a:prstGeom>
          <a:noFill/>
          <a:ln cap="flat" cmpd="sng" w="9525">
            <a:solidFill>
              <a:srgbClr val="10B55F"/>
            </a:solidFill>
            <a:prstDash val="dash"/>
            <a:round/>
            <a:headEnd len="med" w="med" type="diamond"/>
            <a:tailEnd len="med" w="med" type="stealth"/>
          </a:ln>
        </p:spPr>
      </p:cxnSp>
      <p:cxnSp>
        <p:nvCxnSpPr>
          <p:cNvPr id="530" name="Google Shape;530;p39"/>
          <p:cNvCxnSpPr>
            <a:stCxn id="521" idx="3"/>
            <a:endCxn id="505" idx="1"/>
          </p:cNvCxnSpPr>
          <p:nvPr/>
        </p:nvCxnSpPr>
        <p:spPr>
          <a:xfrm flipH="1" rot="10800000">
            <a:off x="8326324" y="1577400"/>
            <a:ext cx="2462400" cy="2363100"/>
          </a:xfrm>
          <a:prstGeom prst="bentConnector3">
            <a:avLst>
              <a:gd fmla="val 80088" name="adj1"/>
            </a:avLst>
          </a:prstGeom>
          <a:noFill/>
          <a:ln cap="flat" cmpd="sng" w="9525">
            <a:solidFill>
              <a:srgbClr val="10B55F"/>
            </a:solidFill>
            <a:prstDash val="dash"/>
            <a:round/>
            <a:headEnd len="med" w="med" type="diamond"/>
            <a:tailEnd len="med" w="med" type="stealth"/>
          </a:ln>
        </p:spPr>
      </p:cxnSp>
      <p:cxnSp>
        <p:nvCxnSpPr>
          <p:cNvPr id="531" name="Google Shape;531;p39"/>
          <p:cNvCxnSpPr>
            <a:stCxn id="521" idx="3"/>
            <a:endCxn id="508" idx="1"/>
          </p:cNvCxnSpPr>
          <p:nvPr/>
        </p:nvCxnSpPr>
        <p:spPr>
          <a:xfrm>
            <a:off x="8326324" y="3940500"/>
            <a:ext cx="2462400" cy="704100"/>
          </a:xfrm>
          <a:prstGeom prst="bentConnector3">
            <a:avLst>
              <a:gd fmla="val 80389" name="adj1"/>
            </a:avLst>
          </a:prstGeom>
          <a:noFill/>
          <a:ln cap="flat" cmpd="sng" w="9525">
            <a:solidFill>
              <a:srgbClr val="10B55F"/>
            </a:solidFill>
            <a:prstDash val="dash"/>
            <a:round/>
            <a:headEnd len="med" w="med" type="diamond"/>
            <a:tailEnd len="med" w="med" type="stealth"/>
          </a:ln>
        </p:spPr>
      </p:cxnSp>
      <p:pic>
        <p:nvPicPr>
          <p:cNvPr descr="&lt;svg xmlns=&quot;http://www.w3.org/2000/svg&quot; height=&quot;24px&quot; viewBox=&quot;0 -960 960 960&quot; width=&quot;24px&quot; fill=&quot;#10b55f&quot;&gt;&lt;path d=&quot;m370-80-16-128q-13-5-24.5-12T307-235l-119 50L78-375l103-78q-1-7-1-13.5v-27q0-6.5 1-13.5L78-585l110-190 119 50q11-8 23-15t24-12l16-128h220l16 128q13 5 24.5 12t22.5 15l119-50 110 190-103 78q1 7 1 13.5v27q0 6.5-2 13.5l103 78-110 190-118-50q-11 8-23 15t-24 12L590-80H370Zm70-80h79l14-106q31-8 57.5-23.5T639-327l99 41 39-68-86-65q5-14 7-29.5t2-31.5q0-16-2-31.5t-7-29.5l86-65-39-68-99 42q-22-23-48.5-38.5T533-694l-13-106h-79l-14 106q-31 8-57.5 23.5T321-633l-99-41-39 68 86 64q-5 15-7 30t-2 32q0 16 2 31t7 30l-86 65 39 68 99-42q22 23 48.5 38.5T427-266l13 106Zm42-180q58 0 99-41t41-99q0-58-41-99t-99-41q-59 0-99.5 41T342-480q0 58 40.5 99t99.5 41Zm-2-140Z&quot;/&gt;&lt;/svg&gt;" id="532" name="Google Shape;53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2793" y="382618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39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534" name="Google Shape;534;p39"/>
          <p:cNvSpPr txBox="1"/>
          <p:nvPr>
            <p:ph type="title"/>
          </p:nvPr>
        </p:nvSpPr>
        <p:spPr>
          <a:xfrm>
            <a:off x="215316" y="664800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➔"/>
            </a:pPr>
            <a:r>
              <a:rPr lang="en"/>
              <a:t>[02] Natural Language Processing</a:t>
            </a:r>
            <a:endParaRPr sz="2000">
              <a:solidFill>
                <a:srgbClr val="9FB1FF"/>
              </a:solidFill>
            </a:endParaRPr>
          </a:p>
        </p:txBody>
      </p:sp>
      <p:sp>
        <p:nvSpPr>
          <p:cNvPr id="535" name="Google Shape;535;p39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| [1] </a:t>
            </a:r>
            <a:r>
              <a:rPr b="1"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Proceso de estandarización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0"/>
          <p:cNvSpPr txBox="1"/>
          <p:nvPr/>
        </p:nvSpPr>
        <p:spPr>
          <a:xfrm>
            <a:off x="6276000" y="2406000"/>
            <a:ext cx="1611900" cy="369300"/>
          </a:xfrm>
          <a:prstGeom prst="rect">
            <a:avLst/>
          </a:prstGeom>
          <a:noFill/>
          <a:ln cap="flat" cmpd="sng" w="9525">
            <a:solidFill>
              <a:srgbClr val="C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Pain </a:t>
            </a:r>
            <a:r>
              <a:rPr lang="en" sz="1200">
                <a:solidFill>
                  <a:srgbClr val="10B55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[Current]</a:t>
            </a:r>
            <a:endParaRPr sz="1200">
              <a:solidFill>
                <a:srgbClr val="10B55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41" name="Google Shape;541;p40"/>
          <p:cNvSpPr txBox="1"/>
          <p:nvPr/>
        </p:nvSpPr>
        <p:spPr>
          <a:xfrm>
            <a:off x="8248000" y="2406002"/>
            <a:ext cx="1017600" cy="369300"/>
          </a:xfrm>
          <a:prstGeom prst="rect">
            <a:avLst/>
          </a:prstGeom>
          <a:noFill/>
          <a:ln cap="flat" cmpd="sng" w="9525">
            <a:solidFill>
              <a:srgbClr val="C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ECG </a:t>
            </a:r>
            <a:r>
              <a:rPr lang="en" sz="1200">
                <a:solidFill>
                  <a:srgbClr val="10B55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[Plan]</a:t>
            </a:r>
            <a:endParaRPr sz="12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42" name="Google Shape;542;p40"/>
          <p:cNvSpPr txBox="1"/>
          <p:nvPr/>
        </p:nvSpPr>
        <p:spPr>
          <a:xfrm>
            <a:off x="10220006" y="2406001"/>
            <a:ext cx="1017600" cy="369300"/>
          </a:xfrm>
          <a:prstGeom prst="rect">
            <a:avLst/>
          </a:prstGeom>
          <a:noFill/>
          <a:ln cap="flat" cmpd="sng" w="9525">
            <a:solidFill>
              <a:srgbClr val="C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AMI </a:t>
            </a:r>
            <a:r>
              <a:rPr lang="en" sz="1200">
                <a:solidFill>
                  <a:srgbClr val="10B55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[Past]</a:t>
            </a:r>
            <a:endParaRPr sz="12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43" name="Google Shape;543;p40"/>
          <p:cNvSpPr txBox="1"/>
          <p:nvPr/>
        </p:nvSpPr>
        <p:spPr>
          <a:xfrm>
            <a:off x="4304000" y="4082711"/>
            <a:ext cx="1017600" cy="369300"/>
          </a:xfrm>
          <a:prstGeom prst="rect">
            <a:avLst/>
          </a:prstGeom>
          <a:noFill/>
          <a:ln cap="flat" cmpd="sng" w="9525">
            <a:solidFill>
              <a:srgbClr val="C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Left arm</a:t>
            </a:r>
            <a:endParaRPr sz="12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44" name="Google Shape;544;p40"/>
          <p:cNvSpPr txBox="1"/>
          <p:nvPr/>
        </p:nvSpPr>
        <p:spPr>
          <a:xfrm>
            <a:off x="8248006" y="4082711"/>
            <a:ext cx="1017600" cy="369300"/>
          </a:xfrm>
          <a:prstGeom prst="rect">
            <a:avLst/>
          </a:prstGeom>
          <a:noFill/>
          <a:ln cap="flat" cmpd="sng" w="9525">
            <a:solidFill>
              <a:srgbClr val="C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Persists</a:t>
            </a:r>
            <a:endParaRPr sz="12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45" name="Google Shape;545;p40"/>
          <p:cNvSpPr txBox="1"/>
          <p:nvPr/>
        </p:nvSpPr>
        <p:spPr>
          <a:xfrm>
            <a:off x="10219998" y="4082700"/>
            <a:ext cx="1611900" cy="369300"/>
          </a:xfrm>
          <a:prstGeom prst="rect">
            <a:avLst/>
          </a:prstGeom>
          <a:noFill/>
          <a:ln cap="flat" cmpd="sng" w="9525">
            <a:solidFill>
              <a:srgbClr val="C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Nitrostat </a:t>
            </a:r>
            <a:r>
              <a:rPr lang="en" sz="1200">
                <a:solidFill>
                  <a:srgbClr val="10B55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[Past]</a:t>
            </a:r>
            <a:endParaRPr sz="12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46" name="Google Shape;546;p40"/>
          <p:cNvSpPr txBox="1"/>
          <p:nvPr/>
        </p:nvSpPr>
        <p:spPr>
          <a:xfrm>
            <a:off x="6276000" y="4082692"/>
            <a:ext cx="1278000" cy="369300"/>
          </a:xfrm>
          <a:prstGeom prst="rect">
            <a:avLst/>
          </a:prstGeom>
          <a:noFill/>
          <a:ln cap="flat" cmpd="sng" w="9525">
            <a:solidFill>
              <a:srgbClr val="C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Yesterday</a:t>
            </a:r>
            <a:endParaRPr sz="12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47" name="Google Shape;547;p40"/>
          <p:cNvSpPr txBox="1"/>
          <p:nvPr/>
        </p:nvSpPr>
        <p:spPr>
          <a:xfrm>
            <a:off x="8248000" y="5475010"/>
            <a:ext cx="1184700" cy="369300"/>
          </a:xfrm>
          <a:prstGeom prst="rect">
            <a:avLst/>
          </a:prstGeom>
          <a:noFill/>
          <a:ln cap="flat" cmpd="sng" w="9525">
            <a:solidFill>
              <a:srgbClr val="C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This morning</a:t>
            </a:r>
            <a:endParaRPr sz="12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48" name="Google Shape;548;p40"/>
          <p:cNvSpPr txBox="1"/>
          <p:nvPr/>
        </p:nvSpPr>
        <p:spPr>
          <a:xfrm>
            <a:off x="10220000" y="5475000"/>
            <a:ext cx="1611900" cy="554100"/>
          </a:xfrm>
          <a:prstGeom prst="rect">
            <a:avLst/>
          </a:prstGeom>
          <a:noFill/>
          <a:ln cap="flat" cmpd="sng" w="9525">
            <a:solidFill>
              <a:srgbClr val="C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Improvement </a:t>
            </a:r>
            <a:r>
              <a:rPr lang="en" sz="1200">
                <a:solidFill>
                  <a:srgbClr val="10B55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[Negative]</a:t>
            </a:r>
            <a:endParaRPr sz="12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49" name="Google Shape;549;p40"/>
          <p:cNvSpPr txBox="1"/>
          <p:nvPr/>
        </p:nvSpPr>
        <p:spPr>
          <a:xfrm>
            <a:off x="806368" y="2406000"/>
            <a:ext cx="2958000" cy="3069000"/>
          </a:xfrm>
          <a:prstGeom prst="rect">
            <a:avLst/>
          </a:prstGeom>
          <a:noFill/>
          <a:ln cap="flat" cmpd="sng" w="9525">
            <a:solidFill>
              <a:srgbClr val="C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21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Consultation on </a:t>
            </a:r>
            <a:r>
              <a:rPr lang="en">
                <a:solidFill>
                  <a:srgbClr val="040F40"/>
                </a:solidFill>
                <a:highlight>
                  <a:schemeClr val="accent1"/>
                </a:highlight>
                <a:latin typeface="IBM Plex Sans"/>
                <a:ea typeface="IBM Plex Sans"/>
                <a:cs typeface="IBM Plex Sans"/>
                <a:sym typeface="IBM Plex Sans"/>
              </a:rPr>
              <a:t>pian left arm</a:t>
            </a: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since </a:t>
            </a:r>
            <a:r>
              <a:rPr lang="en">
                <a:solidFill>
                  <a:srgbClr val="040F40"/>
                </a:solidFill>
                <a:highlight>
                  <a:srgbClr val="D0FCE5"/>
                </a:highlight>
                <a:latin typeface="IBM Plex Sans"/>
                <a:ea typeface="IBM Plex Sans"/>
                <a:cs typeface="IBM Plex Sans"/>
                <a:sym typeface="IBM Plex Sans"/>
              </a:rPr>
              <a:t>yesterday</a:t>
            </a: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1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Thi s</a:t>
            </a:r>
            <a:r>
              <a:rPr lang="en">
                <a:solidFill>
                  <a:srgbClr val="040F40"/>
                </a:solidFill>
                <a:highlight>
                  <a:srgbClr val="D0FCE5"/>
                </a:highlight>
                <a:latin typeface="IBM Plex Sans"/>
                <a:ea typeface="IBM Plex Sans"/>
                <a:cs typeface="IBM Plex Sans"/>
                <a:sym typeface="IBM Plex Sans"/>
              </a:rPr>
              <a:t>morning</a:t>
            </a:r>
            <a:r>
              <a:rPr lang="en">
                <a:solidFill>
                  <a:srgbClr val="040F40"/>
                </a:solidFill>
                <a:highlight>
                  <a:schemeClr val="accent1"/>
                </a:highlight>
                <a:latin typeface="IBM Plex Sans"/>
                <a:ea typeface="IBM Plex Sans"/>
                <a:cs typeface="IBM Plex Sans"/>
                <a:sym typeface="IBM Plex Sans"/>
              </a:rPr>
              <a:t> pain persists</a:t>
            </a: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.  </a:t>
            </a:r>
            <a:endParaRPr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1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Had similar pain whn had </a:t>
            </a:r>
            <a:r>
              <a:rPr lang="en">
                <a:solidFill>
                  <a:srgbClr val="040F40"/>
                </a:solidFill>
                <a:highlight>
                  <a:schemeClr val="accent1"/>
                </a:highlight>
                <a:latin typeface="IBM Plex Sans"/>
                <a:ea typeface="IBM Plex Sans"/>
                <a:cs typeface="IBM Plex Sans"/>
                <a:sym typeface="IBM Plex Sans"/>
              </a:rPr>
              <a:t>AMI</a:t>
            </a: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.  </a:t>
            </a:r>
            <a:endParaRPr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1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Has taken </a:t>
            </a:r>
            <a:r>
              <a:rPr lang="en">
                <a:solidFill>
                  <a:srgbClr val="040F40"/>
                </a:solidFill>
                <a:highlight>
                  <a:schemeClr val="accent1"/>
                </a:highlight>
                <a:latin typeface="IBM Plex Sans"/>
                <a:ea typeface="IBM Plex Sans"/>
                <a:cs typeface="IBM Plex Sans"/>
                <a:sym typeface="IBM Plex Sans"/>
              </a:rPr>
              <a:t>nitrostat</a:t>
            </a: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without </a:t>
            </a:r>
            <a:r>
              <a:rPr lang="en">
                <a:solidFill>
                  <a:srgbClr val="040F40"/>
                </a:solidFill>
                <a:highlight>
                  <a:schemeClr val="accent1"/>
                </a:highlight>
                <a:latin typeface="IBM Plex Sans"/>
                <a:ea typeface="IBM Plex Sans"/>
                <a:cs typeface="IBM Plex Sans"/>
                <a:sym typeface="IBM Plex Sans"/>
              </a:rPr>
              <a:t>improvement</a:t>
            </a: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21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Request of </a:t>
            </a:r>
            <a:r>
              <a:rPr lang="en">
                <a:solidFill>
                  <a:srgbClr val="040F40"/>
                </a:solidFill>
                <a:highlight>
                  <a:schemeClr val="accent1"/>
                </a:highlight>
                <a:latin typeface="IBM Plex Sans"/>
                <a:ea typeface="IBM Plex Sans"/>
                <a:cs typeface="IBM Plex Sans"/>
                <a:sym typeface="IBM Plex Sans"/>
              </a:rPr>
              <a:t>ECG</a:t>
            </a: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50" name="Google Shape;550;p40"/>
          <p:cNvCxnSpPr>
            <a:stCxn id="540" idx="1"/>
            <a:endCxn id="543" idx="0"/>
          </p:cNvCxnSpPr>
          <p:nvPr/>
        </p:nvCxnSpPr>
        <p:spPr>
          <a:xfrm flipH="1">
            <a:off x="4812900" y="2590650"/>
            <a:ext cx="1463100" cy="1492200"/>
          </a:xfrm>
          <a:prstGeom prst="bentConnector2">
            <a:avLst/>
          </a:prstGeom>
          <a:noFill/>
          <a:ln cap="flat" cmpd="sng" w="9525">
            <a:solidFill>
              <a:srgbClr val="10B55F"/>
            </a:solidFill>
            <a:prstDash val="dash"/>
            <a:round/>
            <a:headEnd len="med" w="med" type="diamond"/>
            <a:tailEnd len="med" w="med" type="stealth"/>
          </a:ln>
        </p:spPr>
      </p:cxnSp>
      <p:sp>
        <p:nvSpPr>
          <p:cNvPr id="551" name="Google Shape;551;p40"/>
          <p:cNvSpPr txBox="1"/>
          <p:nvPr/>
        </p:nvSpPr>
        <p:spPr>
          <a:xfrm>
            <a:off x="4304000" y="3236553"/>
            <a:ext cx="1017600" cy="36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</a:t>
            </a:r>
            <a:endParaRPr sz="12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52" name="Google Shape;552;p40"/>
          <p:cNvCxnSpPr>
            <a:stCxn id="540" idx="2"/>
            <a:endCxn id="546" idx="0"/>
          </p:cNvCxnSpPr>
          <p:nvPr/>
        </p:nvCxnSpPr>
        <p:spPr>
          <a:xfrm rot="5400000">
            <a:off x="6344700" y="3345450"/>
            <a:ext cx="1307400" cy="167100"/>
          </a:xfrm>
          <a:prstGeom prst="bentConnector3">
            <a:avLst>
              <a:gd fmla="val 22572" name="adj1"/>
            </a:avLst>
          </a:prstGeom>
          <a:noFill/>
          <a:ln cap="flat" cmpd="sng" w="9525">
            <a:solidFill>
              <a:srgbClr val="10B55F"/>
            </a:solidFill>
            <a:prstDash val="dash"/>
            <a:round/>
            <a:headEnd len="med" w="med" type="diamond"/>
            <a:tailEnd len="med" w="med" type="stealth"/>
          </a:ln>
        </p:spPr>
      </p:cxnSp>
      <p:cxnSp>
        <p:nvCxnSpPr>
          <p:cNvPr id="553" name="Google Shape;553;p40"/>
          <p:cNvCxnSpPr>
            <a:stCxn id="540" idx="2"/>
            <a:endCxn id="544" idx="0"/>
          </p:cNvCxnSpPr>
          <p:nvPr/>
        </p:nvCxnSpPr>
        <p:spPr>
          <a:xfrm flipH="1" rot="-5400000">
            <a:off x="7265700" y="2591550"/>
            <a:ext cx="1307400" cy="1674900"/>
          </a:xfrm>
          <a:prstGeom prst="bentConnector3">
            <a:avLst>
              <a:gd fmla="val 21715" name="adj1"/>
            </a:avLst>
          </a:prstGeom>
          <a:noFill/>
          <a:ln cap="flat" cmpd="sng" w="9525">
            <a:solidFill>
              <a:srgbClr val="10B55F"/>
            </a:solidFill>
            <a:prstDash val="dash"/>
            <a:round/>
            <a:headEnd len="med" w="med" type="diamond"/>
            <a:tailEnd len="med" w="med" type="stealth"/>
          </a:ln>
        </p:spPr>
      </p:cxnSp>
      <p:cxnSp>
        <p:nvCxnSpPr>
          <p:cNvPr id="554" name="Google Shape;554;p40"/>
          <p:cNvCxnSpPr>
            <a:stCxn id="540" idx="2"/>
            <a:endCxn id="545" idx="0"/>
          </p:cNvCxnSpPr>
          <p:nvPr/>
        </p:nvCxnSpPr>
        <p:spPr>
          <a:xfrm flipH="1" rot="-5400000">
            <a:off x="8400300" y="1456950"/>
            <a:ext cx="1307400" cy="3944100"/>
          </a:xfrm>
          <a:prstGeom prst="bentConnector3">
            <a:avLst>
              <a:gd fmla="val 21715" name="adj1"/>
            </a:avLst>
          </a:prstGeom>
          <a:noFill/>
          <a:ln cap="flat" cmpd="sng" w="9525">
            <a:solidFill>
              <a:srgbClr val="10B55F"/>
            </a:solidFill>
            <a:prstDash val="dash"/>
            <a:round/>
            <a:headEnd len="med" w="med" type="diamond"/>
            <a:tailEnd len="med" w="med" type="stealth"/>
          </a:ln>
        </p:spPr>
      </p:cxnSp>
      <p:sp>
        <p:nvSpPr>
          <p:cNvPr id="555" name="Google Shape;555;p40"/>
          <p:cNvSpPr txBox="1"/>
          <p:nvPr/>
        </p:nvSpPr>
        <p:spPr>
          <a:xfrm>
            <a:off x="6276000" y="3236550"/>
            <a:ext cx="1278000" cy="36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Began</a:t>
            </a:r>
            <a:endParaRPr sz="12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6" name="Google Shape;556;p40"/>
          <p:cNvSpPr txBox="1"/>
          <p:nvPr/>
        </p:nvSpPr>
        <p:spPr>
          <a:xfrm>
            <a:off x="7950850" y="3236550"/>
            <a:ext cx="1611900" cy="36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Characteristics</a:t>
            </a:r>
            <a:endParaRPr sz="12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7" name="Google Shape;557;p40"/>
          <p:cNvSpPr txBox="1"/>
          <p:nvPr/>
        </p:nvSpPr>
        <p:spPr>
          <a:xfrm>
            <a:off x="10220000" y="3236550"/>
            <a:ext cx="1184700" cy="36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Treated with</a:t>
            </a:r>
            <a:endParaRPr sz="12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58" name="Google Shape;558;p40"/>
          <p:cNvCxnSpPr>
            <a:stCxn id="544" idx="2"/>
            <a:endCxn id="547" idx="0"/>
          </p:cNvCxnSpPr>
          <p:nvPr/>
        </p:nvCxnSpPr>
        <p:spPr>
          <a:xfrm flipH="1" rot="-5400000">
            <a:off x="8287006" y="4921811"/>
            <a:ext cx="1023000" cy="83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10B55F"/>
            </a:solidFill>
            <a:prstDash val="dash"/>
            <a:round/>
            <a:headEnd len="med" w="med" type="diamond"/>
            <a:tailEnd len="med" w="med" type="stealth"/>
          </a:ln>
        </p:spPr>
      </p:cxnSp>
      <p:cxnSp>
        <p:nvCxnSpPr>
          <p:cNvPr id="559" name="Google Shape;559;p40"/>
          <p:cNvCxnSpPr>
            <a:stCxn id="545" idx="2"/>
            <a:endCxn id="548" idx="0"/>
          </p:cNvCxnSpPr>
          <p:nvPr/>
        </p:nvCxnSpPr>
        <p:spPr>
          <a:xfrm flipH="1" rot="-5400000">
            <a:off x="10514748" y="4963200"/>
            <a:ext cx="10230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10B55F"/>
            </a:solidFill>
            <a:prstDash val="dash"/>
            <a:round/>
            <a:headEnd len="med" w="med" type="diamond"/>
            <a:tailEnd len="med" w="med" type="stealth"/>
          </a:ln>
        </p:spPr>
      </p:cxnSp>
      <p:sp>
        <p:nvSpPr>
          <p:cNvPr id="560" name="Google Shape;560;p40"/>
          <p:cNvSpPr txBox="1"/>
          <p:nvPr/>
        </p:nvSpPr>
        <p:spPr>
          <a:xfrm>
            <a:off x="8248000" y="4771525"/>
            <a:ext cx="1184700" cy="36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When</a:t>
            </a:r>
            <a:endParaRPr sz="12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61" name="Google Shape;561;p40"/>
          <p:cNvSpPr txBox="1"/>
          <p:nvPr/>
        </p:nvSpPr>
        <p:spPr>
          <a:xfrm>
            <a:off x="10220000" y="4771525"/>
            <a:ext cx="1367100" cy="36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Qualified</a:t>
            </a:r>
            <a:endParaRPr sz="12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62" name="Google Shape;562;p40"/>
          <p:cNvSpPr txBox="1"/>
          <p:nvPr/>
        </p:nvSpPr>
        <p:spPr>
          <a:xfrm>
            <a:off x="4303950" y="5069100"/>
            <a:ext cx="35841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Contexts</a:t>
            </a:r>
            <a:endParaRPr sz="10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200660" lvl="0" marL="22860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Char char="■"/>
            </a:pPr>
            <a:r>
              <a:rPr lang="en" sz="1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Positive / Negative</a:t>
            </a:r>
            <a:endParaRPr sz="1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0660" lvl="0" marL="22860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Char char="■"/>
            </a:pPr>
            <a:r>
              <a:rPr lang="en" sz="1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Past / Present / Future</a:t>
            </a:r>
            <a:endParaRPr sz="1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0660" lvl="0" marL="22860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Char char="■"/>
            </a:pPr>
            <a:r>
              <a:rPr lang="en" sz="1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Certain / Uncertain</a:t>
            </a:r>
            <a:endParaRPr sz="1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0660" lvl="0" marL="22860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Char char="■"/>
            </a:pPr>
            <a:r>
              <a:rPr lang="en" sz="1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Does / Does not refer to patient</a:t>
            </a:r>
            <a:endParaRPr sz="1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0660" lvl="0" marL="228600" rtl="0" algn="l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ts val="1000"/>
              <a:buFont typeface="IBM Plex Sans"/>
              <a:buChar char="■"/>
            </a:pPr>
            <a:r>
              <a:rPr lang="en" sz="1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…</a:t>
            </a:r>
            <a:endParaRPr sz="1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63" name="Google Shape;563;p40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564" name="Google Shape;564;p40"/>
          <p:cNvSpPr txBox="1"/>
          <p:nvPr>
            <p:ph type="title"/>
          </p:nvPr>
        </p:nvSpPr>
        <p:spPr>
          <a:xfrm>
            <a:off x="215316" y="664800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➔"/>
            </a:pPr>
            <a:r>
              <a:rPr lang="en"/>
              <a:t>[02] Natural Language Processing</a:t>
            </a:r>
            <a:endParaRPr sz="2000">
              <a:solidFill>
                <a:srgbClr val="9FB1FF"/>
              </a:solidFill>
            </a:endParaRPr>
          </a:p>
        </p:txBody>
      </p:sp>
      <p:sp>
        <p:nvSpPr>
          <p:cNvPr id="565" name="Google Shape;565;p40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| [1] </a:t>
            </a:r>
            <a:r>
              <a:rPr b="1"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Proceso de estandarización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1"/>
          <p:cNvSpPr txBox="1"/>
          <p:nvPr/>
        </p:nvSpPr>
        <p:spPr>
          <a:xfrm>
            <a:off x="4304000" y="2406000"/>
            <a:ext cx="1611900" cy="554100"/>
          </a:xfrm>
          <a:prstGeom prst="rect">
            <a:avLst/>
          </a:prstGeom>
          <a:noFill/>
          <a:ln cap="flat" cmpd="sng" w="9525">
            <a:solidFill>
              <a:srgbClr val="C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Pain </a:t>
            </a:r>
            <a:r>
              <a:rPr lang="en" sz="1200">
                <a:solidFill>
                  <a:srgbClr val="10B55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[Current, Certain, Patient…]</a:t>
            </a:r>
            <a:endParaRPr sz="1200">
              <a:solidFill>
                <a:srgbClr val="10B55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71" name="Google Shape;571;p41"/>
          <p:cNvSpPr txBox="1"/>
          <p:nvPr/>
        </p:nvSpPr>
        <p:spPr>
          <a:xfrm>
            <a:off x="4303950" y="4082700"/>
            <a:ext cx="1611900" cy="554100"/>
          </a:xfrm>
          <a:prstGeom prst="rect">
            <a:avLst/>
          </a:prstGeom>
          <a:noFill/>
          <a:ln cap="flat" cmpd="sng" w="9525">
            <a:solidFill>
              <a:srgbClr val="C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Left arm </a:t>
            </a:r>
            <a:r>
              <a:rPr lang="en" sz="1200">
                <a:solidFill>
                  <a:srgbClr val="10B55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[Current, Certain, Patient…]</a:t>
            </a:r>
            <a:endParaRPr sz="12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72" name="Google Shape;572;p41"/>
          <p:cNvSpPr txBox="1"/>
          <p:nvPr/>
        </p:nvSpPr>
        <p:spPr>
          <a:xfrm>
            <a:off x="798524" y="2406000"/>
            <a:ext cx="2958000" cy="3069000"/>
          </a:xfrm>
          <a:prstGeom prst="rect">
            <a:avLst/>
          </a:prstGeom>
          <a:noFill/>
          <a:ln cap="flat" cmpd="sng" w="9525">
            <a:solidFill>
              <a:srgbClr val="C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21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Consultation on </a:t>
            </a:r>
            <a:r>
              <a:rPr lang="en">
                <a:solidFill>
                  <a:srgbClr val="040F40"/>
                </a:solidFill>
                <a:highlight>
                  <a:schemeClr val="accent1"/>
                </a:highlight>
                <a:latin typeface="IBM Plex Sans"/>
                <a:ea typeface="IBM Plex Sans"/>
                <a:cs typeface="IBM Plex Sans"/>
                <a:sym typeface="IBM Plex Sans"/>
              </a:rPr>
              <a:t>pian left arm</a:t>
            </a: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since </a:t>
            </a:r>
            <a:r>
              <a:rPr lang="en">
                <a:solidFill>
                  <a:srgbClr val="040F40"/>
                </a:solidFill>
                <a:highlight>
                  <a:srgbClr val="D0FCE5"/>
                </a:highlight>
                <a:latin typeface="IBM Plex Sans"/>
                <a:ea typeface="IBM Plex Sans"/>
                <a:cs typeface="IBM Plex Sans"/>
                <a:sym typeface="IBM Plex Sans"/>
              </a:rPr>
              <a:t>yesterday</a:t>
            </a: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1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Thi s</a:t>
            </a:r>
            <a:r>
              <a:rPr lang="en">
                <a:solidFill>
                  <a:srgbClr val="040F40"/>
                </a:solidFill>
                <a:highlight>
                  <a:srgbClr val="D0FCE5"/>
                </a:highlight>
                <a:latin typeface="IBM Plex Sans"/>
                <a:ea typeface="IBM Plex Sans"/>
                <a:cs typeface="IBM Plex Sans"/>
                <a:sym typeface="IBM Plex Sans"/>
              </a:rPr>
              <a:t>morning</a:t>
            </a:r>
            <a:r>
              <a:rPr lang="en">
                <a:solidFill>
                  <a:srgbClr val="040F40"/>
                </a:solidFill>
                <a:highlight>
                  <a:schemeClr val="accent1"/>
                </a:highlight>
                <a:latin typeface="IBM Plex Sans"/>
                <a:ea typeface="IBM Plex Sans"/>
                <a:cs typeface="IBM Plex Sans"/>
                <a:sym typeface="IBM Plex Sans"/>
              </a:rPr>
              <a:t> pain persists</a:t>
            </a: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.  </a:t>
            </a:r>
            <a:endParaRPr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1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Had similar pain whn had </a:t>
            </a:r>
            <a:r>
              <a:rPr lang="en">
                <a:solidFill>
                  <a:srgbClr val="040F40"/>
                </a:solidFill>
                <a:highlight>
                  <a:schemeClr val="accent1"/>
                </a:highlight>
                <a:latin typeface="IBM Plex Sans"/>
                <a:ea typeface="IBM Plex Sans"/>
                <a:cs typeface="IBM Plex Sans"/>
                <a:sym typeface="IBM Plex Sans"/>
              </a:rPr>
              <a:t>AMI</a:t>
            </a: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.  </a:t>
            </a:r>
            <a:endParaRPr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1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Has taken </a:t>
            </a:r>
            <a:r>
              <a:rPr lang="en">
                <a:solidFill>
                  <a:srgbClr val="040F40"/>
                </a:solidFill>
                <a:highlight>
                  <a:schemeClr val="accent1"/>
                </a:highlight>
                <a:latin typeface="IBM Plex Sans"/>
                <a:ea typeface="IBM Plex Sans"/>
                <a:cs typeface="IBM Plex Sans"/>
                <a:sym typeface="IBM Plex Sans"/>
              </a:rPr>
              <a:t>nitrostat</a:t>
            </a: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without </a:t>
            </a:r>
            <a:r>
              <a:rPr lang="en">
                <a:solidFill>
                  <a:srgbClr val="040F40"/>
                </a:solidFill>
                <a:highlight>
                  <a:schemeClr val="accent1"/>
                </a:highlight>
                <a:latin typeface="IBM Plex Sans"/>
                <a:ea typeface="IBM Plex Sans"/>
                <a:cs typeface="IBM Plex Sans"/>
                <a:sym typeface="IBM Plex Sans"/>
              </a:rPr>
              <a:t>improvement</a:t>
            </a: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21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Request of </a:t>
            </a:r>
            <a:r>
              <a:rPr lang="en">
                <a:solidFill>
                  <a:srgbClr val="040F40"/>
                </a:solidFill>
                <a:highlight>
                  <a:schemeClr val="accent1"/>
                </a:highlight>
                <a:latin typeface="IBM Plex Sans"/>
                <a:ea typeface="IBM Plex Sans"/>
                <a:cs typeface="IBM Plex Sans"/>
                <a:sym typeface="IBM Plex Sans"/>
              </a:rPr>
              <a:t>ECG</a:t>
            </a: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73" name="Google Shape;573;p41"/>
          <p:cNvCxnSpPr>
            <a:stCxn id="570" idx="2"/>
            <a:endCxn id="571" idx="0"/>
          </p:cNvCxnSpPr>
          <p:nvPr/>
        </p:nvCxnSpPr>
        <p:spPr>
          <a:xfrm flipH="1" rot="-5400000">
            <a:off x="4548950" y="3521100"/>
            <a:ext cx="11226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10B55F"/>
            </a:solidFill>
            <a:prstDash val="dash"/>
            <a:round/>
            <a:headEnd len="med" w="med" type="diamond"/>
            <a:tailEnd len="med" w="med" type="stealth"/>
          </a:ln>
        </p:spPr>
      </p:cxnSp>
      <p:sp>
        <p:nvSpPr>
          <p:cNvPr id="574" name="Google Shape;574;p41"/>
          <p:cNvSpPr txBox="1"/>
          <p:nvPr/>
        </p:nvSpPr>
        <p:spPr>
          <a:xfrm>
            <a:off x="4601100" y="3236553"/>
            <a:ext cx="1017600" cy="36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</a:t>
            </a:r>
            <a:endParaRPr sz="12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75" name="Google Shape;575;p41"/>
          <p:cNvPicPr preferRelativeResize="0"/>
          <p:nvPr/>
        </p:nvPicPr>
        <p:blipFill rotWithShape="1">
          <a:blip r:embed="rId3">
            <a:alphaModFix/>
          </a:blip>
          <a:srcRect b="2990" l="4931" r="4931" t="2981"/>
          <a:stretch/>
        </p:blipFill>
        <p:spPr>
          <a:xfrm>
            <a:off x="7689900" y="1931825"/>
            <a:ext cx="3773400" cy="4185000"/>
          </a:xfrm>
          <a:prstGeom prst="roundRect">
            <a:avLst>
              <a:gd fmla="val 3125" name="adj"/>
            </a:avLst>
          </a:prstGeom>
          <a:noFill/>
          <a:ln>
            <a:noFill/>
          </a:ln>
        </p:spPr>
      </p:pic>
      <p:sp>
        <p:nvSpPr>
          <p:cNvPr id="576" name="Google Shape;576;p41"/>
          <p:cNvSpPr txBox="1"/>
          <p:nvPr/>
        </p:nvSpPr>
        <p:spPr>
          <a:xfrm>
            <a:off x="6275999" y="2526603"/>
            <a:ext cx="1017600" cy="312900"/>
          </a:xfrm>
          <a:prstGeom prst="rect">
            <a:avLst/>
          </a:prstGeom>
          <a:noFill/>
          <a:ln cap="flat" cmpd="sng" w="9525">
            <a:solidFill>
              <a:srgbClr val="C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highlight>
                  <a:schemeClr val="accent1"/>
                </a:highlight>
                <a:latin typeface="IBM Plex Sans Medium"/>
                <a:ea typeface="IBM Plex Sans Medium"/>
                <a:cs typeface="IBM Plex Sans Medium"/>
                <a:sym typeface="IBM Plex Sans Medium"/>
              </a:rPr>
              <a:t>4329041</a:t>
            </a:r>
            <a:endParaRPr sz="1200">
              <a:solidFill>
                <a:schemeClr val="dk2"/>
              </a:solidFill>
              <a:highlight>
                <a:schemeClr val="accent1"/>
              </a:highlight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77" name="Google Shape;577;p41"/>
          <p:cNvSpPr txBox="1"/>
          <p:nvPr/>
        </p:nvSpPr>
        <p:spPr>
          <a:xfrm>
            <a:off x="6275999" y="4295553"/>
            <a:ext cx="1017600" cy="312900"/>
          </a:xfrm>
          <a:prstGeom prst="rect">
            <a:avLst/>
          </a:prstGeom>
          <a:noFill/>
          <a:ln cap="flat" cmpd="sng" w="9525">
            <a:solidFill>
              <a:srgbClr val="C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highlight>
                  <a:schemeClr val="accent1"/>
                </a:highlight>
                <a:latin typeface="IBM Plex Sans Medium"/>
                <a:ea typeface="IBM Plex Sans Medium"/>
                <a:cs typeface="IBM Plex Sans Medium"/>
                <a:sym typeface="IBM Plex Sans Medium"/>
              </a:rPr>
              <a:t>4283159</a:t>
            </a:r>
            <a:endParaRPr sz="1200">
              <a:solidFill>
                <a:schemeClr val="dk2"/>
              </a:solidFill>
              <a:highlight>
                <a:schemeClr val="accent1"/>
              </a:highlight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78" name="Google Shape;578;p41"/>
          <p:cNvSpPr/>
          <p:nvPr/>
        </p:nvSpPr>
        <p:spPr>
          <a:xfrm>
            <a:off x="7293600" y="2336400"/>
            <a:ext cx="396300" cy="2370000"/>
          </a:xfrm>
          <a:prstGeom prst="rightBrace">
            <a:avLst>
              <a:gd fmla="val 1556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79" name="Google Shape;579;p41"/>
          <p:cNvSpPr/>
          <p:nvPr/>
        </p:nvSpPr>
        <p:spPr>
          <a:xfrm>
            <a:off x="7689900" y="3382750"/>
            <a:ext cx="3699850" cy="361175"/>
          </a:xfrm>
          <a:prstGeom prst="flowChartProcess">
            <a:avLst/>
          </a:prstGeom>
          <a:solidFill>
            <a:srgbClr val="0F3BFE">
              <a:alpha val="15000"/>
            </a:srgbClr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41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581" name="Google Shape;581;p41"/>
          <p:cNvSpPr txBox="1"/>
          <p:nvPr>
            <p:ph type="title"/>
          </p:nvPr>
        </p:nvSpPr>
        <p:spPr>
          <a:xfrm>
            <a:off x="215316" y="664800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➔"/>
            </a:pPr>
            <a:r>
              <a:rPr lang="en"/>
              <a:t>[02] Natural Language Processing</a:t>
            </a:r>
            <a:endParaRPr sz="2000">
              <a:solidFill>
                <a:srgbClr val="9FB1FF"/>
              </a:solidFill>
            </a:endParaRPr>
          </a:p>
        </p:txBody>
      </p:sp>
      <p:sp>
        <p:nvSpPr>
          <p:cNvPr id="582" name="Google Shape;582;p41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| [1] </a:t>
            </a:r>
            <a:r>
              <a:rPr b="1"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Proceso de estandarización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2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588" name="Google Shape;588;p42"/>
          <p:cNvSpPr txBox="1"/>
          <p:nvPr/>
        </p:nvSpPr>
        <p:spPr>
          <a:xfrm>
            <a:off x="7622000" y="5229425"/>
            <a:ext cx="2598000" cy="258600"/>
          </a:xfrm>
          <a:prstGeom prst="rect">
            <a:avLst/>
          </a:prstGeom>
          <a:solidFill>
            <a:srgbClr val="040F40"/>
          </a:solidFill>
          <a:ln cap="flat" cmpd="sng" w="9525">
            <a:solidFill>
              <a:srgbClr val="9FB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OMOP CDM Condition Occurrence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589" name="Google Shape;589;p42"/>
          <p:cNvGraphicFramePr/>
          <p:nvPr/>
        </p:nvGraphicFramePr>
        <p:xfrm>
          <a:off x="4663964" y="41282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{0C5C600E-CDB9-408A-A5F3-D8A6F270D939}</a:tableStyleId>
              </a:tblPr>
              <a:tblGrid>
                <a:gridCol w="337150"/>
                <a:gridCol w="987300"/>
                <a:gridCol w="1126575"/>
                <a:gridCol w="1249800"/>
                <a:gridCol w="1386500"/>
                <a:gridCol w="468700"/>
              </a:tblGrid>
              <a:tr h="185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...</a:t>
                      </a:r>
                      <a:endParaRPr b="1" sz="1000">
                        <a:solidFill>
                          <a:srgbClr val="040F4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person_id</a:t>
                      </a:r>
                      <a:endParaRPr b="1" sz="1000">
                        <a:solidFill>
                          <a:srgbClr val="040F4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condition</a:t>
                      </a: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_</a:t>
                      </a:r>
                      <a:b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</a:b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concept_id</a:t>
                      </a:r>
                      <a:endParaRPr b="1" sz="1000">
                        <a:solidFill>
                          <a:srgbClr val="040F4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condition_date</a:t>
                      </a:r>
                      <a:endParaRPr b="1" sz="1000">
                        <a:solidFill>
                          <a:srgbClr val="040F4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visit_occurrence_id</a:t>
                      </a:r>
                      <a:endParaRPr b="1" sz="1000">
                        <a:solidFill>
                          <a:srgbClr val="040F4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…</a:t>
                      </a:r>
                      <a:endParaRPr b="1" sz="1000">
                        <a:solidFill>
                          <a:srgbClr val="040F4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</a:tr>
              <a:tr h="235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243</a:t>
                      </a:r>
                      <a:endParaRPr sz="1000"/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36684840</a:t>
                      </a:r>
                      <a:endParaRPr sz="1000"/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FC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2021-10-12</a:t>
                      </a:r>
                      <a:endParaRPr sz="1000"/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896</a:t>
                      </a:r>
                      <a:endParaRPr sz="1000"/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90" name="Google Shape;590;p42"/>
          <p:cNvSpPr txBox="1"/>
          <p:nvPr/>
        </p:nvSpPr>
        <p:spPr>
          <a:xfrm>
            <a:off x="5001125" y="5201675"/>
            <a:ext cx="2150100" cy="314100"/>
          </a:xfrm>
          <a:prstGeom prst="rect">
            <a:avLst/>
          </a:prstGeom>
          <a:noFill/>
          <a:ln cap="flat" cmpd="sng" w="9525">
            <a:solidFill>
              <a:srgbClr val="9FB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B7940"/>
                </a:solidFill>
                <a:latin typeface="IBM Plex Sans"/>
                <a:ea typeface="IBM Plex Sans"/>
                <a:cs typeface="IBM Plex Sans"/>
                <a:sym typeface="IBM Plex Sans"/>
              </a:rPr>
              <a:t>Acute Stroke</a:t>
            </a:r>
            <a:endParaRPr sz="1600">
              <a:solidFill>
                <a:srgbClr val="0B79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91" name="Google Shape;591;p42"/>
          <p:cNvCxnSpPr>
            <a:stCxn id="590" idx="3"/>
            <a:endCxn id="588" idx="1"/>
          </p:cNvCxnSpPr>
          <p:nvPr/>
        </p:nvCxnSpPr>
        <p:spPr>
          <a:xfrm>
            <a:off x="7151225" y="5358725"/>
            <a:ext cx="4707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diamond"/>
            <a:tailEnd len="med" w="med" type="stealth"/>
          </a:ln>
        </p:spPr>
      </p:cxnSp>
      <p:cxnSp>
        <p:nvCxnSpPr>
          <p:cNvPr id="592" name="Google Shape;592;p42"/>
          <p:cNvCxnSpPr>
            <a:stCxn id="590" idx="0"/>
          </p:cNvCxnSpPr>
          <p:nvPr/>
        </p:nvCxnSpPr>
        <p:spPr>
          <a:xfrm rot="10800000">
            <a:off x="6076175" y="4720175"/>
            <a:ext cx="0" cy="481500"/>
          </a:xfrm>
          <a:prstGeom prst="straightConnector1">
            <a:avLst/>
          </a:prstGeom>
          <a:noFill/>
          <a:ln cap="flat" cmpd="sng" w="9525">
            <a:solidFill>
              <a:srgbClr val="0B7940"/>
            </a:solidFill>
            <a:prstDash val="dash"/>
            <a:round/>
            <a:headEnd len="med" w="med" type="stealth"/>
            <a:tailEnd len="med" w="med" type="diamond"/>
          </a:ln>
        </p:spPr>
      </p:cxnSp>
      <p:sp>
        <p:nvSpPr>
          <p:cNvPr id="593" name="Google Shape;593;p42"/>
          <p:cNvSpPr txBox="1"/>
          <p:nvPr>
            <p:ph type="title"/>
          </p:nvPr>
        </p:nvSpPr>
        <p:spPr>
          <a:xfrm>
            <a:off x="215316" y="664800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➔"/>
            </a:pPr>
            <a:r>
              <a:rPr lang="en"/>
              <a:t>[03] Computer Vision</a:t>
            </a:r>
            <a:endParaRPr sz="2000">
              <a:solidFill>
                <a:srgbClr val="9FB1FF"/>
              </a:solidFill>
            </a:endParaRPr>
          </a:p>
        </p:txBody>
      </p:sp>
      <p:pic>
        <p:nvPicPr>
          <p:cNvPr id="594" name="Google Shape;594;p42"/>
          <p:cNvPicPr preferRelativeResize="0"/>
          <p:nvPr/>
        </p:nvPicPr>
        <p:blipFill rotWithShape="1">
          <a:blip r:embed="rId3">
            <a:alphaModFix/>
          </a:blip>
          <a:srcRect b="15995" l="0" r="0" t="0"/>
          <a:stretch/>
        </p:blipFill>
        <p:spPr>
          <a:xfrm>
            <a:off x="993700" y="2013650"/>
            <a:ext cx="5971149" cy="1615838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42"/>
          <p:cNvSpPr/>
          <p:nvPr/>
        </p:nvSpPr>
        <p:spPr>
          <a:xfrm>
            <a:off x="1374400" y="2439875"/>
            <a:ext cx="519300" cy="8520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42"/>
          <p:cNvSpPr txBox="1"/>
          <p:nvPr/>
        </p:nvSpPr>
        <p:spPr>
          <a:xfrm>
            <a:off x="660783" y="1739697"/>
            <a:ext cx="2416800" cy="52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40F4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MRI images</a:t>
            </a:r>
            <a:endParaRPr sz="1200">
              <a:solidFill>
                <a:srgbClr val="040F4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80% of the patient information</a:t>
            </a:r>
            <a:endParaRPr sz="1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97" name="Google Shape;59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5659" y="3904466"/>
            <a:ext cx="887400" cy="8873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8" name="Google Shape;598;p42"/>
          <p:cNvCxnSpPr/>
          <p:nvPr/>
        </p:nvCxnSpPr>
        <p:spPr>
          <a:xfrm rot="10800000">
            <a:off x="1634050" y="3357425"/>
            <a:ext cx="0" cy="481500"/>
          </a:xfrm>
          <a:prstGeom prst="straightConnector1">
            <a:avLst/>
          </a:prstGeom>
          <a:noFill/>
          <a:ln cap="flat" cmpd="sng" w="9525">
            <a:solidFill>
              <a:srgbClr val="0B7940"/>
            </a:solidFill>
            <a:prstDash val="dash"/>
            <a:round/>
            <a:headEnd len="med" w="med" type="stealth"/>
            <a:tailEnd len="med" w="med" type="diamond"/>
          </a:ln>
        </p:spPr>
      </p:cxnSp>
      <p:cxnSp>
        <p:nvCxnSpPr>
          <p:cNvPr id="599" name="Google Shape;599;p42"/>
          <p:cNvCxnSpPr/>
          <p:nvPr/>
        </p:nvCxnSpPr>
        <p:spPr>
          <a:xfrm rot="10800000">
            <a:off x="2123050" y="4389525"/>
            <a:ext cx="2363400" cy="0"/>
          </a:xfrm>
          <a:prstGeom prst="straightConnector1">
            <a:avLst/>
          </a:prstGeom>
          <a:noFill/>
          <a:ln cap="flat" cmpd="sng" w="9525">
            <a:solidFill>
              <a:srgbClr val="0B7940"/>
            </a:solidFill>
            <a:prstDash val="dash"/>
            <a:round/>
            <a:headEnd len="med" w="med" type="stealth"/>
            <a:tailEnd len="med" w="med" type="diamond"/>
          </a:ln>
        </p:spPr>
      </p:cxnSp>
      <p:sp>
        <p:nvSpPr>
          <p:cNvPr id="600" name="Google Shape;600;p42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| [1] </a:t>
            </a:r>
            <a:r>
              <a:rPr b="1"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Proceso de estandarización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15995" l="0" r="0" t="0"/>
          <a:stretch/>
        </p:blipFill>
        <p:spPr>
          <a:xfrm>
            <a:off x="993700" y="2013650"/>
            <a:ext cx="5971149" cy="1615838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607" name="Google Shape;607;p43"/>
          <p:cNvSpPr txBox="1"/>
          <p:nvPr/>
        </p:nvSpPr>
        <p:spPr>
          <a:xfrm>
            <a:off x="7622000" y="5229425"/>
            <a:ext cx="2598000" cy="258600"/>
          </a:xfrm>
          <a:prstGeom prst="rect">
            <a:avLst/>
          </a:prstGeom>
          <a:solidFill>
            <a:srgbClr val="040F40"/>
          </a:solidFill>
          <a:ln cap="flat" cmpd="sng" w="9525">
            <a:solidFill>
              <a:srgbClr val="9FB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OMOP CDM Condition Occurrence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608" name="Google Shape;608;p43"/>
          <p:cNvGraphicFramePr/>
          <p:nvPr/>
        </p:nvGraphicFramePr>
        <p:xfrm>
          <a:off x="4663964" y="41282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{0C5C600E-CDB9-408A-A5F3-D8A6F270D939}</a:tableStyleId>
              </a:tblPr>
              <a:tblGrid>
                <a:gridCol w="337150"/>
                <a:gridCol w="987300"/>
                <a:gridCol w="1126575"/>
                <a:gridCol w="1249800"/>
                <a:gridCol w="1386500"/>
                <a:gridCol w="468700"/>
              </a:tblGrid>
              <a:tr h="185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...</a:t>
                      </a:r>
                      <a:endParaRPr b="1" sz="1000">
                        <a:solidFill>
                          <a:srgbClr val="040F4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person_id</a:t>
                      </a:r>
                      <a:endParaRPr b="1" sz="1000">
                        <a:solidFill>
                          <a:srgbClr val="040F4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condition</a:t>
                      </a: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_</a:t>
                      </a:r>
                      <a:b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</a:b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concept_id</a:t>
                      </a:r>
                      <a:endParaRPr b="1" sz="1000">
                        <a:solidFill>
                          <a:srgbClr val="040F4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condition_date</a:t>
                      </a:r>
                      <a:endParaRPr b="1" sz="1000">
                        <a:solidFill>
                          <a:srgbClr val="040F4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visit_occurrence_id</a:t>
                      </a:r>
                      <a:endParaRPr b="1" sz="1000">
                        <a:solidFill>
                          <a:srgbClr val="040F4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40F4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…</a:t>
                      </a:r>
                      <a:endParaRPr b="1" sz="1000">
                        <a:solidFill>
                          <a:srgbClr val="040F4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FF"/>
                    </a:solidFill>
                  </a:tcPr>
                </a:tc>
              </a:tr>
              <a:tr h="235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243</a:t>
                      </a:r>
                      <a:endParaRPr sz="1000"/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36684840</a:t>
                      </a:r>
                      <a:endParaRPr sz="1000"/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FC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2021-10-12</a:t>
                      </a:r>
                      <a:endParaRPr sz="1000"/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896</a:t>
                      </a:r>
                      <a:endParaRPr sz="1000"/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9" name="Google Shape;609;p43"/>
          <p:cNvSpPr txBox="1"/>
          <p:nvPr/>
        </p:nvSpPr>
        <p:spPr>
          <a:xfrm>
            <a:off x="5001125" y="5201675"/>
            <a:ext cx="2150100" cy="314100"/>
          </a:xfrm>
          <a:prstGeom prst="rect">
            <a:avLst/>
          </a:prstGeom>
          <a:noFill/>
          <a:ln cap="flat" cmpd="sng" w="9525">
            <a:solidFill>
              <a:srgbClr val="9FB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B7940"/>
                </a:solidFill>
                <a:latin typeface="IBM Plex Sans"/>
                <a:ea typeface="IBM Plex Sans"/>
                <a:cs typeface="IBM Plex Sans"/>
                <a:sym typeface="IBM Plex Sans"/>
              </a:rPr>
              <a:t>Acute Stroke</a:t>
            </a:r>
            <a:endParaRPr sz="1600">
              <a:solidFill>
                <a:srgbClr val="0B79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610" name="Google Shape;610;p43"/>
          <p:cNvCxnSpPr>
            <a:stCxn id="609" idx="3"/>
            <a:endCxn id="607" idx="1"/>
          </p:cNvCxnSpPr>
          <p:nvPr/>
        </p:nvCxnSpPr>
        <p:spPr>
          <a:xfrm>
            <a:off x="7151225" y="5358725"/>
            <a:ext cx="4707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diamond"/>
            <a:tailEnd len="med" w="med" type="stealth"/>
          </a:ln>
        </p:spPr>
      </p:cxnSp>
      <p:cxnSp>
        <p:nvCxnSpPr>
          <p:cNvPr id="611" name="Google Shape;611;p43"/>
          <p:cNvCxnSpPr>
            <a:stCxn id="609" idx="0"/>
          </p:cNvCxnSpPr>
          <p:nvPr/>
        </p:nvCxnSpPr>
        <p:spPr>
          <a:xfrm rot="10800000">
            <a:off x="6076175" y="4720175"/>
            <a:ext cx="0" cy="481500"/>
          </a:xfrm>
          <a:prstGeom prst="straightConnector1">
            <a:avLst/>
          </a:prstGeom>
          <a:noFill/>
          <a:ln cap="flat" cmpd="sng" w="9525">
            <a:solidFill>
              <a:srgbClr val="0B7940"/>
            </a:solidFill>
            <a:prstDash val="dash"/>
            <a:round/>
            <a:headEnd len="med" w="med" type="stealth"/>
            <a:tailEnd len="med" w="med" type="diamond"/>
          </a:ln>
        </p:spPr>
      </p:cxnSp>
      <p:sp>
        <p:nvSpPr>
          <p:cNvPr id="612" name="Google Shape;612;p43"/>
          <p:cNvSpPr txBox="1"/>
          <p:nvPr>
            <p:ph type="title"/>
          </p:nvPr>
        </p:nvSpPr>
        <p:spPr>
          <a:xfrm>
            <a:off x="215316" y="664800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➔"/>
            </a:pPr>
            <a:r>
              <a:rPr lang="en"/>
              <a:t>[03] Computer Vision</a:t>
            </a:r>
            <a:endParaRPr sz="2000">
              <a:solidFill>
                <a:srgbClr val="9FB1FF"/>
              </a:solidFill>
            </a:endParaRPr>
          </a:p>
        </p:txBody>
      </p:sp>
      <p:sp>
        <p:nvSpPr>
          <p:cNvPr id="613" name="Google Shape;613;p43"/>
          <p:cNvSpPr/>
          <p:nvPr/>
        </p:nvSpPr>
        <p:spPr>
          <a:xfrm>
            <a:off x="1374400" y="2439875"/>
            <a:ext cx="519300" cy="8520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43"/>
          <p:cNvSpPr txBox="1"/>
          <p:nvPr/>
        </p:nvSpPr>
        <p:spPr>
          <a:xfrm>
            <a:off x="660783" y="1739697"/>
            <a:ext cx="2416800" cy="52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40F4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MRI images</a:t>
            </a:r>
            <a:endParaRPr sz="1200">
              <a:solidFill>
                <a:srgbClr val="040F4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80% of the patient information</a:t>
            </a:r>
            <a:endParaRPr sz="1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615" name="Google Shape;615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5659" y="3904466"/>
            <a:ext cx="887400" cy="8873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6" name="Google Shape;616;p43"/>
          <p:cNvCxnSpPr/>
          <p:nvPr/>
        </p:nvCxnSpPr>
        <p:spPr>
          <a:xfrm rot="10800000">
            <a:off x="1634050" y="3357425"/>
            <a:ext cx="0" cy="481500"/>
          </a:xfrm>
          <a:prstGeom prst="straightConnector1">
            <a:avLst/>
          </a:prstGeom>
          <a:noFill/>
          <a:ln cap="flat" cmpd="sng" w="9525">
            <a:solidFill>
              <a:srgbClr val="0B7940"/>
            </a:solidFill>
            <a:prstDash val="dash"/>
            <a:round/>
            <a:headEnd len="med" w="med" type="stealth"/>
            <a:tailEnd len="med" w="med" type="diamond"/>
          </a:ln>
        </p:spPr>
      </p:cxnSp>
      <p:cxnSp>
        <p:nvCxnSpPr>
          <p:cNvPr id="617" name="Google Shape;617;p43"/>
          <p:cNvCxnSpPr/>
          <p:nvPr/>
        </p:nvCxnSpPr>
        <p:spPr>
          <a:xfrm rot="10800000">
            <a:off x="2123050" y="4389525"/>
            <a:ext cx="2363400" cy="0"/>
          </a:xfrm>
          <a:prstGeom prst="straightConnector1">
            <a:avLst/>
          </a:prstGeom>
          <a:noFill/>
          <a:ln cap="flat" cmpd="sng" w="9525">
            <a:solidFill>
              <a:srgbClr val="0B7940"/>
            </a:solidFill>
            <a:prstDash val="dash"/>
            <a:round/>
            <a:headEnd len="med" w="med" type="stealth"/>
            <a:tailEnd len="med" w="med" type="diamond"/>
          </a:ln>
        </p:spPr>
      </p:cxnSp>
      <p:pic>
        <p:nvPicPr>
          <p:cNvPr id="618" name="Google Shape;618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2550" y="1641076"/>
            <a:ext cx="4829588" cy="3329725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43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| [1] </a:t>
            </a:r>
            <a:r>
              <a:rPr b="1"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Proceso de estandarización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44"/>
          <p:cNvSpPr txBox="1"/>
          <p:nvPr/>
        </p:nvSpPr>
        <p:spPr>
          <a:xfrm>
            <a:off x="1378450" y="2115300"/>
            <a:ext cx="31455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Aseguramiento de la Calidad es un factor clave para garantizar la precisión, fiabilidad y rendimiento de un estudio. </a:t>
            </a:r>
            <a:br>
              <a:rPr lang="en" sz="1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br>
              <a:rPr lang="en" sz="1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La calidad de la IA está directamente relacionada con la calidad de los datos que ofrecerá el estudio que ejecutemos.</a:t>
            </a:r>
            <a:endParaRPr/>
          </a:p>
        </p:txBody>
      </p:sp>
      <p:sp>
        <p:nvSpPr>
          <p:cNvPr id="625" name="Google Shape;625;p44"/>
          <p:cNvSpPr txBox="1"/>
          <p:nvPr/>
        </p:nvSpPr>
        <p:spPr>
          <a:xfrm>
            <a:off x="1148325" y="1908500"/>
            <a:ext cx="3505500" cy="3798300"/>
          </a:xfrm>
          <a:prstGeom prst="rect">
            <a:avLst/>
          </a:prstGeom>
          <a:noFill/>
          <a:ln cap="flat" cmpd="sng" w="9525">
            <a:solidFill>
              <a:srgbClr val="C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21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26" name="Google Shape;626;p44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627" name="Google Shape;627;p44"/>
          <p:cNvSpPr/>
          <p:nvPr/>
        </p:nvSpPr>
        <p:spPr>
          <a:xfrm>
            <a:off x="5861725" y="3819800"/>
            <a:ext cx="3584100" cy="2046000"/>
          </a:xfrm>
          <a:prstGeom prst="rect">
            <a:avLst/>
          </a:prstGeom>
          <a:solidFill>
            <a:srgbClr val="F3F5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28" name="Google Shape;628;p44"/>
          <p:cNvSpPr txBox="1"/>
          <p:nvPr/>
        </p:nvSpPr>
        <p:spPr>
          <a:xfrm>
            <a:off x="6130775" y="3819800"/>
            <a:ext cx="2964000" cy="19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Validación</a:t>
            </a:r>
            <a:r>
              <a:rPr lang="en" sz="190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 de datos</a:t>
            </a:r>
            <a:endParaRPr sz="1900">
              <a:solidFill>
                <a:schemeClr val="dk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Revisión de tendencias</a:t>
            </a:r>
            <a:endParaRPr>
              <a:solidFill>
                <a:schemeClr val="dk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629" name="Google Shape;629;p44"/>
          <p:cNvSpPr/>
          <p:nvPr/>
        </p:nvSpPr>
        <p:spPr>
          <a:xfrm>
            <a:off x="5861725" y="1597300"/>
            <a:ext cx="3584100" cy="2046000"/>
          </a:xfrm>
          <a:prstGeom prst="rect">
            <a:avLst/>
          </a:prstGeom>
          <a:solidFill>
            <a:srgbClr val="F3F5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30" name="Google Shape;630;p44"/>
          <p:cNvSpPr txBox="1"/>
          <p:nvPr/>
        </p:nvSpPr>
        <p:spPr>
          <a:xfrm>
            <a:off x="6130775" y="1597300"/>
            <a:ext cx="29640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Verificaci</a:t>
            </a:r>
            <a:r>
              <a:rPr lang="en" sz="190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ón de datos</a:t>
            </a:r>
            <a:endParaRPr sz="1900">
              <a:solidFill>
                <a:schemeClr val="dk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Revisión al detalle</a:t>
            </a:r>
            <a:endParaRPr sz="19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0f3bfe&quot;&gt;&lt;path d=&quot;m344-60-76-128-144-32 14-148-98-112 98-112-14-148 144-32 76-128 136 58 136-58 76 128 144 32-14 148 98 112-98 112 14 148-144 32-76 128-136-58-136 58Zm34-102 102-44 104 44 56-96 110-26-10-112 74-84-74-86 10-112-110-24-58-96-102 44-104-44-56 96-110 24 10 112-74 86 74 84-10 114 110 24 58 96Zm102-318Zm-42 142 226-226-56-58-170 170-86-84-56 56 142 142Z&quot;/&gt;&lt;/svg&gt;" id="631" name="Google Shape;63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3550" y="19085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344-60-76-128-144-32 14-148-98-112 98-112-14-148 144-32 76-128 136 58 136-58 76 128 144 32-14 148 98 112-98 112 14 148-144 32-76 128-136-58-136 58Zm34-102 102-44 104 44 56-96 110-26-10-112 74-84-74-86 10-112-110-24-58-96-102 44-104-44-56 96-110 24 10 112-74 86 74 84-10 114 110 24 58 96Zm102-318Zm-42 142 226-226-56-58-170 170-86-84-56 56 142 142Z&quot;/&gt;&lt;/svg&gt;" id="632" name="Google Shape;63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8525" y="4217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4"/>
          <p:cNvSpPr txBox="1"/>
          <p:nvPr>
            <p:ph type="title"/>
          </p:nvPr>
        </p:nvSpPr>
        <p:spPr>
          <a:xfrm>
            <a:off x="215316" y="664800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➔"/>
            </a:pPr>
            <a:r>
              <a:rPr lang="en"/>
              <a:t>[04] Aseguramiento de la calidad</a:t>
            </a:r>
            <a:endParaRPr sz="2000">
              <a:solidFill>
                <a:srgbClr val="9FB1FF"/>
              </a:solidFill>
            </a:endParaRPr>
          </a:p>
        </p:txBody>
      </p:sp>
      <p:sp>
        <p:nvSpPr>
          <p:cNvPr id="634" name="Google Shape;634;p44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| [1] </a:t>
            </a:r>
            <a:r>
              <a:rPr b="1"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Proceso de estandarización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5"/>
          <p:cNvSpPr/>
          <p:nvPr/>
        </p:nvSpPr>
        <p:spPr>
          <a:xfrm>
            <a:off x="798524" y="1806895"/>
            <a:ext cx="3584100" cy="2046000"/>
          </a:xfrm>
          <a:prstGeom prst="rect">
            <a:avLst/>
          </a:prstGeom>
          <a:solidFill>
            <a:srgbClr val="F3F5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40" name="Google Shape;640;p45"/>
          <p:cNvSpPr txBox="1"/>
          <p:nvPr/>
        </p:nvSpPr>
        <p:spPr>
          <a:xfrm>
            <a:off x="798524" y="1892895"/>
            <a:ext cx="3584100" cy="10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Verificación de datos</a:t>
            </a:r>
            <a:endParaRPr sz="1900">
              <a:solidFill>
                <a:schemeClr val="dk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Revisión al detalle</a:t>
            </a:r>
            <a:endParaRPr>
              <a:solidFill>
                <a:schemeClr val="dk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641" name="Google Shape;641;p45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642" name="Google Shape;642;p45"/>
          <p:cNvSpPr txBox="1"/>
          <p:nvPr>
            <p:ph idx="4294967295" type="body"/>
          </p:nvPr>
        </p:nvSpPr>
        <p:spPr>
          <a:xfrm>
            <a:off x="798824" y="3995195"/>
            <a:ext cx="3583800" cy="24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IBM Plex Sans"/>
                <a:ea typeface="IBM Plex Sans"/>
                <a:cs typeface="IBM Plex Sans"/>
                <a:sym typeface="IBM Plex Sans"/>
              </a:rPr>
              <a:t>True Positives (TP)</a:t>
            </a:r>
            <a:endParaRPr b="1" sz="10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Patients identified by our algorithms and corroborated by a human annotator.</a:t>
            </a:r>
            <a:endParaRPr sz="10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IBM Plex Sans"/>
                <a:ea typeface="IBM Plex Sans"/>
                <a:cs typeface="IBM Plex Sans"/>
                <a:sym typeface="IBM Plex Sans"/>
              </a:rPr>
              <a:t>False Positives (FP)</a:t>
            </a:r>
            <a:endParaRPr b="1" sz="10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Patients identified by our algorithms but discarded by a human annotator.</a:t>
            </a:r>
            <a:endParaRPr sz="10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IBM Plex Sans"/>
                <a:ea typeface="IBM Plex Sans"/>
                <a:cs typeface="IBM Plex Sans"/>
                <a:sym typeface="IBM Plex Sans"/>
              </a:rPr>
              <a:t>False Negatives (FN)</a:t>
            </a:r>
            <a:endParaRPr sz="10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Patients discarded by our algorithms but identified by a human annotator.</a:t>
            </a:r>
            <a:endParaRPr sz="10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IBM Plex Sans"/>
                <a:ea typeface="IBM Plex Sans"/>
                <a:cs typeface="IBM Plex Sans"/>
                <a:sym typeface="IBM Plex Sans"/>
              </a:rPr>
              <a:t>True Negatives (</a:t>
            </a:r>
            <a:r>
              <a:rPr lang="en" sz="1000"/>
              <a:t>T</a:t>
            </a:r>
            <a:r>
              <a:rPr lang="en" sz="1000">
                <a:latin typeface="IBM Plex Sans"/>
                <a:ea typeface="IBM Plex Sans"/>
                <a:cs typeface="IBM Plex Sans"/>
                <a:sym typeface="IBM Plex Sans"/>
              </a:rPr>
              <a:t>N)</a:t>
            </a:r>
            <a:endParaRPr sz="10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Patients discarded by our algorithms and discarded as well by a human annotator.</a:t>
            </a:r>
            <a:endParaRPr sz="1000"/>
          </a:p>
        </p:txBody>
      </p:sp>
      <p:sp>
        <p:nvSpPr>
          <p:cNvPr id="643" name="Google Shape;643;p45"/>
          <p:cNvSpPr/>
          <p:nvPr/>
        </p:nvSpPr>
        <p:spPr>
          <a:xfrm>
            <a:off x="5584602" y="1487800"/>
            <a:ext cx="5916000" cy="4601400"/>
          </a:xfrm>
          <a:prstGeom prst="roundRect">
            <a:avLst>
              <a:gd fmla="val 1572" name="adj"/>
            </a:avLst>
          </a:prstGeom>
          <a:solidFill>
            <a:srgbClr val="F9FBFE"/>
          </a:solidFill>
          <a:ln cap="flat" cmpd="sng" w="9525">
            <a:solidFill>
              <a:srgbClr val="C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44" name="Google Shape;644;p45"/>
          <p:cNvSpPr txBox="1"/>
          <p:nvPr>
            <p:ph idx="4294967295" type="body"/>
          </p:nvPr>
        </p:nvSpPr>
        <p:spPr>
          <a:xfrm>
            <a:off x="5584709" y="1487800"/>
            <a:ext cx="5916000" cy="46014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Paciente varón de 56 años originario de Málaga. Diagnosticado de </a:t>
            </a:r>
            <a:r>
              <a:rPr lang="en">
                <a:solidFill>
                  <a:schemeClr val="dk2"/>
                </a:solidFill>
                <a:highlight>
                  <a:srgbClr val="CFD8FF"/>
                </a:highlight>
                <a:latin typeface="IBM Plex Sans"/>
                <a:ea typeface="IBM Plex Sans"/>
                <a:cs typeface="IBM Plex Sans"/>
                <a:sym typeface="IBM Plex Sans"/>
              </a:rPr>
              <a:t>adenocarcinoma de próstata</a:t>
            </a:r>
            <a:r>
              <a:rPr lang="en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 oligometastásica con M1 ilíaca derecha </a:t>
            </a:r>
            <a:r>
              <a:rPr lang="en">
                <a:solidFill>
                  <a:schemeClr val="dk2"/>
                </a:solidFill>
                <a:highlight>
                  <a:srgbClr val="CFD8FF"/>
                </a:highlight>
                <a:latin typeface="IBM Plex Sans"/>
                <a:ea typeface="IBM Plex Sans"/>
                <a:cs typeface="IBM Plex Sans"/>
                <a:sym typeface="IBM Plex Sans"/>
              </a:rPr>
              <a:t>irradiada</a:t>
            </a:r>
            <a:r>
              <a:rPr lang="en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 en curso de bloqueo hormonal. Anatomía patológica </a:t>
            </a:r>
            <a:r>
              <a:rPr lang="en">
                <a:solidFill>
                  <a:schemeClr val="dk2"/>
                </a:solidFill>
                <a:highlight>
                  <a:srgbClr val="CFD8FF"/>
                </a:highlight>
                <a:latin typeface="IBM Plex Sans"/>
                <a:ea typeface="IBM Plex Sans"/>
                <a:cs typeface="IBM Plex Sans"/>
                <a:sym typeface="IBM Plex Sans"/>
              </a:rPr>
              <a:t>gleason</a:t>
            </a:r>
            <a:r>
              <a:rPr lang="en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 8 con afectacón perineural. En </a:t>
            </a:r>
            <a:r>
              <a:rPr lang="en">
                <a:solidFill>
                  <a:schemeClr val="lt1"/>
                </a:solidFill>
                <a:highlight>
                  <a:schemeClr val="dk1"/>
                </a:highlight>
                <a:latin typeface="IBM Plex Sans"/>
                <a:ea typeface="IBM Plex Sans"/>
                <a:cs typeface="IBM Plex Sans"/>
                <a:sym typeface="IBM Plex Sans"/>
              </a:rPr>
              <a:t>radioterapia paliativa</a:t>
            </a:r>
            <a:r>
              <a:rPr lang="en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 antiálgica en columna lumbar iniciada el 03.21. Acude para valoración y seguimiento. Inicio </a:t>
            </a:r>
            <a:r>
              <a:rPr lang="en">
                <a:solidFill>
                  <a:schemeClr val="dk2"/>
                </a:solidFill>
                <a:highlight>
                  <a:schemeClr val="accent1"/>
                </a:highlight>
                <a:latin typeface="IBM Plex Sans"/>
                <a:ea typeface="IBM Plex Sans"/>
                <a:cs typeface="IBM Plex Sans"/>
                <a:sym typeface="IBM Plex Sans"/>
              </a:rPr>
              <a:t>Eligard</a:t>
            </a:r>
            <a:r>
              <a:rPr lang="en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">
                <a:solidFill>
                  <a:schemeClr val="lt1"/>
                </a:solidFill>
                <a:highlight>
                  <a:schemeClr val="accent2"/>
                </a:highlight>
                <a:latin typeface="IBM Plex Sans"/>
                <a:ea typeface="IBM Plex Sans"/>
                <a:cs typeface="IBM Plex Sans"/>
                <a:sym typeface="IBM Plex Sans"/>
              </a:rPr>
              <a:t>mensual</a:t>
            </a:r>
            <a:r>
              <a:rPr lang="en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 marzo 2021, se pasó a </a:t>
            </a:r>
            <a:r>
              <a:rPr lang="en">
                <a:solidFill>
                  <a:schemeClr val="dk2"/>
                </a:solidFill>
                <a:highlight>
                  <a:srgbClr val="CFD8FF"/>
                </a:highlight>
                <a:latin typeface="IBM Plex Sans"/>
                <a:ea typeface="IBM Plex Sans"/>
                <a:cs typeface="IBM Plex Sans"/>
                <a:sym typeface="IBM Plex Sans"/>
              </a:rPr>
              <a:t>semestral</a:t>
            </a:r>
            <a:r>
              <a:rPr lang="en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 el 29/08/2021 + </a:t>
            </a:r>
            <a:r>
              <a:rPr lang="en">
                <a:solidFill>
                  <a:schemeClr val="dk2"/>
                </a:solidFill>
                <a:highlight>
                  <a:srgbClr val="CFD8FF"/>
                </a:highlight>
                <a:latin typeface="IBM Plex Sans"/>
                <a:ea typeface="IBM Plex Sans"/>
                <a:cs typeface="IBM Plex Sans"/>
                <a:sym typeface="IBM Plex Sans"/>
              </a:rPr>
              <a:t>Bicalutamida</a:t>
            </a:r>
            <a:r>
              <a:rPr lang="en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 continuo. Actualmente solo con </a:t>
            </a:r>
            <a:r>
              <a:rPr lang="en">
                <a:solidFill>
                  <a:schemeClr val="dk2"/>
                </a:solidFill>
                <a:highlight>
                  <a:srgbClr val="CFD8FF"/>
                </a:highlight>
                <a:latin typeface="IBM Plex Sans"/>
                <a:ea typeface="IBM Plex Sans"/>
                <a:cs typeface="IBM Plex Sans"/>
                <a:sym typeface="IBM Plex Sans"/>
              </a:rPr>
              <a:t>eligard</a:t>
            </a:r>
            <a:r>
              <a:rPr lang="en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 por intolerancia a la </a:t>
            </a:r>
            <a:r>
              <a:rPr lang="en">
                <a:solidFill>
                  <a:schemeClr val="dk2"/>
                </a:solidFill>
                <a:highlight>
                  <a:srgbClr val="CFD8FF"/>
                </a:highlight>
                <a:latin typeface="IBM Plex Sans"/>
                <a:ea typeface="IBM Plex Sans"/>
                <a:cs typeface="IBM Plex Sans"/>
                <a:sym typeface="IBM Plex Sans"/>
              </a:rPr>
              <a:t>bicalutamida</a:t>
            </a:r>
            <a:r>
              <a:rPr lang="en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EF: BEG, abdomen blando y depresible no </a:t>
            </a:r>
            <a:r>
              <a:rPr lang="en">
                <a:solidFill>
                  <a:schemeClr val="dk2"/>
                </a:solidFill>
                <a:highlight>
                  <a:srgbClr val="CFD8FF"/>
                </a:highlight>
                <a:latin typeface="IBM Plex Sans"/>
                <a:ea typeface="IBM Plex Sans"/>
                <a:cs typeface="IBM Plex Sans"/>
                <a:sym typeface="IBM Plex Sans"/>
              </a:rPr>
              <a:t>doloroso</a:t>
            </a:r>
            <a:r>
              <a:rPr lang="en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 a la palpación, no se palpa globo vesical. PPL negativa. Pene sin lesiones, prepucio retráctil. Testes en bolsa escrotal anodulares no </a:t>
            </a:r>
            <a:r>
              <a:rPr lang="en">
                <a:solidFill>
                  <a:schemeClr val="dk2"/>
                </a:solidFill>
                <a:highlight>
                  <a:srgbClr val="CFD8FF"/>
                </a:highlight>
                <a:latin typeface="IBM Plex Sans"/>
                <a:ea typeface="IBM Plex Sans"/>
                <a:cs typeface="IBM Plex Sans"/>
                <a:sym typeface="IBM Plex Sans"/>
              </a:rPr>
              <a:t>dolorosos</a:t>
            </a:r>
            <a:r>
              <a:rPr lang="en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. TR: no </a:t>
            </a:r>
            <a:r>
              <a:rPr lang="en">
                <a:solidFill>
                  <a:schemeClr val="dk2"/>
                </a:solidFill>
                <a:highlight>
                  <a:srgbClr val="CFD8FF"/>
                </a:highlight>
                <a:latin typeface="IBM Plex Sans"/>
                <a:ea typeface="IBM Plex Sans"/>
                <a:cs typeface="IBM Plex Sans"/>
                <a:sym typeface="IBM Plex Sans"/>
              </a:rPr>
              <a:t>doloroso</a:t>
            </a:r>
            <a:r>
              <a:rPr lang="en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, </a:t>
            </a:r>
            <a:r>
              <a:rPr lang="en">
                <a:solidFill>
                  <a:schemeClr val="dk2"/>
                </a:solidFill>
                <a:highlight>
                  <a:srgbClr val="CFD8FF"/>
                </a:highlight>
                <a:latin typeface="IBM Plex Sans"/>
                <a:ea typeface="IBM Plex Sans"/>
                <a:cs typeface="IBM Plex Sans"/>
                <a:sym typeface="IBM Plex Sans"/>
              </a:rPr>
              <a:t>próstata</a:t>
            </a:r>
            <a:r>
              <a:rPr lang="en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 G I, simétrica de consistencia fibroelástica de bordes bien delimitados sin palparse </a:t>
            </a:r>
            <a:r>
              <a:rPr lang="en">
                <a:solidFill>
                  <a:schemeClr val="dk2"/>
                </a:solidFill>
                <a:highlight>
                  <a:srgbClr val="CFD8FF"/>
                </a:highlight>
                <a:latin typeface="IBM Plex Sans"/>
                <a:ea typeface="IBM Plex Sans"/>
                <a:cs typeface="IBM Plex Sans"/>
                <a:sym typeface="IBM Plex Sans"/>
              </a:rPr>
              <a:t>nódulos</a:t>
            </a:r>
            <a:r>
              <a:rPr lang="en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45" name="Google Shape;645;p45"/>
          <p:cNvSpPr txBox="1"/>
          <p:nvPr/>
        </p:nvSpPr>
        <p:spPr>
          <a:xfrm>
            <a:off x="798674" y="2744695"/>
            <a:ext cx="3584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objetivo es evaluar, a partir de una muestra, la corrección del trabajo realizado para asegurar la necesaria confianza y trazabilidad.</a:t>
            </a:r>
            <a:endParaRPr/>
          </a:p>
        </p:txBody>
      </p:sp>
      <p:pic>
        <p:nvPicPr>
          <p:cNvPr descr="&lt;svg xmlns=&quot;http://www.w3.org/2000/svg&quot; height=&quot;24px&quot; viewBox=&quot;0 -960 960 960&quot; width=&quot;24px&quot; fill=&quot;#0f3bfe&quot;&gt;&lt;path d=&quot;m344-60-76-128-144-32 14-148-98-112 98-112-14-148 144-32 76-128 136 58 136-58 76 128 144 32-14 148 98 112-98 112 14 148-144 32-76 128-136-58-136 58Zm34-102 102-44 104 44 56-96 110-26-10-112 74-84-74-86 10-112-110-24-58-96-102 44-104-44-56 96-110 24 10 112-74 86 74 84-10 114 110 24 58 96Zm102-318Zm-42 142 226-226-56-58-170 170-86-84-56 56 142 142Z&quot;/&gt;&lt;/svg&gt;" id="646" name="Google Shape;64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1761" y="226723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5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| [1] </a:t>
            </a:r>
            <a:r>
              <a:rPr b="1"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Proceso de estandarización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48" name="Google Shape;648;p45"/>
          <p:cNvSpPr txBox="1"/>
          <p:nvPr>
            <p:ph type="title"/>
          </p:nvPr>
        </p:nvSpPr>
        <p:spPr>
          <a:xfrm>
            <a:off x="215316" y="664800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➔"/>
            </a:pPr>
            <a:r>
              <a:rPr lang="en"/>
              <a:t>[04] Aseguramiento de la calidad</a:t>
            </a:r>
            <a:endParaRPr sz="2000">
              <a:solidFill>
                <a:srgbClr val="9FB1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46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654" name="Google Shape;654;p46"/>
          <p:cNvSpPr txBox="1"/>
          <p:nvPr/>
        </p:nvSpPr>
        <p:spPr>
          <a:xfrm>
            <a:off x="8667821" y="2515609"/>
            <a:ext cx="24168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CLINICAL NOTES 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80% of the patient information</a:t>
            </a:r>
            <a:endParaRPr b="1"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55" name="Google Shape;655;p46"/>
          <p:cNvGrpSpPr/>
          <p:nvPr/>
        </p:nvGrpSpPr>
        <p:grpSpPr>
          <a:xfrm>
            <a:off x="6096211" y="1000847"/>
            <a:ext cx="5167736" cy="4473970"/>
            <a:chOff x="6000308" y="1031188"/>
            <a:chExt cx="5952242" cy="5148413"/>
          </a:xfrm>
        </p:grpSpPr>
        <p:grpSp>
          <p:nvGrpSpPr>
            <p:cNvPr id="656" name="Google Shape;656;p46"/>
            <p:cNvGrpSpPr/>
            <p:nvPr/>
          </p:nvGrpSpPr>
          <p:grpSpPr>
            <a:xfrm>
              <a:off x="6000308" y="1031188"/>
              <a:ext cx="5952242" cy="4995172"/>
              <a:chOff x="10529333" y="3094125"/>
              <a:chExt cx="5952242" cy="4995172"/>
            </a:xfrm>
          </p:grpSpPr>
          <p:pic>
            <p:nvPicPr>
              <p:cNvPr descr="Managed Faiss | Pinecone" id="657" name="Google Shape;657;p46"/>
              <p:cNvPicPr preferRelativeResize="0"/>
              <p:nvPr/>
            </p:nvPicPr>
            <p:blipFill rotWithShape="1">
              <a:blip r:embed="rId3">
                <a:alphaModFix/>
              </a:blip>
              <a:srcRect b="19672" l="0" r="0" t="0"/>
              <a:stretch/>
            </p:blipFill>
            <p:spPr>
              <a:xfrm>
                <a:off x="10529350" y="3922860"/>
                <a:ext cx="5734224" cy="4166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58" name="Google Shape;658;p46"/>
              <p:cNvSpPr txBox="1"/>
              <p:nvPr/>
            </p:nvSpPr>
            <p:spPr>
              <a:xfrm>
                <a:off x="10529333" y="3711825"/>
                <a:ext cx="2648100" cy="2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IBM Plex Sans Medium"/>
                    <a:ea typeface="IBM Plex Sans Medium"/>
                    <a:cs typeface="IBM Plex Sans Medium"/>
                    <a:sym typeface="IBM Plex Sans Medium"/>
                  </a:rPr>
                  <a:t>Correct cases</a:t>
                </a:r>
                <a:endParaRPr sz="1200">
                  <a:solidFill>
                    <a:schemeClr val="dk1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endParaRPr>
              </a:p>
            </p:txBody>
          </p:sp>
          <p:sp>
            <p:nvSpPr>
              <p:cNvPr id="659" name="Google Shape;659;p46"/>
              <p:cNvSpPr txBox="1"/>
              <p:nvPr/>
            </p:nvSpPr>
            <p:spPr>
              <a:xfrm>
                <a:off x="14296075" y="3094125"/>
                <a:ext cx="2185500" cy="45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IBM Plex Sans Medium"/>
                    <a:ea typeface="IBM Plex Sans Medium"/>
                    <a:cs typeface="IBM Plex Sans Medium"/>
                    <a:sym typeface="IBM Plex Sans Medium"/>
                  </a:rPr>
                  <a:t>Potentially </a:t>
                </a:r>
                <a:endParaRPr sz="1200">
                  <a:solidFill>
                    <a:schemeClr val="dk1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endParaRPr>
              </a:p>
              <a:p>
                <a:pPr indent="0" lvl="0" marL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IBM Plex Sans Medium"/>
                    <a:ea typeface="IBM Plex Sans Medium"/>
                    <a:cs typeface="IBM Plex Sans Medium"/>
                    <a:sym typeface="IBM Plex Sans Medium"/>
                  </a:rPr>
                  <a:t>missed cases</a:t>
                </a:r>
                <a:endParaRPr sz="1200">
                  <a:solidFill>
                    <a:schemeClr val="dk1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endParaRPr>
              </a:p>
            </p:txBody>
          </p:sp>
        </p:grpSp>
        <p:sp>
          <p:nvSpPr>
            <p:cNvPr id="660" name="Google Shape;660;p46"/>
            <p:cNvSpPr/>
            <p:nvPr/>
          </p:nvSpPr>
          <p:spPr>
            <a:xfrm>
              <a:off x="7152575" y="5172625"/>
              <a:ext cx="3924200" cy="1006975"/>
            </a:xfrm>
            <a:custGeom>
              <a:rect b="b" l="l" r="r" t="t"/>
              <a:pathLst>
                <a:path extrusionOk="0" h="40279" w="156968">
                  <a:moveTo>
                    <a:pt x="17045" y="0"/>
                  </a:moveTo>
                  <a:lnTo>
                    <a:pt x="68954" y="30683"/>
                  </a:lnTo>
                  <a:lnTo>
                    <a:pt x="105393" y="8259"/>
                  </a:lnTo>
                  <a:lnTo>
                    <a:pt x="156968" y="32925"/>
                  </a:lnTo>
                  <a:lnTo>
                    <a:pt x="139577" y="34767"/>
                  </a:lnTo>
                  <a:lnTo>
                    <a:pt x="71315" y="39855"/>
                  </a:lnTo>
                  <a:lnTo>
                    <a:pt x="30188" y="40279"/>
                  </a:lnTo>
                  <a:lnTo>
                    <a:pt x="5597" y="36039"/>
                  </a:lnTo>
                  <a:lnTo>
                    <a:pt x="0" y="2283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661" name="Google Shape;661;p46"/>
          <p:cNvSpPr txBox="1"/>
          <p:nvPr/>
        </p:nvSpPr>
        <p:spPr>
          <a:xfrm>
            <a:off x="6276000" y="5432100"/>
            <a:ext cx="55560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87960" lvl="0" marL="228600" marR="0" rtl="0" algn="l">
              <a:lnSpc>
                <a:spcPct val="121904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Plus Jakarta Sans"/>
              <a:buChar char="■"/>
            </a:pPr>
            <a:r>
              <a:t/>
            </a:r>
            <a:endParaRPr b="1" sz="800">
              <a:solidFill>
                <a:srgbClr val="9FB1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2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9FB1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[1]:</a:t>
            </a:r>
            <a:r>
              <a:rPr lang="en" sz="800">
                <a:solidFill>
                  <a:srgbClr val="9FB1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Quijada, M., Vivó, M., Abella-Bascarán, Á., Chocrón, P., Maeztu, G.d. (2022). A Framework for False Negative Detection in NER/NEL. Natural Language Processing and Information Systems. NLDB 2022 https://doi.org/10.1007/978-3-031-08473-7_30</a:t>
            </a:r>
            <a:endParaRPr sz="800">
              <a:solidFill>
                <a:srgbClr val="9FB1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0f3bfe&quot;&gt;&lt;path d=&quot;m344-60-76-128-144-32 14-148-98-112 98-112-14-148 144-32 76-128 136 58 136-58 76 128 144 32-14 148 98 112-98 112 14 148-144 32-76 128-136-58-136 58Zm34-102 102-44 104 44 56-96 110-26-10-112 74-84-74-86 10-112-110-24-58-96-102 44-104-44-56 96-110 24 10 112-74 86 74 84-10 114 110 24 58 96Zm102-318Zm-42 142 226-226-56-58-170 170-86-84-56 56 142 142Z&quot;/&gt;&lt;/svg&gt;" id="662" name="Google Shape;662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0999" y="2055513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6"/>
          <p:cNvSpPr/>
          <p:nvPr/>
        </p:nvSpPr>
        <p:spPr>
          <a:xfrm>
            <a:off x="798524" y="1806895"/>
            <a:ext cx="3584100" cy="2046000"/>
          </a:xfrm>
          <a:prstGeom prst="rect">
            <a:avLst/>
          </a:prstGeom>
          <a:solidFill>
            <a:srgbClr val="F3F5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64" name="Google Shape;664;p46"/>
          <p:cNvSpPr txBox="1"/>
          <p:nvPr/>
        </p:nvSpPr>
        <p:spPr>
          <a:xfrm>
            <a:off x="798524" y="1892895"/>
            <a:ext cx="3584100" cy="10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Verificación de datos</a:t>
            </a:r>
            <a:endParaRPr sz="1900">
              <a:solidFill>
                <a:schemeClr val="dk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Revisión al detalle</a:t>
            </a:r>
            <a:endParaRPr>
              <a:solidFill>
                <a:schemeClr val="dk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665" name="Google Shape;665;p46"/>
          <p:cNvSpPr txBox="1"/>
          <p:nvPr>
            <p:ph idx="4294967295" type="body"/>
          </p:nvPr>
        </p:nvSpPr>
        <p:spPr>
          <a:xfrm>
            <a:off x="798824" y="3995195"/>
            <a:ext cx="3583800" cy="24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IBM Plex Sans Medium"/>
                <a:ea typeface="IBM Plex Sans Medium"/>
                <a:cs typeface="IBM Plex Sans Medium"/>
                <a:sym typeface="IBM Plex Sans Medium"/>
              </a:rPr>
              <a:t>True Positives (TP)</a:t>
            </a:r>
            <a:endParaRPr sz="10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Patients identified by our algorithms and corroborated by a human annotator.</a:t>
            </a:r>
            <a:endParaRPr sz="10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IBM Plex Sans Medium"/>
                <a:ea typeface="IBM Plex Sans Medium"/>
                <a:cs typeface="IBM Plex Sans Medium"/>
                <a:sym typeface="IBM Plex Sans Medium"/>
              </a:rPr>
              <a:t>False Positives (FP)</a:t>
            </a:r>
            <a:endParaRPr sz="10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Patients identified by our algorithms but discarded by a human annotator.</a:t>
            </a:r>
            <a:endParaRPr sz="10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False Negatives (FN)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Patients discarded by our algorithms but identified by a human annotator.</a:t>
            </a:r>
            <a:endParaRPr sz="10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True Negatives (TN)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Patients discarded by our algorithms and discarded as well by a human annotator.</a:t>
            </a:r>
            <a:endParaRPr sz="1000"/>
          </a:p>
        </p:txBody>
      </p:sp>
      <p:sp>
        <p:nvSpPr>
          <p:cNvPr id="666" name="Google Shape;666;p46"/>
          <p:cNvSpPr txBox="1"/>
          <p:nvPr/>
        </p:nvSpPr>
        <p:spPr>
          <a:xfrm>
            <a:off x="798674" y="2744695"/>
            <a:ext cx="3584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objetivo es evaluar, a partir de una muestra, la corrección del trabajo realizado para asegurar la necesaria confianza y trazabilidad.</a:t>
            </a:r>
            <a:endParaRPr b="0" i="0" sz="1400" u="none" cap="none" strike="noStrike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0f3bfe&quot;&gt;&lt;path d=&quot;m344-60-76-128-144-32 14-148-98-112 98-112-14-148 144-32 76-128 136 58 136-58 76 128 144 32-14 148 98 112-98 112 14 148-144 32-76 128-136-58-136 58Zm34-102 102-44 104 44 56-96 110-26-10-112 74-84-74-86 10-112-110-24-58-96-102 44-104-44-56 96-110 24 10 112-74 86 74 84-10 114 110 24 58 96Zm102-318Zm-42 142 226-226-56-58-170 170-86-84-56 56 142 142Z&quot;/&gt;&lt;/svg&gt;" id="667" name="Google Shape;667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1761" y="226723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46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| [1] </a:t>
            </a:r>
            <a:r>
              <a:rPr b="1"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Proceso de estandarización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69" name="Google Shape;669;p46"/>
          <p:cNvSpPr txBox="1"/>
          <p:nvPr>
            <p:ph type="title"/>
          </p:nvPr>
        </p:nvSpPr>
        <p:spPr>
          <a:xfrm>
            <a:off x="215316" y="664800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➔"/>
            </a:pPr>
            <a:r>
              <a:rPr lang="en"/>
              <a:t>[04] Aseguramiento de la calidad</a:t>
            </a:r>
            <a:endParaRPr sz="2000">
              <a:solidFill>
                <a:srgbClr val="9FB1F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7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pic>
        <p:nvPicPr>
          <p:cNvPr descr="&lt;svg xmlns=&quot;http://www.w3.org/2000/svg&quot; height=&quot;24px&quot; viewBox=&quot;0 -960 960 960&quot; width=&quot;24px&quot; fill=&quot;#0f3bfe&quot;&gt;&lt;path d=&quot;m344-60-76-128-144-32 14-148-98-112 98-112-14-148 144-32 76-128 136 58 136-58 76 128 144 32-14 148 98 112-98 112 14 148-144 32-76 128-136-58-136 58Zm34-102 102-44 104 44 56-96 110-26-10-112 74-84-74-86 10-112-110-24-58-96-102 44-104-44-56 96-110 24 10 112-74 86 74 84-10 114 110 24 58 96Zm102-318Zm-42 142 226-226-56-58-170 170-86-84-56 56 142 142Z&quot;/&gt;&lt;/svg&gt;" id="675" name="Google Shape;67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0999" y="2055513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47"/>
          <p:cNvSpPr/>
          <p:nvPr/>
        </p:nvSpPr>
        <p:spPr>
          <a:xfrm>
            <a:off x="798524" y="1806895"/>
            <a:ext cx="3584100" cy="2046000"/>
          </a:xfrm>
          <a:prstGeom prst="rect">
            <a:avLst/>
          </a:prstGeom>
          <a:solidFill>
            <a:srgbClr val="F3F5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77" name="Google Shape;677;p47"/>
          <p:cNvSpPr txBox="1"/>
          <p:nvPr/>
        </p:nvSpPr>
        <p:spPr>
          <a:xfrm>
            <a:off x="798524" y="1892895"/>
            <a:ext cx="3584100" cy="10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Verificación de datos</a:t>
            </a:r>
            <a:endParaRPr sz="1900">
              <a:solidFill>
                <a:schemeClr val="dk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Revisión al detalle</a:t>
            </a:r>
            <a:endParaRPr>
              <a:solidFill>
                <a:schemeClr val="dk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678" name="Google Shape;678;p47"/>
          <p:cNvSpPr txBox="1"/>
          <p:nvPr>
            <p:ph idx="4294967295" type="body"/>
          </p:nvPr>
        </p:nvSpPr>
        <p:spPr>
          <a:xfrm>
            <a:off x="798824" y="3995195"/>
            <a:ext cx="3583800" cy="24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IBM Plex Sans Medium"/>
                <a:ea typeface="IBM Plex Sans Medium"/>
                <a:cs typeface="IBM Plex Sans Medium"/>
                <a:sym typeface="IBM Plex Sans Medium"/>
              </a:rPr>
              <a:t>True Positives (TP)</a:t>
            </a:r>
            <a:endParaRPr sz="10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Patients identified by our algorithms and corroborated by a human annotator.</a:t>
            </a:r>
            <a:endParaRPr sz="10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IBM Plex Sans Medium"/>
                <a:ea typeface="IBM Plex Sans Medium"/>
                <a:cs typeface="IBM Plex Sans Medium"/>
                <a:sym typeface="IBM Plex Sans Medium"/>
              </a:rPr>
              <a:t>False Positives (FP)</a:t>
            </a:r>
            <a:endParaRPr sz="10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Patients identified by our algorithms but discarded by a human annotator.</a:t>
            </a:r>
            <a:endParaRPr sz="10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False Negatives (FN)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Patients discarded by our algorithms but identified by a human annotator.</a:t>
            </a:r>
            <a:endParaRPr sz="10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True Negatives (TN)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Patients discarded by our algorithms and discarded as well by a human annotator.</a:t>
            </a:r>
            <a:endParaRPr sz="1000"/>
          </a:p>
        </p:txBody>
      </p:sp>
      <p:sp>
        <p:nvSpPr>
          <p:cNvPr id="679" name="Google Shape;679;p47"/>
          <p:cNvSpPr txBox="1"/>
          <p:nvPr/>
        </p:nvSpPr>
        <p:spPr>
          <a:xfrm>
            <a:off x="798674" y="2744695"/>
            <a:ext cx="3584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objetivo es evaluar, a partir de una muestra, la corrección del trabajo realizado para asegurar la necesaria confianza y trazabilidad.</a:t>
            </a:r>
            <a:endParaRPr b="0" i="0" sz="1400" u="none" cap="none" strike="noStrike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0f3bfe&quot;&gt;&lt;path d=&quot;m344-60-76-128-144-32 14-148-98-112 98-112-14-148 144-32 76-128 136 58 136-58 76 128 144 32-14 148 98 112-98 112 14 148-144 32-76 128-136-58-136 58Zm34-102 102-44 104 44 56-96 110-26-10-112 74-84-74-86 10-112-110-24-58-96-102 44-104-44-56 96-110 24 10 112-74 86 74 84-10 114 110 24 58 96Zm102-318Zm-42 142 226-226-56-58-170 170-86-84-56 56 142 142Z&quot;/&gt;&lt;/svg&gt;" id="680" name="Google Shape;68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1761" y="2267232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47"/>
          <p:cNvPicPr preferRelativeResize="0"/>
          <p:nvPr/>
        </p:nvPicPr>
        <p:blipFill rotWithShape="1">
          <a:blip r:embed="rId4">
            <a:alphaModFix/>
          </a:blip>
          <a:srcRect b="33475" l="0" r="0" t="0"/>
          <a:stretch/>
        </p:blipFill>
        <p:spPr>
          <a:xfrm>
            <a:off x="4778150" y="1557725"/>
            <a:ext cx="3337075" cy="402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47"/>
          <p:cNvPicPr preferRelativeResize="0"/>
          <p:nvPr/>
        </p:nvPicPr>
        <p:blipFill rotWithShape="1">
          <a:blip r:embed="rId4">
            <a:alphaModFix/>
          </a:blip>
          <a:srcRect b="0" l="8215" r="0" t="66226"/>
          <a:stretch/>
        </p:blipFill>
        <p:spPr>
          <a:xfrm>
            <a:off x="8168450" y="2228900"/>
            <a:ext cx="4023550" cy="26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47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| [1] </a:t>
            </a:r>
            <a:r>
              <a:rPr b="1"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Proceso de estandarización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84" name="Google Shape;684;p47"/>
          <p:cNvSpPr txBox="1"/>
          <p:nvPr>
            <p:ph type="title"/>
          </p:nvPr>
        </p:nvSpPr>
        <p:spPr>
          <a:xfrm>
            <a:off x="215316" y="664800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➔"/>
            </a:pPr>
            <a:r>
              <a:rPr lang="en"/>
              <a:t>[04] Aseguramiento de la calidad</a:t>
            </a:r>
            <a:endParaRPr sz="2000">
              <a:solidFill>
                <a:srgbClr val="9FB1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48"/>
          <p:cNvSpPr txBox="1"/>
          <p:nvPr>
            <p:ph idx="4294967295" type="body"/>
          </p:nvPr>
        </p:nvSpPr>
        <p:spPr>
          <a:xfrm>
            <a:off x="789900" y="4452000"/>
            <a:ext cx="32172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BM Plex Sans"/>
                <a:ea typeface="IBM Plex Sans"/>
                <a:cs typeface="IBM Plex Sans"/>
                <a:sym typeface="IBM Plex Sans"/>
              </a:rPr>
              <a:t>Obser</a:t>
            </a:r>
            <a:r>
              <a:rPr b="1" lang="en"/>
              <a:t>va</a:t>
            </a:r>
            <a:r>
              <a:rPr b="1" lang="en">
                <a:latin typeface="IBM Plex Sans"/>
                <a:ea typeface="IBM Plex Sans"/>
                <a:cs typeface="IBM Plex Sans"/>
                <a:sym typeface="IBM Plex Sans"/>
              </a:rPr>
              <a:t>do:</a:t>
            </a: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br>
              <a:rPr lang="en"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/>
              <a:t>tendencia visible en los datos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90" name="Google Shape;690;p48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691" name="Google Shape;691;p48"/>
          <p:cNvSpPr txBox="1"/>
          <p:nvPr>
            <p:ph idx="4294967295" type="body"/>
          </p:nvPr>
        </p:nvSpPr>
        <p:spPr>
          <a:xfrm>
            <a:off x="789900" y="5475000"/>
            <a:ext cx="32172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BM Plex Sans"/>
                <a:ea typeface="IBM Plex Sans"/>
                <a:cs typeface="IBM Plex Sans"/>
                <a:sym typeface="IBM Plex Sans"/>
              </a:rPr>
              <a:t>E</a:t>
            </a:r>
            <a:r>
              <a:rPr b="1" lang="en"/>
              <a:t>s</a:t>
            </a:r>
            <a:r>
              <a:rPr b="1" lang="en">
                <a:latin typeface="IBM Plex Sans"/>
                <a:ea typeface="IBM Plex Sans"/>
                <a:cs typeface="IBM Plex Sans"/>
                <a:sym typeface="IBM Plex Sans"/>
              </a:rPr>
              <a:t>pe</a:t>
            </a:r>
            <a:r>
              <a:rPr b="1" lang="en"/>
              <a:t>ra</a:t>
            </a:r>
            <a:r>
              <a:rPr b="1" lang="en">
                <a:latin typeface="IBM Plex Sans"/>
                <a:ea typeface="IBM Plex Sans"/>
                <a:cs typeface="IBM Plex Sans"/>
                <a:sym typeface="IBM Plex Sans"/>
              </a:rPr>
              <a:t>do:</a:t>
            </a: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br>
              <a:rPr lang="en"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/>
              <a:t>tendencia esperada en los datos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92" name="Google Shape;692;p48"/>
          <p:cNvSpPr/>
          <p:nvPr/>
        </p:nvSpPr>
        <p:spPr>
          <a:xfrm>
            <a:off x="6519668" y="3267100"/>
            <a:ext cx="5313375" cy="1843779"/>
          </a:xfrm>
          <a:custGeom>
            <a:rect b="b" l="l" r="r" t="t"/>
            <a:pathLst>
              <a:path extrusionOk="0" h="44287" w="126351">
                <a:moveTo>
                  <a:pt x="0" y="44287"/>
                </a:moveTo>
                <a:cubicBezTo>
                  <a:pt x="9893" y="44287"/>
                  <a:pt x="20659" y="39341"/>
                  <a:pt x="26836" y="31614"/>
                </a:cubicBezTo>
                <a:cubicBezTo>
                  <a:pt x="35318" y="21003"/>
                  <a:pt x="39605" y="2972"/>
                  <a:pt x="52926" y="306"/>
                </a:cubicBezTo>
                <a:cubicBezTo>
                  <a:pt x="63352" y="-1780"/>
                  <a:pt x="72002" y="9951"/>
                  <a:pt x="80507" y="16333"/>
                </a:cubicBezTo>
                <a:cubicBezTo>
                  <a:pt x="88596" y="22403"/>
                  <a:pt x="95343" y="30843"/>
                  <a:pt x="104734" y="34596"/>
                </a:cubicBezTo>
                <a:cubicBezTo>
                  <a:pt x="111488" y="37296"/>
                  <a:pt x="119077" y="37578"/>
                  <a:pt x="126351" y="37578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93" name="Google Shape;693;p48"/>
          <p:cNvSpPr/>
          <p:nvPr/>
        </p:nvSpPr>
        <p:spPr>
          <a:xfrm>
            <a:off x="6519669" y="3393996"/>
            <a:ext cx="5453309" cy="1843779"/>
          </a:xfrm>
          <a:custGeom>
            <a:rect b="b" l="l" r="r" t="t"/>
            <a:pathLst>
              <a:path extrusionOk="0" h="44287" w="126351">
                <a:moveTo>
                  <a:pt x="0" y="44287"/>
                </a:moveTo>
                <a:cubicBezTo>
                  <a:pt x="9893" y="44287"/>
                  <a:pt x="20659" y="39341"/>
                  <a:pt x="26836" y="31614"/>
                </a:cubicBezTo>
                <a:cubicBezTo>
                  <a:pt x="35318" y="21003"/>
                  <a:pt x="39605" y="2972"/>
                  <a:pt x="52926" y="306"/>
                </a:cubicBezTo>
                <a:cubicBezTo>
                  <a:pt x="63352" y="-1780"/>
                  <a:pt x="72002" y="9951"/>
                  <a:pt x="80507" y="16333"/>
                </a:cubicBezTo>
                <a:cubicBezTo>
                  <a:pt x="88596" y="22403"/>
                  <a:pt x="95343" y="30843"/>
                  <a:pt x="104734" y="34596"/>
                </a:cubicBezTo>
                <a:cubicBezTo>
                  <a:pt x="111488" y="37296"/>
                  <a:pt x="119077" y="37578"/>
                  <a:pt x="126351" y="37578"/>
                </a:cubicBezTo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694" name="Google Shape;694;p48"/>
          <p:cNvCxnSpPr/>
          <p:nvPr/>
        </p:nvCxnSpPr>
        <p:spPr>
          <a:xfrm>
            <a:off x="6430626" y="2406000"/>
            <a:ext cx="0" cy="306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" name="Google Shape;695;p48"/>
          <p:cNvCxnSpPr/>
          <p:nvPr/>
        </p:nvCxnSpPr>
        <p:spPr>
          <a:xfrm rot="10800000">
            <a:off x="6417062" y="5457381"/>
            <a:ext cx="5518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" name="Google Shape;696;p48"/>
          <p:cNvCxnSpPr/>
          <p:nvPr/>
        </p:nvCxnSpPr>
        <p:spPr>
          <a:xfrm flipH="1">
            <a:off x="4085226" y="3877350"/>
            <a:ext cx="4135500" cy="187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diamond"/>
            <a:tailEnd len="med" w="med" type="diamond"/>
          </a:ln>
        </p:spPr>
      </p:cxnSp>
      <p:cxnSp>
        <p:nvCxnSpPr>
          <p:cNvPr id="697" name="Google Shape;697;p48"/>
          <p:cNvCxnSpPr/>
          <p:nvPr/>
        </p:nvCxnSpPr>
        <p:spPr>
          <a:xfrm flipH="1">
            <a:off x="4085226" y="3641850"/>
            <a:ext cx="4135500" cy="108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diamond"/>
            <a:tailEnd len="med" w="med" type="diamond"/>
          </a:ln>
        </p:spPr>
      </p:cxnSp>
      <p:pic>
        <p:nvPicPr>
          <p:cNvPr descr="&lt;svg xmlns=&quot;http://www.w3.org/2000/svg&quot; height=&quot;24px&quot; viewBox=&quot;0 -960 960 960&quot; width=&quot;24px&quot; fill=&quot;#0f3bfe&quot;&gt;&lt;path d=&quot;m344-60-76-128-144-32 14-148-98-112 98-112-14-148 144-32 76-128 136 58 136-58 76 128 144 32-14 148 98 112-98 112 14 148-144 32-76 128-136-58-136 58Zm34-102 102-44 104 44 56-96 110-26-10-112 74-84-74-86 10-112-110-24-58-96-102 44-104-44-56 96-110 24 10 112-74 86 74 84-10 114 110 24 58 96Zm102-318Zm-42 142 226-226-56-58-170 170-86-84-56 56 142 142Z&quot;/&gt;&lt;/svg&gt;" id="698" name="Google Shape;69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2834" y="227643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48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| [1] </a:t>
            </a:r>
            <a:r>
              <a:rPr b="1"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Proceso de estandarización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00" name="Google Shape;700;p48"/>
          <p:cNvSpPr txBox="1"/>
          <p:nvPr>
            <p:ph type="title"/>
          </p:nvPr>
        </p:nvSpPr>
        <p:spPr>
          <a:xfrm>
            <a:off x="215316" y="664800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➔"/>
            </a:pPr>
            <a:r>
              <a:rPr lang="en"/>
              <a:t>[04] Aseguramiento de la calidad</a:t>
            </a:r>
            <a:endParaRPr sz="2000">
              <a:solidFill>
                <a:srgbClr val="9FB1FF"/>
              </a:solidFill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0f3bfe&quot;&gt;&lt;path d=&quot;m344-60-76-128-144-32 14-148-98-112 98-112-14-148 144-32 76-128 136 58 136-58 76 128 144 32-14 148 98 112-98 112 14 148-144 32-76 128-136-58-136 58Zm34-102 102-44 104 44 56-96 110-26-10-112 74-84-74-86 10-112-110-24-58-96-102 44-104-44-56 96-110 24 10 112-74 86 74 84-10 114 110 24 58 96Zm102-318Zm-42 142 226-226-56-58-170 170-86-84-56 56 142 142Z&quot;/&gt;&lt;/svg&gt;" id="701" name="Google Shape;70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0999" y="2055513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48"/>
          <p:cNvSpPr/>
          <p:nvPr/>
        </p:nvSpPr>
        <p:spPr>
          <a:xfrm>
            <a:off x="798524" y="1806895"/>
            <a:ext cx="3584100" cy="2046000"/>
          </a:xfrm>
          <a:prstGeom prst="rect">
            <a:avLst/>
          </a:prstGeom>
          <a:solidFill>
            <a:srgbClr val="F3F5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03" name="Google Shape;703;p48"/>
          <p:cNvSpPr txBox="1"/>
          <p:nvPr/>
        </p:nvSpPr>
        <p:spPr>
          <a:xfrm>
            <a:off x="798524" y="1892895"/>
            <a:ext cx="3584100" cy="10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Validación de datos</a:t>
            </a:r>
            <a:endParaRPr sz="1900">
              <a:solidFill>
                <a:schemeClr val="dk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Revisión de tendencias</a:t>
            </a:r>
            <a:endParaRPr sz="1900">
              <a:solidFill>
                <a:schemeClr val="dk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704" name="Google Shape;704;p48"/>
          <p:cNvSpPr txBox="1"/>
          <p:nvPr/>
        </p:nvSpPr>
        <p:spPr>
          <a:xfrm>
            <a:off x="798674" y="2744695"/>
            <a:ext cx="3584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objetivo es evaluar todos los datos para poder comprender las tendencias y casos extremos.</a:t>
            </a:r>
            <a:endParaRPr b="0" i="0" sz="1400" u="none" cap="none" strike="noStrike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0f3bfe&quot;&gt;&lt;path d=&quot;m344-60-76-128-144-32 14-148-98-112 98-112-14-148 144-32 76-128 136 58 136-58 76 128 144 32-14 148 98 112-98 112 14 148-144 32-76 128-136-58-136 58Zm34-102 102-44 104 44 56-96 110-26-10-112 74-84-74-86 10-112-110-24-58-96-102 44-104-44-56 96-110 24 10 112-74 86 74 84-10 114 110 24 58 96Zm102-318Zm-42 142 226-226-56-58-170 170-86-84-56 56 142 142Z&quot;/&gt;&lt;/svg&gt;" id="705" name="Google Shape;70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1761" y="2267232"/>
            <a:ext cx="274320" cy="274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9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pic>
        <p:nvPicPr>
          <p:cNvPr descr="&lt;svg xmlns=&quot;http://www.w3.org/2000/svg&quot; height=&quot;24px&quot; viewBox=&quot;0 -960 960 960&quot; width=&quot;24px&quot; fill=&quot;#0f3bfe&quot;&gt;&lt;path d=&quot;m344-60-76-128-144-32 14-148-98-112 98-112-14-148 144-32 76-128 136 58 136-58 76 128 144 32-14 148 98 112-98 112 14 148-144 32-76 128-136-58-136 58Zm34-102 102-44 104 44 56-96 110-26-10-112 74-84-74-86 10-112-110-24-58-96-102 44-104-44-56 96-110 24 10 112-74 86 74 84-10 114 110 24 58 96Zm102-318Zm-42 142 226-226-56-58-170 170-86-84-56 56 142 142Z&quot;/&gt;&lt;/svg&gt;" id="711" name="Google Shape;71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2834" y="227643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49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| [1] </a:t>
            </a:r>
            <a:r>
              <a:rPr b="1"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Proceso de estandarización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13" name="Google Shape;713;p49"/>
          <p:cNvSpPr txBox="1"/>
          <p:nvPr>
            <p:ph type="title"/>
          </p:nvPr>
        </p:nvSpPr>
        <p:spPr>
          <a:xfrm>
            <a:off x="215316" y="664800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➔"/>
            </a:pPr>
            <a:r>
              <a:rPr lang="en"/>
              <a:t>[04] Aseguramiento de la calidad</a:t>
            </a:r>
            <a:endParaRPr sz="2000">
              <a:solidFill>
                <a:srgbClr val="9FB1FF"/>
              </a:solidFill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0f3bfe&quot;&gt;&lt;path d=&quot;m344-60-76-128-144-32 14-148-98-112 98-112-14-148 144-32 76-128 136 58 136-58 76 128 144 32-14 148 98 112-98 112 14 148-144 32-76 128-136-58-136 58Zm34-102 102-44 104 44 56-96 110-26-10-112 74-84-74-86 10-112-110-24-58-96-102 44-104-44-56 96-110 24 10 112-74 86 74 84-10 114 110 24 58 96Zm102-318Zm-42 142 226-226-56-58-170 170-86-84-56 56 142 142Z&quot;/&gt;&lt;/svg&gt;" id="714" name="Google Shape;71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0999" y="2055513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49"/>
          <p:cNvSpPr/>
          <p:nvPr/>
        </p:nvSpPr>
        <p:spPr>
          <a:xfrm>
            <a:off x="798524" y="1806895"/>
            <a:ext cx="3584100" cy="2046000"/>
          </a:xfrm>
          <a:prstGeom prst="rect">
            <a:avLst/>
          </a:prstGeom>
          <a:solidFill>
            <a:srgbClr val="F3F5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16" name="Google Shape;716;p49"/>
          <p:cNvSpPr txBox="1"/>
          <p:nvPr/>
        </p:nvSpPr>
        <p:spPr>
          <a:xfrm>
            <a:off x="798524" y="1892895"/>
            <a:ext cx="3584100" cy="10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Validación de datos</a:t>
            </a:r>
            <a:endParaRPr sz="1900">
              <a:solidFill>
                <a:schemeClr val="dk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Revisión de tendencias</a:t>
            </a:r>
            <a:endParaRPr sz="1900">
              <a:solidFill>
                <a:schemeClr val="dk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717" name="Google Shape;717;p49"/>
          <p:cNvSpPr txBox="1"/>
          <p:nvPr/>
        </p:nvSpPr>
        <p:spPr>
          <a:xfrm>
            <a:off x="798674" y="2744695"/>
            <a:ext cx="3584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objetivo es evaluar todos los datos para poder comprender las tendencias y casos extremos.</a:t>
            </a:r>
            <a:endParaRPr b="0" i="0" sz="1400" u="none" cap="none" strike="noStrike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0f3bfe&quot;&gt;&lt;path d=&quot;m344-60-76-128-144-32 14-148-98-112 98-112-14-148 144-32 76-128 136 58 136-58 76 128 144 32-14 148 98 112-98 112 14 148-144 32-76 128-136-58-136 58Zm34-102 102-44 104 44 56-96 110-26-10-112 74-84-74-86 10-112-110-24-58-96-102 44-104-44-56 96-110 24 10 112-74 86 74 84-10 114 110 24 58 96Zm102-318Zm-42 142 226-226-56-58-170 170-86-84-56 56 142 142Z&quot;/&gt;&lt;/svg&gt;" id="718" name="Google Shape;71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1761" y="2267232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49"/>
          <p:cNvPicPr preferRelativeResize="0"/>
          <p:nvPr/>
        </p:nvPicPr>
        <p:blipFill rotWithShape="1">
          <a:blip r:embed="rId4">
            <a:alphaModFix/>
          </a:blip>
          <a:srcRect b="0" l="18646" r="0" t="0"/>
          <a:stretch/>
        </p:blipFill>
        <p:spPr>
          <a:xfrm>
            <a:off x="4523950" y="1806900"/>
            <a:ext cx="7527901" cy="4200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50"/>
          <p:cNvSpPr/>
          <p:nvPr/>
        </p:nvSpPr>
        <p:spPr>
          <a:xfrm>
            <a:off x="0" y="0"/>
            <a:ext cx="5561700" cy="68736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5" name="Google Shape;725;p50"/>
          <p:cNvSpPr txBox="1"/>
          <p:nvPr>
            <p:ph idx="4294967295" type="title"/>
          </p:nvPr>
        </p:nvSpPr>
        <p:spPr>
          <a:xfrm>
            <a:off x="568340" y="2265000"/>
            <a:ext cx="5201700" cy="20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6159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100"/>
              <a:buChar char="➔"/>
            </a:pPr>
            <a:r>
              <a:rPr lang="en" sz="6100">
                <a:solidFill>
                  <a:schemeClr val="dk1"/>
                </a:solidFill>
              </a:rPr>
              <a:t>Usos</a:t>
            </a:r>
            <a:br>
              <a:rPr lang="en" sz="6100">
                <a:solidFill>
                  <a:schemeClr val="dk1"/>
                </a:solidFill>
              </a:rPr>
            </a:br>
            <a:r>
              <a:rPr lang="en" sz="6100">
                <a:solidFill>
                  <a:schemeClr val="dk1"/>
                </a:solidFill>
              </a:rPr>
              <a:t>de la IA</a:t>
            </a:r>
            <a:endParaRPr sz="6100">
              <a:solidFill>
                <a:schemeClr val="dk1"/>
              </a:solidFill>
            </a:endParaRPr>
          </a:p>
        </p:txBody>
      </p:sp>
      <p:sp>
        <p:nvSpPr>
          <p:cNvPr id="726" name="Google Shape;726;p50"/>
          <p:cNvSpPr txBox="1"/>
          <p:nvPr>
            <p:ph idx="4294967295" type="body"/>
          </p:nvPr>
        </p:nvSpPr>
        <p:spPr>
          <a:xfrm>
            <a:off x="6282100" y="1728475"/>
            <a:ext cx="4823400" cy="45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Char char="■"/>
            </a:pPr>
            <a:r>
              <a:rPr lang="en" sz="2100">
                <a:solidFill>
                  <a:srgbClr val="040F40"/>
                </a:solidFill>
              </a:rPr>
              <a:t>El objetivo principal es </a:t>
            </a:r>
            <a:r>
              <a:rPr b="1" lang="en" sz="2100">
                <a:solidFill>
                  <a:srgbClr val="040F40"/>
                </a:solidFill>
              </a:rPr>
              <a:t>aterrizar un caso de uso</a:t>
            </a:r>
            <a:r>
              <a:rPr b="1" lang="en" sz="2100">
                <a:solidFill>
                  <a:srgbClr val="040F40"/>
                </a:solidFill>
              </a:rPr>
              <a:t> </a:t>
            </a:r>
            <a:r>
              <a:rPr lang="en" sz="2100">
                <a:solidFill>
                  <a:srgbClr val="040F40"/>
                </a:solidFill>
              </a:rPr>
              <a:t>sobre los </a:t>
            </a:r>
            <a:r>
              <a:rPr lang="en" sz="2100">
                <a:solidFill>
                  <a:srgbClr val="040F40"/>
                </a:solidFill>
              </a:rPr>
              <a:t>datos del centro a gran escala.</a:t>
            </a:r>
            <a:endParaRPr sz="2100">
              <a:solidFill>
                <a:srgbClr val="040F40"/>
              </a:solidFill>
            </a:endParaRPr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100"/>
              <a:buChar char="■"/>
            </a:pPr>
            <a:r>
              <a:rPr lang="en" sz="2100">
                <a:solidFill>
                  <a:srgbClr val="040F40"/>
                </a:solidFill>
              </a:rPr>
              <a:t>Esto permite mejorar:</a:t>
            </a:r>
            <a:endParaRPr sz="2100">
              <a:solidFill>
                <a:srgbClr val="040F40"/>
              </a:solidFill>
            </a:endParaRPr>
          </a:p>
          <a:p>
            <a:pPr indent="-361950" lvl="1" marL="914400" rtl="0" algn="l">
              <a:spcBef>
                <a:spcPts val="1000"/>
              </a:spcBef>
              <a:spcAft>
                <a:spcPts val="0"/>
              </a:spcAft>
              <a:buClr>
                <a:srgbClr val="040F40"/>
              </a:buClr>
              <a:buSzPts val="2100"/>
              <a:buChar char="○"/>
            </a:pPr>
            <a:r>
              <a:rPr lang="en" sz="2100">
                <a:solidFill>
                  <a:srgbClr val="040F40"/>
                </a:solidFill>
              </a:rPr>
              <a:t>Conclusiones sobre las cohortes</a:t>
            </a:r>
            <a:endParaRPr sz="2100">
              <a:solidFill>
                <a:srgbClr val="040F40"/>
              </a:solidFill>
            </a:endParaRPr>
          </a:p>
          <a:p>
            <a:pPr indent="-361950" lvl="1" marL="914400" rtl="0" algn="l">
              <a:spcBef>
                <a:spcPts val="1000"/>
              </a:spcBef>
              <a:spcAft>
                <a:spcPts val="0"/>
              </a:spcAft>
              <a:buClr>
                <a:srgbClr val="040F40"/>
              </a:buClr>
              <a:buSzPts val="2100"/>
              <a:buChar char="○"/>
            </a:pPr>
            <a:r>
              <a:rPr lang="en" sz="2100">
                <a:solidFill>
                  <a:srgbClr val="040F40"/>
                </a:solidFill>
              </a:rPr>
              <a:t>Integrar an</a:t>
            </a:r>
            <a:r>
              <a:rPr lang="en" sz="2100">
                <a:solidFill>
                  <a:srgbClr val="040F40"/>
                </a:solidFill>
              </a:rPr>
              <a:t>álisis avanzados de forma sistemática</a:t>
            </a:r>
            <a:endParaRPr sz="2100">
              <a:solidFill>
                <a:srgbClr val="040F40"/>
              </a:solidFill>
            </a:endParaRPr>
          </a:p>
          <a:p>
            <a:pPr indent="-361950" lvl="1" marL="914400" rtl="0" algn="l">
              <a:spcBef>
                <a:spcPts val="1000"/>
              </a:spcBef>
              <a:spcAft>
                <a:spcPts val="1000"/>
              </a:spcAft>
              <a:buClr>
                <a:srgbClr val="040F40"/>
              </a:buClr>
              <a:buSzPts val="2100"/>
              <a:buChar char="○"/>
            </a:pPr>
            <a:r>
              <a:rPr lang="en" sz="2100">
                <a:solidFill>
                  <a:srgbClr val="040F40"/>
                </a:solidFill>
              </a:rPr>
              <a:t>Una mejor gesti</a:t>
            </a:r>
            <a:r>
              <a:rPr lang="en" sz="2100">
                <a:solidFill>
                  <a:srgbClr val="040F40"/>
                </a:solidFill>
              </a:rPr>
              <a:t>ón de procesos en el centro</a:t>
            </a:r>
            <a:endParaRPr sz="2100">
              <a:solidFill>
                <a:srgbClr val="040F40"/>
              </a:solidFill>
            </a:endParaRPr>
          </a:p>
        </p:txBody>
      </p:sp>
      <p:sp>
        <p:nvSpPr>
          <p:cNvPr id="727" name="Google Shape;727;p50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pic>
        <p:nvPicPr>
          <p:cNvPr id="728" name="Google Shape;728;p50"/>
          <p:cNvPicPr preferRelativeResize="0"/>
          <p:nvPr/>
        </p:nvPicPr>
        <p:blipFill rotWithShape="1">
          <a:blip r:embed="rId3">
            <a:alphaModFix/>
          </a:blip>
          <a:srcRect b="20293" l="8421" r="7708" t="23650"/>
          <a:stretch/>
        </p:blipFill>
        <p:spPr>
          <a:xfrm>
            <a:off x="109697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50"/>
          <p:cNvSpPr txBox="1"/>
          <p:nvPr>
            <p:ph idx="4294967295" type="body"/>
          </p:nvPr>
        </p:nvSpPr>
        <p:spPr>
          <a:xfrm>
            <a:off x="6270229" y="980553"/>
            <a:ext cx="55617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2"/>
                </a:solidFill>
              </a:rPr>
              <a:t>2. </a:t>
            </a:r>
            <a:r>
              <a:rPr lang="en" sz="2700">
                <a:solidFill>
                  <a:schemeClr val="lt1"/>
                </a:solidFill>
                <a:highlight>
                  <a:schemeClr val="accent1"/>
                </a:highlight>
              </a:rPr>
              <a:t>Análisis</a:t>
            </a:r>
            <a:r>
              <a:rPr lang="en" sz="2700">
                <a:solidFill>
                  <a:schemeClr val="dk2"/>
                </a:solidFill>
              </a:rPr>
              <a:t> de los datos</a:t>
            </a:r>
            <a:endParaRPr sz="2700">
              <a:solidFill>
                <a:schemeClr val="lt1"/>
              </a:solidFill>
              <a:highlight>
                <a:schemeClr val="accent2"/>
              </a:highlight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0f3bfe&quot;&gt;&lt;path d=&quot;M120-160v-160h720v160H120Zm80-40h80v-80h-80v80Zm-80-440v-160h720v160H120Zm80-40h80v-80h-80v80Zm-80 280v-160h720v160H120Zm80-40h80v-80h-80v80Z&quot;/&gt;&lt;/svg&gt;" id="730" name="Google Shape;730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3502" y="1116410"/>
            <a:ext cx="328586" cy="328586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50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51"/>
          <p:cNvSpPr txBox="1"/>
          <p:nvPr>
            <p:ph type="title"/>
          </p:nvPr>
        </p:nvSpPr>
        <p:spPr>
          <a:xfrm>
            <a:off x="207600" y="664800"/>
            <a:ext cx="111474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➔"/>
            </a:pPr>
            <a:r>
              <a:rPr lang="en"/>
              <a:t>Entrenamiento de modelos de Inteligencia Artificial</a:t>
            </a:r>
            <a:endParaRPr sz="2000"/>
          </a:p>
        </p:txBody>
      </p:sp>
      <p:sp>
        <p:nvSpPr>
          <p:cNvPr id="737" name="Google Shape;737;p51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pic>
        <p:nvPicPr>
          <p:cNvPr id="738" name="Google Shape;73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7875" y="1687800"/>
            <a:ext cx="8096250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51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| [2] </a:t>
            </a:r>
            <a:r>
              <a:rPr b="1"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Análisis de los datos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52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pic>
        <p:nvPicPr>
          <p:cNvPr id="745" name="Google Shape;745;p52"/>
          <p:cNvPicPr preferRelativeResize="0"/>
          <p:nvPr/>
        </p:nvPicPr>
        <p:blipFill rotWithShape="1">
          <a:blip r:embed="rId3">
            <a:alphaModFix/>
          </a:blip>
          <a:srcRect b="1414" l="484" r="702" t="1082"/>
          <a:stretch/>
        </p:blipFill>
        <p:spPr>
          <a:xfrm>
            <a:off x="403589" y="507500"/>
            <a:ext cx="11024834" cy="629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52"/>
          <p:cNvSpPr txBox="1"/>
          <p:nvPr/>
        </p:nvSpPr>
        <p:spPr>
          <a:xfrm rot="-5400000">
            <a:off x="-2087850" y="4518000"/>
            <a:ext cx="4468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IBM Plex Sans"/>
                <a:ea typeface="IBM Plex Sans"/>
                <a:cs typeface="IBM Plex Sans"/>
                <a:sym typeface="IBM Plex Sans"/>
              </a:rPr>
              <a:t>N Engl J Med 2023;389:348-58. DOI: 10.1056/NEJMra2204673</a:t>
            </a:r>
            <a:endParaRPr sz="7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47" name="Google Shape;747;p52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| [2] </a:t>
            </a:r>
            <a:r>
              <a:rPr b="1"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Análisis de los datos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53"/>
          <p:cNvSpPr txBox="1"/>
          <p:nvPr>
            <p:ph idx="4294967295" type="body"/>
          </p:nvPr>
        </p:nvSpPr>
        <p:spPr>
          <a:xfrm>
            <a:off x="359950" y="1515200"/>
            <a:ext cx="102855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Pts val="1600"/>
              <a:buChar char="■"/>
            </a:pPr>
            <a:r>
              <a:rPr lang="en" sz="1600">
                <a:solidFill>
                  <a:srgbClr val="040F40"/>
                </a:solidFill>
              </a:rPr>
              <a:t>Aprovechar los datos ya disponibles en el OMOP para poder hacer análisis más avanzados</a:t>
            </a:r>
            <a:endParaRPr sz="1600">
              <a:solidFill>
                <a:srgbClr val="040F40"/>
              </a:solidFill>
            </a:endParaRPr>
          </a:p>
        </p:txBody>
      </p:sp>
      <p:sp>
        <p:nvSpPr>
          <p:cNvPr id="753" name="Google Shape;753;p53"/>
          <p:cNvSpPr txBox="1"/>
          <p:nvPr>
            <p:ph type="title"/>
          </p:nvPr>
        </p:nvSpPr>
        <p:spPr>
          <a:xfrm>
            <a:off x="207600" y="664800"/>
            <a:ext cx="111474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➔"/>
            </a:pPr>
            <a:r>
              <a:rPr lang="en"/>
              <a:t>Clusterización de sintomatología </a:t>
            </a:r>
            <a:endParaRPr sz="2000"/>
          </a:p>
        </p:txBody>
      </p:sp>
      <p:sp>
        <p:nvSpPr>
          <p:cNvPr id="754" name="Google Shape;754;p53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pic>
        <p:nvPicPr>
          <p:cNvPr id="755" name="Google Shape;755;p53" title="Screenshot 2025-03-13 at 09.56.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4575" y="2129300"/>
            <a:ext cx="6927022" cy="4576299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53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| [2] </a:t>
            </a:r>
            <a:r>
              <a:rPr b="1"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Análisis de los datos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54"/>
          <p:cNvSpPr/>
          <p:nvPr/>
        </p:nvSpPr>
        <p:spPr>
          <a:xfrm>
            <a:off x="4808675" y="2478737"/>
            <a:ext cx="3225600" cy="1662900"/>
          </a:xfrm>
          <a:prstGeom prst="rect">
            <a:avLst/>
          </a:prstGeom>
          <a:solidFill>
            <a:srgbClr val="F3F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2" name="Google Shape;762;p54"/>
          <p:cNvSpPr/>
          <p:nvPr/>
        </p:nvSpPr>
        <p:spPr>
          <a:xfrm>
            <a:off x="8295975" y="2478737"/>
            <a:ext cx="3225600" cy="1662900"/>
          </a:xfrm>
          <a:prstGeom prst="rect">
            <a:avLst/>
          </a:prstGeom>
          <a:solidFill>
            <a:srgbClr val="D0FCE5"/>
          </a:solidFill>
          <a:ln cap="flat" cmpd="sng" w="9525">
            <a:solidFill>
              <a:srgbClr val="D0F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3" name="Google Shape;763;p54"/>
          <p:cNvSpPr/>
          <p:nvPr/>
        </p:nvSpPr>
        <p:spPr>
          <a:xfrm>
            <a:off x="810475" y="3480925"/>
            <a:ext cx="3545400" cy="2046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4" name="Google Shape;764;p54"/>
          <p:cNvSpPr txBox="1"/>
          <p:nvPr/>
        </p:nvSpPr>
        <p:spPr>
          <a:xfrm>
            <a:off x="810473" y="4356975"/>
            <a:ext cx="35454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75" lIns="182875" spcFirstLastPara="1" rIns="182875" wrap="square" tIns="182875">
            <a:spAutoFit/>
          </a:bodyPr>
          <a:lstStyle/>
          <a:p>
            <a:pPr indent="-180340" lvl="0" marL="18288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BM Plex Sans Medium"/>
              <a:buChar char="■"/>
            </a:pPr>
            <a:r>
              <a:rPr lang="en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CKD Patients</a:t>
            </a:r>
            <a:endParaRPr sz="55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45.382</a:t>
            </a:r>
            <a:endParaRPr sz="3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65" name="Google Shape;765;p54"/>
          <p:cNvSpPr/>
          <p:nvPr/>
        </p:nvSpPr>
        <p:spPr>
          <a:xfrm>
            <a:off x="810475" y="2465125"/>
            <a:ext cx="1863000" cy="1015800"/>
          </a:xfrm>
          <a:prstGeom prst="rect">
            <a:avLst/>
          </a:prstGeom>
          <a:solidFill>
            <a:srgbClr val="F3F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6" name="Google Shape;766;p54"/>
          <p:cNvSpPr txBox="1"/>
          <p:nvPr/>
        </p:nvSpPr>
        <p:spPr>
          <a:xfrm>
            <a:off x="810473" y="2465125"/>
            <a:ext cx="1930800" cy="8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-15494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BM Plex Sans Medium"/>
              <a:buChar char="■"/>
            </a:pPr>
            <a:r>
              <a:rPr lang="en"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Confirmed HKD</a:t>
            </a:r>
            <a:endParaRPr sz="10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292</a:t>
            </a:r>
            <a:endParaRPr sz="34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67" name="Google Shape;767;p54"/>
          <p:cNvSpPr txBox="1"/>
          <p:nvPr/>
        </p:nvSpPr>
        <p:spPr>
          <a:xfrm>
            <a:off x="722800" y="5606175"/>
            <a:ext cx="36408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Patients with Chronic Kidney Disease (CKD) and a Hereditary Kidney Disease (HKD)</a:t>
            </a:r>
            <a:endParaRPr sz="1200">
              <a:solidFill>
                <a:schemeClr val="dk2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Hospital Fundació Puigvert  (total patients=920K)</a:t>
            </a:r>
            <a:endParaRPr sz="10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68" name="Google Shape;768;p54"/>
          <p:cNvSpPr txBox="1"/>
          <p:nvPr>
            <p:ph idx="12" type="sldNum"/>
          </p:nvPr>
        </p:nvSpPr>
        <p:spPr>
          <a:xfrm>
            <a:off x="10580106" y="6171920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769" name="Google Shape;769;p54"/>
          <p:cNvSpPr txBox="1"/>
          <p:nvPr>
            <p:ph type="title"/>
          </p:nvPr>
        </p:nvSpPr>
        <p:spPr>
          <a:xfrm>
            <a:off x="246478" y="658200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➔"/>
            </a:pPr>
            <a:r>
              <a:rPr lang="en"/>
              <a:t>Alport Syndrome</a:t>
            </a:r>
            <a:endParaRPr>
              <a:solidFill>
                <a:srgbClr val="9FB1FF"/>
              </a:solidFill>
            </a:endParaRPr>
          </a:p>
        </p:txBody>
      </p:sp>
      <p:grpSp>
        <p:nvGrpSpPr>
          <p:cNvPr id="770" name="Google Shape;770;p54"/>
          <p:cNvGrpSpPr/>
          <p:nvPr/>
        </p:nvGrpSpPr>
        <p:grpSpPr>
          <a:xfrm>
            <a:off x="5137342" y="2587789"/>
            <a:ext cx="6223808" cy="4000563"/>
            <a:chOff x="6000308" y="1786273"/>
            <a:chExt cx="6964091" cy="4393327"/>
          </a:xfrm>
        </p:grpSpPr>
        <p:grpSp>
          <p:nvGrpSpPr>
            <p:cNvPr id="771" name="Google Shape;771;p54"/>
            <p:cNvGrpSpPr/>
            <p:nvPr/>
          </p:nvGrpSpPr>
          <p:grpSpPr>
            <a:xfrm>
              <a:off x="6000308" y="1786273"/>
              <a:ext cx="6964091" cy="4240087"/>
              <a:chOff x="10529333" y="3849211"/>
              <a:chExt cx="6964091" cy="4240087"/>
            </a:xfrm>
          </p:grpSpPr>
          <p:pic>
            <p:nvPicPr>
              <p:cNvPr descr="Managed Faiss | Pinecone" id="772" name="Google Shape;772;p54"/>
              <p:cNvPicPr preferRelativeResize="0"/>
              <p:nvPr/>
            </p:nvPicPr>
            <p:blipFill rotWithShape="1">
              <a:blip r:embed="rId3">
                <a:alphaModFix/>
              </a:blip>
              <a:srcRect b="19672" l="0" r="0" t="0"/>
              <a:stretch/>
            </p:blipFill>
            <p:spPr>
              <a:xfrm>
                <a:off x="10529350" y="3922860"/>
                <a:ext cx="5734224" cy="4166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3" name="Google Shape;773;p54"/>
              <p:cNvSpPr txBox="1"/>
              <p:nvPr/>
            </p:nvSpPr>
            <p:spPr>
              <a:xfrm>
                <a:off x="10529333" y="3849211"/>
                <a:ext cx="2648100" cy="20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lang="en" sz="1200" u="sng">
                    <a:solidFill>
                      <a:schemeClr val="dk2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CKD</a:t>
                </a:r>
                <a:r>
                  <a:rPr lang="en" sz="1200">
                    <a:solidFill>
                      <a:schemeClr val="dk2"/>
                    </a:solidFill>
                    <a:latin typeface="IBM Plex Sans Medium"/>
                    <a:ea typeface="IBM Plex Sans Medium"/>
                    <a:cs typeface="IBM Plex Sans Medium"/>
                    <a:sym typeface="IBM Plex Sans Medium"/>
                  </a:rPr>
                  <a:t> patients in the Centre</a:t>
                </a:r>
                <a:endParaRPr sz="1200">
                  <a:solidFill>
                    <a:schemeClr val="dk2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endParaRPr>
              </a:p>
            </p:txBody>
          </p:sp>
          <p:sp>
            <p:nvSpPr>
              <p:cNvPr id="774" name="Google Shape;774;p54"/>
              <p:cNvSpPr txBox="1"/>
              <p:nvPr/>
            </p:nvSpPr>
            <p:spPr>
              <a:xfrm>
                <a:off x="16456024" y="4025464"/>
                <a:ext cx="1037400" cy="121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1200">
                    <a:solidFill>
                      <a:schemeClr val="dk2"/>
                    </a:solidFill>
                    <a:latin typeface="IBM Plex Sans Medium"/>
                    <a:ea typeface="IBM Plex Sans Medium"/>
                    <a:cs typeface="IBM Plex Sans Medium"/>
                    <a:sym typeface="IBM Plex Sans Medium"/>
                  </a:rPr>
                  <a:t>Patients identified without a documented HKD diagnosis.</a:t>
                </a:r>
                <a:endParaRPr sz="1200">
                  <a:solidFill>
                    <a:schemeClr val="dk2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endParaRPr>
              </a:p>
            </p:txBody>
          </p:sp>
        </p:grpSp>
        <p:sp>
          <p:nvSpPr>
            <p:cNvPr id="775" name="Google Shape;775;p54"/>
            <p:cNvSpPr/>
            <p:nvPr/>
          </p:nvSpPr>
          <p:spPr>
            <a:xfrm>
              <a:off x="7152575" y="5172625"/>
              <a:ext cx="3924200" cy="1006975"/>
            </a:xfrm>
            <a:custGeom>
              <a:rect b="b" l="l" r="r" t="t"/>
              <a:pathLst>
                <a:path extrusionOk="0" h="40279" w="156968">
                  <a:moveTo>
                    <a:pt x="17045" y="0"/>
                  </a:moveTo>
                  <a:lnTo>
                    <a:pt x="68954" y="30683"/>
                  </a:lnTo>
                  <a:lnTo>
                    <a:pt x="105393" y="8259"/>
                  </a:lnTo>
                  <a:lnTo>
                    <a:pt x="156968" y="32925"/>
                  </a:lnTo>
                  <a:lnTo>
                    <a:pt x="139577" y="34767"/>
                  </a:lnTo>
                  <a:lnTo>
                    <a:pt x="71315" y="39855"/>
                  </a:lnTo>
                  <a:lnTo>
                    <a:pt x="30188" y="40279"/>
                  </a:lnTo>
                  <a:lnTo>
                    <a:pt x="5597" y="36039"/>
                  </a:lnTo>
                  <a:lnTo>
                    <a:pt x="0" y="2283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776" name="Google Shape;776;p54"/>
          <p:cNvSpPr/>
          <p:nvPr/>
        </p:nvSpPr>
        <p:spPr>
          <a:xfrm>
            <a:off x="2673510" y="2465125"/>
            <a:ext cx="1690200" cy="1015800"/>
          </a:xfrm>
          <a:prstGeom prst="rect">
            <a:avLst/>
          </a:prstGeom>
          <a:solidFill>
            <a:srgbClr val="D0FC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77" name="Google Shape;777;p54"/>
          <p:cNvSpPr txBox="1"/>
          <p:nvPr/>
        </p:nvSpPr>
        <p:spPr>
          <a:xfrm>
            <a:off x="2690084" y="2465125"/>
            <a:ext cx="1690200" cy="8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-15494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Char char="■"/>
            </a:pPr>
            <a:r>
              <a:rPr lang="en"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New HKD </a:t>
            </a:r>
            <a:endParaRPr sz="10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+53</a:t>
            </a:r>
            <a:endParaRPr sz="34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78" name="Google Shape;778;p54"/>
          <p:cNvSpPr txBox="1"/>
          <p:nvPr/>
        </p:nvSpPr>
        <p:spPr>
          <a:xfrm>
            <a:off x="722800" y="1356750"/>
            <a:ext cx="1079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600">
                <a:solidFill>
                  <a:srgbClr val="0F3BFE"/>
                </a:solidFill>
                <a:latin typeface="IBM Plex Sans"/>
                <a:ea typeface="IBM Plex Sans"/>
                <a:cs typeface="IBM Plex Sans"/>
                <a:sym typeface="IBM Plex Sans"/>
              </a:rPr>
              <a:t>Many patients with Chronic Kidney Disease (CKD) do not have a confirmed diagnosis of Hereditary Kidney Disease (HKD) such as Alport Syndrome. </a:t>
            </a:r>
            <a:r>
              <a:rPr lang="en" sz="1600">
                <a:solidFill>
                  <a:schemeClr val="lt2"/>
                </a:solidFill>
                <a:highlight>
                  <a:schemeClr val="dk1"/>
                </a:highlight>
                <a:latin typeface="IBM Plex Sans Medium"/>
                <a:ea typeface="IBM Plex Sans Medium"/>
                <a:cs typeface="IBM Plex Sans Medium"/>
                <a:sym typeface="IBM Plex Sans Medium"/>
              </a:rPr>
              <a:t>We assist physicians in identifying patients with a not filiated HKD</a:t>
            </a:r>
            <a:r>
              <a:rPr lang="en" sz="1600">
                <a:solidFill>
                  <a:srgbClr val="0F3BFE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</a:t>
            </a:r>
            <a:r>
              <a:rPr lang="en" sz="1600">
                <a:solidFill>
                  <a:srgbClr val="0F3BFE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 supports the diagnostic confirmation process.</a:t>
            </a:r>
            <a:endParaRPr sz="1600">
              <a:solidFill>
                <a:srgbClr val="0F3BF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79" name="Google Shape;779;p54"/>
          <p:cNvSpPr/>
          <p:nvPr/>
        </p:nvSpPr>
        <p:spPr>
          <a:xfrm>
            <a:off x="5535454" y="3064679"/>
            <a:ext cx="224100" cy="475500"/>
          </a:xfrm>
          <a:prstGeom prst="rect">
            <a:avLst/>
          </a:prstGeom>
          <a:noFill/>
          <a:ln cap="flat" cmpd="sng" w="38100">
            <a:solidFill>
              <a:srgbClr val="12B0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780" name="Google Shape;780;p54"/>
          <p:cNvCxnSpPr>
            <a:stCxn id="779" idx="2"/>
          </p:cNvCxnSpPr>
          <p:nvPr/>
        </p:nvCxnSpPr>
        <p:spPr>
          <a:xfrm flipH="1">
            <a:off x="5330704" y="3540179"/>
            <a:ext cx="316800" cy="136500"/>
          </a:xfrm>
          <a:prstGeom prst="straightConnector1">
            <a:avLst/>
          </a:prstGeom>
          <a:noFill/>
          <a:ln cap="flat" cmpd="sng" w="28575">
            <a:solidFill>
              <a:srgbClr val="12B0A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1" name="Google Shape;781;p54"/>
          <p:cNvSpPr txBox="1"/>
          <p:nvPr/>
        </p:nvSpPr>
        <p:spPr>
          <a:xfrm>
            <a:off x="5115749" y="3676688"/>
            <a:ext cx="128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Confirmed HKD patients</a:t>
            </a:r>
            <a:endParaRPr sz="1200">
              <a:solidFill>
                <a:schemeClr val="dk2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82" name="Google Shape;782;p54"/>
          <p:cNvSpPr txBox="1"/>
          <p:nvPr/>
        </p:nvSpPr>
        <p:spPr>
          <a:xfrm>
            <a:off x="4808673" y="2260865"/>
            <a:ext cx="106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AI Training</a:t>
            </a:r>
            <a:endParaRPr sz="1200">
              <a:solidFill>
                <a:schemeClr val="dk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783" name="Google Shape;783;p54"/>
          <p:cNvSpPr txBox="1"/>
          <p:nvPr/>
        </p:nvSpPr>
        <p:spPr>
          <a:xfrm>
            <a:off x="8295966" y="2260870"/>
            <a:ext cx="106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>
                <a:solidFill>
                  <a:srgbClr val="0B7940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AI Search</a:t>
            </a:r>
            <a:endParaRPr sz="1200">
              <a:solidFill>
                <a:srgbClr val="0B7940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784" name="Google Shape;784;p54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| [2] </a:t>
            </a:r>
            <a:r>
              <a:rPr b="1"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Análisis de los datos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55"/>
          <p:cNvSpPr/>
          <p:nvPr/>
        </p:nvSpPr>
        <p:spPr>
          <a:xfrm>
            <a:off x="0" y="0"/>
            <a:ext cx="5561700" cy="68736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90" name="Google Shape;790;p55"/>
          <p:cNvSpPr txBox="1"/>
          <p:nvPr>
            <p:ph idx="4294967295" type="title"/>
          </p:nvPr>
        </p:nvSpPr>
        <p:spPr>
          <a:xfrm>
            <a:off x="568340" y="2265000"/>
            <a:ext cx="5201700" cy="20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6159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100"/>
              <a:buChar char="➔"/>
            </a:pPr>
            <a:r>
              <a:rPr lang="en" sz="6100">
                <a:solidFill>
                  <a:schemeClr val="dk1"/>
                </a:solidFill>
              </a:rPr>
              <a:t>Usos</a:t>
            </a:r>
            <a:br>
              <a:rPr lang="en" sz="6100">
                <a:solidFill>
                  <a:schemeClr val="dk1"/>
                </a:solidFill>
              </a:rPr>
            </a:br>
            <a:r>
              <a:rPr lang="en" sz="6100">
                <a:solidFill>
                  <a:schemeClr val="dk1"/>
                </a:solidFill>
              </a:rPr>
              <a:t>de la IA</a:t>
            </a:r>
            <a:endParaRPr sz="6100">
              <a:solidFill>
                <a:schemeClr val="dk1"/>
              </a:solidFill>
            </a:endParaRPr>
          </a:p>
        </p:txBody>
      </p:sp>
      <p:sp>
        <p:nvSpPr>
          <p:cNvPr id="791" name="Google Shape;791;p55"/>
          <p:cNvSpPr txBox="1"/>
          <p:nvPr>
            <p:ph idx="4294967295" type="body"/>
          </p:nvPr>
        </p:nvSpPr>
        <p:spPr>
          <a:xfrm>
            <a:off x="6282100" y="1728475"/>
            <a:ext cx="4823400" cy="45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Char char="■"/>
            </a:pPr>
            <a:r>
              <a:rPr lang="en" sz="2100">
                <a:solidFill>
                  <a:srgbClr val="040F40"/>
                </a:solidFill>
              </a:rPr>
              <a:t>El objetivo principal es </a:t>
            </a:r>
            <a:r>
              <a:rPr b="1" lang="en" sz="2100">
                <a:solidFill>
                  <a:srgbClr val="040F40"/>
                </a:solidFill>
              </a:rPr>
              <a:t>acelerar</a:t>
            </a:r>
            <a:r>
              <a:rPr b="1" lang="en" sz="2100">
                <a:solidFill>
                  <a:srgbClr val="040F40"/>
                </a:solidFill>
              </a:rPr>
              <a:t> </a:t>
            </a:r>
            <a:r>
              <a:rPr lang="en" sz="2100">
                <a:solidFill>
                  <a:srgbClr val="040F40"/>
                </a:solidFill>
              </a:rPr>
              <a:t>los procesos necesario para ejecutar un estudio de RWD</a:t>
            </a:r>
            <a:r>
              <a:rPr lang="en" sz="2100">
                <a:solidFill>
                  <a:srgbClr val="040F40"/>
                </a:solidFill>
              </a:rPr>
              <a:t>.</a:t>
            </a:r>
            <a:endParaRPr sz="2100">
              <a:solidFill>
                <a:srgbClr val="040F40"/>
              </a:solidFill>
            </a:endParaRPr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100"/>
              <a:buChar char="■"/>
            </a:pPr>
            <a:r>
              <a:rPr lang="en" sz="2100">
                <a:solidFill>
                  <a:srgbClr val="040F40"/>
                </a:solidFill>
              </a:rPr>
              <a:t>Procesos como:</a:t>
            </a:r>
            <a:endParaRPr sz="2100">
              <a:solidFill>
                <a:srgbClr val="040F40"/>
              </a:solidFill>
            </a:endParaRPr>
          </a:p>
          <a:p>
            <a:pPr indent="-361950" lvl="1" marL="914400" rtl="0" algn="l">
              <a:spcBef>
                <a:spcPts val="1000"/>
              </a:spcBef>
              <a:spcAft>
                <a:spcPts val="0"/>
              </a:spcAft>
              <a:buClr>
                <a:srgbClr val="040F40"/>
              </a:buClr>
              <a:buSzPts val="2100"/>
              <a:buChar char="○"/>
            </a:pPr>
            <a:r>
              <a:rPr lang="en" sz="2100">
                <a:solidFill>
                  <a:srgbClr val="040F40"/>
                </a:solidFill>
              </a:rPr>
              <a:t>La </a:t>
            </a:r>
            <a:r>
              <a:rPr lang="en" sz="2100">
                <a:solidFill>
                  <a:srgbClr val="040F40"/>
                </a:solidFill>
              </a:rPr>
              <a:t>definición</a:t>
            </a:r>
            <a:r>
              <a:rPr lang="en" sz="2100">
                <a:solidFill>
                  <a:srgbClr val="040F40"/>
                </a:solidFill>
              </a:rPr>
              <a:t> del protocolo </a:t>
            </a:r>
            <a:endParaRPr sz="2100">
              <a:solidFill>
                <a:srgbClr val="040F40"/>
              </a:solidFill>
            </a:endParaRPr>
          </a:p>
          <a:p>
            <a:pPr indent="-361950" lvl="1" marL="914400" rtl="0" algn="l">
              <a:spcBef>
                <a:spcPts val="1000"/>
              </a:spcBef>
              <a:spcAft>
                <a:spcPts val="0"/>
              </a:spcAft>
              <a:buClr>
                <a:srgbClr val="040F40"/>
              </a:buClr>
              <a:buSzPts val="2100"/>
              <a:buChar char="○"/>
            </a:pPr>
            <a:r>
              <a:rPr lang="en" sz="2100">
                <a:solidFill>
                  <a:srgbClr val="040F40"/>
                </a:solidFill>
              </a:rPr>
              <a:t>La definici</a:t>
            </a:r>
            <a:r>
              <a:rPr lang="en" sz="2100">
                <a:solidFill>
                  <a:srgbClr val="040F40"/>
                </a:solidFill>
              </a:rPr>
              <a:t>ón de los Concept Set y la Cohorte</a:t>
            </a:r>
            <a:endParaRPr sz="2100">
              <a:solidFill>
                <a:srgbClr val="040F40"/>
              </a:solidFill>
            </a:endParaRPr>
          </a:p>
          <a:p>
            <a:pPr indent="-361950" lvl="1" marL="914400" rtl="0" algn="l">
              <a:spcBef>
                <a:spcPts val="1000"/>
              </a:spcBef>
              <a:spcAft>
                <a:spcPts val="0"/>
              </a:spcAft>
              <a:buClr>
                <a:srgbClr val="040F40"/>
              </a:buClr>
              <a:buSzPts val="2100"/>
              <a:buChar char="○"/>
            </a:pPr>
            <a:r>
              <a:rPr lang="en" sz="2100">
                <a:solidFill>
                  <a:srgbClr val="040F40"/>
                </a:solidFill>
              </a:rPr>
              <a:t>El an</a:t>
            </a:r>
            <a:r>
              <a:rPr lang="en" sz="2100">
                <a:solidFill>
                  <a:srgbClr val="040F40"/>
                </a:solidFill>
              </a:rPr>
              <a:t>álisis de datos y la generación de resultados</a:t>
            </a:r>
            <a:endParaRPr sz="2100">
              <a:solidFill>
                <a:srgbClr val="040F40"/>
              </a:solidFill>
            </a:endParaRPr>
          </a:p>
          <a:p>
            <a:pPr indent="-361950" lvl="1" marL="914400" rtl="0" algn="l">
              <a:spcBef>
                <a:spcPts val="1000"/>
              </a:spcBef>
              <a:spcAft>
                <a:spcPts val="1000"/>
              </a:spcAft>
              <a:buClr>
                <a:srgbClr val="040F40"/>
              </a:buClr>
              <a:buSzPts val="2100"/>
              <a:buChar char="○"/>
            </a:pPr>
            <a:r>
              <a:rPr lang="en" sz="2100">
                <a:solidFill>
                  <a:srgbClr val="040F40"/>
                </a:solidFill>
              </a:rPr>
              <a:t>La redacción de publicaciones</a:t>
            </a:r>
            <a:endParaRPr sz="2100">
              <a:solidFill>
                <a:srgbClr val="040F40"/>
              </a:solidFill>
            </a:endParaRPr>
          </a:p>
        </p:txBody>
      </p:sp>
      <p:sp>
        <p:nvSpPr>
          <p:cNvPr id="792" name="Google Shape;792;p55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pic>
        <p:nvPicPr>
          <p:cNvPr id="793" name="Google Shape;793;p55"/>
          <p:cNvPicPr preferRelativeResize="0"/>
          <p:nvPr/>
        </p:nvPicPr>
        <p:blipFill rotWithShape="1">
          <a:blip r:embed="rId3">
            <a:alphaModFix/>
          </a:blip>
          <a:srcRect b="20293" l="8421" r="7708" t="23650"/>
          <a:stretch/>
        </p:blipFill>
        <p:spPr>
          <a:xfrm>
            <a:off x="109697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55"/>
          <p:cNvSpPr txBox="1"/>
          <p:nvPr>
            <p:ph idx="4294967295" type="body"/>
          </p:nvPr>
        </p:nvSpPr>
        <p:spPr>
          <a:xfrm>
            <a:off x="6270229" y="980553"/>
            <a:ext cx="55617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2"/>
                </a:solidFill>
              </a:rPr>
              <a:t>3</a:t>
            </a:r>
            <a:r>
              <a:rPr lang="en" sz="2700">
                <a:solidFill>
                  <a:schemeClr val="dk2"/>
                </a:solidFill>
              </a:rPr>
              <a:t>. </a:t>
            </a:r>
            <a:r>
              <a:rPr lang="en" sz="2700">
                <a:solidFill>
                  <a:schemeClr val="dk2"/>
                </a:solidFill>
              </a:rPr>
              <a:t>Optimización de </a:t>
            </a:r>
            <a:r>
              <a:rPr b="1" lang="en" sz="2700">
                <a:solidFill>
                  <a:schemeClr val="lt1"/>
                </a:solidFill>
                <a:highlight>
                  <a:schemeClr val="dk1"/>
                </a:highlight>
              </a:rPr>
              <a:t>Procesos</a:t>
            </a:r>
            <a:endParaRPr sz="2700">
              <a:solidFill>
                <a:schemeClr val="lt1"/>
              </a:solidFill>
              <a:highlight>
                <a:schemeClr val="accent2"/>
              </a:highlight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0f3bfe&quot;&gt;&lt;path d=&quot;M120-160v-160h720v160H120Zm80-40h80v-80h-80v80Zm-80-440v-160h720v160H120Zm80-40h80v-80h-80v80Zm-80 280v-160h720v160H120Zm80-40h80v-80h-80v80Z&quot;/&gt;&lt;/svg&gt;" id="795" name="Google Shape;795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3502" y="1116410"/>
            <a:ext cx="328586" cy="328586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55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56"/>
          <p:cNvSpPr txBox="1"/>
          <p:nvPr>
            <p:ph type="title"/>
          </p:nvPr>
        </p:nvSpPr>
        <p:spPr>
          <a:xfrm>
            <a:off x="207600" y="664800"/>
            <a:ext cx="111474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➔"/>
            </a:pPr>
            <a:r>
              <a:rPr lang="en"/>
              <a:t>La definición del Protocolo del estudio</a:t>
            </a:r>
            <a:endParaRPr sz="2000"/>
          </a:p>
        </p:txBody>
      </p:sp>
      <p:sp>
        <p:nvSpPr>
          <p:cNvPr id="802" name="Google Shape;802;p56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803" name="Google Shape;803;p56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| [3] </a:t>
            </a:r>
            <a:r>
              <a:rPr b="1"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Optimización de Procesos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804" name="Google Shape;804;p56" title="Screenshot 2026-03-11 at 23.38.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6250" y="1183325"/>
            <a:ext cx="8583501" cy="5582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RPER - STUDY TITLE" id="805" name="Google Shape;805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650" y="5084600"/>
            <a:ext cx="1972000" cy="610832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56"/>
          <p:cNvSpPr txBox="1"/>
          <p:nvPr/>
        </p:nvSpPr>
        <p:spPr>
          <a:xfrm>
            <a:off x="365650" y="1687800"/>
            <a:ext cx="3212700" cy="30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uso de Deep Research para acelerar la búsqueda </a:t>
            </a:r>
            <a:r>
              <a:rPr lang="en" sz="21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bibliográfica</a:t>
            </a:r>
            <a:r>
              <a:rPr lang="en" sz="21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sz="21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1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uso de plantillas estándares para protocolos </a:t>
            </a:r>
            <a:r>
              <a:rPr lang="en" sz="21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exhaustivos</a:t>
            </a:r>
            <a:r>
              <a:rPr lang="en" sz="21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 y de alta calidad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7"/>
          <p:cNvSpPr txBox="1"/>
          <p:nvPr>
            <p:ph type="title"/>
          </p:nvPr>
        </p:nvSpPr>
        <p:spPr>
          <a:xfrm>
            <a:off x="207600" y="664800"/>
            <a:ext cx="111474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➔"/>
            </a:pPr>
            <a:r>
              <a:rPr lang="en"/>
              <a:t>La definición de los Concept Sets y la Cohorte</a:t>
            </a:r>
            <a:endParaRPr sz="2000"/>
          </a:p>
        </p:txBody>
      </p:sp>
      <p:sp>
        <p:nvSpPr>
          <p:cNvPr id="812" name="Google Shape;812;p57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813" name="Google Shape;813;p57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| [3] </a:t>
            </a:r>
            <a:r>
              <a:rPr b="1"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Optimización de Procesos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814" name="Google Shape;814;p57" title="Screenshot 2026-03-11 at 23.42.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3275" y="1545625"/>
            <a:ext cx="7480735" cy="4865400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57"/>
          <p:cNvSpPr txBox="1"/>
          <p:nvPr/>
        </p:nvSpPr>
        <p:spPr>
          <a:xfrm>
            <a:off x="528775" y="2336500"/>
            <a:ext cx="30000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1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uso de IA para definir los </a:t>
            </a:r>
            <a:r>
              <a:rPr b="1" i="1" lang="en" sz="21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concept_id</a:t>
            </a:r>
            <a:r>
              <a:rPr i="1" lang="en" sz="21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" sz="21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del estudio de </a:t>
            </a:r>
            <a:r>
              <a:rPr lang="en" sz="21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interés</a:t>
            </a:r>
            <a:r>
              <a:rPr lang="en" sz="21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 así como los criterios de selección.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816" name="Google Shape;816;p57"/>
          <p:cNvPicPr preferRelativeResize="0"/>
          <p:nvPr/>
        </p:nvPicPr>
        <p:blipFill rotWithShape="1">
          <a:blip r:embed="rId4">
            <a:alphaModFix/>
          </a:blip>
          <a:srcRect b="20293" l="8421" r="7708" t="23650"/>
          <a:stretch/>
        </p:blipFill>
        <p:spPr>
          <a:xfrm>
            <a:off x="733392" y="4725550"/>
            <a:ext cx="1893064" cy="46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58"/>
          <p:cNvSpPr txBox="1"/>
          <p:nvPr>
            <p:ph type="title"/>
          </p:nvPr>
        </p:nvSpPr>
        <p:spPr>
          <a:xfrm>
            <a:off x="207600" y="664800"/>
            <a:ext cx="111474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➔"/>
            </a:pPr>
            <a:r>
              <a:rPr lang="en"/>
              <a:t>El análisis de datos y la generación de resultados</a:t>
            </a:r>
            <a:endParaRPr/>
          </a:p>
        </p:txBody>
      </p:sp>
      <p:sp>
        <p:nvSpPr>
          <p:cNvPr id="822" name="Google Shape;822;p58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823" name="Google Shape;823;p58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| [3] </a:t>
            </a:r>
            <a:r>
              <a:rPr b="1"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Optimización de Procesos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824" name="Google Shape;82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3600" y="1162175"/>
            <a:ext cx="8353352" cy="5432952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58"/>
          <p:cNvSpPr txBox="1"/>
          <p:nvPr/>
        </p:nvSpPr>
        <p:spPr>
          <a:xfrm>
            <a:off x="528775" y="2336500"/>
            <a:ext cx="30000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1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Generación de los scripts de R para realizar los análisis de datos y el soporte en la comprensión de las </a:t>
            </a:r>
            <a:r>
              <a:rPr lang="en" sz="21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librerías</a:t>
            </a:r>
            <a:r>
              <a:rPr lang="en" sz="21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 de la OHDSI y la EMA.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59"/>
          <p:cNvSpPr txBox="1"/>
          <p:nvPr>
            <p:ph type="title"/>
          </p:nvPr>
        </p:nvSpPr>
        <p:spPr>
          <a:xfrm>
            <a:off x="207600" y="664800"/>
            <a:ext cx="111474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➔"/>
            </a:pPr>
            <a:r>
              <a:rPr lang="en"/>
              <a:t>La redacción de publicaciones</a:t>
            </a:r>
            <a:endParaRPr/>
          </a:p>
        </p:txBody>
      </p:sp>
      <p:sp>
        <p:nvSpPr>
          <p:cNvPr id="831" name="Google Shape;831;p59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832" name="Google Shape;832;p59"/>
          <p:cNvSpPr txBox="1"/>
          <p:nvPr/>
        </p:nvSpPr>
        <p:spPr>
          <a:xfrm>
            <a:off x="274396" y="45800"/>
            <a:ext cx="88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 de IA en estudios con RWD | [3] </a:t>
            </a:r>
            <a:r>
              <a:rPr b="1" lang="en" sz="20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Optimización de Procesos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833" name="Google Shape;833;p59" title="Screenshot 2026-03-11 at 23.49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0813" y="1687799"/>
            <a:ext cx="6650375" cy="839257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F"/>
        </a:solidFill>
      </p:bgPr>
    </p:bg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8" name="Google Shape;838;p60"/>
          <p:cNvGrpSpPr/>
          <p:nvPr/>
        </p:nvGrpSpPr>
        <p:grpSpPr>
          <a:xfrm>
            <a:off x="5076875" y="3186361"/>
            <a:ext cx="2038372" cy="485230"/>
            <a:chOff x="698472" y="661632"/>
            <a:chExt cx="1294862" cy="300303"/>
          </a:xfrm>
        </p:grpSpPr>
        <p:sp>
          <p:nvSpPr>
            <p:cNvPr id="839" name="Google Shape;839;p60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40" name="Google Shape;840;p60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41" name="Google Shape;841;p60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42" name="Google Shape;842;p60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43" name="Google Shape;843;p60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44" name="Google Shape;844;p60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pic>
        <p:nvPicPr>
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845" name="Google Shape;84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7200" y="60012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60"/>
          <p:cNvSpPr txBox="1"/>
          <p:nvPr/>
        </p:nvSpPr>
        <p:spPr>
          <a:xfrm>
            <a:off x="9360775" y="5885400"/>
            <a:ext cx="216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https://iomed.health</a:t>
            </a:r>
            <a:endParaRPr b="1" sz="1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47" name="Google Shape;847;p60"/>
          <p:cNvSpPr txBox="1"/>
          <p:nvPr/>
        </p:nvSpPr>
        <p:spPr>
          <a:xfrm>
            <a:off x="360000" y="5762100"/>
            <a:ext cx="3584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C/ de St. Antoni Maria Claret, 167, Pabellón de La Mercè, </a:t>
            </a:r>
            <a:endParaRPr b="1" sz="1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08025 — Barcelona</a:t>
            </a:r>
            <a:endParaRPr b="1" sz="1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48" name="Google Shape;848;p60"/>
          <p:cNvSpPr txBox="1"/>
          <p:nvPr/>
        </p:nvSpPr>
        <p:spPr>
          <a:xfrm>
            <a:off x="5569288" y="5885400"/>
            <a:ext cx="216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gabi</a:t>
            </a:r>
            <a:r>
              <a:rPr b="1" lang="en" sz="1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@iomed.health</a:t>
            </a:r>
            <a:endParaRPr b="1" sz="1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49" name="Google Shape;849;p60"/>
          <p:cNvSpPr/>
          <p:nvPr/>
        </p:nvSpPr>
        <p:spPr>
          <a:xfrm>
            <a:off x="9153900" y="0"/>
            <a:ext cx="3038100" cy="11004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OMED 2025">
  <a:themeElements>
    <a:clrScheme name="Custom 4">
      <a:dk1>
        <a:srgbClr val="0F3BFE"/>
      </a:dk1>
      <a:lt1>
        <a:srgbClr val="FFFFFF"/>
      </a:lt1>
      <a:dk2>
        <a:srgbClr val="040F40"/>
      </a:dk2>
      <a:lt2>
        <a:srgbClr val="FFFFFF"/>
      </a:lt2>
      <a:accent1>
        <a:srgbClr val="11F17F"/>
      </a:accent1>
      <a:accent2>
        <a:srgbClr val="9B6EF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F3BFE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