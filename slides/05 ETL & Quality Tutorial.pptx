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Lst>
  <p:sldSz cy="6858000" cx="12192000"/>
  <p:notesSz cx="7010400" cy="9296400"/>
  <p:embeddedFontLst>
    <p:embeddedFont>
      <p:font typeface="Helvetica Neue"/>
      <p:regular r:id="rId123"/>
      <p:bold r:id="rId124"/>
      <p:italic r:id="rId125"/>
      <p:boldItalic r:id="rId1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27" roundtripDataSignature="AMtx7mj9L5gjbLYpJzmBElNdWWT4qV0r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00C0AC-F8AF-484B-93E4-D2C59BA90F7C}">
  <a:tblStyle styleId="{5000C0AC-F8AF-484B-93E4-D2C59BA90F7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2DC22A5-74C4-4D03-A5DB-BFD0FF45D49D}"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AE7"/>
          </a:solidFill>
        </a:fill>
      </a:tcStyle>
    </a:wholeTbl>
    <a:band1H>
      <a:tcTxStyle/>
      <a:tcStyle>
        <a:fill>
          <a:solidFill>
            <a:srgbClr val="F7D2CB"/>
          </a:solidFill>
        </a:fill>
      </a:tcStyle>
    </a:band1H>
    <a:band2H>
      <a:tcTxStyle/>
    </a:band2H>
    <a:band1V>
      <a:tcTxStyle/>
      <a:tcStyle>
        <a:fill>
          <a:solidFill>
            <a:srgbClr val="F7D2CB"/>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7" Type="http://customschemas.google.com/relationships/presentationmetadata" Target="metadata"/><Relationship Id="rId126" Type="http://schemas.openxmlformats.org/officeDocument/2006/relationships/font" Target="fonts/HelveticaNeue-boldItalic.fntdata"/><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font" Target="fonts/HelveticaNeue-italic.fntdata"/><Relationship Id="rId29" Type="http://schemas.openxmlformats.org/officeDocument/2006/relationships/slide" Target="slides/slide23.xml"/><Relationship Id="rId124" Type="http://schemas.openxmlformats.org/officeDocument/2006/relationships/font" Target="fonts/HelveticaNeue-bold.fntdata"/><Relationship Id="rId123" Type="http://schemas.openxmlformats.org/officeDocument/2006/relationships/font" Target="fonts/HelveticaNeue-regular.fntdata"/><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8475" cy="4667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338" y="0"/>
            <a:ext cx="3038475" cy="4667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675"/>
            <a:ext cx="3038475" cy="4667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1: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1: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1" name="Google Shape;7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8: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8: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38100" lvl="0" marL="114300" rtl="0" algn="l">
              <a:lnSpc>
                <a:spcPct val="100000"/>
              </a:lnSpc>
              <a:spcBef>
                <a:spcPts val="0"/>
              </a:spcBef>
              <a:spcAft>
                <a:spcPts val="0"/>
              </a:spcAft>
              <a:buClr>
                <a:schemeClr val="dk1"/>
              </a:buClr>
              <a:buSzPts val="1200"/>
              <a:buFont typeface="Calibri"/>
              <a:buNone/>
            </a:pPr>
            <a:r>
              <a:t/>
            </a:r>
            <a:endParaRPr/>
          </a:p>
        </p:txBody>
      </p:sp>
      <p:sp>
        <p:nvSpPr>
          <p:cNvPr id="77" name="Google Shape;77;p8:notes"/>
          <p:cNvSpPr txBox="1"/>
          <p:nvPr>
            <p:ph idx="12" type="sldNum"/>
          </p:nvPr>
        </p:nvSpPr>
        <p:spPr>
          <a:xfrm>
            <a:off x="5565651" y="8624522"/>
            <a:ext cx="905100" cy="246900"/>
          </a:xfrm>
          <a:prstGeom prst="rect">
            <a:avLst/>
          </a:prstGeom>
          <a:noFill/>
          <a:ln>
            <a:noFill/>
          </a:ln>
        </p:spPr>
        <p:txBody>
          <a:bodyPr anchorCtr="0" anchor="b" bIns="45650" lIns="91275" spcFirstLastPara="1" rIns="9127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9:notes"/>
          <p:cNvSpPr txBox="1"/>
          <p:nvPr>
            <p:ph idx="1" type="body"/>
          </p:nvPr>
        </p:nvSpPr>
        <p:spPr>
          <a:xfrm>
            <a:off x="684559" y="4337474"/>
            <a:ext cx="5476500" cy="4109400"/>
          </a:xfrm>
          <a:prstGeom prst="rect">
            <a:avLst/>
          </a:prstGeom>
          <a:noFill/>
          <a:ln>
            <a:noFill/>
          </a:ln>
        </p:spPr>
        <p:txBody>
          <a:bodyPr anchorCtr="0" anchor="t" bIns="89450" lIns="89450" spcFirstLastPara="1" rIns="89450" wrap="square" tIns="89450">
            <a:noAutofit/>
          </a:bodyPr>
          <a:lstStyle/>
          <a:p>
            <a:pPr indent="-292100" lvl="0" marL="444500" rtl="0" algn="l">
              <a:lnSpc>
                <a:spcPct val="100000"/>
              </a:lnSpc>
              <a:spcBef>
                <a:spcPts val="0"/>
              </a:spcBef>
              <a:spcAft>
                <a:spcPts val="0"/>
              </a:spcAft>
              <a:buClr>
                <a:schemeClr val="dk1"/>
              </a:buClr>
              <a:buSzPts val="1200"/>
              <a:buFont typeface="Calibri"/>
              <a:buNone/>
            </a:pPr>
            <a:r>
              <a:t/>
            </a:r>
            <a:endParaRPr/>
          </a:p>
        </p:txBody>
      </p:sp>
      <p:sp>
        <p:nvSpPr>
          <p:cNvPr id="82" name="Google Shape;82;p9:notes"/>
          <p:cNvSpPr/>
          <p:nvPr>
            <p:ph idx="2" type="sldImg"/>
          </p:nvPr>
        </p:nvSpPr>
        <p:spPr>
          <a:xfrm>
            <a:off x="379413" y="684213"/>
            <a:ext cx="6086475" cy="34242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0: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0: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1:notes"/>
          <p:cNvSpPr txBox="1"/>
          <p:nvPr>
            <p:ph idx="1" type="body"/>
          </p:nvPr>
        </p:nvSpPr>
        <p:spPr>
          <a:xfrm>
            <a:off x="387096" y="1291591"/>
            <a:ext cx="6084000" cy="5166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00" name="Google Shape;100;p11: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12: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38100" lvl="0" marL="114300" rtl="0" algn="l">
              <a:lnSpc>
                <a:spcPct val="100000"/>
              </a:lnSpc>
              <a:spcBef>
                <a:spcPts val="0"/>
              </a:spcBef>
              <a:spcAft>
                <a:spcPts val="0"/>
              </a:spcAft>
              <a:buClr>
                <a:schemeClr val="dk1"/>
              </a:buClr>
              <a:buSzPts val="1200"/>
              <a:buFont typeface="Calibri"/>
              <a:buNone/>
            </a:pPr>
            <a:r>
              <a:t/>
            </a:r>
            <a:endParaRPr/>
          </a:p>
        </p:txBody>
      </p:sp>
      <p:sp>
        <p:nvSpPr>
          <p:cNvPr id="125" name="Google Shape;125;p12:notes"/>
          <p:cNvSpPr txBox="1"/>
          <p:nvPr>
            <p:ph idx="12" type="sldNum"/>
          </p:nvPr>
        </p:nvSpPr>
        <p:spPr>
          <a:xfrm>
            <a:off x="5565651" y="8624522"/>
            <a:ext cx="905100" cy="246900"/>
          </a:xfrm>
          <a:prstGeom prst="rect">
            <a:avLst/>
          </a:prstGeom>
          <a:noFill/>
          <a:ln>
            <a:noFill/>
          </a:ln>
        </p:spPr>
        <p:txBody>
          <a:bodyPr anchorCtr="0" anchor="b" bIns="45650" lIns="91275" spcFirstLastPara="1" rIns="9127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130" name="Google Shape;130;p13: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147" name="Google Shape;147;p14: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marR="0" rtl="0" algn="l">
              <a:lnSpc>
                <a:spcPct val="100000"/>
              </a:lnSpc>
              <a:spcBef>
                <a:spcPts val="400"/>
              </a:spcBef>
              <a:spcAft>
                <a:spcPts val="0"/>
              </a:spcAft>
              <a:buClr>
                <a:schemeClr val="dk1"/>
              </a:buClr>
              <a:buSzPts val="1200"/>
              <a:buFont typeface="Arial"/>
              <a:buNone/>
            </a:pPr>
            <a:r>
              <a:t/>
            </a:r>
            <a:endParaRPr/>
          </a:p>
        </p:txBody>
      </p:sp>
      <p:sp>
        <p:nvSpPr>
          <p:cNvPr id="168" name="Google Shape;168;p15: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6: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38100" lvl="0" marL="114300" rtl="0" algn="l">
              <a:lnSpc>
                <a:spcPct val="100000"/>
              </a:lnSpc>
              <a:spcBef>
                <a:spcPts val="0"/>
              </a:spcBef>
              <a:spcAft>
                <a:spcPts val="0"/>
              </a:spcAft>
              <a:buClr>
                <a:schemeClr val="dk1"/>
              </a:buClr>
              <a:buSzPts val="1200"/>
              <a:buFont typeface="Calibri"/>
              <a:buNone/>
            </a:pPr>
            <a:r>
              <a:t/>
            </a:r>
            <a:endParaRPr/>
          </a:p>
        </p:txBody>
      </p:sp>
      <p:sp>
        <p:nvSpPr>
          <p:cNvPr id="179" name="Google Shape;179;p16:notes"/>
          <p:cNvSpPr txBox="1"/>
          <p:nvPr>
            <p:ph idx="12" type="sldNum"/>
          </p:nvPr>
        </p:nvSpPr>
        <p:spPr>
          <a:xfrm>
            <a:off x="5565651" y="8624522"/>
            <a:ext cx="905100" cy="246900"/>
          </a:xfrm>
          <a:prstGeom prst="rect">
            <a:avLst/>
          </a:prstGeom>
          <a:noFill/>
          <a:ln>
            <a:noFill/>
          </a:ln>
        </p:spPr>
        <p:txBody>
          <a:bodyPr anchorCtr="0" anchor="b" bIns="45650" lIns="91275" spcFirstLastPara="1" rIns="9127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184" name="Google Shape;184;p17: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8: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196" name="Google Shape;196;p18: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9: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201" name="Google Shape;201;p19: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0: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213" name="Google Shape;213;p20: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218" name="Google Shape;218;p21: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22: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38100" lvl="0" marL="114300" rtl="0" algn="l">
              <a:lnSpc>
                <a:spcPct val="100000"/>
              </a:lnSpc>
              <a:spcBef>
                <a:spcPts val="0"/>
              </a:spcBef>
              <a:spcAft>
                <a:spcPts val="0"/>
              </a:spcAft>
              <a:buClr>
                <a:schemeClr val="dk1"/>
              </a:buClr>
              <a:buSzPts val="1200"/>
              <a:buFont typeface="Calibri"/>
              <a:buNone/>
            </a:pPr>
            <a:r>
              <a:t/>
            </a:r>
            <a:endParaRPr/>
          </a:p>
        </p:txBody>
      </p:sp>
      <p:sp>
        <p:nvSpPr>
          <p:cNvPr id="230" name="Google Shape;230;p22:notes"/>
          <p:cNvSpPr txBox="1"/>
          <p:nvPr>
            <p:ph idx="12" type="sldNum"/>
          </p:nvPr>
        </p:nvSpPr>
        <p:spPr>
          <a:xfrm>
            <a:off x="5565651" y="8624522"/>
            <a:ext cx="905100" cy="246900"/>
          </a:xfrm>
          <a:prstGeom prst="rect">
            <a:avLst/>
          </a:prstGeom>
          <a:noFill/>
          <a:ln>
            <a:noFill/>
          </a:ln>
        </p:spPr>
        <p:txBody>
          <a:bodyPr anchorCtr="0" anchor="b" bIns="45650" lIns="91275" spcFirstLastPara="1" rIns="9127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4560" y="4337474"/>
            <a:ext cx="5476500" cy="4109400"/>
          </a:xfrm>
          <a:prstGeom prst="rect">
            <a:avLst/>
          </a:prstGeom>
          <a:noFill/>
          <a:ln>
            <a:noFill/>
          </a:ln>
        </p:spPr>
        <p:txBody>
          <a:bodyPr anchorCtr="0" anchor="t" bIns="89425" lIns="89425" spcFirstLastPara="1" rIns="89425" wrap="square" tIns="89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35" name="Google Shape;235;p23:notes"/>
          <p:cNvSpPr/>
          <p:nvPr>
            <p:ph idx="2" type="sldImg"/>
          </p:nvPr>
        </p:nvSpPr>
        <p:spPr>
          <a:xfrm>
            <a:off x="379413" y="684213"/>
            <a:ext cx="6086475" cy="34242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4:notes"/>
          <p:cNvSpPr/>
          <p:nvPr>
            <p:ph idx="2" type="sldImg"/>
          </p:nvPr>
        </p:nvSpPr>
        <p:spPr>
          <a:xfrm>
            <a:off x="354013" y="673100"/>
            <a:ext cx="5988050" cy="33686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24:notes"/>
          <p:cNvSpPr txBox="1"/>
          <p:nvPr>
            <p:ph idx="1" type="body"/>
          </p:nvPr>
        </p:nvSpPr>
        <p:spPr>
          <a:xfrm>
            <a:off x="669678" y="4266368"/>
            <a:ext cx="5357400" cy="4041900"/>
          </a:xfrm>
          <a:prstGeom prst="rect">
            <a:avLst/>
          </a:prstGeom>
          <a:noFill/>
          <a:ln>
            <a:noFill/>
          </a:ln>
        </p:spPr>
        <p:txBody>
          <a:bodyPr anchorCtr="0" anchor="t" bIns="89450" lIns="89450" spcFirstLastPara="1" rIns="89450" wrap="square" tIns="8945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p:nvPr>
            <p:ph idx="2" type="sldImg"/>
          </p:nvPr>
        </p:nvSpPr>
        <p:spPr>
          <a:xfrm>
            <a:off x="379413" y="684213"/>
            <a:ext cx="6086475" cy="34242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25:notes"/>
          <p:cNvSpPr txBox="1"/>
          <p:nvPr>
            <p:ph idx="1" type="body"/>
          </p:nvPr>
        </p:nvSpPr>
        <p:spPr>
          <a:xfrm>
            <a:off x="684560" y="4337474"/>
            <a:ext cx="5476500" cy="4109400"/>
          </a:xfrm>
          <a:prstGeom prst="rect">
            <a:avLst/>
          </a:prstGeom>
          <a:noFill/>
          <a:ln>
            <a:noFill/>
          </a:ln>
        </p:spPr>
        <p:txBody>
          <a:bodyPr anchorCtr="0" anchor="t" bIns="89425" lIns="89425" spcFirstLastPara="1" rIns="89425" wrap="square" tIns="89425">
            <a:noAutofit/>
          </a:bodyPr>
          <a:lstStyle/>
          <a:p>
            <a:pPr indent="-215900" lvl="0" marL="444500" rtl="0" algn="l">
              <a:lnSpc>
                <a:spcPct val="115000"/>
              </a:lnSpc>
              <a:spcBef>
                <a:spcPts val="1200"/>
              </a:spcBef>
              <a:spcAft>
                <a:spcPts val="0"/>
              </a:spcAft>
              <a:buClr>
                <a:schemeClr val="dk1"/>
              </a:buClr>
              <a:buSzPts val="1100"/>
              <a:buFont typeface="Arial"/>
              <a:buNone/>
            </a:pPr>
            <a:r>
              <a:t/>
            </a:r>
            <a:endParaRPr/>
          </a:p>
        </p:txBody>
      </p:sp>
      <p:sp>
        <p:nvSpPr>
          <p:cNvPr id="272" name="Google Shape;272;p25:notes"/>
          <p:cNvSpPr txBox="1"/>
          <p:nvPr>
            <p:ph idx="12" type="sldNum"/>
          </p:nvPr>
        </p:nvSpPr>
        <p:spPr>
          <a:xfrm>
            <a:off x="3877589" y="8673366"/>
            <a:ext cx="2966400" cy="456600"/>
          </a:xfrm>
          <a:prstGeom prst="rect">
            <a:avLst/>
          </a:prstGeom>
          <a:noFill/>
          <a:ln>
            <a:noFill/>
          </a:ln>
        </p:spPr>
        <p:txBody>
          <a:bodyPr anchorCtr="0" anchor="b" bIns="45550" lIns="91150" spcFirstLastPara="1" rIns="91150" wrap="square" tIns="45550">
            <a:noAutofit/>
          </a:bodyPr>
          <a:lstStyle/>
          <a:p>
            <a:pPr indent="0" lvl="0" marL="0" marR="0" rtl="0" algn="r">
              <a:lnSpc>
                <a:spcPct val="100000"/>
              </a:lnSpc>
              <a:spcBef>
                <a:spcPts val="0"/>
              </a:spcBef>
              <a:spcAft>
                <a:spcPts val="0"/>
              </a:spcAft>
              <a:buClr>
                <a:srgbClr val="000000"/>
              </a:buClr>
              <a:buSzPts val="300"/>
              <a:buFont typeface="Calibri"/>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6: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26: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38100" lvl="0" marL="114300" rtl="0" algn="l">
              <a:lnSpc>
                <a:spcPct val="100000"/>
              </a:lnSpc>
              <a:spcBef>
                <a:spcPts val="0"/>
              </a:spcBef>
              <a:spcAft>
                <a:spcPts val="0"/>
              </a:spcAft>
              <a:buClr>
                <a:schemeClr val="dk1"/>
              </a:buClr>
              <a:buSzPts val="1200"/>
              <a:buFont typeface="Calibri"/>
              <a:buNone/>
            </a:pPr>
            <a:r>
              <a:t/>
            </a:r>
            <a:endParaRPr/>
          </a:p>
        </p:txBody>
      </p:sp>
      <p:sp>
        <p:nvSpPr>
          <p:cNvPr id="301" name="Google Shape;301;p26:notes"/>
          <p:cNvSpPr txBox="1"/>
          <p:nvPr>
            <p:ph idx="12" type="sldNum"/>
          </p:nvPr>
        </p:nvSpPr>
        <p:spPr>
          <a:xfrm>
            <a:off x="5565651" y="8624522"/>
            <a:ext cx="905100" cy="246900"/>
          </a:xfrm>
          <a:prstGeom prst="rect">
            <a:avLst/>
          </a:prstGeom>
          <a:noFill/>
          <a:ln>
            <a:noFill/>
          </a:ln>
        </p:spPr>
        <p:txBody>
          <a:bodyPr anchorCtr="0" anchor="b" bIns="45650" lIns="91275" spcFirstLastPara="1" rIns="9127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7: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306" name="Google Shape;306;p27: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8:notes"/>
          <p:cNvSpPr txBox="1"/>
          <p:nvPr>
            <p:ph idx="1" type="body"/>
          </p:nvPr>
        </p:nvSpPr>
        <p:spPr>
          <a:xfrm>
            <a:off x="701039" y="4415789"/>
            <a:ext cx="5608200" cy="4183500"/>
          </a:xfrm>
          <a:prstGeom prst="rect">
            <a:avLst/>
          </a:prstGeom>
          <a:noFill/>
          <a:ln>
            <a:noFill/>
          </a:ln>
        </p:spPr>
        <p:txBody>
          <a:bodyPr anchorCtr="0" anchor="t" bIns="91400" lIns="91400" spcFirstLastPara="1" rIns="91400" wrap="square" tIns="91400">
            <a:noAutofit/>
          </a:bodyPr>
          <a:lstStyle/>
          <a:p>
            <a:pPr indent="0" lvl="0" marL="0" rtl="0" algn="l">
              <a:spcBef>
                <a:spcPts val="0"/>
              </a:spcBef>
              <a:spcAft>
                <a:spcPts val="0"/>
              </a:spcAft>
              <a:buNone/>
            </a:pPr>
            <a:r>
              <a:t/>
            </a:r>
            <a:endParaRPr/>
          </a:p>
        </p:txBody>
      </p:sp>
      <p:sp>
        <p:nvSpPr>
          <p:cNvPr id="312" name="Google Shape;312;p2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2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30: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u="none" strike="noStrike">
                <a:solidFill>
                  <a:srgbClr val="474747"/>
                </a:solidFill>
                <a:latin typeface="Arial"/>
                <a:ea typeface="Arial"/>
                <a:cs typeface="Arial"/>
                <a:sym typeface="Arial"/>
              </a:rPr>
              <a:t> they are about 8.5 feet long and 265 to 353 lbs. at birth. Orcas can hold their breath for up to 15 minutes</a:t>
            </a:r>
            <a:endParaRPr/>
          </a:p>
        </p:txBody>
      </p:sp>
      <p:sp>
        <p:nvSpPr>
          <p:cNvPr id="418" name="Google Shape;418;p30: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3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32: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sz="1600"/>
          </a:p>
        </p:txBody>
      </p:sp>
      <p:sp>
        <p:nvSpPr>
          <p:cNvPr id="432" name="Google Shape;432;p32: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3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4: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444" name="Google Shape;444;p34: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5: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450" name="Google Shape;450;p35: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6: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0" lvl="0" marL="0" rtl="0" algn="l">
              <a:lnSpc>
                <a:spcPct val="100000"/>
              </a:lnSpc>
              <a:spcBef>
                <a:spcPts val="400"/>
              </a:spcBef>
              <a:spcAft>
                <a:spcPts val="0"/>
              </a:spcAft>
              <a:buClr>
                <a:schemeClr val="dk1"/>
              </a:buClr>
              <a:buSzPts val="1200"/>
              <a:buFont typeface="Calibri"/>
              <a:buNone/>
            </a:pPr>
            <a:r>
              <a:t/>
            </a:r>
            <a:endParaRPr/>
          </a:p>
        </p:txBody>
      </p:sp>
      <p:sp>
        <p:nvSpPr>
          <p:cNvPr id="457" name="Google Shape;457;p36: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3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3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3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40: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40: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2: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42: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38100" lvl="0" marL="114300" rtl="0" algn="l">
              <a:lnSpc>
                <a:spcPct val="100000"/>
              </a:lnSpc>
              <a:spcBef>
                <a:spcPts val="0"/>
              </a:spcBef>
              <a:spcAft>
                <a:spcPts val="0"/>
              </a:spcAft>
              <a:buClr>
                <a:schemeClr val="dk1"/>
              </a:buClr>
              <a:buSzPts val="1200"/>
              <a:buFont typeface="Calibri"/>
              <a:buNone/>
            </a:pPr>
            <a:r>
              <a:t/>
            </a:r>
            <a:endParaRPr/>
          </a:p>
        </p:txBody>
      </p:sp>
      <p:sp>
        <p:nvSpPr>
          <p:cNvPr id="511" name="Google Shape;511;p42:notes"/>
          <p:cNvSpPr txBox="1"/>
          <p:nvPr>
            <p:ph idx="12" type="sldNum"/>
          </p:nvPr>
        </p:nvSpPr>
        <p:spPr>
          <a:xfrm>
            <a:off x="5565651" y="8624522"/>
            <a:ext cx="905100" cy="246900"/>
          </a:xfrm>
          <a:prstGeom prst="rect">
            <a:avLst/>
          </a:prstGeom>
          <a:noFill/>
          <a:ln>
            <a:noFill/>
          </a:ln>
        </p:spPr>
        <p:txBody>
          <a:bodyPr anchorCtr="0" anchor="b" bIns="45650" lIns="91275" spcFirstLastPara="1" rIns="9127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4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4: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44: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5: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45: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45: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6: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46: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4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4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4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4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5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5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5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5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5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5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54: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54: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55: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55: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Ethnicity = (</a:t>
            </a:r>
            <a:r>
              <a:rPr b="0" i="0" lang="en-US" sz="1200">
                <a:solidFill>
                  <a:schemeClr val="dk1"/>
                </a:solidFill>
                <a:latin typeface="Calibri"/>
                <a:ea typeface="Calibri"/>
                <a:cs typeface="Calibri"/>
                <a:sym typeface="Calibri"/>
              </a:rPr>
              <a:t>Hispanics and Non-Hispanics</a:t>
            </a:r>
            <a:r>
              <a:rPr lang="en-US"/>
              <a:t>)</a:t>
            </a:r>
            <a:endParaRPr/>
          </a:p>
          <a:p>
            <a:pPr indent="0" lvl="0" marL="0" rtl="0" algn="l">
              <a:spcBef>
                <a:spcPts val="0"/>
              </a:spcBef>
              <a:spcAft>
                <a:spcPts val="0"/>
              </a:spcAft>
              <a:buNone/>
            </a:pPr>
            <a:r>
              <a:rPr lang="en-US"/>
              <a:t>Race = (white, black, Asian, native, other, unknown)</a:t>
            </a:r>
            <a:endParaRPr/>
          </a:p>
        </p:txBody>
      </p:sp>
      <p:sp>
        <p:nvSpPr>
          <p:cNvPr id="688" name="Google Shape;688;p55: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56: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56: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5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5" name="Google Shape;705;p5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5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5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5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5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6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6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6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61: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the condition occurrence table – we can come back to this and augment with source code mapping</a:t>
            </a:r>
            <a:endParaRPr/>
          </a:p>
          <a:p>
            <a:pPr indent="0" lvl="0" marL="0" rtl="0" algn="l">
              <a:spcBef>
                <a:spcPts val="0"/>
              </a:spcBef>
              <a:spcAft>
                <a:spcPts val="0"/>
              </a:spcAft>
              <a:buNone/>
            </a:pPr>
            <a:r>
              <a:rPr lang="en-US"/>
              <a:t>Should think about how to find TYPE concepts</a:t>
            </a:r>
            <a:endParaRPr/>
          </a:p>
        </p:txBody>
      </p:sp>
      <p:sp>
        <p:nvSpPr>
          <p:cNvPr id="746" name="Google Shape;746;p61: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6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6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p63: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Pull up drug exposure</a:t>
            </a:r>
            <a:endParaRPr/>
          </a:p>
        </p:txBody>
      </p:sp>
      <p:sp>
        <p:nvSpPr>
          <p:cNvPr id="773" name="Google Shape;773;p63: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64: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64: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65: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p65: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66: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66: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6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 name="Google Shape;807;p6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6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5" name="Google Shape;815;p6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6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6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7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5" name="Google Shape;835;p7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7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71: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71: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7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4" name="Google Shape;854;p7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7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7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74: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74: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74: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75: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p75: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76: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0" name="Google Shape;890;p76: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38100" lvl="0" marL="114300" rtl="0" algn="l">
              <a:lnSpc>
                <a:spcPct val="100000"/>
              </a:lnSpc>
              <a:spcBef>
                <a:spcPts val="0"/>
              </a:spcBef>
              <a:spcAft>
                <a:spcPts val="0"/>
              </a:spcAft>
              <a:buClr>
                <a:schemeClr val="dk1"/>
              </a:buClr>
              <a:buSzPts val="1200"/>
              <a:buFont typeface="Calibri"/>
              <a:buNone/>
            </a:pPr>
            <a:r>
              <a:t/>
            </a:r>
            <a:endParaRPr/>
          </a:p>
        </p:txBody>
      </p:sp>
      <p:sp>
        <p:nvSpPr>
          <p:cNvPr id="891" name="Google Shape;891;p76:notes"/>
          <p:cNvSpPr txBox="1"/>
          <p:nvPr>
            <p:ph idx="12" type="sldNum"/>
          </p:nvPr>
        </p:nvSpPr>
        <p:spPr>
          <a:xfrm>
            <a:off x="5565651" y="8624522"/>
            <a:ext cx="905100" cy="246900"/>
          </a:xfrm>
          <a:prstGeom prst="rect">
            <a:avLst/>
          </a:prstGeom>
          <a:noFill/>
          <a:ln>
            <a:noFill/>
          </a:ln>
        </p:spPr>
        <p:txBody>
          <a:bodyPr anchorCtr="0" anchor="b" bIns="45650" lIns="91275" spcFirstLastPara="1" rIns="9127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7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 name="Google Shape;896;p77: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question you might have is: I have my logic written how do I get started?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is a good idea to create the dimensional tables (PROVIDER, LOCATION, CARE_SITE) at the same time as PERSON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 only does it make sense because person_id and visit_occurrence_ids are foreign keys in each of the tables, you also are able to answer a lot of questions very quickly this way.</a:t>
            </a:r>
            <a:endParaRPr/>
          </a:p>
          <a:p>
            <a:pPr indent="0" lvl="0" marL="0" rtl="0" algn="l">
              <a:spcBef>
                <a:spcPts val="0"/>
              </a:spcBef>
              <a:spcAft>
                <a:spcPts val="0"/>
              </a:spcAft>
              <a:buNone/>
            </a:pPr>
            <a:r>
              <a:rPr lang="en-US"/>
              <a:t>- Who is in my data set? What are their demographics? How long are they observed continuously in the data? What types of visit settings are they seen in most frequently?</a:t>
            </a:r>
            <a:endParaRPr/>
          </a:p>
        </p:txBody>
      </p:sp>
      <p:sp>
        <p:nvSpPr>
          <p:cNvPr id="897" name="Google Shape;897;p77: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7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1" name="Google Shape;921;p78: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Your next question might be: Okay, I know the order I should get started in, what should I use?</a:t>
            </a:r>
            <a:endParaRPr/>
          </a:p>
        </p:txBody>
      </p:sp>
      <p:sp>
        <p:nvSpPr>
          <p:cNvPr id="922" name="Google Shape;922;p78: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7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79: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then you may have other questions!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example today we are going to demo a simple builder using SQL and R called ETL Synthea. You can use the general principle of etl synthea as a process on how to get started with your own ETL.</a:t>
            </a:r>
            <a:endParaRPr/>
          </a:p>
        </p:txBody>
      </p:sp>
      <p:sp>
        <p:nvSpPr>
          <p:cNvPr id="937" name="Google Shape;937;p79: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8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4" name="Google Shape;944;p8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8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4" name="Google Shape;954;p8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8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 name="Google Shape;977;p8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8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6" name="Google Shape;1006;p8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84: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4" name="Google Shape;1014;p84: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85: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6" name="Google Shape;1026;p85: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86: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1" name="Google Shape;1041;p86: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8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8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8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0" name="Google Shape;1060;p8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89:notes"/>
          <p:cNvSpPr/>
          <p:nvPr>
            <p:ph idx="2" type="sldImg"/>
          </p:nvPr>
        </p:nvSpPr>
        <p:spPr>
          <a:xfrm>
            <a:off x="4402138" y="6799263"/>
            <a:ext cx="2640012" cy="1485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2" name="Google Shape;1082;p89:notes"/>
          <p:cNvSpPr txBox="1"/>
          <p:nvPr>
            <p:ph idx="1" type="body"/>
          </p:nvPr>
        </p:nvSpPr>
        <p:spPr>
          <a:xfrm>
            <a:off x="387096" y="1291591"/>
            <a:ext cx="6084000" cy="5166300"/>
          </a:xfrm>
          <a:prstGeom prst="rect">
            <a:avLst/>
          </a:prstGeom>
          <a:noFill/>
          <a:ln>
            <a:noFill/>
          </a:ln>
        </p:spPr>
        <p:txBody>
          <a:bodyPr anchorCtr="0" anchor="t" bIns="45650" lIns="91275" spcFirstLastPara="1" rIns="91275" wrap="square" tIns="45650">
            <a:noAutofit/>
          </a:bodyPr>
          <a:lstStyle/>
          <a:p>
            <a:pPr indent="-38100" lvl="0" marL="114300" rtl="0" algn="l">
              <a:lnSpc>
                <a:spcPct val="100000"/>
              </a:lnSpc>
              <a:spcBef>
                <a:spcPts val="0"/>
              </a:spcBef>
              <a:spcAft>
                <a:spcPts val="0"/>
              </a:spcAft>
              <a:buClr>
                <a:schemeClr val="dk1"/>
              </a:buClr>
              <a:buSzPts val="1200"/>
              <a:buFont typeface="Calibri"/>
              <a:buNone/>
            </a:pPr>
            <a:r>
              <a:t/>
            </a:r>
            <a:endParaRPr/>
          </a:p>
        </p:txBody>
      </p:sp>
      <p:sp>
        <p:nvSpPr>
          <p:cNvPr id="1083" name="Google Shape;1083;p89:notes"/>
          <p:cNvSpPr txBox="1"/>
          <p:nvPr>
            <p:ph idx="12" type="sldNum"/>
          </p:nvPr>
        </p:nvSpPr>
        <p:spPr>
          <a:xfrm>
            <a:off x="5565651" y="8624522"/>
            <a:ext cx="905100" cy="246900"/>
          </a:xfrm>
          <a:prstGeom prst="rect">
            <a:avLst/>
          </a:prstGeom>
          <a:noFill/>
          <a:ln>
            <a:noFill/>
          </a:ln>
        </p:spPr>
        <p:txBody>
          <a:bodyPr anchorCtr="0" anchor="b" bIns="45650" lIns="91275" spcFirstLastPara="1" rIns="9127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9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8" name="Google Shape;1088;p90: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Pull up achilles on the VM to explore</a:t>
            </a:r>
            <a:endParaRPr/>
          </a:p>
        </p:txBody>
      </p:sp>
      <p:sp>
        <p:nvSpPr>
          <p:cNvPr id="1089" name="Google Shape;1089;p90: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9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6" name="Google Shape;1106;p9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9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5" name="Google Shape;1115;p92: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6" name="Google Shape;1116;p92: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9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p93: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6" name="Google Shape;1126;p93: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94: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p94: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5" name="Google Shape;1135;p94: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95: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4" name="Google Shape;1144;p95: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5" name="Google Shape;1145;p95: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96: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4" name="Google Shape;1154;p96: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5" name="Google Shape;1155;p96: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9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4" name="Google Shape;1174;p97: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5" name="Google Shape;1175;p97: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9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6" name="Google Shape;1196;p98: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7" name="Google Shape;1197;p98: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10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6" name="Google Shape;1206;p10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10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6" name="Google Shape;1236;p10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p10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6" name="Google Shape;1246;p10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p10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5" name="Google Shape;1255;p103:notes"/>
          <p:cNvSpPr txBox="1"/>
          <p:nvPr>
            <p:ph idx="1" type="body"/>
          </p:nvPr>
        </p:nvSpPr>
        <p:spPr>
          <a:xfrm>
            <a:off x="701675" y="4473575"/>
            <a:ext cx="5607050" cy="36607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Pull up achilles on the VM to explore</a:t>
            </a:r>
            <a:endParaRPr/>
          </a:p>
        </p:txBody>
      </p:sp>
      <p:sp>
        <p:nvSpPr>
          <p:cNvPr id="1256" name="Google Shape;1256;p103:notes"/>
          <p:cNvSpPr txBox="1"/>
          <p:nvPr>
            <p:ph idx="12" type="sldNum"/>
          </p:nvPr>
        </p:nvSpPr>
        <p:spPr>
          <a:xfrm>
            <a:off x="3970338" y="8829675"/>
            <a:ext cx="3038475" cy="4667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p104: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5" name="Google Shape;1265;p104: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05: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4" name="Google Shape;1274;p105: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106: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4" name="Google Shape;1284;p106: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10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4" name="Google Shape;1294;p10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10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4" name="Google Shape;1304;p10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10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7" name="Google Shape;1317;p10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11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0" name="Google Shape;1330;p11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p11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9" name="Google Shape;1339;p11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112: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6" name="Google Shape;1346;p112: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113: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6" name="Google Shape;1356;p113: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114: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5" name="Google Shape;1365;p114: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115: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3" name="Google Shape;1373;p115: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116: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1" name="Google Shape;1381;p116: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117: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0" name="Google Shape;1390;p117: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118: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6" name="Google Shape;1396;p118: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119: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5" name="Google Shape;1405;p119: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120: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3" name="Google Shape;1413;p12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121:notes"/>
          <p:cNvSpPr txBox="1"/>
          <p:nvPr>
            <p:ph idx="1" type="body"/>
          </p:nvPr>
        </p:nvSpPr>
        <p:spPr>
          <a:xfrm>
            <a:off x="701675" y="4473575"/>
            <a:ext cx="5607050" cy="366077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1" name="Google Shape;1451;p12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23"/>
          <p:cNvSpPr txBox="1"/>
          <p:nvPr>
            <p:ph type="ctrTitle"/>
          </p:nvPr>
        </p:nvSpPr>
        <p:spPr>
          <a:xfrm>
            <a:off x="3149600" y="2130430"/>
            <a:ext cx="8128000" cy="175577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0425A"/>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23"/>
          <p:cNvSpPr txBox="1"/>
          <p:nvPr>
            <p:ph idx="1" type="subTitle"/>
          </p:nvPr>
        </p:nvSpPr>
        <p:spPr>
          <a:xfrm>
            <a:off x="3149600" y="4038600"/>
            <a:ext cx="8128000" cy="1752600"/>
          </a:xfrm>
          <a:prstGeom prst="rect">
            <a:avLst/>
          </a:prstGeom>
          <a:noFill/>
          <a:ln>
            <a:noFill/>
          </a:ln>
        </p:spPr>
        <p:txBody>
          <a:bodyPr anchorCtr="0" anchor="t" bIns="45700" lIns="91425" spcFirstLastPara="1" rIns="91425" wrap="square" tIns="45700">
            <a:normAutofit/>
          </a:bodyPr>
          <a:lstStyle>
            <a:lvl1pPr lvl="0" algn="ctr">
              <a:spcBef>
                <a:spcPts val="560"/>
              </a:spcBef>
              <a:spcAft>
                <a:spcPts val="0"/>
              </a:spcAft>
              <a:buClr>
                <a:srgbClr val="153153"/>
              </a:buClr>
              <a:buSzPts val="2800"/>
              <a:buNone/>
              <a:defRPr sz="2800">
                <a:solidFill>
                  <a:srgbClr val="153153"/>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pic>
        <p:nvPicPr>
          <p:cNvPr descr="C:\Users\pryan4\Downloads\want-impact-public-health-help-shape-journey-ahead\OHDSI logo with text - vertical - colored.png" id="15" name="Google Shape;15;p123"/>
          <p:cNvPicPr preferRelativeResize="0"/>
          <p:nvPr/>
        </p:nvPicPr>
        <p:blipFill rotWithShape="1">
          <a:blip r:embed="rId2">
            <a:alphaModFix/>
          </a:blip>
          <a:srcRect b="0" l="0" r="0" t="0"/>
          <a:stretch/>
        </p:blipFill>
        <p:spPr>
          <a:xfrm>
            <a:off x="-97770" y="1952813"/>
            <a:ext cx="3109328" cy="3563146"/>
          </a:xfrm>
          <a:prstGeom prst="rect">
            <a:avLst/>
          </a:prstGeom>
          <a:noFill/>
          <a:ln>
            <a:noFill/>
          </a:ln>
        </p:spPr>
      </p:pic>
      <p:sp>
        <p:nvSpPr>
          <p:cNvPr id="16" name="Google Shape;16;p123"/>
          <p:cNvSpPr/>
          <p:nvPr/>
        </p:nvSpPr>
        <p:spPr>
          <a:xfrm>
            <a:off x="0" y="6400800"/>
            <a:ext cx="12192000" cy="76200"/>
          </a:xfrm>
          <a:prstGeom prst="rect">
            <a:avLst/>
          </a:prstGeom>
          <a:gradFill>
            <a:gsLst>
              <a:gs pos="0">
                <a:srgbClr val="20425A"/>
              </a:gs>
              <a:gs pos="44000">
                <a:srgbClr val="20425A"/>
              </a:gs>
              <a:gs pos="55000">
                <a:srgbClr val="EB6622"/>
              </a:gs>
              <a:gs pos="100000">
                <a:srgbClr val="FCCB1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 name="Shape 17"/>
        <p:cNvGrpSpPr/>
        <p:nvPr/>
      </p:nvGrpSpPr>
      <p:grpSpPr>
        <a:xfrm>
          <a:off x="0" y="0"/>
          <a:ext cx="0" cy="0"/>
          <a:chOff x="0" y="0"/>
          <a:chExt cx="0" cy="0"/>
        </a:xfrm>
      </p:grpSpPr>
      <p:pic>
        <p:nvPicPr>
          <p:cNvPr descr="A yellow and blue logo&#10;&#10;Description automatically generated" id="18" name="Google Shape;18;p124"/>
          <p:cNvPicPr preferRelativeResize="0"/>
          <p:nvPr/>
        </p:nvPicPr>
        <p:blipFill rotWithShape="1">
          <a:blip r:embed="rId2">
            <a:alphaModFix amt="74000"/>
          </a:blip>
          <a:srcRect b="0" l="0" r="0" t="0"/>
          <a:stretch/>
        </p:blipFill>
        <p:spPr>
          <a:xfrm rot="-60000">
            <a:off x="-1228588" y="-1161318"/>
            <a:ext cx="9321045" cy="9167611"/>
          </a:xfrm>
          <a:prstGeom prst="rect">
            <a:avLst/>
          </a:prstGeom>
          <a:noFill/>
          <a:ln>
            <a:noFill/>
          </a:ln>
        </p:spPr>
      </p:pic>
      <p:sp>
        <p:nvSpPr>
          <p:cNvPr id="19" name="Google Shape;19;p124"/>
          <p:cNvSpPr/>
          <p:nvPr/>
        </p:nvSpPr>
        <p:spPr>
          <a:xfrm>
            <a:off x="871504" y="1"/>
            <a:ext cx="8815402" cy="6858000"/>
          </a:xfrm>
          <a:custGeom>
            <a:rect b="b" l="l" r="r" t="t"/>
            <a:pathLst>
              <a:path extrusionOk="0" h="6886573" w="8815402">
                <a:moveTo>
                  <a:pt x="1502407" y="0"/>
                </a:moveTo>
                <a:lnTo>
                  <a:pt x="7312996" y="0"/>
                </a:lnTo>
                <a:lnTo>
                  <a:pt x="7361543" y="43058"/>
                </a:lnTo>
                <a:cubicBezTo>
                  <a:pt x="8254355" y="886621"/>
                  <a:pt x="8815402" y="2107008"/>
                  <a:pt x="8815402" y="3464435"/>
                </a:cubicBezTo>
                <a:cubicBezTo>
                  <a:pt x="8815402" y="4787057"/>
                  <a:pt x="8282757" y="5979576"/>
                  <a:pt x="7429562" y="6820183"/>
                </a:cubicBezTo>
                <a:lnTo>
                  <a:pt x="7358233" y="6886573"/>
                </a:lnTo>
                <a:lnTo>
                  <a:pt x="1457170" y="6886573"/>
                </a:lnTo>
                <a:lnTo>
                  <a:pt x="1385841" y="6820183"/>
                </a:lnTo>
                <a:cubicBezTo>
                  <a:pt x="532645" y="5979576"/>
                  <a:pt x="0" y="4787057"/>
                  <a:pt x="0" y="3464435"/>
                </a:cubicBezTo>
                <a:cubicBezTo>
                  <a:pt x="0" y="2107008"/>
                  <a:pt x="561047" y="886621"/>
                  <a:pt x="1453860" y="43058"/>
                </a:cubicBezTo>
                <a:close/>
              </a:path>
            </a:pathLst>
          </a:cu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 name="Google Shape;20;p124"/>
          <p:cNvSpPr txBox="1"/>
          <p:nvPr>
            <p:ph type="title"/>
          </p:nvPr>
        </p:nvSpPr>
        <p:spPr>
          <a:xfrm>
            <a:off x="1832664" y="190500"/>
            <a:ext cx="9813236" cy="838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0425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24"/>
          <p:cNvSpPr txBox="1"/>
          <p:nvPr>
            <p:ph idx="1" type="body"/>
          </p:nvPr>
        </p:nvSpPr>
        <p:spPr>
          <a:xfrm>
            <a:off x="1832664" y="1257305"/>
            <a:ext cx="9813235" cy="4906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20425A"/>
              </a:buClr>
              <a:buSzPts val="1800"/>
              <a:buChar char="•"/>
              <a:defRPr/>
            </a:lvl1pPr>
            <a:lvl2pPr indent="-342900" lvl="1" marL="914400" algn="l">
              <a:spcBef>
                <a:spcPts val="360"/>
              </a:spcBef>
              <a:spcAft>
                <a:spcPts val="0"/>
              </a:spcAft>
              <a:buClr>
                <a:srgbClr val="20425A"/>
              </a:buClr>
              <a:buSzPts val="1800"/>
              <a:buChar char="–"/>
              <a:defRPr/>
            </a:lvl2pPr>
            <a:lvl3pPr indent="-342900" lvl="2" marL="1371600" algn="l">
              <a:spcBef>
                <a:spcPts val="360"/>
              </a:spcBef>
              <a:spcAft>
                <a:spcPts val="0"/>
              </a:spcAft>
              <a:buClr>
                <a:srgbClr val="20425A"/>
              </a:buClr>
              <a:buSzPts val="1800"/>
              <a:buChar char="•"/>
              <a:defRPr/>
            </a:lvl3pPr>
            <a:lvl4pPr indent="-342900" lvl="3" marL="1828800" algn="l">
              <a:spcBef>
                <a:spcPts val="360"/>
              </a:spcBef>
              <a:spcAft>
                <a:spcPts val="0"/>
              </a:spcAft>
              <a:buClr>
                <a:srgbClr val="20425A"/>
              </a:buClr>
              <a:buSzPts val="1800"/>
              <a:buChar char="–"/>
              <a:defRPr/>
            </a:lvl4pPr>
            <a:lvl5pPr indent="-342900" lvl="4" marL="2286000" algn="l">
              <a:spcBef>
                <a:spcPts val="360"/>
              </a:spcBef>
              <a:spcAft>
                <a:spcPts val="0"/>
              </a:spcAft>
              <a:buClr>
                <a:srgbClr val="20425A"/>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124"/>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20425A"/>
                </a:solidFill>
                <a:latin typeface="Calibri"/>
                <a:ea typeface="Calibri"/>
                <a:cs typeface="Calibri"/>
                <a:sym typeface="Calibri"/>
              </a:defRPr>
            </a:lvl1pPr>
            <a:lvl2pPr indent="0" lvl="1" marL="0" marR="0" rtl="0" algn="r">
              <a:spcBef>
                <a:spcPts val="0"/>
              </a:spcBef>
              <a:buNone/>
              <a:defRPr b="0" i="0" sz="1200" u="none" cap="none" strike="noStrike">
                <a:solidFill>
                  <a:srgbClr val="20425A"/>
                </a:solidFill>
                <a:latin typeface="Calibri"/>
                <a:ea typeface="Calibri"/>
                <a:cs typeface="Calibri"/>
                <a:sym typeface="Calibri"/>
              </a:defRPr>
            </a:lvl2pPr>
            <a:lvl3pPr indent="0" lvl="2" marL="0" marR="0" rtl="0" algn="r">
              <a:spcBef>
                <a:spcPts val="0"/>
              </a:spcBef>
              <a:buNone/>
              <a:defRPr b="0" i="0" sz="1200" u="none" cap="none" strike="noStrike">
                <a:solidFill>
                  <a:srgbClr val="20425A"/>
                </a:solidFill>
                <a:latin typeface="Calibri"/>
                <a:ea typeface="Calibri"/>
                <a:cs typeface="Calibri"/>
                <a:sym typeface="Calibri"/>
              </a:defRPr>
            </a:lvl3pPr>
            <a:lvl4pPr indent="0" lvl="3" marL="0" marR="0" rtl="0" algn="r">
              <a:spcBef>
                <a:spcPts val="0"/>
              </a:spcBef>
              <a:buNone/>
              <a:defRPr b="0" i="0" sz="1200" u="none" cap="none" strike="noStrike">
                <a:solidFill>
                  <a:srgbClr val="20425A"/>
                </a:solidFill>
                <a:latin typeface="Calibri"/>
                <a:ea typeface="Calibri"/>
                <a:cs typeface="Calibri"/>
                <a:sym typeface="Calibri"/>
              </a:defRPr>
            </a:lvl4pPr>
            <a:lvl5pPr indent="0" lvl="4" marL="0" marR="0" rtl="0" algn="r">
              <a:spcBef>
                <a:spcPts val="0"/>
              </a:spcBef>
              <a:buNone/>
              <a:defRPr b="0" i="0" sz="1200" u="none" cap="none" strike="noStrike">
                <a:solidFill>
                  <a:srgbClr val="20425A"/>
                </a:solidFill>
                <a:latin typeface="Calibri"/>
                <a:ea typeface="Calibri"/>
                <a:cs typeface="Calibri"/>
                <a:sym typeface="Calibri"/>
              </a:defRPr>
            </a:lvl5pPr>
            <a:lvl6pPr indent="0" lvl="5" marL="0" marR="0" rtl="0" algn="r">
              <a:spcBef>
                <a:spcPts val="0"/>
              </a:spcBef>
              <a:buNone/>
              <a:defRPr b="0" i="0" sz="1200" u="none" cap="none" strike="noStrike">
                <a:solidFill>
                  <a:srgbClr val="20425A"/>
                </a:solidFill>
                <a:latin typeface="Calibri"/>
                <a:ea typeface="Calibri"/>
                <a:cs typeface="Calibri"/>
                <a:sym typeface="Calibri"/>
              </a:defRPr>
            </a:lvl6pPr>
            <a:lvl7pPr indent="0" lvl="6" marL="0" marR="0" rtl="0" algn="r">
              <a:spcBef>
                <a:spcPts val="0"/>
              </a:spcBef>
              <a:buNone/>
              <a:defRPr b="0" i="0" sz="1200" u="none" cap="none" strike="noStrike">
                <a:solidFill>
                  <a:srgbClr val="20425A"/>
                </a:solidFill>
                <a:latin typeface="Calibri"/>
                <a:ea typeface="Calibri"/>
                <a:cs typeface="Calibri"/>
                <a:sym typeface="Calibri"/>
              </a:defRPr>
            </a:lvl7pPr>
            <a:lvl8pPr indent="0" lvl="7" marL="0" marR="0" rtl="0" algn="r">
              <a:spcBef>
                <a:spcPts val="0"/>
              </a:spcBef>
              <a:buNone/>
              <a:defRPr b="0" i="0" sz="1200" u="none" cap="none" strike="noStrike">
                <a:solidFill>
                  <a:srgbClr val="20425A"/>
                </a:solidFill>
                <a:latin typeface="Calibri"/>
                <a:ea typeface="Calibri"/>
                <a:cs typeface="Calibri"/>
                <a:sym typeface="Calibri"/>
              </a:defRPr>
            </a:lvl8pPr>
            <a:lvl9pPr indent="0" lvl="8" marL="0" marR="0" rtl="0" algn="r">
              <a:spcBef>
                <a:spcPts val="0"/>
              </a:spcBef>
              <a:buNone/>
              <a:defRPr b="0" i="0" sz="1200" u="none" cap="none" strike="noStrike">
                <a:solidFill>
                  <a:srgbClr val="2042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125"/>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0425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25"/>
          <p:cNvSpPr txBox="1"/>
          <p:nvPr>
            <p:ph idx="1" type="body"/>
          </p:nvPr>
        </p:nvSpPr>
        <p:spPr>
          <a:xfrm>
            <a:off x="609600" y="1600205"/>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20425A"/>
              </a:buClr>
              <a:buSzPts val="2800"/>
              <a:buChar char="•"/>
              <a:defRPr sz="2800"/>
            </a:lvl1pPr>
            <a:lvl2pPr indent="-381000" lvl="1" marL="914400" algn="l">
              <a:spcBef>
                <a:spcPts val="480"/>
              </a:spcBef>
              <a:spcAft>
                <a:spcPts val="0"/>
              </a:spcAft>
              <a:buClr>
                <a:srgbClr val="20425A"/>
              </a:buClr>
              <a:buSzPts val="2400"/>
              <a:buChar char="–"/>
              <a:defRPr sz="2400"/>
            </a:lvl2pPr>
            <a:lvl3pPr indent="-355600" lvl="2" marL="1371600" algn="l">
              <a:spcBef>
                <a:spcPts val="400"/>
              </a:spcBef>
              <a:spcAft>
                <a:spcPts val="0"/>
              </a:spcAft>
              <a:buClr>
                <a:srgbClr val="20425A"/>
              </a:buClr>
              <a:buSzPts val="2000"/>
              <a:buChar char="•"/>
              <a:defRPr sz="2000"/>
            </a:lvl3pPr>
            <a:lvl4pPr indent="-342900" lvl="3" marL="1828800" algn="l">
              <a:spcBef>
                <a:spcPts val="360"/>
              </a:spcBef>
              <a:spcAft>
                <a:spcPts val="0"/>
              </a:spcAft>
              <a:buClr>
                <a:srgbClr val="20425A"/>
              </a:buClr>
              <a:buSzPts val="1800"/>
              <a:buChar char="–"/>
              <a:defRPr sz="1800"/>
            </a:lvl4pPr>
            <a:lvl5pPr indent="-342900" lvl="4" marL="2286000" algn="l">
              <a:spcBef>
                <a:spcPts val="360"/>
              </a:spcBef>
              <a:spcAft>
                <a:spcPts val="0"/>
              </a:spcAft>
              <a:buClr>
                <a:srgbClr val="20425A"/>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 name="Google Shape;26;p125"/>
          <p:cNvSpPr txBox="1"/>
          <p:nvPr>
            <p:ph idx="2" type="body"/>
          </p:nvPr>
        </p:nvSpPr>
        <p:spPr>
          <a:xfrm>
            <a:off x="6197600" y="1600205"/>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rgbClr val="20425A"/>
              </a:buClr>
              <a:buSzPts val="2800"/>
              <a:buChar char="•"/>
              <a:defRPr sz="2800"/>
            </a:lvl1pPr>
            <a:lvl2pPr indent="-381000" lvl="1" marL="914400" algn="l">
              <a:spcBef>
                <a:spcPts val="480"/>
              </a:spcBef>
              <a:spcAft>
                <a:spcPts val="0"/>
              </a:spcAft>
              <a:buClr>
                <a:srgbClr val="20425A"/>
              </a:buClr>
              <a:buSzPts val="2400"/>
              <a:buChar char="–"/>
              <a:defRPr sz="2400"/>
            </a:lvl2pPr>
            <a:lvl3pPr indent="-355600" lvl="2" marL="1371600" algn="l">
              <a:spcBef>
                <a:spcPts val="400"/>
              </a:spcBef>
              <a:spcAft>
                <a:spcPts val="0"/>
              </a:spcAft>
              <a:buClr>
                <a:srgbClr val="20425A"/>
              </a:buClr>
              <a:buSzPts val="2000"/>
              <a:buChar char="•"/>
              <a:defRPr sz="2000"/>
            </a:lvl3pPr>
            <a:lvl4pPr indent="-342900" lvl="3" marL="1828800" algn="l">
              <a:spcBef>
                <a:spcPts val="360"/>
              </a:spcBef>
              <a:spcAft>
                <a:spcPts val="0"/>
              </a:spcAft>
              <a:buClr>
                <a:srgbClr val="20425A"/>
              </a:buClr>
              <a:buSzPts val="1800"/>
              <a:buChar char="–"/>
              <a:defRPr sz="1800"/>
            </a:lvl4pPr>
            <a:lvl5pPr indent="-342900" lvl="4" marL="2286000" algn="l">
              <a:spcBef>
                <a:spcPts val="360"/>
              </a:spcBef>
              <a:spcAft>
                <a:spcPts val="0"/>
              </a:spcAft>
              <a:buClr>
                <a:srgbClr val="20425A"/>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 name="Google Shape;27;p125"/>
          <p:cNvSpPr/>
          <p:nvPr/>
        </p:nvSpPr>
        <p:spPr>
          <a:xfrm>
            <a:off x="0" y="6400800"/>
            <a:ext cx="12192000" cy="76200"/>
          </a:xfrm>
          <a:prstGeom prst="rect">
            <a:avLst/>
          </a:prstGeom>
          <a:gradFill>
            <a:gsLst>
              <a:gs pos="0">
                <a:srgbClr val="20425A"/>
              </a:gs>
              <a:gs pos="44000">
                <a:srgbClr val="20425A"/>
              </a:gs>
              <a:gs pos="55000">
                <a:srgbClr val="EB6622"/>
              </a:gs>
              <a:gs pos="100000">
                <a:srgbClr val="FCCB1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 name="Google Shape;28;p125"/>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20425A"/>
                </a:solidFill>
                <a:latin typeface="Calibri"/>
                <a:ea typeface="Calibri"/>
                <a:cs typeface="Calibri"/>
                <a:sym typeface="Calibri"/>
              </a:defRPr>
            </a:lvl1pPr>
            <a:lvl2pPr indent="0" lvl="1" marL="0" marR="0" rtl="0" algn="r">
              <a:spcBef>
                <a:spcPts val="0"/>
              </a:spcBef>
              <a:buNone/>
              <a:defRPr b="0" i="0" sz="1200" u="none" cap="none" strike="noStrike">
                <a:solidFill>
                  <a:srgbClr val="20425A"/>
                </a:solidFill>
                <a:latin typeface="Calibri"/>
                <a:ea typeface="Calibri"/>
                <a:cs typeface="Calibri"/>
                <a:sym typeface="Calibri"/>
              </a:defRPr>
            </a:lvl2pPr>
            <a:lvl3pPr indent="0" lvl="2" marL="0" marR="0" rtl="0" algn="r">
              <a:spcBef>
                <a:spcPts val="0"/>
              </a:spcBef>
              <a:buNone/>
              <a:defRPr b="0" i="0" sz="1200" u="none" cap="none" strike="noStrike">
                <a:solidFill>
                  <a:srgbClr val="20425A"/>
                </a:solidFill>
                <a:latin typeface="Calibri"/>
                <a:ea typeface="Calibri"/>
                <a:cs typeface="Calibri"/>
                <a:sym typeface="Calibri"/>
              </a:defRPr>
            </a:lvl3pPr>
            <a:lvl4pPr indent="0" lvl="3" marL="0" marR="0" rtl="0" algn="r">
              <a:spcBef>
                <a:spcPts val="0"/>
              </a:spcBef>
              <a:buNone/>
              <a:defRPr b="0" i="0" sz="1200" u="none" cap="none" strike="noStrike">
                <a:solidFill>
                  <a:srgbClr val="20425A"/>
                </a:solidFill>
                <a:latin typeface="Calibri"/>
                <a:ea typeface="Calibri"/>
                <a:cs typeface="Calibri"/>
                <a:sym typeface="Calibri"/>
              </a:defRPr>
            </a:lvl4pPr>
            <a:lvl5pPr indent="0" lvl="4" marL="0" marR="0" rtl="0" algn="r">
              <a:spcBef>
                <a:spcPts val="0"/>
              </a:spcBef>
              <a:buNone/>
              <a:defRPr b="0" i="0" sz="1200" u="none" cap="none" strike="noStrike">
                <a:solidFill>
                  <a:srgbClr val="20425A"/>
                </a:solidFill>
                <a:latin typeface="Calibri"/>
                <a:ea typeface="Calibri"/>
                <a:cs typeface="Calibri"/>
                <a:sym typeface="Calibri"/>
              </a:defRPr>
            </a:lvl5pPr>
            <a:lvl6pPr indent="0" lvl="5" marL="0" marR="0" rtl="0" algn="r">
              <a:spcBef>
                <a:spcPts val="0"/>
              </a:spcBef>
              <a:buNone/>
              <a:defRPr b="0" i="0" sz="1200" u="none" cap="none" strike="noStrike">
                <a:solidFill>
                  <a:srgbClr val="20425A"/>
                </a:solidFill>
                <a:latin typeface="Calibri"/>
                <a:ea typeface="Calibri"/>
                <a:cs typeface="Calibri"/>
                <a:sym typeface="Calibri"/>
              </a:defRPr>
            </a:lvl6pPr>
            <a:lvl7pPr indent="0" lvl="6" marL="0" marR="0" rtl="0" algn="r">
              <a:spcBef>
                <a:spcPts val="0"/>
              </a:spcBef>
              <a:buNone/>
              <a:defRPr b="0" i="0" sz="1200" u="none" cap="none" strike="noStrike">
                <a:solidFill>
                  <a:srgbClr val="20425A"/>
                </a:solidFill>
                <a:latin typeface="Calibri"/>
                <a:ea typeface="Calibri"/>
                <a:cs typeface="Calibri"/>
                <a:sym typeface="Calibri"/>
              </a:defRPr>
            </a:lvl7pPr>
            <a:lvl8pPr indent="0" lvl="7" marL="0" marR="0" rtl="0" algn="r">
              <a:spcBef>
                <a:spcPts val="0"/>
              </a:spcBef>
              <a:buNone/>
              <a:defRPr b="0" i="0" sz="1200" u="none" cap="none" strike="noStrike">
                <a:solidFill>
                  <a:srgbClr val="20425A"/>
                </a:solidFill>
                <a:latin typeface="Calibri"/>
                <a:ea typeface="Calibri"/>
                <a:cs typeface="Calibri"/>
                <a:sym typeface="Calibri"/>
              </a:defRPr>
            </a:lvl8pPr>
            <a:lvl9pPr indent="0" lvl="8" marL="0" marR="0" rtl="0" algn="r">
              <a:spcBef>
                <a:spcPts val="0"/>
              </a:spcBef>
              <a:buNone/>
              <a:defRPr b="0" i="0" sz="1200" u="none" cap="none" strike="noStrike">
                <a:solidFill>
                  <a:srgbClr val="2042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pryan4\Downloads\want-impact-public-health-help-shape-journey-ahead\OHDSI logo only - colored.png" id="29" name="Google Shape;29;p125"/>
          <p:cNvPicPr preferRelativeResize="0"/>
          <p:nvPr/>
        </p:nvPicPr>
        <p:blipFill rotWithShape="1">
          <a:blip r:embed="rId2">
            <a:alphaModFix/>
          </a:blip>
          <a:srcRect b="0" l="0" r="0" t="0"/>
          <a:stretch/>
        </p:blipFill>
        <p:spPr>
          <a:xfrm>
            <a:off x="-41218" y="-38160"/>
            <a:ext cx="1292046" cy="125736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126"/>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0425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26"/>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rgbClr val="20425A"/>
              </a:buClr>
              <a:buSzPts val="1800"/>
              <a:buChar char="•"/>
              <a:defRPr/>
            </a:lvl1pPr>
            <a:lvl2pPr indent="-342900" lvl="1" marL="914400" algn="l">
              <a:spcBef>
                <a:spcPts val="360"/>
              </a:spcBef>
              <a:spcAft>
                <a:spcPts val="0"/>
              </a:spcAft>
              <a:buClr>
                <a:srgbClr val="20425A"/>
              </a:buClr>
              <a:buSzPts val="1800"/>
              <a:buChar char="–"/>
              <a:defRPr/>
            </a:lvl2pPr>
            <a:lvl3pPr indent="-342900" lvl="2" marL="1371600" algn="l">
              <a:spcBef>
                <a:spcPts val="360"/>
              </a:spcBef>
              <a:spcAft>
                <a:spcPts val="0"/>
              </a:spcAft>
              <a:buClr>
                <a:srgbClr val="20425A"/>
              </a:buClr>
              <a:buSzPts val="1800"/>
              <a:buChar char="•"/>
              <a:defRPr/>
            </a:lvl3pPr>
            <a:lvl4pPr indent="-342900" lvl="3" marL="1828800" algn="l">
              <a:spcBef>
                <a:spcPts val="360"/>
              </a:spcBef>
              <a:spcAft>
                <a:spcPts val="0"/>
              </a:spcAft>
              <a:buClr>
                <a:srgbClr val="20425A"/>
              </a:buClr>
              <a:buSzPts val="1800"/>
              <a:buChar char="–"/>
              <a:defRPr/>
            </a:lvl4pPr>
            <a:lvl5pPr indent="-342900" lvl="4" marL="2286000" algn="l">
              <a:spcBef>
                <a:spcPts val="360"/>
              </a:spcBef>
              <a:spcAft>
                <a:spcPts val="0"/>
              </a:spcAft>
              <a:buClr>
                <a:srgbClr val="20425A"/>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126"/>
          <p:cNvSpPr/>
          <p:nvPr/>
        </p:nvSpPr>
        <p:spPr>
          <a:xfrm>
            <a:off x="0" y="6400800"/>
            <a:ext cx="12192000" cy="76200"/>
          </a:xfrm>
          <a:prstGeom prst="rect">
            <a:avLst/>
          </a:prstGeom>
          <a:gradFill>
            <a:gsLst>
              <a:gs pos="0">
                <a:srgbClr val="20425A"/>
              </a:gs>
              <a:gs pos="44000">
                <a:srgbClr val="20425A"/>
              </a:gs>
              <a:gs pos="55000">
                <a:srgbClr val="EB6622"/>
              </a:gs>
              <a:gs pos="100000">
                <a:srgbClr val="FCCB1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C:\Users\pryan4\Downloads\want-impact-public-health-help-shape-journey-ahead\OHDSI logo only - colored.png" id="34" name="Google Shape;34;p126"/>
          <p:cNvPicPr preferRelativeResize="0"/>
          <p:nvPr/>
        </p:nvPicPr>
        <p:blipFill rotWithShape="1">
          <a:blip r:embed="rId2">
            <a:alphaModFix/>
          </a:blip>
          <a:srcRect b="0" l="0" r="0" t="0"/>
          <a:stretch/>
        </p:blipFill>
        <p:spPr>
          <a:xfrm>
            <a:off x="-41218" y="-38160"/>
            <a:ext cx="1292046" cy="1257360"/>
          </a:xfrm>
          <a:prstGeom prst="rect">
            <a:avLst/>
          </a:prstGeom>
          <a:noFill/>
          <a:ln>
            <a:noFill/>
          </a:ln>
        </p:spPr>
      </p:pic>
      <p:sp>
        <p:nvSpPr>
          <p:cNvPr id="35" name="Google Shape;35;p126"/>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20425A"/>
                </a:solidFill>
                <a:latin typeface="Calibri"/>
                <a:ea typeface="Calibri"/>
                <a:cs typeface="Calibri"/>
                <a:sym typeface="Calibri"/>
              </a:defRPr>
            </a:lvl1pPr>
            <a:lvl2pPr indent="0" lvl="1" marL="0" marR="0" rtl="0" algn="r">
              <a:spcBef>
                <a:spcPts val="0"/>
              </a:spcBef>
              <a:buNone/>
              <a:defRPr b="0" i="0" sz="1200" u="none" cap="none" strike="noStrike">
                <a:solidFill>
                  <a:srgbClr val="20425A"/>
                </a:solidFill>
                <a:latin typeface="Calibri"/>
                <a:ea typeface="Calibri"/>
                <a:cs typeface="Calibri"/>
                <a:sym typeface="Calibri"/>
              </a:defRPr>
            </a:lvl2pPr>
            <a:lvl3pPr indent="0" lvl="2" marL="0" marR="0" rtl="0" algn="r">
              <a:spcBef>
                <a:spcPts val="0"/>
              </a:spcBef>
              <a:buNone/>
              <a:defRPr b="0" i="0" sz="1200" u="none" cap="none" strike="noStrike">
                <a:solidFill>
                  <a:srgbClr val="20425A"/>
                </a:solidFill>
                <a:latin typeface="Calibri"/>
                <a:ea typeface="Calibri"/>
                <a:cs typeface="Calibri"/>
                <a:sym typeface="Calibri"/>
              </a:defRPr>
            </a:lvl3pPr>
            <a:lvl4pPr indent="0" lvl="3" marL="0" marR="0" rtl="0" algn="r">
              <a:spcBef>
                <a:spcPts val="0"/>
              </a:spcBef>
              <a:buNone/>
              <a:defRPr b="0" i="0" sz="1200" u="none" cap="none" strike="noStrike">
                <a:solidFill>
                  <a:srgbClr val="20425A"/>
                </a:solidFill>
                <a:latin typeface="Calibri"/>
                <a:ea typeface="Calibri"/>
                <a:cs typeface="Calibri"/>
                <a:sym typeface="Calibri"/>
              </a:defRPr>
            </a:lvl4pPr>
            <a:lvl5pPr indent="0" lvl="4" marL="0" marR="0" rtl="0" algn="r">
              <a:spcBef>
                <a:spcPts val="0"/>
              </a:spcBef>
              <a:buNone/>
              <a:defRPr b="0" i="0" sz="1200" u="none" cap="none" strike="noStrike">
                <a:solidFill>
                  <a:srgbClr val="20425A"/>
                </a:solidFill>
                <a:latin typeface="Calibri"/>
                <a:ea typeface="Calibri"/>
                <a:cs typeface="Calibri"/>
                <a:sym typeface="Calibri"/>
              </a:defRPr>
            </a:lvl5pPr>
            <a:lvl6pPr indent="0" lvl="5" marL="0" marR="0" rtl="0" algn="r">
              <a:spcBef>
                <a:spcPts val="0"/>
              </a:spcBef>
              <a:buNone/>
              <a:defRPr b="0" i="0" sz="1200" u="none" cap="none" strike="noStrike">
                <a:solidFill>
                  <a:srgbClr val="20425A"/>
                </a:solidFill>
                <a:latin typeface="Calibri"/>
                <a:ea typeface="Calibri"/>
                <a:cs typeface="Calibri"/>
                <a:sym typeface="Calibri"/>
              </a:defRPr>
            </a:lvl6pPr>
            <a:lvl7pPr indent="0" lvl="6" marL="0" marR="0" rtl="0" algn="r">
              <a:spcBef>
                <a:spcPts val="0"/>
              </a:spcBef>
              <a:buNone/>
              <a:defRPr b="0" i="0" sz="1200" u="none" cap="none" strike="noStrike">
                <a:solidFill>
                  <a:srgbClr val="20425A"/>
                </a:solidFill>
                <a:latin typeface="Calibri"/>
                <a:ea typeface="Calibri"/>
                <a:cs typeface="Calibri"/>
                <a:sym typeface="Calibri"/>
              </a:defRPr>
            </a:lvl7pPr>
            <a:lvl8pPr indent="0" lvl="7" marL="0" marR="0" rtl="0" algn="r">
              <a:spcBef>
                <a:spcPts val="0"/>
              </a:spcBef>
              <a:buNone/>
              <a:defRPr b="0" i="0" sz="1200" u="none" cap="none" strike="noStrike">
                <a:solidFill>
                  <a:srgbClr val="20425A"/>
                </a:solidFill>
                <a:latin typeface="Calibri"/>
                <a:ea typeface="Calibri"/>
                <a:cs typeface="Calibri"/>
                <a:sym typeface="Calibri"/>
              </a:defRPr>
            </a:lvl8pPr>
            <a:lvl9pPr indent="0" lvl="8" marL="0" marR="0" rtl="0" algn="r">
              <a:spcBef>
                <a:spcPts val="0"/>
              </a:spcBef>
              <a:buNone/>
              <a:defRPr b="0" i="0" sz="1200" u="none" cap="none" strike="noStrike">
                <a:solidFill>
                  <a:srgbClr val="2042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IQVIA">
  <p:cSld name="Blank - IQVIA">
    <p:spTree>
      <p:nvGrpSpPr>
        <p:cNvPr id="36" name="Shape 36"/>
        <p:cNvGrpSpPr/>
        <p:nvPr/>
      </p:nvGrpSpPr>
      <p:grpSpPr>
        <a:xfrm>
          <a:off x="0" y="0"/>
          <a:ext cx="0" cy="0"/>
          <a:chOff x="0" y="0"/>
          <a:chExt cx="0" cy="0"/>
        </a:xfrm>
      </p:grpSpPr>
      <p:sp>
        <p:nvSpPr>
          <p:cNvPr id="37" name="Google Shape;37;p127"/>
          <p:cNvSpPr txBox="1"/>
          <p:nvPr/>
        </p:nvSpPr>
        <p:spPr>
          <a:xfrm>
            <a:off x="11723253" y="6544747"/>
            <a:ext cx="353200" cy="178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800" u="none" cap="none" strike="noStrike">
                <a:solidFill>
                  <a:srgbClr val="959CA0"/>
                </a:solidFill>
                <a:latin typeface="Arial"/>
                <a:ea typeface="Arial"/>
                <a:cs typeface="Arial"/>
                <a:sym typeface="Arial"/>
              </a:rPr>
              <a:t>‹#›</a:t>
            </a:fld>
            <a:endParaRPr b="0" i="0" sz="800" u="none" cap="none" strike="noStrike">
              <a:solidFill>
                <a:srgbClr val="959CA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12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0425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28"/>
          <p:cNvSpPr/>
          <p:nvPr/>
        </p:nvSpPr>
        <p:spPr>
          <a:xfrm>
            <a:off x="0" y="6400800"/>
            <a:ext cx="12192000" cy="76200"/>
          </a:xfrm>
          <a:prstGeom prst="rect">
            <a:avLst/>
          </a:prstGeom>
          <a:gradFill>
            <a:gsLst>
              <a:gs pos="0">
                <a:srgbClr val="20425A"/>
              </a:gs>
              <a:gs pos="44000">
                <a:srgbClr val="20425A"/>
              </a:gs>
              <a:gs pos="55000">
                <a:srgbClr val="EB6622"/>
              </a:gs>
              <a:gs pos="100000">
                <a:srgbClr val="FCCB1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 name="Google Shape;41;p12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20425A"/>
                </a:solidFill>
                <a:latin typeface="Calibri"/>
                <a:ea typeface="Calibri"/>
                <a:cs typeface="Calibri"/>
                <a:sym typeface="Calibri"/>
              </a:defRPr>
            </a:lvl1pPr>
            <a:lvl2pPr indent="0" lvl="1" marL="0" marR="0" rtl="0" algn="r">
              <a:spcBef>
                <a:spcPts val="0"/>
              </a:spcBef>
              <a:buNone/>
              <a:defRPr b="0" i="0" sz="1200" u="none" cap="none" strike="noStrike">
                <a:solidFill>
                  <a:srgbClr val="20425A"/>
                </a:solidFill>
                <a:latin typeface="Calibri"/>
                <a:ea typeface="Calibri"/>
                <a:cs typeface="Calibri"/>
                <a:sym typeface="Calibri"/>
              </a:defRPr>
            </a:lvl2pPr>
            <a:lvl3pPr indent="0" lvl="2" marL="0" marR="0" rtl="0" algn="r">
              <a:spcBef>
                <a:spcPts val="0"/>
              </a:spcBef>
              <a:buNone/>
              <a:defRPr b="0" i="0" sz="1200" u="none" cap="none" strike="noStrike">
                <a:solidFill>
                  <a:srgbClr val="20425A"/>
                </a:solidFill>
                <a:latin typeface="Calibri"/>
                <a:ea typeface="Calibri"/>
                <a:cs typeface="Calibri"/>
                <a:sym typeface="Calibri"/>
              </a:defRPr>
            </a:lvl3pPr>
            <a:lvl4pPr indent="0" lvl="3" marL="0" marR="0" rtl="0" algn="r">
              <a:spcBef>
                <a:spcPts val="0"/>
              </a:spcBef>
              <a:buNone/>
              <a:defRPr b="0" i="0" sz="1200" u="none" cap="none" strike="noStrike">
                <a:solidFill>
                  <a:srgbClr val="20425A"/>
                </a:solidFill>
                <a:latin typeface="Calibri"/>
                <a:ea typeface="Calibri"/>
                <a:cs typeface="Calibri"/>
                <a:sym typeface="Calibri"/>
              </a:defRPr>
            </a:lvl4pPr>
            <a:lvl5pPr indent="0" lvl="4" marL="0" marR="0" rtl="0" algn="r">
              <a:spcBef>
                <a:spcPts val="0"/>
              </a:spcBef>
              <a:buNone/>
              <a:defRPr b="0" i="0" sz="1200" u="none" cap="none" strike="noStrike">
                <a:solidFill>
                  <a:srgbClr val="20425A"/>
                </a:solidFill>
                <a:latin typeface="Calibri"/>
                <a:ea typeface="Calibri"/>
                <a:cs typeface="Calibri"/>
                <a:sym typeface="Calibri"/>
              </a:defRPr>
            </a:lvl5pPr>
            <a:lvl6pPr indent="0" lvl="5" marL="0" marR="0" rtl="0" algn="r">
              <a:spcBef>
                <a:spcPts val="0"/>
              </a:spcBef>
              <a:buNone/>
              <a:defRPr b="0" i="0" sz="1200" u="none" cap="none" strike="noStrike">
                <a:solidFill>
                  <a:srgbClr val="20425A"/>
                </a:solidFill>
                <a:latin typeface="Calibri"/>
                <a:ea typeface="Calibri"/>
                <a:cs typeface="Calibri"/>
                <a:sym typeface="Calibri"/>
              </a:defRPr>
            </a:lvl6pPr>
            <a:lvl7pPr indent="0" lvl="6" marL="0" marR="0" rtl="0" algn="r">
              <a:spcBef>
                <a:spcPts val="0"/>
              </a:spcBef>
              <a:buNone/>
              <a:defRPr b="0" i="0" sz="1200" u="none" cap="none" strike="noStrike">
                <a:solidFill>
                  <a:srgbClr val="20425A"/>
                </a:solidFill>
                <a:latin typeface="Calibri"/>
                <a:ea typeface="Calibri"/>
                <a:cs typeface="Calibri"/>
                <a:sym typeface="Calibri"/>
              </a:defRPr>
            </a:lvl7pPr>
            <a:lvl8pPr indent="0" lvl="7" marL="0" marR="0" rtl="0" algn="r">
              <a:spcBef>
                <a:spcPts val="0"/>
              </a:spcBef>
              <a:buNone/>
              <a:defRPr b="0" i="0" sz="1200" u="none" cap="none" strike="noStrike">
                <a:solidFill>
                  <a:srgbClr val="20425A"/>
                </a:solidFill>
                <a:latin typeface="Calibri"/>
                <a:ea typeface="Calibri"/>
                <a:cs typeface="Calibri"/>
                <a:sym typeface="Calibri"/>
              </a:defRPr>
            </a:lvl8pPr>
            <a:lvl9pPr indent="0" lvl="8" marL="0" marR="0" rtl="0" algn="r">
              <a:spcBef>
                <a:spcPts val="0"/>
              </a:spcBef>
              <a:buNone/>
              <a:defRPr b="0" i="0" sz="1200" u="none" cap="none" strike="noStrike">
                <a:solidFill>
                  <a:srgbClr val="2042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pryan4\Downloads\want-impact-public-health-help-shape-journey-ahead\OHDSI logo only - colored.png" id="42" name="Google Shape;42;p128"/>
          <p:cNvPicPr preferRelativeResize="0"/>
          <p:nvPr/>
        </p:nvPicPr>
        <p:blipFill rotWithShape="1">
          <a:blip r:embed="rId2">
            <a:alphaModFix/>
          </a:blip>
          <a:srcRect b="0" l="0" r="0" t="0"/>
          <a:stretch/>
        </p:blipFill>
        <p:spPr>
          <a:xfrm>
            <a:off x="-41218" y="-38160"/>
            <a:ext cx="1292046" cy="125736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129"/>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20425A"/>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29"/>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20425A"/>
              </a:buClr>
              <a:buSzPts val="2400"/>
              <a:buNone/>
              <a:defRPr b="1" sz="2400"/>
            </a:lvl1pPr>
            <a:lvl2pPr indent="-228600" lvl="1" marL="914400" algn="l">
              <a:spcBef>
                <a:spcPts val="400"/>
              </a:spcBef>
              <a:spcAft>
                <a:spcPts val="0"/>
              </a:spcAft>
              <a:buClr>
                <a:srgbClr val="20425A"/>
              </a:buClr>
              <a:buSzPts val="2000"/>
              <a:buNone/>
              <a:defRPr b="1" sz="2000"/>
            </a:lvl2pPr>
            <a:lvl3pPr indent="-228600" lvl="2" marL="1371600" algn="l">
              <a:spcBef>
                <a:spcPts val="360"/>
              </a:spcBef>
              <a:spcAft>
                <a:spcPts val="0"/>
              </a:spcAft>
              <a:buClr>
                <a:srgbClr val="20425A"/>
              </a:buClr>
              <a:buSzPts val="1800"/>
              <a:buNone/>
              <a:defRPr b="1" sz="1800"/>
            </a:lvl3pPr>
            <a:lvl4pPr indent="-228600" lvl="3" marL="1828800" algn="l">
              <a:spcBef>
                <a:spcPts val="320"/>
              </a:spcBef>
              <a:spcAft>
                <a:spcPts val="0"/>
              </a:spcAft>
              <a:buClr>
                <a:srgbClr val="20425A"/>
              </a:buClr>
              <a:buSzPts val="1600"/>
              <a:buNone/>
              <a:defRPr b="1" sz="1600"/>
            </a:lvl4pPr>
            <a:lvl5pPr indent="-228600" lvl="4" marL="2286000" algn="l">
              <a:spcBef>
                <a:spcPts val="320"/>
              </a:spcBef>
              <a:spcAft>
                <a:spcPts val="0"/>
              </a:spcAft>
              <a:buClr>
                <a:srgbClr val="20425A"/>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129"/>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20425A"/>
              </a:buClr>
              <a:buSzPts val="2400"/>
              <a:buChar char="•"/>
              <a:defRPr sz="2400"/>
            </a:lvl1pPr>
            <a:lvl2pPr indent="-355600" lvl="1" marL="914400" algn="l">
              <a:spcBef>
                <a:spcPts val="400"/>
              </a:spcBef>
              <a:spcAft>
                <a:spcPts val="0"/>
              </a:spcAft>
              <a:buClr>
                <a:srgbClr val="20425A"/>
              </a:buClr>
              <a:buSzPts val="2000"/>
              <a:buChar char="–"/>
              <a:defRPr sz="2000"/>
            </a:lvl2pPr>
            <a:lvl3pPr indent="-342900" lvl="2" marL="1371600" algn="l">
              <a:spcBef>
                <a:spcPts val="360"/>
              </a:spcBef>
              <a:spcAft>
                <a:spcPts val="0"/>
              </a:spcAft>
              <a:buClr>
                <a:srgbClr val="20425A"/>
              </a:buClr>
              <a:buSzPts val="1800"/>
              <a:buChar char="•"/>
              <a:defRPr sz="1800"/>
            </a:lvl3pPr>
            <a:lvl4pPr indent="-330200" lvl="3" marL="1828800" algn="l">
              <a:spcBef>
                <a:spcPts val="320"/>
              </a:spcBef>
              <a:spcAft>
                <a:spcPts val="0"/>
              </a:spcAft>
              <a:buClr>
                <a:srgbClr val="20425A"/>
              </a:buClr>
              <a:buSzPts val="1600"/>
              <a:buChar char="–"/>
              <a:defRPr sz="1600"/>
            </a:lvl4pPr>
            <a:lvl5pPr indent="-330200" lvl="4" marL="2286000" algn="l">
              <a:spcBef>
                <a:spcPts val="320"/>
              </a:spcBef>
              <a:spcAft>
                <a:spcPts val="0"/>
              </a:spcAft>
              <a:buClr>
                <a:srgbClr val="20425A"/>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129"/>
          <p:cNvSpPr txBox="1"/>
          <p:nvPr>
            <p:ph idx="3" type="body"/>
          </p:nvPr>
        </p:nvSpPr>
        <p:spPr>
          <a:xfrm>
            <a:off x="6193370"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rgbClr val="20425A"/>
              </a:buClr>
              <a:buSzPts val="2400"/>
              <a:buNone/>
              <a:defRPr b="1" sz="2400"/>
            </a:lvl1pPr>
            <a:lvl2pPr indent="-228600" lvl="1" marL="914400" algn="l">
              <a:spcBef>
                <a:spcPts val="400"/>
              </a:spcBef>
              <a:spcAft>
                <a:spcPts val="0"/>
              </a:spcAft>
              <a:buClr>
                <a:srgbClr val="20425A"/>
              </a:buClr>
              <a:buSzPts val="2000"/>
              <a:buNone/>
              <a:defRPr b="1" sz="2000"/>
            </a:lvl2pPr>
            <a:lvl3pPr indent="-228600" lvl="2" marL="1371600" algn="l">
              <a:spcBef>
                <a:spcPts val="360"/>
              </a:spcBef>
              <a:spcAft>
                <a:spcPts val="0"/>
              </a:spcAft>
              <a:buClr>
                <a:srgbClr val="20425A"/>
              </a:buClr>
              <a:buSzPts val="1800"/>
              <a:buNone/>
              <a:defRPr b="1" sz="1800"/>
            </a:lvl3pPr>
            <a:lvl4pPr indent="-228600" lvl="3" marL="1828800" algn="l">
              <a:spcBef>
                <a:spcPts val="320"/>
              </a:spcBef>
              <a:spcAft>
                <a:spcPts val="0"/>
              </a:spcAft>
              <a:buClr>
                <a:srgbClr val="20425A"/>
              </a:buClr>
              <a:buSzPts val="1600"/>
              <a:buNone/>
              <a:defRPr b="1" sz="1600"/>
            </a:lvl4pPr>
            <a:lvl5pPr indent="-228600" lvl="4" marL="2286000" algn="l">
              <a:spcBef>
                <a:spcPts val="320"/>
              </a:spcBef>
              <a:spcAft>
                <a:spcPts val="0"/>
              </a:spcAft>
              <a:buClr>
                <a:srgbClr val="20425A"/>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129"/>
          <p:cNvSpPr txBox="1"/>
          <p:nvPr>
            <p:ph idx="4" type="body"/>
          </p:nvPr>
        </p:nvSpPr>
        <p:spPr>
          <a:xfrm>
            <a:off x="6193370"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rgbClr val="20425A"/>
              </a:buClr>
              <a:buSzPts val="2400"/>
              <a:buChar char="•"/>
              <a:defRPr sz="2400"/>
            </a:lvl1pPr>
            <a:lvl2pPr indent="-355600" lvl="1" marL="914400" algn="l">
              <a:spcBef>
                <a:spcPts val="400"/>
              </a:spcBef>
              <a:spcAft>
                <a:spcPts val="0"/>
              </a:spcAft>
              <a:buClr>
                <a:srgbClr val="20425A"/>
              </a:buClr>
              <a:buSzPts val="2000"/>
              <a:buChar char="–"/>
              <a:defRPr sz="2000"/>
            </a:lvl2pPr>
            <a:lvl3pPr indent="-342900" lvl="2" marL="1371600" algn="l">
              <a:spcBef>
                <a:spcPts val="360"/>
              </a:spcBef>
              <a:spcAft>
                <a:spcPts val="0"/>
              </a:spcAft>
              <a:buClr>
                <a:srgbClr val="20425A"/>
              </a:buClr>
              <a:buSzPts val="1800"/>
              <a:buChar char="•"/>
              <a:defRPr sz="1800"/>
            </a:lvl3pPr>
            <a:lvl4pPr indent="-330200" lvl="3" marL="1828800" algn="l">
              <a:spcBef>
                <a:spcPts val="320"/>
              </a:spcBef>
              <a:spcAft>
                <a:spcPts val="0"/>
              </a:spcAft>
              <a:buClr>
                <a:srgbClr val="20425A"/>
              </a:buClr>
              <a:buSzPts val="1600"/>
              <a:buChar char="–"/>
              <a:defRPr sz="1600"/>
            </a:lvl4pPr>
            <a:lvl5pPr indent="-330200" lvl="4" marL="2286000" algn="l">
              <a:spcBef>
                <a:spcPts val="320"/>
              </a:spcBef>
              <a:spcAft>
                <a:spcPts val="0"/>
              </a:spcAft>
              <a:buClr>
                <a:srgbClr val="20425A"/>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129"/>
          <p:cNvSpPr/>
          <p:nvPr/>
        </p:nvSpPr>
        <p:spPr>
          <a:xfrm>
            <a:off x="0" y="6400800"/>
            <a:ext cx="12192000" cy="76200"/>
          </a:xfrm>
          <a:prstGeom prst="rect">
            <a:avLst/>
          </a:prstGeom>
          <a:gradFill>
            <a:gsLst>
              <a:gs pos="0">
                <a:srgbClr val="20425A"/>
              </a:gs>
              <a:gs pos="44000">
                <a:srgbClr val="20425A"/>
              </a:gs>
              <a:gs pos="55000">
                <a:srgbClr val="EB6622"/>
              </a:gs>
              <a:gs pos="100000">
                <a:srgbClr val="FCCB1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 name="Google Shape;50;p129"/>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20425A"/>
                </a:solidFill>
                <a:latin typeface="Calibri"/>
                <a:ea typeface="Calibri"/>
                <a:cs typeface="Calibri"/>
                <a:sym typeface="Calibri"/>
              </a:defRPr>
            </a:lvl1pPr>
            <a:lvl2pPr indent="0" lvl="1" marL="0" marR="0" rtl="0" algn="r">
              <a:spcBef>
                <a:spcPts val="0"/>
              </a:spcBef>
              <a:buNone/>
              <a:defRPr sz="1200">
                <a:solidFill>
                  <a:srgbClr val="20425A"/>
                </a:solidFill>
                <a:latin typeface="Calibri"/>
                <a:ea typeface="Calibri"/>
                <a:cs typeface="Calibri"/>
                <a:sym typeface="Calibri"/>
              </a:defRPr>
            </a:lvl2pPr>
            <a:lvl3pPr indent="0" lvl="2" marL="0" marR="0" rtl="0" algn="r">
              <a:spcBef>
                <a:spcPts val="0"/>
              </a:spcBef>
              <a:buNone/>
              <a:defRPr sz="1200">
                <a:solidFill>
                  <a:srgbClr val="20425A"/>
                </a:solidFill>
                <a:latin typeface="Calibri"/>
                <a:ea typeface="Calibri"/>
                <a:cs typeface="Calibri"/>
                <a:sym typeface="Calibri"/>
              </a:defRPr>
            </a:lvl3pPr>
            <a:lvl4pPr indent="0" lvl="3" marL="0" marR="0" rtl="0" algn="r">
              <a:spcBef>
                <a:spcPts val="0"/>
              </a:spcBef>
              <a:buNone/>
              <a:defRPr sz="1200">
                <a:solidFill>
                  <a:srgbClr val="20425A"/>
                </a:solidFill>
                <a:latin typeface="Calibri"/>
                <a:ea typeface="Calibri"/>
                <a:cs typeface="Calibri"/>
                <a:sym typeface="Calibri"/>
              </a:defRPr>
            </a:lvl4pPr>
            <a:lvl5pPr indent="0" lvl="4" marL="0" marR="0" rtl="0" algn="r">
              <a:spcBef>
                <a:spcPts val="0"/>
              </a:spcBef>
              <a:buNone/>
              <a:defRPr sz="1200">
                <a:solidFill>
                  <a:srgbClr val="20425A"/>
                </a:solidFill>
                <a:latin typeface="Calibri"/>
                <a:ea typeface="Calibri"/>
                <a:cs typeface="Calibri"/>
                <a:sym typeface="Calibri"/>
              </a:defRPr>
            </a:lvl5pPr>
            <a:lvl6pPr indent="0" lvl="5" marL="0" marR="0" rtl="0" algn="r">
              <a:spcBef>
                <a:spcPts val="0"/>
              </a:spcBef>
              <a:buNone/>
              <a:defRPr sz="1200">
                <a:solidFill>
                  <a:srgbClr val="20425A"/>
                </a:solidFill>
                <a:latin typeface="Calibri"/>
                <a:ea typeface="Calibri"/>
                <a:cs typeface="Calibri"/>
                <a:sym typeface="Calibri"/>
              </a:defRPr>
            </a:lvl6pPr>
            <a:lvl7pPr indent="0" lvl="6" marL="0" marR="0" rtl="0" algn="r">
              <a:spcBef>
                <a:spcPts val="0"/>
              </a:spcBef>
              <a:buNone/>
              <a:defRPr sz="1200">
                <a:solidFill>
                  <a:srgbClr val="20425A"/>
                </a:solidFill>
                <a:latin typeface="Calibri"/>
                <a:ea typeface="Calibri"/>
                <a:cs typeface="Calibri"/>
                <a:sym typeface="Calibri"/>
              </a:defRPr>
            </a:lvl7pPr>
            <a:lvl8pPr indent="0" lvl="7" marL="0" marR="0" rtl="0" algn="r">
              <a:spcBef>
                <a:spcPts val="0"/>
              </a:spcBef>
              <a:buNone/>
              <a:defRPr sz="1200">
                <a:solidFill>
                  <a:srgbClr val="20425A"/>
                </a:solidFill>
                <a:latin typeface="Calibri"/>
                <a:ea typeface="Calibri"/>
                <a:cs typeface="Calibri"/>
                <a:sym typeface="Calibri"/>
              </a:defRPr>
            </a:lvl8pPr>
            <a:lvl9pPr indent="0" lvl="8" marL="0" marR="0" rtl="0" algn="r">
              <a:spcBef>
                <a:spcPts val="0"/>
              </a:spcBef>
              <a:buNone/>
              <a:defRPr sz="1200">
                <a:solidFill>
                  <a:srgbClr val="2042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pryan4\Downloads\want-impact-public-health-help-shape-journey-ahead\OHDSI logo only - colored.png" id="51" name="Google Shape;51;p129"/>
          <p:cNvPicPr preferRelativeResize="0"/>
          <p:nvPr/>
        </p:nvPicPr>
        <p:blipFill rotWithShape="1">
          <a:blip r:embed="rId2">
            <a:alphaModFix/>
          </a:blip>
          <a:srcRect b="0" l="0" r="0" t="0"/>
          <a:stretch/>
        </p:blipFill>
        <p:spPr>
          <a:xfrm>
            <a:off x="-41218" y="-38160"/>
            <a:ext cx="1292046" cy="125736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30"/>
          <p:cNvSpPr/>
          <p:nvPr/>
        </p:nvSpPr>
        <p:spPr>
          <a:xfrm>
            <a:off x="0" y="6400800"/>
            <a:ext cx="12192000" cy="76200"/>
          </a:xfrm>
          <a:prstGeom prst="rect">
            <a:avLst/>
          </a:prstGeom>
          <a:gradFill>
            <a:gsLst>
              <a:gs pos="0">
                <a:srgbClr val="20425A"/>
              </a:gs>
              <a:gs pos="44000">
                <a:srgbClr val="20425A"/>
              </a:gs>
              <a:gs pos="55000">
                <a:srgbClr val="EB6622"/>
              </a:gs>
              <a:gs pos="100000">
                <a:srgbClr val="FCCB1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 name="Google Shape;54;p13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20425A"/>
                </a:solidFill>
                <a:latin typeface="Calibri"/>
                <a:ea typeface="Calibri"/>
                <a:cs typeface="Calibri"/>
                <a:sym typeface="Calibri"/>
              </a:defRPr>
            </a:lvl1pPr>
            <a:lvl2pPr indent="0" lvl="1" marL="0" marR="0" rtl="0" algn="r">
              <a:spcBef>
                <a:spcPts val="0"/>
              </a:spcBef>
              <a:buNone/>
              <a:defRPr sz="1200">
                <a:solidFill>
                  <a:srgbClr val="20425A"/>
                </a:solidFill>
                <a:latin typeface="Calibri"/>
                <a:ea typeface="Calibri"/>
                <a:cs typeface="Calibri"/>
                <a:sym typeface="Calibri"/>
              </a:defRPr>
            </a:lvl2pPr>
            <a:lvl3pPr indent="0" lvl="2" marL="0" marR="0" rtl="0" algn="r">
              <a:spcBef>
                <a:spcPts val="0"/>
              </a:spcBef>
              <a:buNone/>
              <a:defRPr sz="1200">
                <a:solidFill>
                  <a:srgbClr val="20425A"/>
                </a:solidFill>
                <a:latin typeface="Calibri"/>
                <a:ea typeface="Calibri"/>
                <a:cs typeface="Calibri"/>
                <a:sym typeface="Calibri"/>
              </a:defRPr>
            </a:lvl3pPr>
            <a:lvl4pPr indent="0" lvl="3" marL="0" marR="0" rtl="0" algn="r">
              <a:spcBef>
                <a:spcPts val="0"/>
              </a:spcBef>
              <a:buNone/>
              <a:defRPr sz="1200">
                <a:solidFill>
                  <a:srgbClr val="20425A"/>
                </a:solidFill>
                <a:latin typeface="Calibri"/>
                <a:ea typeface="Calibri"/>
                <a:cs typeface="Calibri"/>
                <a:sym typeface="Calibri"/>
              </a:defRPr>
            </a:lvl4pPr>
            <a:lvl5pPr indent="0" lvl="4" marL="0" marR="0" rtl="0" algn="r">
              <a:spcBef>
                <a:spcPts val="0"/>
              </a:spcBef>
              <a:buNone/>
              <a:defRPr sz="1200">
                <a:solidFill>
                  <a:srgbClr val="20425A"/>
                </a:solidFill>
                <a:latin typeface="Calibri"/>
                <a:ea typeface="Calibri"/>
                <a:cs typeface="Calibri"/>
                <a:sym typeface="Calibri"/>
              </a:defRPr>
            </a:lvl5pPr>
            <a:lvl6pPr indent="0" lvl="5" marL="0" marR="0" rtl="0" algn="r">
              <a:spcBef>
                <a:spcPts val="0"/>
              </a:spcBef>
              <a:buNone/>
              <a:defRPr sz="1200">
                <a:solidFill>
                  <a:srgbClr val="20425A"/>
                </a:solidFill>
                <a:latin typeface="Calibri"/>
                <a:ea typeface="Calibri"/>
                <a:cs typeface="Calibri"/>
                <a:sym typeface="Calibri"/>
              </a:defRPr>
            </a:lvl6pPr>
            <a:lvl7pPr indent="0" lvl="6" marL="0" marR="0" rtl="0" algn="r">
              <a:spcBef>
                <a:spcPts val="0"/>
              </a:spcBef>
              <a:buNone/>
              <a:defRPr sz="1200">
                <a:solidFill>
                  <a:srgbClr val="20425A"/>
                </a:solidFill>
                <a:latin typeface="Calibri"/>
                <a:ea typeface="Calibri"/>
                <a:cs typeface="Calibri"/>
                <a:sym typeface="Calibri"/>
              </a:defRPr>
            </a:lvl7pPr>
            <a:lvl8pPr indent="0" lvl="7" marL="0" marR="0" rtl="0" algn="r">
              <a:spcBef>
                <a:spcPts val="0"/>
              </a:spcBef>
              <a:buNone/>
              <a:defRPr sz="1200">
                <a:solidFill>
                  <a:srgbClr val="20425A"/>
                </a:solidFill>
                <a:latin typeface="Calibri"/>
                <a:ea typeface="Calibri"/>
                <a:cs typeface="Calibri"/>
                <a:sym typeface="Calibri"/>
              </a:defRPr>
            </a:lvl8pPr>
            <a:lvl9pPr indent="0" lvl="8" marL="0" marR="0" rtl="0" algn="r">
              <a:spcBef>
                <a:spcPts val="0"/>
              </a:spcBef>
              <a:buNone/>
              <a:defRPr sz="1200">
                <a:solidFill>
                  <a:srgbClr val="20425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C:\Users\pryan4\Downloads\want-impact-public-health-help-shape-journey-ahead\OHDSI logo only - colored.png" id="55" name="Google Shape;55;p130"/>
          <p:cNvPicPr preferRelativeResize="0"/>
          <p:nvPr/>
        </p:nvPicPr>
        <p:blipFill rotWithShape="1">
          <a:blip r:embed="rId2">
            <a:alphaModFix/>
          </a:blip>
          <a:srcRect b="0" l="0" r="0" t="0"/>
          <a:stretch/>
        </p:blipFill>
        <p:spPr>
          <a:xfrm>
            <a:off x="-41218" y="-38160"/>
            <a:ext cx="1292046" cy="125736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2"/>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20425A"/>
              </a:buClr>
              <a:buSzPts val="4000"/>
              <a:buFont typeface="Calibri"/>
              <a:buNone/>
              <a:defRPr b="0" i="0" sz="4000" u="none" cap="none" strike="noStrike">
                <a:solidFill>
                  <a:srgbClr val="20425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2"/>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20425A"/>
              </a:buClr>
              <a:buSzPts val="3200"/>
              <a:buFont typeface="Arial"/>
              <a:buChar char="•"/>
              <a:defRPr b="0" i="0" sz="3200" u="none" cap="none" strike="noStrike">
                <a:solidFill>
                  <a:srgbClr val="20425A"/>
                </a:solidFill>
                <a:latin typeface="Calibri"/>
                <a:ea typeface="Calibri"/>
                <a:cs typeface="Calibri"/>
                <a:sym typeface="Calibri"/>
              </a:defRPr>
            </a:lvl1pPr>
            <a:lvl2pPr indent="-406400" lvl="1" marL="914400" marR="0" rtl="0" algn="l">
              <a:spcBef>
                <a:spcPts val="560"/>
              </a:spcBef>
              <a:spcAft>
                <a:spcPts val="0"/>
              </a:spcAft>
              <a:buClr>
                <a:srgbClr val="20425A"/>
              </a:buClr>
              <a:buSzPts val="2800"/>
              <a:buFont typeface="Arial"/>
              <a:buChar char="–"/>
              <a:defRPr b="0" i="0" sz="2800" u="none" cap="none" strike="noStrike">
                <a:solidFill>
                  <a:srgbClr val="20425A"/>
                </a:solidFill>
                <a:latin typeface="Calibri"/>
                <a:ea typeface="Calibri"/>
                <a:cs typeface="Calibri"/>
                <a:sym typeface="Calibri"/>
              </a:defRPr>
            </a:lvl2pPr>
            <a:lvl3pPr indent="-381000" lvl="2" marL="1371600" marR="0" rtl="0" algn="l">
              <a:spcBef>
                <a:spcPts val="480"/>
              </a:spcBef>
              <a:spcAft>
                <a:spcPts val="0"/>
              </a:spcAft>
              <a:buClr>
                <a:srgbClr val="20425A"/>
              </a:buClr>
              <a:buSzPts val="2400"/>
              <a:buFont typeface="Arial"/>
              <a:buChar char="•"/>
              <a:defRPr b="0" i="0" sz="2400" u="none" cap="none" strike="noStrike">
                <a:solidFill>
                  <a:srgbClr val="20425A"/>
                </a:solidFill>
                <a:latin typeface="Calibri"/>
                <a:ea typeface="Calibri"/>
                <a:cs typeface="Calibri"/>
                <a:sym typeface="Calibri"/>
              </a:defRPr>
            </a:lvl3pPr>
            <a:lvl4pPr indent="-355600" lvl="3" marL="1828800" marR="0" rtl="0" algn="l">
              <a:spcBef>
                <a:spcPts val="400"/>
              </a:spcBef>
              <a:spcAft>
                <a:spcPts val="0"/>
              </a:spcAft>
              <a:buClr>
                <a:srgbClr val="20425A"/>
              </a:buClr>
              <a:buSzPts val="2000"/>
              <a:buFont typeface="Arial"/>
              <a:buChar char="–"/>
              <a:defRPr b="0" i="0" sz="2000" u="none" cap="none" strike="noStrike">
                <a:solidFill>
                  <a:srgbClr val="20425A"/>
                </a:solidFill>
                <a:latin typeface="Calibri"/>
                <a:ea typeface="Calibri"/>
                <a:cs typeface="Calibri"/>
                <a:sym typeface="Calibri"/>
              </a:defRPr>
            </a:lvl4pPr>
            <a:lvl5pPr indent="-355600" lvl="4" marL="2286000" marR="0" rtl="0" algn="l">
              <a:spcBef>
                <a:spcPts val="400"/>
              </a:spcBef>
              <a:spcAft>
                <a:spcPts val="0"/>
              </a:spcAft>
              <a:buClr>
                <a:srgbClr val="20425A"/>
              </a:buClr>
              <a:buSzPts val="2000"/>
              <a:buFont typeface="Arial"/>
              <a:buChar char="»"/>
              <a:defRPr b="0" i="0" sz="2000" u="none" cap="none" strike="noStrike">
                <a:solidFill>
                  <a:srgbClr val="20425A"/>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hyperlink" Target="https://ohdsi.github.io/CommonDataModel/index.html" TargetMode="External"/><Relationship Id="rId4" Type="http://schemas.openxmlformats.org/officeDocument/2006/relationships/hyperlink" Target="https://ohdsi.github.io/TheBookOfOhdsi/CommonDataModel.html" TargetMode="External"/><Relationship Id="rId5" Type="http://schemas.openxmlformats.org/officeDocument/2006/relationships/hyperlink" Target="https://ohdsi.github.io/CommonDataModel/index.html" TargetMode="External"/><Relationship Id="rId6" Type="http://schemas.openxmlformats.org/officeDocument/2006/relationships/hyperlink" Target="mailto:mblacke@its.jnj.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hyperlink" Target="https://ohdsi.github.io/Themis/index.html" TargetMode="External"/><Relationship Id="rId4" Type="http://schemas.openxmlformats.org/officeDocument/2006/relationships/hyperlink" Target="https://github.com/OHDSI/Themi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athena.ohdsi.org/search-terms/terms" TargetMode="External"/><Relationship Id="rId4" Type="http://schemas.openxmlformats.org/officeDocument/2006/relationships/hyperlink" Target="https://github.com/OHDSI/Vocabulary-v5.0" TargetMode="External"/><Relationship Id="rId5" Type="http://schemas.openxmlformats.org/officeDocument/2006/relationships/hyperlink" Target="https://teams.microsoft.com/l/team/19%3A2b9db953a46441c8be51cb3d3785cac3%40thread.tacv2/conversations?groupId=198ebad0-c5b9-4991-8a5e-55e6d71cb817&amp;tenantId=a30f0094-9120-4aab-ba4c-e5509023b2d5"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3.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github.com/synthetichealth/synthea" TargetMode="External"/><Relationship Id="rId4" Type="http://schemas.openxmlformats.org/officeDocument/2006/relationships/hyperlink" Target="https://github.com/synthetichealth/synthe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0" Type="http://schemas.openxmlformats.org/officeDocument/2006/relationships/hyperlink" Target="https://github.com/synthetichealth/synthea/wiki/CSV-File-Data-Dictionary#supplies" TargetMode="External"/><Relationship Id="rId11" Type="http://schemas.openxmlformats.org/officeDocument/2006/relationships/hyperlink" Target="https://github.com/synthetichealth/synthea/wiki/CSV-File-Data-Dictionary#immunizations" TargetMode="External"/><Relationship Id="rId10" Type="http://schemas.openxmlformats.org/officeDocument/2006/relationships/hyperlink" Target="https://github.com/synthetichealth/synthea/wiki/CSV-File-Data-Dictionary#imaging-studies" TargetMode="External"/><Relationship Id="rId13" Type="http://schemas.openxmlformats.org/officeDocument/2006/relationships/hyperlink" Target="https://github.com/synthetichealth/synthea/wiki/CSV-File-Data-Dictionary#observations" TargetMode="External"/><Relationship Id="rId12" Type="http://schemas.openxmlformats.org/officeDocument/2006/relationships/hyperlink" Target="https://github.com/synthetichealth/synthea/wiki/CSV-File-Data-Dictionary#medications" TargetMode="External"/><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github.com/synthetichealth/synthea/wiki/CSV-File-Data-Dictionary#allergies" TargetMode="External"/><Relationship Id="rId4" Type="http://schemas.openxmlformats.org/officeDocument/2006/relationships/hyperlink" Target="https://github.com/synthetichealth/synthea/wiki/CSV-File-Data-Dictionary#careplans" TargetMode="External"/><Relationship Id="rId9" Type="http://schemas.openxmlformats.org/officeDocument/2006/relationships/hyperlink" Target="https://github.com/synthetichealth/synthea/wiki/CSV-File-Data-Dictionary#encounters" TargetMode="External"/><Relationship Id="rId15" Type="http://schemas.openxmlformats.org/officeDocument/2006/relationships/hyperlink" Target="https://github.com/synthetichealth/synthea/wiki/CSV-File-Data-Dictionary#patients" TargetMode="External"/><Relationship Id="rId14" Type="http://schemas.openxmlformats.org/officeDocument/2006/relationships/hyperlink" Target="https://github.com/synthetichealth/synthea/wiki/CSV-File-Data-Dictionary#organizations" TargetMode="External"/><Relationship Id="rId17" Type="http://schemas.openxmlformats.org/officeDocument/2006/relationships/hyperlink" Target="https://github.com/synthetichealth/synthea/wiki/CSV-File-Data-Dictionary#payers" TargetMode="External"/><Relationship Id="rId16" Type="http://schemas.openxmlformats.org/officeDocument/2006/relationships/hyperlink" Target="https://github.com/synthetichealth/synthea/wiki/CSV-File-Data-Dictionary#payer-transitions" TargetMode="External"/><Relationship Id="rId5" Type="http://schemas.openxmlformats.org/officeDocument/2006/relationships/hyperlink" Target="https://github.com/synthetichealth/synthea/wiki/CSV-File-Data-Dictionary#claims" TargetMode="External"/><Relationship Id="rId19" Type="http://schemas.openxmlformats.org/officeDocument/2006/relationships/hyperlink" Target="https://github.com/synthetichealth/synthea/wiki/CSV-File-Data-Dictionary#procedures" TargetMode="External"/><Relationship Id="rId6" Type="http://schemas.openxmlformats.org/officeDocument/2006/relationships/hyperlink" Target="https://github.com/synthetichealth/synthea/wiki/CSV-File-Data-Dictionary#claims-transactions" TargetMode="External"/><Relationship Id="rId18" Type="http://schemas.openxmlformats.org/officeDocument/2006/relationships/hyperlink" Target="https://github.com/synthetichealth/synthea/wiki/CSV-File-Data-Dictionary#procedures" TargetMode="External"/><Relationship Id="rId7" Type="http://schemas.openxmlformats.org/officeDocument/2006/relationships/hyperlink" Target="https://github.com/synthetichealth/synthea/wiki/CSV-File-Data-Dictionary#conditions" TargetMode="External"/><Relationship Id="rId8" Type="http://schemas.openxmlformats.org/officeDocument/2006/relationships/hyperlink" Target="https://github.com/synthetichealth/synthea/wiki/CSV-File-Data-Dictionary#device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7.png"/><Relationship Id="rId4" Type="http://schemas.openxmlformats.org/officeDocument/2006/relationships/image" Target="../media/image28.png"/><Relationship Id="rId5" Type="http://schemas.openxmlformats.org/officeDocument/2006/relationships/image" Target="../media/image14.jpg"/><Relationship Id="rId6"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9.png"/><Relationship Id="rId4" Type="http://schemas.openxmlformats.org/officeDocument/2006/relationships/image" Target="../media/image24.png"/><Relationship Id="rId9" Type="http://schemas.openxmlformats.org/officeDocument/2006/relationships/image" Target="../media/image32.png"/><Relationship Id="rId5" Type="http://schemas.openxmlformats.org/officeDocument/2006/relationships/image" Target="../media/image20.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27.png"/></Relationships>
</file>

<file path=ppt/slides/_rels/slide40.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9.png"/><Relationship Id="rId4" Type="http://schemas.openxmlformats.org/officeDocument/2006/relationships/image" Target="../media/image24.png"/><Relationship Id="rId9" Type="http://schemas.openxmlformats.org/officeDocument/2006/relationships/image" Target="../media/image32.png"/><Relationship Id="rId5" Type="http://schemas.openxmlformats.org/officeDocument/2006/relationships/image" Target="../media/image20.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44.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4.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4.png"/><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2.png"/><Relationship Id="rId4"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42.png"/><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42.png"/><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hyperlink" Target="https://github.com/OHDSI/Tutorial-ETL" TargetMode="Externa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33.png"/><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35.png"/><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37.png"/><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4.png"/><Relationship Id="rId4" Type="http://schemas.openxmlformats.org/officeDocument/2006/relationships/image" Target="../media/image4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0.png"/><Relationship Id="rId4" Type="http://schemas.openxmlformats.org/officeDocument/2006/relationships/image" Target="../media/image47.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0.png"/><Relationship Id="rId4" Type="http://schemas.openxmlformats.org/officeDocument/2006/relationships/hyperlink" Target="https://github.com/OHDSI/Tutorial-ETL" TargetMode="External"/><Relationship Id="rId5" Type="http://schemas.openxmlformats.org/officeDocument/2006/relationships/image" Target="../media/image5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0.png"/><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20.png"/><Relationship Id="rId4" Type="http://schemas.openxmlformats.org/officeDocument/2006/relationships/image" Target="../media/image44.gif"/><Relationship Id="rId5" Type="http://schemas.openxmlformats.org/officeDocument/2006/relationships/image" Target="../media/image46.png"/></Relationships>
</file>

<file path=ppt/slides/_rels/slide58.xml.rels><?xml version="1.0" encoding="UTF-8" standalone="yes"?><Relationships xmlns="http://schemas.openxmlformats.org/package/2006/relationships"><Relationship Id="rId11" Type="http://schemas.openxmlformats.org/officeDocument/2006/relationships/image" Target="../media/image50.png"/><Relationship Id="rId10" Type="http://schemas.openxmlformats.org/officeDocument/2006/relationships/image" Target="../media/image29.png"/><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hyperlink" Target="https://github.com/OHDSI/CommonDataModel/wiki" TargetMode="External"/><Relationship Id="rId4" Type="http://schemas.openxmlformats.org/officeDocument/2006/relationships/hyperlink" Target="https://ohdsi.github.io/CommonDataModel" TargetMode="External"/><Relationship Id="rId9" Type="http://schemas.openxmlformats.org/officeDocument/2006/relationships/hyperlink" Target="https://ohdsi.github.io/Themis/" TargetMode="External"/><Relationship Id="rId5" Type="http://schemas.openxmlformats.org/officeDocument/2006/relationships/hyperlink" Target="http://forums.ohdsi.org/" TargetMode="External"/><Relationship Id="rId6" Type="http://schemas.openxmlformats.org/officeDocument/2006/relationships/hyperlink" Target="http://forums.ohdsi.org/c/cdm-builders" TargetMode="External"/><Relationship Id="rId7" Type="http://schemas.openxmlformats.org/officeDocument/2006/relationships/hyperlink" Target="http://www.ohdsi.org/web/wiki/doku.php?id=resources:2018_data_network" TargetMode="External"/><Relationship Id="rId8" Type="http://schemas.openxmlformats.org/officeDocument/2006/relationships/hyperlink" Target="https://ohdsi.github.io/TheBookOfOhdsi/ExtractTransformLoad.htm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hyperlink" Target="https://ohdsi.github.io/ETL-Synthea/" TargetMode="External"/><Relationship Id="rId4" Type="http://schemas.openxmlformats.org/officeDocument/2006/relationships/image" Target="../media/image51.png"/><Relationship Id="rId5" Type="http://schemas.openxmlformats.org/officeDocument/2006/relationships/image" Target="../media/image2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54.png"/><Relationship Id="rId4" Type="http://schemas.openxmlformats.org/officeDocument/2006/relationships/hyperlink" Target="https://ohdsi.github.io/ETL-Synthea/articles/person.htm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53.png"/><Relationship Id="rId4" Type="http://schemas.openxmlformats.org/officeDocument/2006/relationships/hyperlink" Target="https://ohdsi.github.io/ETL-Synthea/articles/observation_period.htm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hyperlink" Target="https://ohdsi.github.io/CommonDataModel/cdm54.html#visit_occurrence" TargetMode="External"/><Relationship Id="rId4" Type="http://schemas.openxmlformats.org/officeDocument/2006/relationships/image" Target="../media/image5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hyperlink" Target="https://github.com/OHDSI/Tutorial-ETL" TargetMode="External"/><Relationship Id="rId4" Type="http://schemas.openxmlformats.org/officeDocument/2006/relationships/image" Target="../media/image2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2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image" Target="../media/image2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2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hyperlink" Target="https://ohdsi.github.io/ETL-Synthea/articles/condition_occurrence.html" TargetMode="External"/><Relationship Id="rId4" Type="http://schemas.openxmlformats.org/officeDocument/2006/relationships/image" Target="../media/image57.png"/></Relationships>
</file>

<file path=ppt/slides/_rels/slide70.xml.rels><?xml version="1.0" encoding="UTF-8" standalone="yes"?><Relationships xmlns="http://schemas.openxmlformats.org/package/2006/relationships"><Relationship Id="rId20" Type="http://schemas.openxmlformats.org/officeDocument/2006/relationships/hyperlink" Target="https://github.com/synthetichealth/synthea/wiki/CSV-File-Data-Dictionary#supplies" TargetMode="External"/><Relationship Id="rId11" Type="http://schemas.openxmlformats.org/officeDocument/2006/relationships/hyperlink" Target="https://github.com/synthetichealth/synthea/wiki/CSV-File-Data-Dictionary#immunizations" TargetMode="External"/><Relationship Id="rId10" Type="http://schemas.openxmlformats.org/officeDocument/2006/relationships/hyperlink" Target="https://github.com/synthetichealth/synthea/wiki/CSV-File-Data-Dictionary#imaging-studies" TargetMode="External"/><Relationship Id="rId13" Type="http://schemas.openxmlformats.org/officeDocument/2006/relationships/hyperlink" Target="https://github.com/synthetichealth/synthea/wiki/CSV-File-Data-Dictionary#observations" TargetMode="External"/><Relationship Id="rId12" Type="http://schemas.openxmlformats.org/officeDocument/2006/relationships/hyperlink" Target="https://github.com/synthetichealth/synthea/wiki/CSV-File-Data-Dictionary#medications" TargetMode="External"/><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hyperlink" Target="https://github.com/synthetichealth/synthea/wiki/CSV-File-Data-Dictionary#allergies" TargetMode="External"/><Relationship Id="rId4" Type="http://schemas.openxmlformats.org/officeDocument/2006/relationships/hyperlink" Target="https://github.com/synthetichealth/synthea/wiki/CSV-File-Data-Dictionary#careplans" TargetMode="External"/><Relationship Id="rId9" Type="http://schemas.openxmlformats.org/officeDocument/2006/relationships/hyperlink" Target="https://github.com/synthetichealth/synthea/wiki/CSV-File-Data-Dictionary#encounters" TargetMode="External"/><Relationship Id="rId15" Type="http://schemas.openxmlformats.org/officeDocument/2006/relationships/hyperlink" Target="https://github.com/synthetichealth/synthea/wiki/CSV-File-Data-Dictionary#patients" TargetMode="External"/><Relationship Id="rId14" Type="http://schemas.openxmlformats.org/officeDocument/2006/relationships/hyperlink" Target="https://github.com/synthetichealth/synthea/wiki/CSV-File-Data-Dictionary#organizations" TargetMode="External"/><Relationship Id="rId17" Type="http://schemas.openxmlformats.org/officeDocument/2006/relationships/hyperlink" Target="https://github.com/synthetichealth/synthea/wiki/CSV-File-Data-Dictionary#payers" TargetMode="External"/><Relationship Id="rId16" Type="http://schemas.openxmlformats.org/officeDocument/2006/relationships/hyperlink" Target="https://github.com/synthetichealth/synthea/wiki/CSV-File-Data-Dictionary#payer-transitions" TargetMode="External"/><Relationship Id="rId5" Type="http://schemas.openxmlformats.org/officeDocument/2006/relationships/hyperlink" Target="https://github.com/synthetichealth/synthea/wiki/CSV-File-Data-Dictionary#claims" TargetMode="External"/><Relationship Id="rId19" Type="http://schemas.openxmlformats.org/officeDocument/2006/relationships/hyperlink" Target="https://github.com/synthetichealth/synthea/wiki/CSV-File-Data-Dictionary#procedures" TargetMode="External"/><Relationship Id="rId6" Type="http://schemas.openxmlformats.org/officeDocument/2006/relationships/hyperlink" Target="https://github.com/synthetichealth/synthea/wiki/CSV-File-Data-Dictionary#claims-transactions" TargetMode="External"/><Relationship Id="rId18" Type="http://schemas.openxmlformats.org/officeDocument/2006/relationships/hyperlink" Target="https://github.com/synthetichealth/synthea/wiki/CSV-File-Data-Dictionary#procedures" TargetMode="External"/><Relationship Id="rId7" Type="http://schemas.openxmlformats.org/officeDocument/2006/relationships/hyperlink" Target="https://github.com/synthetichealth/synthea/wiki/CSV-File-Data-Dictionary#conditions" TargetMode="External"/><Relationship Id="rId8" Type="http://schemas.openxmlformats.org/officeDocument/2006/relationships/hyperlink" Target="https://github.com/synthetichealth/synthea/wiki/CSV-File-Data-Dictionary#devices"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image" Target="../media/image65.png"/><Relationship Id="rId4" Type="http://schemas.openxmlformats.org/officeDocument/2006/relationships/hyperlink" Target="https://ohdsi.github.io/ETL-Synthea/articles/drug_exposure.html"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1" Type="http://schemas.openxmlformats.org/officeDocument/2006/relationships/image" Target="../media/image58.png"/><Relationship Id="rId10" Type="http://schemas.openxmlformats.org/officeDocument/2006/relationships/image" Target="../media/image68.png"/><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63.png"/><Relationship Id="rId5" Type="http://schemas.openxmlformats.org/officeDocument/2006/relationships/image" Target="../media/image66.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73.png"/></Relationships>
</file>

<file path=ppt/slides/_rels/slide74.xml.rels><?xml version="1.0" encoding="UTF-8" standalone="yes"?><Relationships xmlns="http://schemas.openxmlformats.org/package/2006/relationships"><Relationship Id="rId10" Type="http://schemas.openxmlformats.org/officeDocument/2006/relationships/image" Target="../media/image69.png"/><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image" Target="../media/image76.png"/><Relationship Id="rId4" Type="http://schemas.openxmlformats.org/officeDocument/2006/relationships/image" Target="../media/image60.jpg"/><Relationship Id="rId9" Type="http://schemas.openxmlformats.org/officeDocument/2006/relationships/image" Target="../media/image67.png"/><Relationship Id="rId5" Type="http://schemas.openxmlformats.org/officeDocument/2006/relationships/image" Target="../media/image59.png"/><Relationship Id="rId6" Type="http://schemas.openxmlformats.org/officeDocument/2006/relationships/image" Target="../media/image74.png"/><Relationship Id="rId7" Type="http://schemas.openxmlformats.org/officeDocument/2006/relationships/image" Target="../media/image72.png"/><Relationship Id="rId8" Type="http://schemas.openxmlformats.org/officeDocument/2006/relationships/image" Target="../media/image7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 Id="rId3" Type="http://schemas.openxmlformats.org/officeDocument/2006/relationships/image" Target="../media/image76.png"/><Relationship Id="rId4" Type="http://schemas.openxmlformats.org/officeDocument/2006/relationships/image" Target="../media/image81.png"/><Relationship Id="rId5" Type="http://schemas.openxmlformats.org/officeDocument/2006/relationships/hyperlink" Target="https://github.com/OHDSI/ETL-Synthea/releases/tag/v2.1.0"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image" Target="../media/image78.png"/><Relationship Id="rId4" Type="http://schemas.openxmlformats.org/officeDocument/2006/relationships/image" Target="../media/image82.png"/><Relationship Id="rId5" Type="http://schemas.openxmlformats.org/officeDocument/2006/relationships/image" Target="../media/image80.png"/><Relationship Id="rId6" Type="http://schemas.openxmlformats.org/officeDocument/2006/relationships/image" Target="../media/image8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 Id="rId3" Type="http://schemas.openxmlformats.org/officeDocument/2006/relationships/image" Target="../media/image44.gif"/><Relationship Id="rId4" Type="http://schemas.openxmlformats.org/officeDocument/2006/relationships/hyperlink" Target="https://github.com/OHDSI/ETL-Synthea/blob/main/README.md"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70.png"/><Relationship Id="rId4" Type="http://schemas.openxmlformats.org/officeDocument/2006/relationships/image" Target="../media/image76.png"/><Relationship Id="rId5" Type="http://schemas.openxmlformats.org/officeDocument/2006/relationships/hyperlink" Target="https://ohdsi.github.io/ETL-Synthea/articles/person.html" TargetMode="External"/><Relationship Id="rId6" Type="http://schemas.openxmlformats.org/officeDocument/2006/relationships/image" Target="../media/image7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70.png"/><Relationship Id="rId4" Type="http://schemas.openxmlformats.org/officeDocument/2006/relationships/image" Target="../media/image76.png"/><Relationship Id="rId5" Type="http://schemas.openxmlformats.org/officeDocument/2006/relationships/image" Target="../media/image86.png"/><Relationship Id="rId6" Type="http://schemas.openxmlformats.org/officeDocument/2006/relationships/image" Target="../media/image83.png"/><Relationship Id="rId7" Type="http://schemas.openxmlformats.org/officeDocument/2006/relationships/image" Target="../media/image85.png"/><Relationship Id="rId8" Type="http://schemas.openxmlformats.org/officeDocument/2006/relationships/image" Target="../media/image8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70.png"/><Relationship Id="rId4" Type="http://schemas.openxmlformats.org/officeDocument/2006/relationships/image" Target="../media/image76.png"/><Relationship Id="rId5" Type="http://schemas.openxmlformats.org/officeDocument/2006/relationships/hyperlink" Target="https://github.com/OHDSI/Tutorial-ETL"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 Id="rId3" Type="http://schemas.openxmlformats.org/officeDocument/2006/relationships/hyperlink" Target="https://github.com/OHDSI/ETL-Synthea" TargetMode="External"/><Relationship Id="rId4" Type="http://schemas.openxmlformats.org/officeDocument/2006/relationships/hyperlink" Target="https://github.com/OHDSI/ETL-HealthVerityBuilder" TargetMode="External"/><Relationship Id="rId5" Type="http://schemas.openxmlformats.org/officeDocument/2006/relationships/hyperlink" Target="https://github.com/OHDSI/ETL-CDMBuilder" TargetMode="External"/><Relationship Id="rId6" Type="http://schemas.openxmlformats.org/officeDocument/2006/relationships/hyperlink" Target="https://github.com/OHDSI/ETL-lambdabuilder" TargetMode="External"/><Relationship Id="rId7" Type="http://schemas.openxmlformats.org/officeDocument/2006/relationships/image" Target="../media/image7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 Id="rId3" Type="http://schemas.openxmlformats.org/officeDocument/2006/relationships/hyperlink" Target="https://github.com/OHDSI/ETL-CDMBuilder" TargetMode="External"/><Relationship Id="rId4" Type="http://schemas.openxmlformats.org/officeDocument/2006/relationships/image" Target="../media/image29.png"/><Relationship Id="rId5" Type="http://schemas.openxmlformats.org/officeDocument/2006/relationships/image" Target="../media/image7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 Id="rId3" Type="http://schemas.openxmlformats.org/officeDocument/2006/relationships/image" Target="../media/image8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 Id="rId3" Type="http://schemas.openxmlformats.org/officeDocument/2006/relationships/image" Target="../media/image88.png"/><Relationship Id="rId4" Type="http://schemas.openxmlformats.org/officeDocument/2006/relationships/image" Target="../media/image2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 Id="rId3" Type="http://schemas.openxmlformats.org/officeDocument/2006/relationships/image" Target="../media/image88.png"/><Relationship Id="rId4" Type="http://schemas.openxmlformats.org/officeDocument/2006/relationships/image" Target="../media/image18.png"/><Relationship Id="rId5" Type="http://schemas.openxmlformats.org/officeDocument/2006/relationships/image" Target="../media/image12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 Id="rId3" Type="http://schemas.openxmlformats.org/officeDocument/2006/relationships/image" Target="../media/image88.png"/><Relationship Id="rId4" Type="http://schemas.openxmlformats.org/officeDocument/2006/relationships/image" Target="../media/image18.png"/><Relationship Id="rId5" Type="http://schemas.openxmlformats.org/officeDocument/2006/relationships/image" Target="../media/image9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 Id="rId3" Type="http://schemas.openxmlformats.org/officeDocument/2006/relationships/image" Target="../media/image88.png"/><Relationship Id="rId4" Type="http://schemas.openxmlformats.org/officeDocument/2006/relationships/image" Target="../media/image1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 Id="rId3" Type="http://schemas.openxmlformats.org/officeDocument/2006/relationships/image" Target="../media/image89.png"/><Relationship Id="rId4" Type="http://schemas.openxmlformats.org/officeDocument/2006/relationships/image" Target="../media/image88.png"/><Relationship Id="rId5" Type="http://schemas.openxmlformats.org/officeDocument/2006/relationships/image" Target="../media/image1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 Id="rId3" Type="http://schemas.openxmlformats.org/officeDocument/2006/relationships/image" Target="../media/image93.png"/><Relationship Id="rId4" Type="http://schemas.openxmlformats.org/officeDocument/2006/relationships/image" Target="../media/image95.png"/><Relationship Id="rId5" Type="http://schemas.openxmlformats.org/officeDocument/2006/relationships/image" Target="../media/image88.png"/><Relationship Id="rId6" Type="http://schemas.openxmlformats.org/officeDocument/2006/relationships/image" Target="../media/image1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5.png"/><Relationship Id="rId6" Type="http://schemas.openxmlformats.org/officeDocument/2006/relationships/image" Target="../media/image88.png"/><Relationship Id="rId7" Type="http://schemas.openxmlformats.org/officeDocument/2006/relationships/image" Target="../media/image1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 Id="rId3" Type="http://schemas.openxmlformats.org/officeDocument/2006/relationships/image" Target="../media/image88.png"/><Relationship Id="rId4" Type="http://schemas.openxmlformats.org/officeDocument/2006/relationships/image" Target="../media/image97.png"/><Relationship Id="rId5" Type="http://schemas.openxmlformats.org/officeDocument/2006/relationships/image" Target="../media/image9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 Id="rId3" Type="http://schemas.openxmlformats.org/officeDocument/2006/relationships/image" Target="../media/image105.png"/><Relationship Id="rId4" Type="http://schemas.openxmlformats.org/officeDocument/2006/relationships/image" Target="../media/image101.png"/><Relationship Id="rId5" Type="http://schemas.openxmlformats.org/officeDocument/2006/relationships/image" Target="../media/image32.png"/><Relationship Id="rId6" Type="http://schemas.openxmlformats.org/officeDocument/2006/relationships/image" Target="../media/image22.png"/><Relationship Id="rId7" Type="http://schemas.openxmlformats.org/officeDocument/2006/relationships/image" Target="../media/image2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 Id="rId3" Type="http://schemas.openxmlformats.org/officeDocument/2006/relationships/image" Target="../media/image103.png"/><Relationship Id="rId4" Type="http://schemas.openxmlformats.org/officeDocument/2006/relationships/image" Target="../media/image88.png"/><Relationship Id="rId5" Type="http://schemas.openxmlformats.org/officeDocument/2006/relationships/image" Target="../media/image1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 Id="rId3" Type="http://schemas.openxmlformats.org/officeDocument/2006/relationships/image" Target="../media/image111.png"/><Relationship Id="rId4" Type="http://schemas.openxmlformats.org/officeDocument/2006/relationships/image" Target="../media/image88.png"/><Relationship Id="rId5" Type="http://schemas.openxmlformats.org/officeDocument/2006/relationships/image" Target="../media/image1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8.xml"/><Relationship Id="rId3" Type="http://schemas.openxmlformats.org/officeDocument/2006/relationships/image" Target="../media/image88.png"/><Relationship Id="rId4" Type="http://schemas.openxmlformats.org/officeDocument/2006/relationships/hyperlink" Target="https://github.com/OHDSI/Achilles" TargetMode="External"/><Relationship Id="rId5" Type="http://schemas.openxmlformats.org/officeDocument/2006/relationships/hyperlink" Target="https://github.com/OHDSI/Tutorial-ETL/blob/master/materials/Achilles/achillesRun.R" TargetMode="External"/><Relationship Id="rId6" Type="http://schemas.openxmlformats.org/officeDocument/2006/relationships/image" Target="../media/image9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 Id="rId3" Type="http://schemas.openxmlformats.org/officeDocument/2006/relationships/image" Target="../media/image88.png"/><Relationship Id="rId4" Type="http://schemas.openxmlformats.org/officeDocument/2006/relationships/image" Target="../media/image102.png"/><Relationship Id="rId5" Type="http://schemas.openxmlformats.org/officeDocument/2006/relationships/image" Target="../media/image9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0.xml"/><Relationship Id="rId3" Type="http://schemas.openxmlformats.org/officeDocument/2006/relationships/image" Target="../media/image88.png"/><Relationship Id="rId4" Type="http://schemas.openxmlformats.org/officeDocument/2006/relationships/image" Target="../media/image97.png"/><Relationship Id="rId5" Type="http://schemas.openxmlformats.org/officeDocument/2006/relationships/image" Target="../media/image9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1.xml"/><Relationship Id="rId3" Type="http://schemas.openxmlformats.org/officeDocument/2006/relationships/image" Target="../media/image88.png"/><Relationship Id="rId4" Type="http://schemas.openxmlformats.org/officeDocument/2006/relationships/image" Target="../media/image97.png"/><Relationship Id="rId5" Type="http://schemas.openxmlformats.org/officeDocument/2006/relationships/image" Target="../media/image10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Relationship Id="rId3" Type="http://schemas.openxmlformats.org/officeDocument/2006/relationships/image" Target="../media/image108.png"/><Relationship Id="rId4" Type="http://schemas.openxmlformats.org/officeDocument/2006/relationships/image" Target="../media/image2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 Id="rId3" Type="http://schemas.openxmlformats.org/officeDocument/2006/relationships/image" Target="../media/image110.png"/><Relationship Id="rId4" Type="http://schemas.openxmlformats.org/officeDocument/2006/relationships/image" Target="../media/image109.png"/><Relationship Id="rId5" Type="http://schemas.openxmlformats.org/officeDocument/2006/relationships/image" Target="../media/image9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4.xml"/><Relationship Id="rId3" Type="http://schemas.openxmlformats.org/officeDocument/2006/relationships/image" Target="../media/image106.png"/><Relationship Id="rId4" Type="http://schemas.openxmlformats.org/officeDocument/2006/relationships/image" Target="../media/image112.png"/><Relationship Id="rId5" Type="http://schemas.openxmlformats.org/officeDocument/2006/relationships/image" Target="../media/image1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5.xml"/><Relationship Id="rId3" Type="http://schemas.openxmlformats.org/officeDocument/2006/relationships/image" Target="../media/image101.png"/><Relationship Id="rId4" Type="http://schemas.openxmlformats.org/officeDocument/2006/relationships/image" Target="../media/image11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6.xml"/><Relationship Id="rId3" Type="http://schemas.openxmlformats.org/officeDocument/2006/relationships/image" Target="../media/image11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 Id="rId3" Type="http://schemas.openxmlformats.org/officeDocument/2006/relationships/image" Target="../media/image114.png"/><Relationship Id="rId4" Type="http://schemas.openxmlformats.org/officeDocument/2006/relationships/image" Target="../media/image1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 Id="rId3" Type="http://schemas.openxmlformats.org/officeDocument/2006/relationships/hyperlink" Target="https://ohdsi.github.io/Tutorial-ETL/docs/cdm_synthea_v2" TargetMode="External"/><Relationship Id="rId4" Type="http://schemas.openxmlformats.org/officeDocument/2006/relationships/image" Target="../media/image11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Relationship Id="rId3" Type="http://schemas.openxmlformats.org/officeDocument/2006/relationships/image" Target="../media/image11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1.xml"/><Relationship Id="rId3" Type="http://schemas.openxmlformats.org/officeDocument/2006/relationships/image" Target="../media/image123.png"/><Relationship Id="rId4" Type="http://schemas.openxmlformats.org/officeDocument/2006/relationships/image" Target="../media/image12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1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3.xml"/><Relationship Id="rId3" Type="http://schemas.openxmlformats.org/officeDocument/2006/relationships/image" Target="../media/image120.png"/><Relationship Id="rId4" Type="http://schemas.openxmlformats.org/officeDocument/2006/relationships/image" Target="../media/image12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2.png"/><Relationship Id="rId1" Type="http://schemas.openxmlformats.org/officeDocument/2006/relationships/slideLayout" Target="../slideLayouts/slideLayout4.xml"/><Relationship Id="rId2" Type="http://schemas.openxmlformats.org/officeDocument/2006/relationships/notesSlide" Target="../notesSlides/notesSlide115.xml"/><Relationship Id="rId3" Type="http://schemas.openxmlformats.org/officeDocument/2006/relationships/image" Target="../media/image19.png"/><Relationship Id="rId4" Type="http://schemas.openxmlformats.org/officeDocument/2006/relationships/image" Target="../media/image24.png"/><Relationship Id="rId9" Type="http://schemas.openxmlformats.org/officeDocument/2006/relationships/image" Target="../media/image32.png"/><Relationship Id="rId5" Type="http://schemas.openxmlformats.org/officeDocument/2006/relationships/image" Target="../media/image20.png"/><Relationship Id="rId6" Type="http://schemas.openxmlformats.org/officeDocument/2006/relationships/image" Target="../media/image25.png"/><Relationship Id="rId7" Type="http://schemas.openxmlformats.org/officeDocument/2006/relationships/image" Target="../media/image29.png"/><Relationship Id="rId8" Type="http://schemas.openxmlformats.org/officeDocument/2006/relationships/image" Target="../media/image2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6.xml"/><Relationship Id="rId3" Type="http://schemas.openxmlformats.org/officeDocument/2006/relationships/image" Target="../media/image105.png"/><Relationship Id="rId4" Type="http://schemas.openxmlformats.org/officeDocument/2006/relationships/image" Target="../media/image101.png"/><Relationship Id="rId5" Type="http://schemas.openxmlformats.org/officeDocument/2006/relationships/image" Target="../media/image32.png"/><Relationship Id="rId6" Type="http://schemas.openxmlformats.org/officeDocument/2006/relationships/image" Target="../media/image22.png"/><Relationship Id="rId7"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
          <p:cNvSpPr txBox="1"/>
          <p:nvPr>
            <p:ph type="ctrTitle"/>
          </p:nvPr>
        </p:nvSpPr>
        <p:spPr>
          <a:xfrm>
            <a:off x="3149600" y="2041525"/>
            <a:ext cx="8128000" cy="175577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0425A"/>
              </a:buClr>
              <a:buSzPct val="100000"/>
              <a:buFont typeface="Arial"/>
              <a:buNone/>
            </a:pPr>
            <a:r>
              <a:rPr b="1" i="0" lang="en-US" u="none" strike="noStrike">
                <a:latin typeface="Arial"/>
                <a:ea typeface="Arial"/>
                <a:cs typeface="Arial"/>
                <a:sym typeface="Arial"/>
              </a:rPr>
              <a:t>Developing and evaluating your Extract, Transform, Load (ETL) process to the OMOP Common Data Model</a:t>
            </a:r>
            <a:endParaRPr/>
          </a:p>
        </p:txBody>
      </p:sp>
      <p:sp>
        <p:nvSpPr>
          <p:cNvPr id="62" name="Google Shape;62;p1"/>
          <p:cNvSpPr txBox="1"/>
          <p:nvPr>
            <p:ph idx="1" type="subTitle"/>
          </p:nvPr>
        </p:nvSpPr>
        <p:spPr>
          <a:xfrm>
            <a:off x="3149600" y="4038600"/>
            <a:ext cx="8128000" cy="1752600"/>
          </a:xfrm>
          <a:prstGeom prst="rect">
            <a:avLst/>
          </a:prstGeom>
          <a:no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153153"/>
              </a:buClr>
              <a:buSzPts val="2800"/>
              <a:buNone/>
            </a:pPr>
            <a:br>
              <a:rPr lang="en-US"/>
            </a:br>
            <a:br>
              <a:rPr lang="en-US"/>
            </a:br>
            <a:r>
              <a:rPr lang="en-US"/>
              <a:t>Gabriel Maeztu</a:t>
            </a:r>
            <a:br>
              <a:rPr lang="en-US"/>
            </a:br>
            <a:r>
              <a:rPr lang="en-US"/>
              <a:t>IOMED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ctrTitle"/>
          </p:nvPr>
        </p:nvSpPr>
        <p:spPr>
          <a:xfrm>
            <a:off x="3149600" y="2130430"/>
            <a:ext cx="8128000" cy="17557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What this tutorial will provide . . . </a:t>
            </a:r>
            <a:endParaRPr/>
          </a:p>
        </p:txBody>
      </p:sp>
      <p:sp>
        <p:nvSpPr>
          <p:cNvPr id="68" name="Google Shape;68;p2"/>
          <p:cNvSpPr txBox="1"/>
          <p:nvPr>
            <p:ph idx="1" type="subTitle"/>
          </p:nvPr>
        </p:nvSpPr>
        <p:spPr>
          <a:xfrm>
            <a:off x="3886199" y="4038599"/>
            <a:ext cx="6096000" cy="2265948"/>
          </a:xfrm>
          <a:prstGeom prst="rect">
            <a:avLst/>
          </a:prstGeom>
          <a:noFill/>
          <a:ln>
            <a:noFill/>
          </a:ln>
        </p:spPr>
        <p:txBody>
          <a:bodyPr anchorCtr="0" anchor="t" bIns="45700" lIns="91425" spcFirstLastPara="1" rIns="91425" wrap="square" tIns="45700">
            <a:normAutofit lnSpcReduction="10000"/>
          </a:bodyPr>
          <a:lstStyle/>
          <a:p>
            <a:pPr indent="-282575" lvl="0" marL="514350" rtl="0" algn="l">
              <a:spcBef>
                <a:spcPts val="0"/>
              </a:spcBef>
              <a:spcAft>
                <a:spcPts val="0"/>
              </a:spcAft>
              <a:buClr>
                <a:srgbClr val="153153"/>
              </a:buClr>
              <a:buSzPts val="2000"/>
              <a:buFont typeface="Arial"/>
              <a:buChar char="•"/>
            </a:pPr>
            <a:r>
              <a:rPr lang="en-US" sz="2000"/>
              <a:t>Suggested process for developing a CDM ETL</a:t>
            </a:r>
            <a:endParaRPr/>
          </a:p>
          <a:p>
            <a:pPr indent="-206375" lvl="0" marL="514350" rtl="0" algn="l">
              <a:spcBef>
                <a:spcPts val="240"/>
              </a:spcBef>
              <a:spcAft>
                <a:spcPts val="0"/>
              </a:spcAft>
              <a:buClr>
                <a:srgbClr val="153153"/>
              </a:buClr>
              <a:buSzPts val="1200"/>
              <a:buFont typeface="Arial"/>
              <a:buNone/>
            </a:pPr>
            <a:r>
              <a:t/>
            </a:r>
            <a:endParaRPr sz="1200"/>
          </a:p>
          <a:p>
            <a:pPr indent="-282575" lvl="0" marL="514350" rtl="0" algn="l">
              <a:spcBef>
                <a:spcPts val="400"/>
              </a:spcBef>
              <a:spcAft>
                <a:spcPts val="0"/>
              </a:spcAft>
              <a:buClr>
                <a:srgbClr val="153153"/>
              </a:buClr>
              <a:buSzPts val="2000"/>
              <a:buFont typeface="Arial"/>
              <a:buChar char="•"/>
            </a:pPr>
            <a:r>
              <a:rPr lang="en-US" sz="2000"/>
              <a:t>OHDSI ETL tools: </a:t>
            </a:r>
            <a:br>
              <a:rPr lang="en-US" sz="2000"/>
            </a:br>
            <a:r>
              <a:rPr lang="en-US" sz="2000"/>
              <a:t>White Rabbit, Rabbit-In-A-Hat</a:t>
            </a:r>
            <a:endParaRPr sz="2000"/>
          </a:p>
          <a:p>
            <a:pPr indent="-219075" lvl="0" marL="514350" rtl="0" algn="l">
              <a:spcBef>
                <a:spcPts val="200"/>
              </a:spcBef>
              <a:spcAft>
                <a:spcPts val="0"/>
              </a:spcAft>
              <a:buClr>
                <a:srgbClr val="153153"/>
              </a:buClr>
              <a:buSzPts val="1000"/>
              <a:buFont typeface="Arial"/>
              <a:buNone/>
            </a:pPr>
            <a:r>
              <a:t/>
            </a:r>
            <a:endParaRPr sz="1000"/>
          </a:p>
          <a:p>
            <a:pPr indent="-282575" lvl="0" marL="514350" rtl="0" algn="l">
              <a:spcBef>
                <a:spcPts val="400"/>
              </a:spcBef>
              <a:spcAft>
                <a:spcPts val="0"/>
              </a:spcAft>
              <a:buClr>
                <a:srgbClr val="153153"/>
              </a:buClr>
              <a:buSzPts val="2000"/>
              <a:buFont typeface="Arial"/>
              <a:buChar char="•"/>
            </a:pPr>
            <a:r>
              <a:rPr lang="en-US" sz="2000"/>
              <a:t>Resources like the Book of OHDSI and THEMIS</a:t>
            </a:r>
            <a:endParaRPr/>
          </a:p>
          <a:p>
            <a:pPr indent="-219075" lvl="0" marL="514350" rtl="0" algn="l">
              <a:spcBef>
                <a:spcPts val="200"/>
              </a:spcBef>
              <a:spcAft>
                <a:spcPts val="0"/>
              </a:spcAft>
              <a:buClr>
                <a:srgbClr val="153153"/>
              </a:buClr>
              <a:buSzPts val="1000"/>
              <a:buFont typeface="Arial"/>
              <a:buNone/>
            </a:pPr>
            <a:r>
              <a:t/>
            </a:r>
            <a:endParaRPr sz="1000"/>
          </a:p>
          <a:p>
            <a:pPr indent="-282575" lvl="0" marL="514350" rtl="0" algn="l">
              <a:spcBef>
                <a:spcPts val="400"/>
              </a:spcBef>
              <a:spcAft>
                <a:spcPts val="0"/>
              </a:spcAft>
              <a:buClr>
                <a:srgbClr val="153153"/>
              </a:buClr>
              <a:buSzPts val="2000"/>
              <a:buFont typeface="Arial"/>
              <a:buChar char="•"/>
            </a:pPr>
            <a:r>
              <a:rPr lang="en-US" sz="2000"/>
              <a:t>Generation of a simple ETL </a:t>
            </a:r>
            <a:endParaRPr/>
          </a:p>
          <a:p>
            <a:pPr indent="-387350" lvl="0" marL="514350" rtl="0" algn="l">
              <a:spcBef>
                <a:spcPts val="400"/>
              </a:spcBef>
              <a:spcAft>
                <a:spcPts val="0"/>
              </a:spcAft>
              <a:buClr>
                <a:srgbClr val="153153"/>
              </a:buClr>
              <a:buSzPts val="2000"/>
              <a:buFont typeface="Arial"/>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7"/>
          <p:cNvSpPr txBox="1"/>
          <p:nvPr>
            <p:ph type="ctrTitle"/>
          </p:nvPr>
        </p:nvSpPr>
        <p:spPr>
          <a:xfrm>
            <a:off x="3149600" y="2130425"/>
            <a:ext cx="8128000" cy="1755600"/>
          </a:xfrm>
          <a:prstGeom prst="rect">
            <a:avLst/>
          </a:prstGeom>
          <a:noFill/>
          <a:ln>
            <a:noFill/>
          </a:ln>
        </p:spPr>
        <p:txBody>
          <a:bodyPr anchorCtr="0" anchor="ctr" bIns="60925" lIns="121900" spcFirstLastPara="1" rIns="121900" wrap="square" tIns="60925">
            <a:noAutofit/>
          </a:bodyPr>
          <a:lstStyle/>
          <a:p>
            <a:pPr indent="0" lvl="0" marL="0" rtl="0" algn="ctr">
              <a:spcBef>
                <a:spcPts val="0"/>
              </a:spcBef>
              <a:spcAft>
                <a:spcPts val="0"/>
              </a:spcAft>
              <a:buClr>
                <a:srgbClr val="20425A"/>
              </a:buClr>
              <a:buSzPts val="4000"/>
              <a:buFont typeface="Calibri"/>
              <a:buNone/>
            </a:pPr>
            <a:r>
              <a:rPr b="1" lang="en-US"/>
              <a:t>Foundational Concepts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8"/>
          <p:cNvSpPr txBox="1"/>
          <p:nvPr>
            <p:ph type="ctrTitle"/>
          </p:nvPr>
        </p:nvSpPr>
        <p:spPr>
          <a:xfrm>
            <a:off x="3149600" y="2856468"/>
            <a:ext cx="8128000" cy="1145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0425A"/>
              </a:buClr>
              <a:buSzPts val="2700"/>
              <a:buFont typeface="Calibri"/>
              <a:buNone/>
            </a:pPr>
            <a:r>
              <a:rPr b="1" lang="en-US"/>
              <a:t>What is the OMOP Vocabulary?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9"/>
          <p:cNvSpPr txBox="1"/>
          <p:nvPr>
            <p:ph type="title"/>
          </p:nvPr>
        </p:nvSpPr>
        <p:spPr>
          <a:xfrm>
            <a:off x="2667000" y="0"/>
            <a:ext cx="7544000" cy="106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0425A"/>
              </a:buClr>
              <a:buSzPts val="700"/>
              <a:buFont typeface="Calibri"/>
              <a:buNone/>
            </a:pPr>
            <a:r>
              <a:rPr b="1" lang="en-US" sz="3600"/>
              <a:t>OMOP Common Vocabulary Model</a:t>
            </a:r>
            <a:br>
              <a:rPr b="1" lang="en-US" sz="3600"/>
            </a:br>
            <a:r>
              <a:rPr b="1" i="1" lang="en-US" sz="2800"/>
              <a:t>reference data for the OMOP CDM</a:t>
            </a:r>
            <a:endParaRPr b="1"/>
          </a:p>
        </p:txBody>
      </p:sp>
      <p:sp>
        <p:nvSpPr>
          <p:cNvPr id="85" name="Google Shape;85;p9"/>
          <p:cNvSpPr txBox="1"/>
          <p:nvPr>
            <p:ph idx="1" type="body"/>
          </p:nvPr>
        </p:nvSpPr>
        <p:spPr>
          <a:xfrm>
            <a:off x="372140" y="1371600"/>
            <a:ext cx="5190400" cy="475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rgbClr val="20425A"/>
              </a:buClr>
              <a:buSzPts val="500"/>
              <a:buNone/>
            </a:pPr>
            <a:r>
              <a:rPr b="1" lang="en-US" sz="3333"/>
              <a:t>What it is</a:t>
            </a:r>
            <a:endParaRPr sz="3333"/>
          </a:p>
          <a:p>
            <a:pPr indent="-321725" lvl="0" marL="338658" rtl="0" algn="l">
              <a:lnSpc>
                <a:spcPct val="80000"/>
              </a:lnSpc>
              <a:spcBef>
                <a:spcPts val="400"/>
              </a:spcBef>
              <a:spcAft>
                <a:spcPts val="0"/>
              </a:spcAft>
              <a:buClr>
                <a:srgbClr val="20425A"/>
              </a:buClr>
              <a:buSzPts val="1800"/>
              <a:buChar char="•"/>
            </a:pPr>
            <a:r>
              <a:rPr b="1" lang="en-US" sz="3333"/>
              <a:t>Compiled standards </a:t>
            </a:r>
            <a:r>
              <a:rPr lang="en-US" sz="3333"/>
              <a:t>from disparate public and private sources and some OMOP-grown concepts</a:t>
            </a:r>
            <a:endParaRPr/>
          </a:p>
          <a:p>
            <a:pPr indent="-207425" lvl="0" marL="338658" rtl="0" algn="l">
              <a:lnSpc>
                <a:spcPct val="80000"/>
              </a:lnSpc>
              <a:spcBef>
                <a:spcPts val="400"/>
              </a:spcBef>
              <a:spcAft>
                <a:spcPts val="0"/>
              </a:spcAft>
              <a:buClr>
                <a:srgbClr val="20425A"/>
              </a:buClr>
              <a:buSzPts val="1800"/>
              <a:buNone/>
            </a:pPr>
            <a:r>
              <a:t/>
            </a:r>
            <a:endParaRPr sz="3333"/>
          </a:p>
          <a:p>
            <a:pPr indent="-321725" lvl="0" marL="338658" rtl="0" algn="l">
              <a:lnSpc>
                <a:spcPct val="80000"/>
              </a:lnSpc>
              <a:spcBef>
                <a:spcPts val="400"/>
              </a:spcBef>
              <a:spcAft>
                <a:spcPts val="0"/>
              </a:spcAft>
              <a:buClr>
                <a:srgbClr val="20425A"/>
              </a:buClr>
              <a:buSzPts val="1800"/>
              <a:buChar char="•"/>
            </a:pPr>
            <a:r>
              <a:rPr b="1" lang="en-US" sz="3333"/>
              <a:t>Standardized structure </a:t>
            </a:r>
            <a:r>
              <a:rPr lang="en-US" sz="3333"/>
              <a:t>to house existing vocabularies used in the public domain</a:t>
            </a:r>
            <a:endParaRPr sz="3333"/>
          </a:p>
          <a:p>
            <a:pPr indent="-169329" lvl="0" marL="338658" rtl="0" algn="l">
              <a:lnSpc>
                <a:spcPct val="80000"/>
              </a:lnSpc>
              <a:spcBef>
                <a:spcPts val="400"/>
              </a:spcBef>
              <a:spcAft>
                <a:spcPts val="0"/>
              </a:spcAft>
              <a:buClr>
                <a:srgbClr val="20425A"/>
              </a:buClr>
              <a:buSzPts val="2100"/>
              <a:buNone/>
            </a:pPr>
            <a:r>
              <a:t/>
            </a:r>
            <a:endParaRPr sz="3333"/>
          </a:p>
        </p:txBody>
      </p:sp>
      <p:sp>
        <p:nvSpPr>
          <p:cNvPr id="86" name="Google Shape;86;p9"/>
          <p:cNvSpPr txBox="1"/>
          <p:nvPr>
            <p:ph idx="2" type="body"/>
          </p:nvPr>
        </p:nvSpPr>
        <p:spPr>
          <a:xfrm>
            <a:off x="5867400" y="1371600"/>
            <a:ext cx="5952800" cy="475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rgbClr val="20425A"/>
              </a:buClr>
              <a:buSzPts val="500"/>
              <a:buNone/>
            </a:pPr>
            <a:r>
              <a:rPr b="1" lang="en-US" sz="3333"/>
              <a:t>What it’s not</a:t>
            </a:r>
            <a:endParaRPr sz="3333"/>
          </a:p>
          <a:p>
            <a:pPr indent="-321725" lvl="0" marL="338658" rtl="0" algn="l">
              <a:lnSpc>
                <a:spcPct val="80000"/>
              </a:lnSpc>
              <a:spcBef>
                <a:spcPts val="400"/>
              </a:spcBef>
              <a:spcAft>
                <a:spcPts val="0"/>
              </a:spcAft>
              <a:buClr>
                <a:srgbClr val="20425A"/>
              </a:buClr>
              <a:buSzPts val="1800"/>
              <a:buChar char="•"/>
            </a:pPr>
            <a:r>
              <a:rPr b="1" lang="en-US" sz="3333"/>
              <a:t>Static dataset </a:t>
            </a:r>
            <a:r>
              <a:rPr lang="en-US" sz="3333"/>
              <a:t>– the vocabulary updates regularly to keep up with the continual evolution of the sources</a:t>
            </a:r>
            <a:endParaRPr sz="3333"/>
          </a:p>
          <a:p>
            <a:pPr indent="-169329" lvl="0" marL="338658" rtl="0" algn="l">
              <a:lnSpc>
                <a:spcPct val="80000"/>
              </a:lnSpc>
              <a:spcBef>
                <a:spcPts val="400"/>
              </a:spcBef>
              <a:spcAft>
                <a:spcPts val="0"/>
              </a:spcAft>
              <a:buClr>
                <a:srgbClr val="20425A"/>
              </a:buClr>
              <a:buSzPts val="2100"/>
              <a:buNone/>
            </a:pPr>
            <a:r>
              <a:t/>
            </a:r>
            <a:endParaRPr sz="3333"/>
          </a:p>
          <a:p>
            <a:pPr indent="-321725" lvl="0" marL="338658" rtl="0" algn="l">
              <a:lnSpc>
                <a:spcPct val="80000"/>
              </a:lnSpc>
              <a:spcBef>
                <a:spcPts val="400"/>
              </a:spcBef>
              <a:spcAft>
                <a:spcPts val="0"/>
              </a:spcAft>
              <a:buClr>
                <a:srgbClr val="20425A"/>
              </a:buClr>
              <a:buSzPts val="1800"/>
              <a:buChar char="•"/>
            </a:pPr>
            <a:r>
              <a:rPr b="1" lang="en-US" sz="3333"/>
              <a:t>Finished product </a:t>
            </a:r>
            <a:r>
              <a:rPr lang="en-US" sz="3333"/>
              <a:t>– vocabulary maintenance and improvement is ongoing activity that requires community participation and support</a:t>
            </a:r>
            <a:endParaRPr sz="3333"/>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0"/>
          <p:cNvSpPr/>
          <p:nvPr/>
        </p:nvSpPr>
        <p:spPr>
          <a:xfrm>
            <a:off x="1" y="0"/>
            <a:ext cx="12192000" cy="68580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0"/>
          <p:cNvSpPr txBox="1"/>
          <p:nvPr/>
        </p:nvSpPr>
        <p:spPr>
          <a:xfrm>
            <a:off x="772711" y="379300"/>
            <a:ext cx="1066705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rgbClr val="002060"/>
                </a:solidFill>
                <a:latin typeface="Calibri"/>
                <a:ea typeface="Calibri"/>
                <a:cs typeface="Calibri"/>
                <a:sym typeface="Calibri"/>
              </a:rPr>
              <a:t>OHDSI Standard Vocabularies</a:t>
            </a:r>
            <a:endParaRPr b="1" i="0" sz="3600" u="none" cap="none" strike="noStrike">
              <a:solidFill>
                <a:srgbClr val="002060"/>
              </a:solidFill>
              <a:latin typeface="Calibri"/>
              <a:ea typeface="Calibri"/>
              <a:cs typeface="Calibri"/>
              <a:sym typeface="Calibri"/>
            </a:endParaRPr>
          </a:p>
        </p:txBody>
      </p:sp>
      <p:pic>
        <p:nvPicPr>
          <p:cNvPr descr="A group of colorful dots and lines&#10;&#10;Description automatically generated" id="94" name="Google Shape;94;p10"/>
          <p:cNvPicPr preferRelativeResize="0"/>
          <p:nvPr/>
        </p:nvPicPr>
        <p:blipFill rotWithShape="1">
          <a:blip r:embed="rId3">
            <a:alphaModFix/>
          </a:blip>
          <a:srcRect b="0" l="0" r="0" t="0"/>
          <a:stretch/>
        </p:blipFill>
        <p:spPr>
          <a:xfrm>
            <a:off x="3245477" y="2187143"/>
            <a:ext cx="8237820" cy="3839136"/>
          </a:xfrm>
          <a:prstGeom prst="rect">
            <a:avLst/>
          </a:prstGeom>
          <a:noFill/>
          <a:ln>
            <a:noFill/>
          </a:ln>
        </p:spPr>
      </p:pic>
      <p:pic>
        <p:nvPicPr>
          <p:cNvPr descr="A group of different colored squares&#10;&#10;Description automatically generated" id="95" name="Google Shape;95;p10"/>
          <p:cNvPicPr preferRelativeResize="0"/>
          <p:nvPr/>
        </p:nvPicPr>
        <p:blipFill rotWithShape="1">
          <a:blip r:embed="rId4">
            <a:alphaModFix/>
          </a:blip>
          <a:srcRect b="0" l="0" r="0" t="0"/>
          <a:stretch/>
        </p:blipFill>
        <p:spPr>
          <a:xfrm>
            <a:off x="816244" y="1369001"/>
            <a:ext cx="4657277" cy="4657277"/>
          </a:xfrm>
          <a:prstGeom prst="rect">
            <a:avLst/>
          </a:prstGeom>
          <a:noFill/>
          <a:ln>
            <a:noFill/>
          </a:ln>
        </p:spPr>
      </p:pic>
      <p:pic>
        <p:nvPicPr>
          <p:cNvPr id="96" name="Google Shape;96;p10"/>
          <p:cNvPicPr preferRelativeResize="0"/>
          <p:nvPr/>
        </p:nvPicPr>
        <p:blipFill rotWithShape="1">
          <a:blip r:embed="rId5">
            <a:alphaModFix/>
          </a:blip>
          <a:srcRect b="0" l="0" r="0" t="0"/>
          <a:stretch/>
        </p:blipFill>
        <p:spPr>
          <a:xfrm>
            <a:off x="5670766" y="1419421"/>
            <a:ext cx="4463975" cy="1455760"/>
          </a:xfrm>
          <a:prstGeom prst="rect">
            <a:avLst/>
          </a:prstGeom>
          <a:noFill/>
          <a:ln>
            <a:noFill/>
          </a:ln>
        </p:spPr>
      </p:pic>
      <p:cxnSp>
        <p:nvCxnSpPr>
          <p:cNvPr id="97" name="Google Shape;97;p10"/>
          <p:cNvCxnSpPr/>
          <p:nvPr/>
        </p:nvCxnSpPr>
        <p:spPr>
          <a:xfrm>
            <a:off x="816244" y="1128017"/>
            <a:ext cx="10667053" cy="0"/>
          </a:xfrm>
          <a:prstGeom prst="straightConnector1">
            <a:avLst/>
          </a:prstGeom>
          <a:noFill/>
          <a:ln cap="flat" cmpd="sng" w="25400">
            <a:solidFill>
              <a:srgbClr val="002060"/>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1"/>
          <p:cNvSpPr txBox="1"/>
          <p:nvPr>
            <p:ph type="title"/>
          </p:nvPr>
        </p:nvSpPr>
        <p:spPr>
          <a:xfrm>
            <a:off x="1143000" y="114300"/>
            <a:ext cx="9653954" cy="6284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20425A"/>
              </a:buClr>
              <a:buSzPts val="3000"/>
              <a:buFont typeface="Calibri"/>
              <a:buNone/>
            </a:pPr>
            <a:r>
              <a:rPr b="1" lang="en-US" sz="3600"/>
              <a:t>What's in a Concept</a:t>
            </a:r>
            <a:endParaRPr/>
          </a:p>
        </p:txBody>
      </p:sp>
      <p:sp>
        <p:nvSpPr>
          <p:cNvPr id="103" name="Google Shape;103;p11"/>
          <p:cNvSpPr txBox="1"/>
          <p:nvPr/>
        </p:nvSpPr>
        <p:spPr>
          <a:xfrm>
            <a:off x="7848600" y="1611868"/>
            <a:ext cx="1600400" cy="3388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For use in CDM</a:t>
            </a:r>
            <a:endParaRPr b="0" i="0" sz="1600" u="none" cap="none" strike="noStrike">
              <a:solidFill>
                <a:srgbClr val="20425A"/>
              </a:solidFill>
              <a:latin typeface="Calibri"/>
              <a:ea typeface="Calibri"/>
              <a:cs typeface="Calibri"/>
              <a:sym typeface="Calibri"/>
            </a:endParaRPr>
          </a:p>
        </p:txBody>
      </p:sp>
      <p:cxnSp>
        <p:nvCxnSpPr>
          <p:cNvPr id="104" name="Google Shape;104;p11"/>
          <p:cNvCxnSpPr>
            <a:stCxn id="103" idx="1"/>
          </p:cNvCxnSpPr>
          <p:nvPr/>
        </p:nvCxnSpPr>
        <p:spPr>
          <a:xfrm flipH="1">
            <a:off x="6705300" y="1781268"/>
            <a:ext cx="1143300" cy="2001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sp>
        <p:nvSpPr>
          <p:cNvPr id="105" name="Google Shape;105;p11"/>
          <p:cNvSpPr txBox="1"/>
          <p:nvPr/>
        </p:nvSpPr>
        <p:spPr>
          <a:xfrm>
            <a:off x="7848600" y="1992868"/>
            <a:ext cx="1981200" cy="3388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English description</a:t>
            </a:r>
            <a:endParaRPr b="0" i="0" sz="1600" u="none" cap="none" strike="noStrike">
              <a:solidFill>
                <a:srgbClr val="20425A"/>
              </a:solidFill>
              <a:latin typeface="Calibri"/>
              <a:ea typeface="Calibri"/>
              <a:cs typeface="Calibri"/>
              <a:sym typeface="Calibri"/>
            </a:endParaRPr>
          </a:p>
        </p:txBody>
      </p:sp>
      <p:cxnSp>
        <p:nvCxnSpPr>
          <p:cNvPr id="106" name="Google Shape;106;p11"/>
          <p:cNvCxnSpPr>
            <a:stCxn id="105" idx="1"/>
          </p:cNvCxnSpPr>
          <p:nvPr/>
        </p:nvCxnSpPr>
        <p:spPr>
          <a:xfrm flipH="1">
            <a:off x="6705300" y="2162268"/>
            <a:ext cx="1143300" cy="2001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sp>
        <p:nvSpPr>
          <p:cNvPr id="107" name="Google Shape;107;p11"/>
          <p:cNvSpPr txBox="1"/>
          <p:nvPr/>
        </p:nvSpPr>
        <p:spPr>
          <a:xfrm>
            <a:off x="7848600" y="2373868"/>
            <a:ext cx="914400" cy="3388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Domain</a:t>
            </a:r>
            <a:endParaRPr b="0" i="0" sz="1600" u="none" cap="none" strike="noStrike">
              <a:solidFill>
                <a:srgbClr val="20425A"/>
              </a:solidFill>
              <a:latin typeface="Calibri"/>
              <a:ea typeface="Calibri"/>
              <a:cs typeface="Calibri"/>
              <a:sym typeface="Calibri"/>
            </a:endParaRPr>
          </a:p>
        </p:txBody>
      </p:sp>
      <p:cxnSp>
        <p:nvCxnSpPr>
          <p:cNvPr id="108" name="Google Shape;108;p11"/>
          <p:cNvCxnSpPr>
            <a:stCxn id="107" idx="1"/>
          </p:cNvCxnSpPr>
          <p:nvPr/>
        </p:nvCxnSpPr>
        <p:spPr>
          <a:xfrm flipH="1">
            <a:off x="6705300" y="2543268"/>
            <a:ext cx="1143300" cy="2001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sp>
        <p:nvSpPr>
          <p:cNvPr id="109" name="Google Shape;109;p11"/>
          <p:cNvSpPr txBox="1"/>
          <p:nvPr/>
        </p:nvSpPr>
        <p:spPr>
          <a:xfrm>
            <a:off x="7848600" y="2754868"/>
            <a:ext cx="1219200" cy="3388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Vocabulary</a:t>
            </a:r>
            <a:endParaRPr b="0" i="0" sz="1600" u="none" cap="none" strike="noStrike">
              <a:solidFill>
                <a:srgbClr val="20425A"/>
              </a:solidFill>
              <a:latin typeface="Calibri"/>
              <a:ea typeface="Calibri"/>
              <a:cs typeface="Calibri"/>
              <a:sym typeface="Calibri"/>
            </a:endParaRPr>
          </a:p>
        </p:txBody>
      </p:sp>
      <p:cxnSp>
        <p:nvCxnSpPr>
          <p:cNvPr id="110" name="Google Shape;110;p11"/>
          <p:cNvCxnSpPr>
            <a:stCxn id="109" idx="1"/>
          </p:cNvCxnSpPr>
          <p:nvPr/>
        </p:nvCxnSpPr>
        <p:spPr>
          <a:xfrm flipH="1">
            <a:off x="6705300" y="2924268"/>
            <a:ext cx="1143300" cy="2001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sp>
        <p:nvSpPr>
          <p:cNvPr id="111" name="Google Shape;111;p11"/>
          <p:cNvSpPr txBox="1"/>
          <p:nvPr/>
        </p:nvSpPr>
        <p:spPr>
          <a:xfrm>
            <a:off x="7848600" y="3124200"/>
            <a:ext cx="1981200" cy="3388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Class in SNOMED</a:t>
            </a:r>
            <a:endParaRPr b="0" i="0" sz="1600" u="none" cap="none" strike="noStrike">
              <a:solidFill>
                <a:srgbClr val="20425A"/>
              </a:solidFill>
              <a:latin typeface="Calibri"/>
              <a:ea typeface="Calibri"/>
              <a:cs typeface="Calibri"/>
              <a:sym typeface="Calibri"/>
            </a:endParaRPr>
          </a:p>
        </p:txBody>
      </p:sp>
      <p:cxnSp>
        <p:nvCxnSpPr>
          <p:cNvPr id="112" name="Google Shape;112;p11"/>
          <p:cNvCxnSpPr>
            <a:stCxn id="111" idx="1"/>
          </p:cNvCxnSpPr>
          <p:nvPr/>
        </p:nvCxnSpPr>
        <p:spPr>
          <a:xfrm flipH="1">
            <a:off x="6705300" y="3293600"/>
            <a:ext cx="1143300" cy="2001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sp>
        <p:nvSpPr>
          <p:cNvPr id="113" name="Google Shape;113;p11"/>
          <p:cNvSpPr txBox="1"/>
          <p:nvPr/>
        </p:nvSpPr>
        <p:spPr>
          <a:xfrm>
            <a:off x="7848600" y="3505200"/>
            <a:ext cx="1676400" cy="3388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Concept in data</a:t>
            </a:r>
            <a:endParaRPr b="0" i="0" sz="1600" u="none" cap="none" strike="noStrike">
              <a:solidFill>
                <a:srgbClr val="20425A"/>
              </a:solidFill>
              <a:latin typeface="Calibri"/>
              <a:ea typeface="Calibri"/>
              <a:cs typeface="Calibri"/>
              <a:sym typeface="Calibri"/>
            </a:endParaRPr>
          </a:p>
        </p:txBody>
      </p:sp>
      <p:cxnSp>
        <p:nvCxnSpPr>
          <p:cNvPr id="114" name="Google Shape;114;p11"/>
          <p:cNvCxnSpPr>
            <a:stCxn id="113" idx="1"/>
          </p:cNvCxnSpPr>
          <p:nvPr/>
        </p:nvCxnSpPr>
        <p:spPr>
          <a:xfrm flipH="1">
            <a:off x="6705300" y="3674600"/>
            <a:ext cx="1143300" cy="2001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sp>
        <p:nvSpPr>
          <p:cNvPr id="115" name="Google Shape;115;p11"/>
          <p:cNvSpPr txBox="1"/>
          <p:nvPr/>
        </p:nvSpPr>
        <p:spPr>
          <a:xfrm>
            <a:off x="7848600" y="4687669"/>
            <a:ext cx="1828800" cy="5848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Valid during time interval</a:t>
            </a:r>
            <a:endParaRPr b="0" i="0" sz="1600" u="none" cap="none" strike="noStrike">
              <a:solidFill>
                <a:srgbClr val="20425A"/>
              </a:solidFill>
              <a:latin typeface="Calibri"/>
              <a:ea typeface="Calibri"/>
              <a:cs typeface="Calibri"/>
              <a:sym typeface="Calibri"/>
            </a:endParaRPr>
          </a:p>
        </p:txBody>
      </p:sp>
      <p:cxnSp>
        <p:nvCxnSpPr>
          <p:cNvPr id="116" name="Google Shape;116;p11"/>
          <p:cNvCxnSpPr>
            <a:stCxn id="115" idx="1"/>
          </p:cNvCxnSpPr>
          <p:nvPr/>
        </p:nvCxnSpPr>
        <p:spPr>
          <a:xfrm flipH="1">
            <a:off x="6705300" y="4980069"/>
            <a:ext cx="1143300" cy="768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17" name="Google Shape;117;p11"/>
          <p:cNvCxnSpPr>
            <a:stCxn id="115" idx="1"/>
          </p:cNvCxnSpPr>
          <p:nvPr/>
        </p:nvCxnSpPr>
        <p:spPr>
          <a:xfrm flipH="1">
            <a:off x="6705300" y="4980069"/>
            <a:ext cx="1143300" cy="4305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18" name="Google Shape;118;p11"/>
          <p:cNvCxnSpPr>
            <a:stCxn id="115" idx="1"/>
          </p:cNvCxnSpPr>
          <p:nvPr/>
        </p:nvCxnSpPr>
        <p:spPr>
          <a:xfrm rot="10800000">
            <a:off x="6705300" y="4648569"/>
            <a:ext cx="1143300" cy="3315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graphicFrame>
        <p:nvGraphicFramePr>
          <p:cNvPr id="119" name="Google Shape;119;p11"/>
          <p:cNvGraphicFramePr/>
          <p:nvPr/>
        </p:nvGraphicFramePr>
        <p:xfrm>
          <a:off x="2317899" y="1839432"/>
          <a:ext cx="3000000" cy="3000000"/>
        </p:xfrm>
        <a:graphic>
          <a:graphicData uri="http://schemas.openxmlformats.org/drawingml/2006/table">
            <a:tbl>
              <a:tblPr>
                <a:noFill/>
                <a:tableStyleId>{5000C0AC-F8AF-484B-93E4-D2C59BA90F7C}</a:tableStyleId>
              </a:tblPr>
              <a:tblGrid>
                <a:gridCol w="2292725"/>
                <a:gridCol w="1713975"/>
              </a:tblGrid>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CONCEPT_ID</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313217 </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CONCEPT_NAME</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 Atrial fibrillation</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DOMAIN_ID</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 Condition</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VOCABULARY_ID</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 SNOMED</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CONCEPT_CLASS_ID</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 Clinical Finding</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STANDARD_CONCEPT</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 S</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CONCEPT_CODE</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49436004 </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VALID_START_DATE</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01-Jan-1970 </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VALID_END_DATE</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31-Dec-2099 </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9925">
                <a:tc>
                  <a:txBody>
                    <a:bodyPr/>
                    <a:lstStyle/>
                    <a:p>
                      <a:pPr indent="0" lvl="0" marL="0" marR="0" rtl="0" algn="l">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INVALID_REASON</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900"/>
                        <a:buFont typeface="Calibri"/>
                        <a:buNone/>
                      </a:pPr>
                      <a:r>
                        <a:rPr b="0" i="0" lang="en-US" sz="1900" u="none" cap="none" strike="noStrike">
                          <a:solidFill>
                            <a:srgbClr val="000000"/>
                          </a:solidFill>
                          <a:latin typeface="Calibri"/>
                          <a:ea typeface="Calibri"/>
                          <a:cs typeface="Calibri"/>
                          <a:sym typeface="Calibri"/>
                        </a:rPr>
                        <a:t> </a:t>
                      </a:r>
                      <a:endParaRPr sz="1500" u="none" cap="none" strike="noStrike"/>
                    </a:p>
                  </a:txBody>
                  <a:tcPr marT="7625" marB="0" marR="7625" marL="76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0" name="Google Shape;120;p11"/>
          <p:cNvSpPr txBox="1"/>
          <p:nvPr/>
        </p:nvSpPr>
        <p:spPr>
          <a:xfrm>
            <a:off x="7848600" y="3897868"/>
            <a:ext cx="1828800" cy="3388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Code in SNOMED</a:t>
            </a:r>
            <a:endParaRPr b="0" i="0" sz="1600" u="none" cap="none" strike="noStrike">
              <a:solidFill>
                <a:srgbClr val="20425A"/>
              </a:solidFill>
              <a:latin typeface="Calibri"/>
              <a:ea typeface="Calibri"/>
              <a:cs typeface="Calibri"/>
              <a:sym typeface="Calibri"/>
            </a:endParaRPr>
          </a:p>
        </p:txBody>
      </p:sp>
      <p:cxnSp>
        <p:nvCxnSpPr>
          <p:cNvPr id="121" name="Google Shape;121;p11"/>
          <p:cNvCxnSpPr>
            <a:stCxn id="120" idx="1"/>
          </p:cNvCxnSpPr>
          <p:nvPr/>
        </p:nvCxnSpPr>
        <p:spPr>
          <a:xfrm flipH="1">
            <a:off x="6705300" y="4067268"/>
            <a:ext cx="1143300" cy="2001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2"/>
          <p:cNvSpPr txBox="1"/>
          <p:nvPr>
            <p:ph type="ctrTitle"/>
          </p:nvPr>
        </p:nvSpPr>
        <p:spPr>
          <a:xfrm>
            <a:off x="3149600" y="2856468"/>
            <a:ext cx="8128000" cy="1145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0425A"/>
              </a:buClr>
              <a:buSzPts val="2700"/>
              <a:buFont typeface="Calibri"/>
              <a:buNone/>
            </a:pPr>
            <a:r>
              <a:rPr b="1" lang="en-US"/>
              <a:t>Source Codes, Concepts and </a:t>
            </a:r>
            <a:br>
              <a:rPr b="1" lang="en-US"/>
            </a:br>
            <a:r>
              <a:rPr b="1" lang="en-US"/>
              <a:t>Mapping to Standard Concepts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3"/>
          <p:cNvSpPr txBox="1"/>
          <p:nvPr>
            <p:ph type="title"/>
          </p:nvPr>
        </p:nvSpPr>
        <p:spPr>
          <a:xfrm>
            <a:off x="1143000" y="114300"/>
            <a:ext cx="10439600" cy="6612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20425A"/>
              </a:buClr>
              <a:buSzPts val="3000"/>
              <a:buFont typeface="Calibri"/>
              <a:buNone/>
            </a:pPr>
            <a:r>
              <a:rPr b="1" lang="en-US"/>
              <a:t>The Source for Source Codes</a:t>
            </a:r>
            <a:endParaRPr/>
          </a:p>
        </p:txBody>
      </p:sp>
      <p:sp>
        <p:nvSpPr>
          <p:cNvPr id="133" name="Google Shape;133;p13"/>
          <p:cNvSpPr/>
          <p:nvPr/>
        </p:nvSpPr>
        <p:spPr>
          <a:xfrm>
            <a:off x="7981797" y="3808285"/>
            <a:ext cx="2104800" cy="914400"/>
          </a:xfrm>
          <a:prstGeom prst="roundRect">
            <a:avLst>
              <a:gd fmla="val 50000" name="adj"/>
            </a:avLst>
          </a:prstGeom>
          <a:solidFill>
            <a:srgbClr val="20425A"/>
          </a:solidFill>
          <a:ln cap="rnd" cmpd="sng" w="38100">
            <a:solidFill>
              <a:srgbClr val="20425A"/>
            </a:solidFill>
            <a:prstDash val="solid"/>
            <a:miter lim="800000"/>
            <a:headEnd len="sm" w="sm" type="none"/>
            <a:tailEnd len="sm" w="sm" type="none"/>
          </a:ln>
        </p:spPr>
        <p:txBody>
          <a:bodyPr anchorCtr="0" anchor="ctr" bIns="0" lIns="914400" spcFirstLastPara="1" rIns="0" wrap="square" tIns="0">
            <a:noAutofit/>
          </a:bodyPr>
          <a:lstStyle/>
          <a:p>
            <a:pPr indent="0" lvl="0" marL="0" marR="0" rtl="0" algn="l">
              <a:spcBef>
                <a:spcPts val="0"/>
              </a:spcBef>
              <a:spcAft>
                <a:spcPts val="0"/>
              </a:spcAft>
              <a:buNone/>
            </a:pPr>
            <a:r>
              <a:t/>
            </a:r>
            <a:endParaRPr b="0" i="0" sz="1467" u="none" cap="none" strike="noStrike">
              <a:solidFill>
                <a:srgbClr val="C0504D"/>
              </a:solidFill>
              <a:latin typeface="Arial"/>
              <a:ea typeface="Arial"/>
              <a:cs typeface="Arial"/>
              <a:sym typeface="Arial"/>
            </a:endParaRPr>
          </a:p>
        </p:txBody>
      </p:sp>
      <p:sp>
        <p:nvSpPr>
          <p:cNvPr id="134" name="Google Shape;134;p13"/>
          <p:cNvSpPr/>
          <p:nvPr/>
        </p:nvSpPr>
        <p:spPr>
          <a:xfrm>
            <a:off x="9618587" y="4888669"/>
            <a:ext cx="2104800" cy="914400"/>
          </a:xfrm>
          <a:prstGeom prst="roundRect">
            <a:avLst>
              <a:gd fmla="val 50000" name="adj"/>
            </a:avLst>
          </a:prstGeom>
          <a:solidFill>
            <a:srgbClr val="20425A"/>
          </a:solidFill>
          <a:ln cap="rnd" cmpd="sng" w="38100">
            <a:solidFill>
              <a:srgbClr val="20425A"/>
            </a:solidFill>
            <a:prstDash val="solid"/>
            <a:miter lim="800000"/>
            <a:headEnd len="sm" w="sm" type="none"/>
            <a:tailEnd len="sm" w="sm" type="none"/>
          </a:ln>
        </p:spPr>
        <p:txBody>
          <a:bodyPr anchorCtr="0" anchor="ctr" bIns="0" lIns="914400" spcFirstLastPara="1" rIns="0" wrap="square" tIns="0">
            <a:noAutofit/>
          </a:bodyPr>
          <a:lstStyle/>
          <a:p>
            <a:pPr indent="0" lvl="0" marL="0" marR="0" rtl="0" algn="l">
              <a:spcBef>
                <a:spcPts val="0"/>
              </a:spcBef>
              <a:spcAft>
                <a:spcPts val="0"/>
              </a:spcAft>
              <a:buNone/>
            </a:pPr>
            <a:r>
              <a:t/>
            </a:r>
            <a:endParaRPr b="0" i="0" sz="1467" u="none" cap="none" strike="noStrike">
              <a:solidFill>
                <a:srgbClr val="C0504D"/>
              </a:solidFill>
              <a:latin typeface="Arial"/>
              <a:ea typeface="Arial"/>
              <a:cs typeface="Arial"/>
              <a:sym typeface="Arial"/>
            </a:endParaRPr>
          </a:p>
        </p:txBody>
      </p:sp>
      <p:sp>
        <p:nvSpPr>
          <p:cNvPr id="135" name="Google Shape;135;p13"/>
          <p:cNvSpPr/>
          <p:nvPr/>
        </p:nvSpPr>
        <p:spPr>
          <a:xfrm>
            <a:off x="6320620" y="2723619"/>
            <a:ext cx="2104800" cy="914400"/>
          </a:xfrm>
          <a:prstGeom prst="roundRect">
            <a:avLst>
              <a:gd fmla="val 50000" name="adj"/>
            </a:avLst>
          </a:prstGeom>
          <a:solidFill>
            <a:srgbClr val="20425A"/>
          </a:solidFill>
          <a:ln cap="rnd" cmpd="sng" w="38100">
            <a:solidFill>
              <a:srgbClr val="20425A"/>
            </a:solidFill>
            <a:prstDash val="solid"/>
            <a:miter lim="800000"/>
            <a:headEnd len="sm" w="sm" type="none"/>
            <a:tailEnd len="sm" w="sm" type="none"/>
          </a:ln>
        </p:spPr>
        <p:txBody>
          <a:bodyPr anchorCtr="0" anchor="ctr" bIns="0" lIns="914400" spcFirstLastPara="1" rIns="0" wrap="square" tIns="0">
            <a:noAutofit/>
          </a:bodyPr>
          <a:lstStyle/>
          <a:p>
            <a:pPr indent="0" lvl="0" marL="0" marR="0" rtl="0" algn="l">
              <a:spcBef>
                <a:spcPts val="0"/>
              </a:spcBef>
              <a:spcAft>
                <a:spcPts val="0"/>
              </a:spcAft>
              <a:buNone/>
            </a:pPr>
            <a:r>
              <a:t/>
            </a:r>
            <a:endParaRPr b="0" i="0" sz="1467" u="none" cap="none" strike="noStrike">
              <a:solidFill>
                <a:srgbClr val="C0504D"/>
              </a:solidFill>
              <a:latin typeface="Arial"/>
              <a:ea typeface="Arial"/>
              <a:cs typeface="Arial"/>
              <a:sym typeface="Arial"/>
            </a:endParaRPr>
          </a:p>
        </p:txBody>
      </p:sp>
      <p:sp>
        <p:nvSpPr>
          <p:cNvPr id="136" name="Google Shape;136;p13"/>
          <p:cNvSpPr/>
          <p:nvPr/>
        </p:nvSpPr>
        <p:spPr>
          <a:xfrm>
            <a:off x="4710545" y="1647517"/>
            <a:ext cx="2104800" cy="914400"/>
          </a:xfrm>
          <a:prstGeom prst="roundRect">
            <a:avLst>
              <a:gd fmla="val 50000" name="adj"/>
            </a:avLst>
          </a:prstGeom>
          <a:solidFill>
            <a:srgbClr val="20425A"/>
          </a:solidFill>
          <a:ln cap="rnd" cmpd="sng" w="38100">
            <a:solidFill>
              <a:srgbClr val="20425A"/>
            </a:solidFill>
            <a:prstDash val="solid"/>
            <a:miter lim="800000"/>
            <a:headEnd len="sm" w="sm" type="none"/>
            <a:tailEnd len="sm" w="sm" type="none"/>
          </a:ln>
        </p:spPr>
        <p:txBody>
          <a:bodyPr anchorCtr="0" anchor="ctr" bIns="0" lIns="914400" spcFirstLastPara="1" rIns="0" wrap="square" tIns="0">
            <a:noAutofit/>
          </a:bodyPr>
          <a:lstStyle/>
          <a:p>
            <a:pPr indent="0" lvl="0" marL="0" marR="0" rtl="0" algn="l">
              <a:spcBef>
                <a:spcPts val="0"/>
              </a:spcBef>
              <a:spcAft>
                <a:spcPts val="0"/>
              </a:spcAft>
              <a:buNone/>
            </a:pPr>
            <a:r>
              <a:t/>
            </a:r>
            <a:endParaRPr b="0" i="0" sz="1467" u="none" cap="none" strike="noStrike">
              <a:solidFill>
                <a:srgbClr val="C0504D"/>
              </a:solidFill>
              <a:latin typeface="Arial"/>
              <a:ea typeface="Arial"/>
              <a:cs typeface="Arial"/>
              <a:sym typeface="Arial"/>
            </a:endParaRPr>
          </a:p>
        </p:txBody>
      </p:sp>
      <p:sp>
        <p:nvSpPr>
          <p:cNvPr id="137" name="Google Shape;137;p13"/>
          <p:cNvSpPr/>
          <p:nvPr/>
        </p:nvSpPr>
        <p:spPr>
          <a:xfrm>
            <a:off x="3678329" y="3808285"/>
            <a:ext cx="5486400" cy="914400"/>
          </a:xfrm>
          <a:prstGeom prst="roundRect">
            <a:avLst>
              <a:gd fmla="val 50000" name="adj"/>
            </a:avLst>
          </a:prstGeom>
          <a:solidFill>
            <a:schemeClr val="lt1"/>
          </a:solidFill>
          <a:ln cap="rnd" cmpd="sng" w="38100">
            <a:solidFill>
              <a:srgbClr val="20425A"/>
            </a:solidFill>
            <a:prstDash val="solid"/>
            <a:miter lim="800000"/>
            <a:headEnd len="sm" w="sm" type="none"/>
            <a:tailEnd len="sm" w="sm" type="none"/>
          </a:ln>
        </p:spPr>
        <p:txBody>
          <a:bodyPr anchorCtr="0" anchor="ctr" bIns="0" lIns="914400" spcFirstLastPara="1" rIns="0" wrap="square" tIns="0">
            <a:noAutofit/>
          </a:bodyPr>
          <a:lstStyle/>
          <a:p>
            <a:pPr indent="0" lvl="0" marL="0" marR="0" rtl="0" algn="l">
              <a:spcBef>
                <a:spcPts val="0"/>
              </a:spcBef>
              <a:spcAft>
                <a:spcPts val="0"/>
              </a:spcAft>
              <a:buNone/>
            </a:pPr>
            <a:r>
              <a:rPr b="0" i="0" lang="en-US" sz="2000" u="none" cap="none" strike="noStrike">
                <a:solidFill>
                  <a:srgbClr val="20425A"/>
                </a:solidFill>
                <a:latin typeface="Calibri"/>
                <a:ea typeface="Calibri"/>
                <a:cs typeface="Calibri"/>
                <a:sym typeface="Calibri"/>
              </a:rPr>
              <a:t>May be free text strings</a:t>
            </a:r>
            <a:endParaRPr b="0" i="0" sz="1467" u="none" cap="none" strike="noStrike">
              <a:solidFill>
                <a:srgbClr val="000000"/>
              </a:solidFill>
              <a:latin typeface="Arial"/>
              <a:ea typeface="Arial"/>
              <a:cs typeface="Arial"/>
              <a:sym typeface="Arial"/>
            </a:endParaRPr>
          </a:p>
          <a:p>
            <a:pPr indent="-287859" lvl="0" marL="287859" marR="0" rtl="0" algn="l">
              <a:spcBef>
                <a:spcPts val="267"/>
              </a:spcBef>
              <a:spcAft>
                <a:spcPts val="0"/>
              </a:spcAft>
              <a:buClr>
                <a:srgbClr val="20425A"/>
              </a:buClr>
              <a:buSzPts val="1200"/>
              <a:buFont typeface="Arial"/>
              <a:buChar char="•"/>
            </a:pPr>
            <a:r>
              <a:rPr b="1" i="0" lang="en-US" sz="1600" u="none" cap="none" strike="noStrike">
                <a:solidFill>
                  <a:srgbClr val="20425A"/>
                </a:solidFill>
                <a:latin typeface="Calibri"/>
                <a:ea typeface="Calibri"/>
                <a:cs typeface="Calibri"/>
                <a:sym typeface="Calibri"/>
              </a:rPr>
              <a:t>Centimeter, Intravenous, Cigarette Smoker</a:t>
            </a:r>
            <a:endParaRPr b="0" i="0" sz="1467" u="none" cap="none" strike="noStrike">
              <a:solidFill>
                <a:srgbClr val="000000"/>
              </a:solidFill>
              <a:latin typeface="Arial"/>
              <a:ea typeface="Arial"/>
              <a:cs typeface="Arial"/>
              <a:sym typeface="Arial"/>
            </a:endParaRPr>
          </a:p>
        </p:txBody>
      </p:sp>
      <p:sp>
        <p:nvSpPr>
          <p:cNvPr id="138" name="Google Shape;138;p13"/>
          <p:cNvSpPr/>
          <p:nvPr/>
        </p:nvSpPr>
        <p:spPr>
          <a:xfrm>
            <a:off x="3766283" y="3900188"/>
            <a:ext cx="731200" cy="731200"/>
          </a:xfrm>
          <a:prstGeom prst="ellipse">
            <a:avLst/>
          </a:prstGeom>
          <a:solidFill>
            <a:srgbClr val="F8B8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Arial"/>
                <a:ea typeface="Arial"/>
                <a:cs typeface="Arial"/>
                <a:sym typeface="Arial"/>
              </a:rPr>
              <a:t>3</a:t>
            </a:r>
            <a:endParaRPr b="0" i="0" sz="1467" u="none" cap="none" strike="noStrike">
              <a:solidFill>
                <a:srgbClr val="000000"/>
              </a:solidFill>
              <a:latin typeface="Arial"/>
              <a:ea typeface="Arial"/>
              <a:cs typeface="Arial"/>
              <a:sym typeface="Arial"/>
            </a:endParaRPr>
          </a:p>
        </p:txBody>
      </p:sp>
      <p:sp>
        <p:nvSpPr>
          <p:cNvPr id="139" name="Google Shape;139;p13"/>
          <p:cNvSpPr/>
          <p:nvPr/>
        </p:nvSpPr>
        <p:spPr>
          <a:xfrm>
            <a:off x="422793" y="1647517"/>
            <a:ext cx="5486400" cy="914400"/>
          </a:xfrm>
          <a:prstGeom prst="roundRect">
            <a:avLst>
              <a:gd fmla="val 50000" name="adj"/>
            </a:avLst>
          </a:prstGeom>
          <a:solidFill>
            <a:schemeClr val="lt1"/>
          </a:solidFill>
          <a:ln cap="rnd" cmpd="sng" w="38100">
            <a:solidFill>
              <a:srgbClr val="20425A"/>
            </a:solidFill>
            <a:prstDash val="solid"/>
            <a:miter lim="800000"/>
            <a:headEnd len="sm" w="sm" type="none"/>
            <a:tailEnd len="sm" w="sm" type="none"/>
          </a:ln>
        </p:spPr>
        <p:txBody>
          <a:bodyPr anchorCtr="0" anchor="ctr" bIns="0" lIns="914400" spcFirstLastPara="1" rIns="0" wrap="square" tIns="0">
            <a:noAutofit/>
          </a:bodyPr>
          <a:lstStyle/>
          <a:p>
            <a:pPr indent="0" lvl="0" marL="0" marR="0" rtl="0" algn="l">
              <a:spcBef>
                <a:spcPts val="0"/>
              </a:spcBef>
              <a:spcAft>
                <a:spcPts val="0"/>
              </a:spcAft>
              <a:buNone/>
            </a:pPr>
            <a:r>
              <a:rPr b="0" i="0" lang="en-US" sz="2000" u="none" cap="none" strike="noStrike">
                <a:solidFill>
                  <a:srgbClr val="20425A"/>
                </a:solidFill>
                <a:latin typeface="Calibri"/>
                <a:ea typeface="Calibri"/>
                <a:cs typeface="Calibri"/>
                <a:sym typeface="Calibri"/>
              </a:rPr>
              <a:t>May come from international terminology or code system</a:t>
            </a:r>
            <a:endParaRPr b="0" i="0" sz="1467" u="none" cap="none" strike="noStrike">
              <a:solidFill>
                <a:srgbClr val="000000"/>
              </a:solidFill>
              <a:latin typeface="Arial"/>
              <a:ea typeface="Arial"/>
              <a:cs typeface="Arial"/>
              <a:sym typeface="Arial"/>
            </a:endParaRPr>
          </a:p>
          <a:p>
            <a:pPr indent="-287859" lvl="0" marL="287859" marR="0" rtl="0" algn="l">
              <a:spcBef>
                <a:spcPts val="267"/>
              </a:spcBef>
              <a:spcAft>
                <a:spcPts val="0"/>
              </a:spcAft>
              <a:buClr>
                <a:srgbClr val="20425A"/>
              </a:buClr>
              <a:buSzPts val="1200"/>
              <a:buFont typeface="Arial"/>
              <a:buChar char="•"/>
            </a:pPr>
            <a:r>
              <a:rPr b="1" i="0" lang="en-US" sz="1600" u="none" cap="none" strike="noStrike">
                <a:solidFill>
                  <a:srgbClr val="20425A"/>
                </a:solidFill>
                <a:latin typeface="Calibri"/>
                <a:ea typeface="Calibri"/>
                <a:cs typeface="Calibri"/>
                <a:sym typeface="Calibri"/>
              </a:rPr>
              <a:t>SNOMED</a:t>
            </a:r>
            <a:endParaRPr b="0" i="0" sz="1467" u="none" cap="none" strike="noStrike">
              <a:solidFill>
                <a:srgbClr val="000000"/>
              </a:solidFill>
              <a:latin typeface="Arial"/>
              <a:ea typeface="Arial"/>
              <a:cs typeface="Arial"/>
              <a:sym typeface="Arial"/>
            </a:endParaRPr>
          </a:p>
        </p:txBody>
      </p:sp>
      <p:sp>
        <p:nvSpPr>
          <p:cNvPr id="140" name="Google Shape;140;p13"/>
          <p:cNvSpPr/>
          <p:nvPr/>
        </p:nvSpPr>
        <p:spPr>
          <a:xfrm>
            <a:off x="510749" y="1739420"/>
            <a:ext cx="731200" cy="731200"/>
          </a:xfrm>
          <a:prstGeom prst="ellipse">
            <a:avLst/>
          </a:prstGeom>
          <a:solidFill>
            <a:srgbClr val="F8B8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Arial"/>
                <a:ea typeface="Arial"/>
                <a:cs typeface="Arial"/>
                <a:sym typeface="Arial"/>
              </a:rPr>
              <a:t>1</a:t>
            </a:r>
            <a:endParaRPr b="0" i="0" sz="1467" u="none" cap="none" strike="noStrike">
              <a:solidFill>
                <a:srgbClr val="000000"/>
              </a:solidFill>
              <a:latin typeface="Arial"/>
              <a:ea typeface="Arial"/>
              <a:cs typeface="Arial"/>
              <a:sym typeface="Arial"/>
            </a:endParaRPr>
          </a:p>
        </p:txBody>
      </p:sp>
      <p:sp>
        <p:nvSpPr>
          <p:cNvPr id="141" name="Google Shape;141;p13"/>
          <p:cNvSpPr/>
          <p:nvPr/>
        </p:nvSpPr>
        <p:spPr>
          <a:xfrm>
            <a:off x="2032868" y="2727901"/>
            <a:ext cx="5486400" cy="914400"/>
          </a:xfrm>
          <a:prstGeom prst="roundRect">
            <a:avLst>
              <a:gd fmla="val 50000" name="adj"/>
            </a:avLst>
          </a:prstGeom>
          <a:solidFill>
            <a:schemeClr val="lt1"/>
          </a:solidFill>
          <a:ln cap="rnd" cmpd="sng" w="38100">
            <a:solidFill>
              <a:srgbClr val="20425A"/>
            </a:solidFill>
            <a:prstDash val="solid"/>
            <a:miter lim="800000"/>
            <a:headEnd len="sm" w="sm" type="none"/>
            <a:tailEnd len="sm" w="sm" type="none"/>
          </a:ln>
        </p:spPr>
        <p:txBody>
          <a:bodyPr anchorCtr="0" anchor="ctr" bIns="0" lIns="914400" spcFirstLastPara="1" rIns="0" wrap="square" tIns="0">
            <a:noAutofit/>
          </a:bodyPr>
          <a:lstStyle/>
          <a:p>
            <a:pPr indent="0" lvl="0" marL="0" marR="0" rtl="0" algn="l">
              <a:spcBef>
                <a:spcPts val="0"/>
              </a:spcBef>
              <a:spcAft>
                <a:spcPts val="0"/>
              </a:spcAft>
              <a:buNone/>
            </a:pPr>
            <a:r>
              <a:rPr b="0" i="0" lang="en-US" sz="2000" u="none" cap="none" strike="noStrike">
                <a:solidFill>
                  <a:srgbClr val="20425A"/>
                </a:solidFill>
                <a:latin typeface="Calibri"/>
                <a:ea typeface="Calibri"/>
                <a:cs typeface="Calibri"/>
                <a:sym typeface="Calibri"/>
              </a:rPr>
              <a:t>May come from a country specific terminology or code system</a:t>
            </a:r>
            <a:endParaRPr b="0" i="0" sz="1467" u="none" cap="none" strike="noStrike">
              <a:solidFill>
                <a:srgbClr val="000000"/>
              </a:solidFill>
              <a:latin typeface="Arial"/>
              <a:ea typeface="Arial"/>
              <a:cs typeface="Arial"/>
              <a:sym typeface="Arial"/>
            </a:endParaRPr>
          </a:p>
          <a:p>
            <a:pPr indent="-338658" lvl="0" marL="338658" marR="0" rtl="0" algn="l">
              <a:spcBef>
                <a:spcPts val="267"/>
              </a:spcBef>
              <a:spcAft>
                <a:spcPts val="0"/>
              </a:spcAft>
              <a:buClr>
                <a:srgbClr val="20425A"/>
              </a:buClr>
              <a:buSzPts val="1200"/>
              <a:buFont typeface="Arial"/>
              <a:buChar char="•"/>
            </a:pPr>
            <a:r>
              <a:rPr b="1" i="0" lang="en-US" sz="1600" u="none" cap="none" strike="noStrike">
                <a:solidFill>
                  <a:srgbClr val="20425A"/>
                </a:solidFill>
                <a:latin typeface="Calibri"/>
                <a:ea typeface="Calibri"/>
                <a:cs typeface="Calibri"/>
                <a:sym typeface="Calibri"/>
              </a:rPr>
              <a:t>Read, BDPM, ICD10CN, CVX </a:t>
            </a:r>
            <a:endParaRPr b="0" i="0" sz="1467" u="none" cap="none" strike="noStrike">
              <a:solidFill>
                <a:srgbClr val="000000"/>
              </a:solidFill>
              <a:latin typeface="Arial"/>
              <a:ea typeface="Arial"/>
              <a:cs typeface="Arial"/>
              <a:sym typeface="Arial"/>
            </a:endParaRPr>
          </a:p>
        </p:txBody>
      </p:sp>
      <p:sp>
        <p:nvSpPr>
          <p:cNvPr id="142" name="Google Shape;142;p13"/>
          <p:cNvSpPr/>
          <p:nvPr/>
        </p:nvSpPr>
        <p:spPr>
          <a:xfrm>
            <a:off x="2120824" y="2819804"/>
            <a:ext cx="731200" cy="731200"/>
          </a:xfrm>
          <a:prstGeom prst="ellipse">
            <a:avLst/>
          </a:prstGeom>
          <a:solidFill>
            <a:srgbClr val="F8B8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Arial"/>
                <a:ea typeface="Arial"/>
                <a:cs typeface="Arial"/>
                <a:sym typeface="Arial"/>
              </a:rPr>
              <a:t>2</a:t>
            </a:r>
            <a:endParaRPr b="0" i="0" sz="1467" u="none" cap="none" strike="noStrike">
              <a:solidFill>
                <a:srgbClr val="000000"/>
              </a:solidFill>
              <a:latin typeface="Arial"/>
              <a:ea typeface="Arial"/>
              <a:cs typeface="Arial"/>
              <a:sym typeface="Arial"/>
            </a:endParaRPr>
          </a:p>
        </p:txBody>
      </p:sp>
      <p:sp>
        <p:nvSpPr>
          <p:cNvPr id="143" name="Google Shape;143;p13"/>
          <p:cNvSpPr/>
          <p:nvPr/>
        </p:nvSpPr>
        <p:spPr>
          <a:xfrm>
            <a:off x="5323789" y="4888669"/>
            <a:ext cx="5486400" cy="914400"/>
          </a:xfrm>
          <a:prstGeom prst="roundRect">
            <a:avLst>
              <a:gd fmla="val 50000" name="adj"/>
            </a:avLst>
          </a:prstGeom>
          <a:solidFill>
            <a:schemeClr val="lt1"/>
          </a:solidFill>
          <a:ln cap="rnd" cmpd="sng" w="38100">
            <a:solidFill>
              <a:srgbClr val="20425A"/>
            </a:solidFill>
            <a:prstDash val="solid"/>
            <a:miter lim="800000"/>
            <a:headEnd len="sm" w="sm" type="none"/>
            <a:tailEnd len="sm" w="sm" type="none"/>
          </a:ln>
        </p:spPr>
        <p:txBody>
          <a:bodyPr anchorCtr="0" anchor="ctr" bIns="0" lIns="914400" spcFirstLastPara="1" rIns="0" wrap="square" tIns="0">
            <a:noAutofit/>
          </a:bodyPr>
          <a:lstStyle/>
          <a:p>
            <a:pPr indent="0" lvl="0" marL="0" marR="0" rtl="0" algn="l">
              <a:spcBef>
                <a:spcPts val="0"/>
              </a:spcBef>
              <a:spcAft>
                <a:spcPts val="0"/>
              </a:spcAft>
              <a:buNone/>
            </a:pPr>
            <a:r>
              <a:rPr b="0" i="0" lang="en-US" sz="2000" u="none" cap="none" strike="noStrike">
                <a:solidFill>
                  <a:srgbClr val="20425A"/>
                </a:solidFill>
                <a:latin typeface="Calibri"/>
                <a:ea typeface="Calibri"/>
                <a:cs typeface="Calibri"/>
                <a:sym typeface="Calibri"/>
              </a:rPr>
              <a:t>May come from an EHR specific code system</a:t>
            </a:r>
            <a:endParaRPr b="0" i="0" sz="1467" u="none" cap="none" strike="noStrike">
              <a:solidFill>
                <a:srgbClr val="000000"/>
              </a:solidFill>
              <a:latin typeface="Arial"/>
              <a:ea typeface="Arial"/>
              <a:cs typeface="Arial"/>
              <a:sym typeface="Arial"/>
            </a:endParaRPr>
          </a:p>
          <a:p>
            <a:pPr indent="-338658" lvl="0" marL="338658" marR="0" rtl="0" algn="l">
              <a:spcBef>
                <a:spcPts val="267"/>
              </a:spcBef>
              <a:spcAft>
                <a:spcPts val="0"/>
              </a:spcAft>
              <a:buClr>
                <a:srgbClr val="20425A"/>
              </a:buClr>
              <a:buSzPts val="1200"/>
              <a:buFont typeface="Arial"/>
              <a:buChar char="•"/>
            </a:pPr>
            <a:r>
              <a:rPr b="1" i="0" lang="en-US" sz="1600" u="none" cap="none" strike="noStrike">
                <a:solidFill>
                  <a:srgbClr val="20425A"/>
                </a:solidFill>
                <a:latin typeface="Calibri"/>
                <a:ea typeface="Calibri"/>
                <a:cs typeface="Calibri"/>
                <a:sym typeface="Calibri"/>
              </a:rPr>
              <a:t>Epic procedure codes: ‘L111’</a:t>
            </a:r>
            <a:endParaRPr b="1" i="0" sz="2000" u="none" cap="none" strike="noStrike">
              <a:solidFill>
                <a:srgbClr val="20425A"/>
              </a:solidFill>
              <a:latin typeface="Calibri"/>
              <a:ea typeface="Calibri"/>
              <a:cs typeface="Calibri"/>
              <a:sym typeface="Calibri"/>
            </a:endParaRPr>
          </a:p>
        </p:txBody>
      </p:sp>
      <p:sp>
        <p:nvSpPr>
          <p:cNvPr id="144" name="Google Shape;144;p13"/>
          <p:cNvSpPr/>
          <p:nvPr/>
        </p:nvSpPr>
        <p:spPr>
          <a:xfrm>
            <a:off x="5411744" y="4980572"/>
            <a:ext cx="731200" cy="731200"/>
          </a:xfrm>
          <a:prstGeom prst="ellipse">
            <a:avLst/>
          </a:prstGeom>
          <a:solidFill>
            <a:srgbClr val="F8B81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Arial"/>
                <a:ea typeface="Arial"/>
                <a:cs typeface="Arial"/>
                <a:sym typeface="Arial"/>
              </a:rPr>
              <a:t>4</a:t>
            </a:r>
            <a:endParaRPr b="0" i="0" sz="1467"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4"/>
          <p:cNvSpPr txBox="1"/>
          <p:nvPr>
            <p:ph type="title"/>
          </p:nvPr>
        </p:nvSpPr>
        <p:spPr>
          <a:xfrm>
            <a:off x="1143000" y="114300"/>
            <a:ext cx="10376000" cy="7988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20425A"/>
              </a:buClr>
              <a:buSzPts val="3000"/>
              <a:buFont typeface="Calibri"/>
              <a:buNone/>
            </a:pPr>
            <a:r>
              <a:rPr b="1" lang="en-US"/>
              <a:t>Different Categories of Concepts</a:t>
            </a:r>
            <a:endParaRPr/>
          </a:p>
        </p:txBody>
      </p:sp>
      <p:cxnSp>
        <p:nvCxnSpPr>
          <p:cNvPr id="150" name="Google Shape;150;p14"/>
          <p:cNvCxnSpPr/>
          <p:nvPr/>
        </p:nvCxnSpPr>
        <p:spPr>
          <a:xfrm>
            <a:off x="0" y="4387259"/>
            <a:ext cx="12192000" cy="0"/>
          </a:xfrm>
          <a:prstGeom prst="straightConnector1">
            <a:avLst/>
          </a:prstGeom>
          <a:noFill/>
          <a:ln cap="flat" cmpd="sng" w="38100">
            <a:solidFill>
              <a:srgbClr val="959DA1"/>
            </a:solidFill>
            <a:prstDash val="solid"/>
            <a:miter lim="800000"/>
            <a:headEnd len="sm" w="sm" type="none"/>
            <a:tailEnd len="sm" w="sm" type="none"/>
          </a:ln>
        </p:spPr>
      </p:cxnSp>
      <p:sp>
        <p:nvSpPr>
          <p:cNvPr id="151" name="Google Shape;151;p14"/>
          <p:cNvSpPr/>
          <p:nvPr/>
        </p:nvSpPr>
        <p:spPr>
          <a:xfrm rot="10800000">
            <a:off x="5320253" y="3656464"/>
            <a:ext cx="1551600" cy="842800"/>
          </a:xfrm>
          <a:prstGeom prst="triangle">
            <a:avLst>
              <a:gd fmla="val 50000" name="adj"/>
            </a:avLst>
          </a:prstGeom>
          <a:solidFill>
            <a:srgbClr val="C9DA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sp>
        <p:nvSpPr>
          <p:cNvPr id="152" name="Google Shape;152;p14"/>
          <p:cNvSpPr/>
          <p:nvPr/>
        </p:nvSpPr>
        <p:spPr>
          <a:xfrm>
            <a:off x="5958839" y="4250095"/>
            <a:ext cx="274000" cy="274000"/>
          </a:xfrm>
          <a:prstGeom prst="ellipse">
            <a:avLst/>
          </a:prstGeom>
          <a:solidFill>
            <a:schemeClr val="lt1"/>
          </a:solidFill>
          <a:ln cap="flat" cmpd="sng" w="38100">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sp>
        <p:nvSpPr>
          <p:cNvPr id="153" name="Google Shape;153;p14"/>
          <p:cNvSpPr/>
          <p:nvPr/>
        </p:nvSpPr>
        <p:spPr>
          <a:xfrm>
            <a:off x="4977319" y="1815991"/>
            <a:ext cx="2249200" cy="2016800"/>
          </a:xfrm>
          <a:prstGeom prst="ellipse">
            <a:avLst/>
          </a:prstGeom>
          <a:solidFill>
            <a:schemeClr val="lt1"/>
          </a:solidFill>
          <a:ln cap="flat" cmpd="sng" w="152400">
            <a:solidFill>
              <a:srgbClr val="0000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sp>
        <p:nvSpPr>
          <p:cNvPr id="154" name="Google Shape;154;p14"/>
          <p:cNvSpPr txBox="1"/>
          <p:nvPr/>
        </p:nvSpPr>
        <p:spPr>
          <a:xfrm>
            <a:off x="4848933" y="4689604"/>
            <a:ext cx="2721200" cy="1561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2267" u="none" cap="none" strike="noStrike">
                <a:solidFill>
                  <a:srgbClr val="000000"/>
                </a:solidFill>
                <a:latin typeface="Calibri"/>
                <a:ea typeface="Calibri"/>
                <a:cs typeface="Calibri"/>
                <a:sym typeface="Calibri"/>
              </a:rPr>
              <a:t>Function</a:t>
            </a:r>
            <a:endParaRPr b="0" i="0" sz="2267" u="none" cap="none" strike="noStrike">
              <a:solidFill>
                <a:srgbClr val="000000"/>
              </a:solidFill>
              <a:latin typeface="Arial"/>
              <a:ea typeface="Arial"/>
              <a:cs typeface="Arial"/>
              <a:sym typeface="Arial"/>
            </a:endParaRPr>
          </a:p>
          <a:p>
            <a:pPr indent="0" lvl="0" marL="0" marR="0" rtl="0" algn="ctr">
              <a:spcBef>
                <a:spcPts val="667"/>
              </a:spcBef>
              <a:spcAft>
                <a:spcPts val="0"/>
              </a:spcAft>
              <a:buNone/>
            </a:pPr>
            <a:r>
              <a:rPr b="0" i="0" lang="en-US" sz="2267" u="none" cap="none" strike="noStrike">
                <a:solidFill>
                  <a:srgbClr val="000000"/>
                </a:solidFill>
                <a:latin typeface="Calibri"/>
                <a:ea typeface="Calibri"/>
                <a:cs typeface="Calibri"/>
                <a:sym typeface="Calibri"/>
              </a:rPr>
              <a:t>Used for standardized analytics and by</a:t>
            </a:r>
            <a:endParaRPr b="0" i="0" sz="2267" u="none" cap="none" strike="noStrike">
              <a:solidFill>
                <a:srgbClr val="000000"/>
              </a:solidFill>
              <a:latin typeface="Arial"/>
              <a:ea typeface="Arial"/>
              <a:cs typeface="Arial"/>
              <a:sym typeface="Arial"/>
            </a:endParaRPr>
          </a:p>
          <a:p>
            <a:pPr indent="0" lvl="0" marL="0" marR="0" rtl="0" algn="ctr">
              <a:spcBef>
                <a:spcPts val="0"/>
              </a:spcBef>
              <a:spcAft>
                <a:spcPts val="0"/>
              </a:spcAft>
              <a:buNone/>
            </a:pPr>
            <a:r>
              <a:rPr b="0" i="0" lang="en-US" sz="2267" u="none" cap="none" strike="noStrike">
                <a:solidFill>
                  <a:srgbClr val="000000"/>
                </a:solidFill>
                <a:latin typeface="Calibri"/>
                <a:ea typeface="Calibri"/>
                <a:cs typeface="Calibri"/>
                <a:sym typeface="Calibri"/>
              </a:rPr>
              <a:t>OHDSI tools</a:t>
            </a:r>
            <a:endParaRPr b="0" i="0" sz="2267" u="none" cap="none" strike="noStrike">
              <a:solidFill>
                <a:srgbClr val="000000"/>
              </a:solidFill>
              <a:latin typeface="Arial"/>
              <a:ea typeface="Arial"/>
              <a:cs typeface="Arial"/>
              <a:sym typeface="Arial"/>
            </a:endParaRPr>
          </a:p>
        </p:txBody>
      </p:sp>
      <p:sp>
        <p:nvSpPr>
          <p:cNvPr id="155" name="Google Shape;155;p14"/>
          <p:cNvSpPr/>
          <p:nvPr/>
        </p:nvSpPr>
        <p:spPr>
          <a:xfrm>
            <a:off x="5310133" y="2344591"/>
            <a:ext cx="1675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0000FF"/>
                </a:solidFill>
                <a:latin typeface="Calibri"/>
                <a:ea typeface="Calibri"/>
                <a:cs typeface="Calibri"/>
                <a:sym typeface="Calibri"/>
              </a:rPr>
              <a:t>Standard Concepts</a:t>
            </a:r>
            <a:endParaRPr b="0" i="0" sz="1467" u="none" cap="none" strike="noStrike">
              <a:solidFill>
                <a:srgbClr val="0000FF"/>
              </a:solidFill>
              <a:latin typeface="Arial"/>
              <a:ea typeface="Arial"/>
              <a:cs typeface="Arial"/>
              <a:sym typeface="Arial"/>
            </a:endParaRPr>
          </a:p>
        </p:txBody>
      </p:sp>
      <p:sp>
        <p:nvSpPr>
          <p:cNvPr id="156" name="Google Shape;156;p14"/>
          <p:cNvSpPr/>
          <p:nvPr/>
        </p:nvSpPr>
        <p:spPr>
          <a:xfrm rot="10800000">
            <a:off x="759325" y="3544455"/>
            <a:ext cx="1551600" cy="842800"/>
          </a:xfrm>
          <a:prstGeom prst="triangle">
            <a:avLst>
              <a:gd fmla="val 50000" name="adj"/>
            </a:avLst>
          </a:prstGeom>
          <a:solidFill>
            <a:srgbClr val="F4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1DABFF"/>
              </a:solidFill>
              <a:latin typeface="Arial"/>
              <a:ea typeface="Arial"/>
              <a:cs typeface="Arial"/>
              <a:sym typeface="Arial"/>
            </a:endParaRPr>
          </a:p>
        </p:txBody>
      </p:sp>
      <p:sp>
        <p:nvSpPr>
          <p:cNvPr id="157" name="Google Shape;157;p14"/>
          <p:cNvSpPr/>
          <p:nvPr/>
        </p:nvSpPr>
        <p:spPr>
          <a:xfrm>
            <a:off x="1395363" y="4252328"/>
            <a:ext cx="274000" cy="274000"/>
          </a:xfrm>
          <a:prstGeom prst="ellipse">
            <a:avLst/>
          </a:prstGeom>
          <a:solidFill>
            <a:schemeClr val="lt1"/>
          </a:solidFill>
          <a:ln cap="flat" cmpd="sng" w="3810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20425A"/>
              </a:solidFill>
              <a:latin typeface="Arial"/>
              <a:ea typeface="Arial"/>
              <a:cs typeface="Arial"/>
              <a:sym typeface="Arial"/>
            </a:endParaRPr>
          </a:p>
        </p:txBody>
      </p:sp>
      <p:sp>
        <p:nvSpPr>
          <p:cNvPr id="158" name="Google Shape;158;p14"/>
          <p:cNvSpPr/>
          <p:nvPr/>
        </p:nvSpPr>
        <p:spPr>
          <a:xfrm>
            <a:off x="394685" y="1792945"/>
            <a:ext cx="2249200" cy="2016800"/>
          </a:xfrm>
          <a:prstGeom prst="ellipse">
            <a:avLst/>
          </a:prstGeom>
          <a:solidFill>
            <a:schemeClr val="lt1"/>
          </a:solidFill>
          <a:ln cap="flat" cmpd="sng" w="152400">
            <a:solidFill>
              <a:srgbClr val="A61C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20425A"/>
              </a:solidFill>
              <a:latin typeface="Arial"/>
              <a:ea typeface="Arial"/>
              <a:cs typeface="Arial"/>
              <a:sym typeface="Arial"/>
            </a:endParaRPr>
          </a:p>
        </p:txBody>
      </p:sp>
      <p:sp>
        <p:nvSpPr>
          <p:cNvPr id="159" name="Google Shape;159;p14"/>
          <p:cNvSpPr txBox="1"/>
          <p:nvPr/>
        </p:nvSpPr>
        <p:spPr>
          <a:xfrm>
            <a:off x="340893" y="4689604"/>
            <a:ext cx="2552000" cy="1561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2267" u="none" cap="none" strike="noStrike">
                <a:solidFill>
                  <a:srgbClr val="20425A"/>
                </a:solidFill>
                <a:latin typeface="Calibri"/>
                <a:ea typeface="Calibri"/>
                <a:cs typeface="Calibri"/>
                <a:sym typeface="Calibri"/>
              </a:rPr>
              <a:t>Function</a:t>
            </a:r>
            <a:endParaRPr b="0" i="0" sz="2267" u="none" cap="none" strike="noStrike">
              <a:solidFill>
                <a:srgbClr val="000000"/>
              </a:solidFill>
              <a:latin typeface="Calibri"/>
              <a:ea typeface="Calibri"/>
              <a:cs typeface="Calibri"/>
              <a:sym typeface="Calibri"/>
            </a:endParaRPr>
          </a:p>
          <a:p>
            <a:pPr indent="0" lvl="0" marL="0" marR="0" rtl="0" algn="ctr">
              <a:spcBef>
                <a:spcPts val="667"/>
              </a:spcBef>
              <a:spcAft>
                <a:spcPts val="0"/>
              </a:spcAft>
              <a:buNone/>
            </a:pPr>
            <a:r>
              <a:rPr b="0" i="0" lang="en-US" sz="2267" u="none" cap="none" strike="noStrike">
                <a:solidFill>
                  <a:srgbClr val="20425A"/>
                </a:solidFill>
                <a:latin typeface="Calibri"/>
                <a:ea typeface="Calibri"/>
                <a:cs typeface="Calibri"/>
                <a:sym typeface="Calibri"/>
              </a:rPr>
              <a:t>Unique representation of a source code</a:t>
            </a:r>
            <a:endParaRPr b="0" i="0" sz="2267" u="none" cap="none" strike="noStrike">
              <a:solidFill>
                <a:srgbClr val="000000"/>
              </a:solidFill>
              <a:latin typeface="Calibri"/>
              <a:ea typeface="Calibri"/>
              <a:cs typeface="Calibri"/>
              <a:sym typeface="Calibri"/>
            </a:endParaRPr>
          </a:p>
        </p:txBody>
      </p:sp>
      <p:sp>
        <p:nvSpPr>
          <p:cNvPr id="160" name="Google Shape;160;p14"/>
          <p:cNvSpPr/>
          <p:nvPr/>
        </p:nvSpPr>
        <p:spPr>
          <a:xfrm>
            <a:off x="681296" y="2076401"/>
            <a:ext cx="1675600" cy="1385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A61C00"/>
                </a:solidFill>
                <a:latin typeface="Calibri"/>
                <a:ea typeface="Calibri"/>
                <a:cs typeface="Calibri"/>
                <a:sym typeface="Calibri"/>
              </a:rPr>
              <a:t>Non-</a:t>
            </a:r>
            <a:br>
              <a:rPr b="1" i="0" lang="en-US" sz="2800" u="none" cap="none" strike="noStrike">
                <a:solidFill>
                  <a:srgbClr val="A61C00"/>
                </a:solidFill>
                <a:latin typeface="Calibri"/>
                <a:ea typeface="Calibri"/>
                <a:cs typeface="Calibri"/>
                <a:sym typeface="Calibri"/>
              </a:rPr>
            </a:br>
            <a:r>
              <a:rPr b="1" i="0" lang="en-US" sz="2800" u="none" cap="none" strike="noStrike">
                <a:solidFill>
                  <a:srgbClr val="A61C00"/>
                </a:solidFill>
                <a:latin typeface="Calibri"/>
                <a:ea typeface="Calibri"/>
                <a:cs typeface="Calibri"/>
                <a:sym typeface="Calibri"/>
              </a:rPr>
              <a:t>standard Concepts</a:t>
            </a:r>
            <a:endParaRPr b="0" i="0" sz="1467" u="none" cap="none" strike="noStrike">
              <a:solidFill>
                <a:srgbClr val="A61C00"/>
              </a:solidFill>
              <a:latin typeface="Arial"/>
              <a:ea typeface="Arial"/>
              <a:cs typeface="Arial"/>
              <a:sym typeface="Arial"/>
            </a:endParaRPr>
          </a:p>
        </p:txBody>
      </p:sp>
      <p:sp>
        <p:nvSpPr>
          <p:cNvPr id="161" name="Google Shape;161;p14"/>
          <p:cNvSpPr/>
          <p:nvPr/>
        </p:nvSpPr>
        <p:spPr>
          <a:xfrm rot="10800000">
            <a:off x="9665095" y="3552767"/>
            <a:ext cx="1551600" cy="842800"/>
          </a:xfrm>
          <a:prstGeom prst="triangle">
            <a:avLst>
              <a:gd fmla="val 50000" name="adj"/>
            </a:avLst>
          </a:prstGeom>
          <a:solidFill>
            <a:srgbClr val="D9D2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1DABFF"/>
              </a:solidFill>
              <a:latin typeface="Arial"/>
              <a:ea typeface="Arial"/>
              <a:cs typeface="Arial"/>
              <a:sym typeface="Arial"/>
            </a:endParaRPr>
          </a:p>
        </p:txBody>
      </p:sp>
      <p:sp>
        <p:nvSpPr>
          <p:cNvPr id="162" name="Google Shape;162;p14"/>
          <p:cNvSpPr/>
          <p:nvPr/>
        </p:nvSpPr>
        <p:spPr>
          <a:xfrm>
            <a:off x="10303681" y="4207068"/>
            <a:ext cx="274000" cy="274000"/>
          </a:xfrm>
          <a:prstGeom prst="ellipse">
            <a:avLst/>
          </a:prstGeom>
          <a:solidFill>
            <a:schemeClr val="lt1"/>
          </a:solidFill>
          <a:ln cap="flat" cmpd="sng" w="38100">
            <a:solidFill>
              <a:srgbClr val="9900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20425A"/>
              </a:solidFill>
              <a:latin typeface="Arial"/>
              <a:ea typeface="Arial"/>
              <a:cs typeface="Arial"/>
              <a:sym typeface="Arial"/>
            </a:endParaRPr>
          </a:p>
        </p:txBody>
      </p:sp>
      <p:sp>
        <p:nvSpPr>
          <p:cNvPr id="163" name="Google Shape;163;p14"/>
          <p:cNvSpPr/>
          <p:nvPr/>
        </p:nvSpPr>
        <p:spPr>
          <a:xfrm>
            <a:off x="9333345" y="1724453"/>
            <a:ext cx="2249200" cy="2016800"/>
          </a:xfrm>
          <a:prstGeom prst="ellipse">
            <a:avLst/>
          </a:prstGeom>
          <a:solidFill>
            <a:schemeClr val="lt1"/>
          </a:solidFill>
          <a:ln cap="flat" cmpd="sng" w="152400">
            <a:solidFill>
              <a:srgbClr val="9900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rgbClr val="20425A"/>
              </a:solidFill>
              <a:latin typeface="Calibri"/>
              <a:ea typeface="Calibri"/>
              <a:cs typeface="Calibri"/>
              <a:sym typeface="Calibri"/>
            </a:endParaRPr>
          </a:p>
        </p:txBody>
      </p:sp>
      <p:sp>
        <p:nvSpPr>
          <p:cNvPr id="164" name="Google Shape;164;p14"/>
          <p:cNvSpPr txBox="1"/>
          <p:nvPr/>
        </p:nvSpPr>
        <p:spPr>
          <a:xfrm>
            <a:off x="9252121" y="4661579"/>
            <a:ext cx="2377600" cy="1589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2267" u="none" cap="none" strike="noStrike">
                <a:solidFill>
                  <a:srgbClr val="000000"/>
                </a:solidFill>
                <a:latin typeface="Calibri"/>
                <a:ea typeface="Calibri"/>
                <a:cs typeface="Calibri"/>
                <a:sym typeface="Calibri"/>
              </a:rPr>
              <a:t>Function</a:t>
            </a:r>
            <a:endParaRPr b="1" i="0" sz="2267" u="none" cap="none" strike="noStrike">
              <a:solidFill>
                <a:srgbClr val="000000"/>
              </a:solidFill>
              <a:latin typeface="Calibri"/>
              <a:ea typeface="Calibri"/>
              <a:cs typeface="Calibri"/>
              <a:sym typeface="Calibri"/>
            </a:endParaRPr>
          </a:p>
          <a:p>
            <a:pPr indent="0" lvl="0" marL="0" marR="0" rtl="0" algn="ctr">
              <a:spcBef>
                <a:spcPts val="0"/>
              </a:spcBef>
              <a:spcAft>
                <a:spcPts val="0"/>
              </a:spcAft>
              <a:buNone/>
            </a:pPr>
            <a:r>
              <a:rPr b="0" i="0" lang="en-US" sz="2267" u="none" cap="none" strike="noStrike">
                <a:solidFill>
                  <a:srgbClr val="000000"/>
                </a:solidFill>
                <a:latin typeface="Calibri"/>
                <a:ea typeface="Calibri"/>
                <a:cs typeface="Calibri"/>
                <a:sym typeface="Calibri"/>
              </a:rPr>
              <a:t>Used to perform hierarchical queries</a:t>
            </a:r>
            <a:endParaRPr b="0" i="0" sz="2267" u="none" cap="none" strike="noStrike">
              <a:solidFill>
                <a:srgbClr val="000000"/>
              </a:solidFill>
              <a:latin typeface="Arial"/>
              <a:ea typeface="Arial"/>
              <a:cs typeface="Arial"/>
              <a:sym typeface="Arial"/>
            </a:endParaRPr>
          </a:p>
        </p:txBody>
      </p:sp>
      <p:sp>
        <p:nvSpPr>
          <p:cNvPr id="165" name="Google Shape;165;p14"/>
          <p:cNvSpPr/>
          <p:nvPr/>
        </p:nvSpPr>
        <p:spPr>
          <a:xfrm>
            <a:off x="9333345" y="2324316"/>
            <a:ext cx="2185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9900FF"/>
                </a:solidFill>
                <a:latin typeface="Calibri"/>
                <a:ea typeface="Calibri"/>
                <a:cs typeface="Calibri"/>
                <a:sym typeface="Calibri"/>
              </a:rPr>
              <a:t>Classification</a:t>
            </a:r>
            <a:endParaRPr b="0" i="0" sz="1467" u="none" cap="none" strike="noStrike">
              <a:solidFill>
                <a:srgbClr val="9900FF"/>
              </a:solidFill>
              <a:latin typeface="Arial"/>
              <a:ea typeface="Arial"/>
              <a:cs typeface="Arial"/>
              <a:sym typeface="Arial"/>
            </a:endParaRPr>
          </a:p>
          <a:p>
            <a:pPr indent="0" lvl="0" marL="0" marR="0" rtl="0" algn="ctr">
              <a:spcBef>
                <a:spcPts val="0"/>
              </a:spcBef>
              <a:spcAft>
                <a:spcPts val="0"/>
              </a:spcAft>
              <a:buNone/>
            </a:pPr>
            <a:r>
              <a:rPr b="1" i="0" lang="en-US" sz="2800" u="none" cap="none" strike="noStrike">
                <a:solidFill>
                  <a:srgbClr val="9900FF"/>
                </a:solidFill>
                <a:latin typeface="Calibri"/>
                <a:ea typeface="Calibri"/>
                <a:cs typeface="Calibri"/>
                <a:sym typeface="Calibri"/>
              </a:rPr>
              <a:t>Concepts</a:t>
            </a:r>
            <a:endParaRPr b="0" i="0" sz="1467" u="none" cap="none" strike="noStrike">
              <a:solidFill>
                <a:srgbClr val="9900FF"/>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1524000" y="104931"/>
            <a:ext cx="10058400" cy="10492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20425A"/>
              </a:buClr>
              <a:buSzPts val="3000"/>
              <a:buFont typeface="Calibri"/>
              <a:buNone/>
            </a:pPr>
            <a:r>
              <a:rPr b="1" lang="en-US"/>
              <a:t>Mapping non-standard  concept_ids to standard concept_ids</a:t>
            </a:r>
            <a:endParaRPr b="1"/>
          </a:p>
        </p:txBody>
      </p:sp>
      <p:sp>
        <p:nvSpPr>
          <p:cNvPr id="171" name="Google Shape;171;p15"/>
          <p:cNvSpPr/>
          <p:nvPr/>
        </p:nvSpPr>
        <p:spPr>
          <a:xfrm>
            <a:off x="8376553" y="2262407"/>
            <a:ext cx="2596800" cy="2534400"/>
          </a:xfrm>
          <a:prstGeom prst="ellipse">
            <a:avLst/>
          </a:prstGeom>
          <a:solidFill>
            <a:schemeClr val="lt1"/>
          </a:solidFill>
          <a:ln cap="flat" cmpd="sng" w="152400">
            <a:solidFill>
              <a:srgbClr val="0000F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20415A"/>
              </a:solidFill>
              <a:latin typeface="Arial"/>
              <a:ea typeface="Arial"/>
              <a:cs typeface="Arial"/>
              <a:sym typeface="Arial"/>
            </a:endParaRPr>
          </a:p>
        </p:txBody>
      </p:sp>
      <p:sp>
        <p:nvSpPr>
          <p:cNvPr id="172" name="Google Shape;172;p15"/>
          <p:cNvSpPr/>
          <p:nvPr/>
        </p:nvSpPr>
        <p:spPr>
          <a:xfrm>
            <a:off x="8754153" y="3002343"/>
            <a:ext cx="1841600" cy="954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0000FF"/>
                </a:solidFill>
                <a:latin typeface="Calibri"/>
                <a:ea typeface="Calibri"/>
                <a:cs typeface="Calibri"/>
                <a:sym typeface="Calibri"/>
              </a:rPr>
              <a:t>Standard Concepts</a:t>
            </a:r>
            <a:endParaRPr b="0" i="0" sz="2800" u="none" cap="none" strike="noStrike">
              <a:solidFill>
                <a:srgbClr val="0000FF"/>
              </a:solidFill>
              <a:latin typeface="Arial"/>
              <a:ea typeface="Arial"/>
              <a:cs typeface="Arial"/>
              <a:sym typeface="Arial"/>
            </a:endParaRPr>
          </a:p>
        </p:txBody>
      </p:sp>
      <p:sp>
        <p:nvSpPr>
          <p:cNvPr id="173" name="Google Shape;173;p15"/>
          <p:cNvSpPr/>
          <p:nvPr/>
        </p:nvSpPr>
        <p:spPr>
          <a:xfrm>
            <a:off x="648157" y="2262407"/>
            <a:ext cx="2596800" cy="2534400"/>
          </a:xfrm>
          <a:prstGeom prst="ellipse">
            <a:avLst/>
          </a:prstGeom>
          <a:solidFill>
            <a:schemeClr val="lt1"/>
          </a:solidFill>
          <a:ln cap="flat" cmpd="sng" w="152400">
            <a:solidFill>
              <a:srgbClr val="A61C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20425A"/>
              </a:solidFill>
              <a:latin typeface="Arial"/>
              <a:ea typeface="Arial"/>
              <a:cs typeface="Arial"/>
              <a:sym typeface="Arial"/>
            </a:endParaRPr>
          </a:p>
        </p:txBody>
      </p:sp>
      <p:sp>
        <p:nvSpPr>
          <p:cNvPr id="174" name="Google Shape;174;p15"/>
          <p:cNvSpPr/>
          <p:nvPr/>
        </p:nvSpPr>
        <p:spPr>
          <a:xfrm>
            <a:off x="824957" y="2976343"/>
            <a:ext cx="2243200" cy="1006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800" u="none" cap="none" strike="noStrike">
                <a:solidFill>
                  <a:srgbClr val="C0504D"/>
                </a:solidFill>
                <a:latin typeface="Calibri"/>
                <a:ea typeface="Calibri"/>
                <a:cs typeface="Calibri"/>
                <a:sym typeface="Calibri"/>
              </a:rPr>
              <a:t>Non-standard Concepts</a:t>
            </a:r>
            <a:endParaRPr b="1" i="0" sz="2800" u="none" cap="none" strike="noStrike">
              <a:solidFill>
                <a:srgbClr val="C0504D"/>
              </a:solidFill>
              <a:latin typeface="Arial"/>
              <a:ea typeface="Arial"/>
              <a:cs typeface="Arial"/>
              <a:sym typeface="Arial"/>
            </a:endParaRPr>
          </a:p>
        </p:txBody>
      </p:sp>
      <p:sp>
        <p:nvSpPr>
          <p:cNvPr id="175" name="Google Shape;175;p15"/>
          <p:cNvSpPr/>
          <p:nvPr/>
        </p:nvSpPr>
        <p:spPr>
          <a:xfrm>
            <a:off x="3997748" y="2630599"/>
            <a:ext cx="3954400" cy="1495200"/>
          </a:xfrm>
          <a:prstGeom prst="rightArrow">
            <a:avLst>
              <a:gd fmla="val 50000" name="adj1"/>
              <a:gd fmla="val 50000" name="adj2"/>
            </a:avLst>
          </a:prstGeom>
          <a:solidFill>
            <a:srgbClr val="6666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rgbClr val="FFFFFF"/>
                </a:solidFill>
                <a:latin typeface="Calibri"/>
                <a:ea typeface="Calibri"/>
                <a:cs typeface="Calibri"/>
                <a:sym typeface="Calibri"/>
              </a:rPr>
              <a:t>CONCEPT RELATIONSHIP </a:t>
            </a:r>
            <a:endParaRPr b="0" i="0" sz="1467"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ctrTitle"/>
          </p:nvPr>
        </p:nvSpPr>
        <p:spPr>
          <a:xfrm>
            <a:off x="3149600" y="2856468"/>
            <a:ext cx="8128000" cy="1145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0425A"/>
              </a:buClr>
              <a:buSzPts val="2700"/>
              <a:buFont typeface="Calibri"/>
              <a:buNone/>
            </a:pPr>
            <a:r>
              <a:rPr b="1" lang="en-US"/>
              <a:t>Mapping Source Codes to Standard Concept_IDs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7"/>
          <p:cNvSpPr txBox="1"/>
          <p:nvPr>
            <p:ph type="title"/>
          </p:nvPr>
        </p:nvSpPr>
        <p:spPr>
          <a:xfrm>
            <a:off x="1143000" y="114300"/>
            <a:ext cx="10249200" cy="628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20425A"/>
              </a:buClr>
              <a:buSzPts val="3000"/>
              <a:buFont typeface="Calibri"/>
              <a:buNone/>
            </a:pPr>
            <a:r>
              <a:rPr b="1" lang="en-US"/>
              <a:t>Source Codes Mapping – Scenario 1</a:t>
            </a:r>
            <a:endParaRPr/>
          </a:p>
        </p:txBody>
      </p:sp>
      <p:sp>
        <p:nvSpPr>
          <p:cNvPr id="187" name="Google Shape;187;p17"/>
          <p:cNvSpPr txBox="1"/>
          <p:nvPr/>
        </p:nvSpPr>
        <p:spPr>
          <a:xfrm>
            <a:off x="384693" y="1676416"/>
            <a:ext cx="5323200" cy="1565600"/>
          </a:xfrm>
          <a:prstGeom prst="rect">
            <a:avLst/>
          </a:prstGeom>
          <a:noFill/>
          <a:ln>
            <a:noFill/>
          </a:ln>
        </p:spPr>
        <p:txBody>
          <a:bodyPr anchorCtr="0" anchor="t" bIns="45700" lIns="91425" spcFirstLastPara="1" rIns="91425" wrap="square" tIns="45700">
            <a:noAutofit/>
          </a:bodyPr>
          <a:lstStyle/>
          <a:p>
            <a:pPr indent="-228594" lvl="0" marL="237061"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Source code is available in an OHDSI supported Vocabulary</a:t>
            </a:r>
            <a:endParaRPr b="0" i="0" sz="2800" u="none" cap="none" strike="noStrike">
              <a:solidFill>
                <a:srgbClr val="20425A"/>
              </a:solidFill>
              <a:latin typeface="Calibri"/>
              <a:ea typeface="Calibri"/>
              <a:cs typeface="Calibri"/>
              <a:sym typeface="Calibri"/>
            </a:endParaRPr>
          </a:p>
        </p:txBody>
      </p:sp>
      <p:sp>
        <p:nvSpPr>
          <p:cNvPr id="188" name="Google Shape;188;p17"/>
          <p:cNvSpPr txBox="1"/>
          <p:nvPr/>
        </p:nvSpPr>
        <p:spPr>
          <a:xfrm>
            <a:off x="384693" y="1218660"/>
            <a:ext cx="5133200" cy="40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i="0" lang="en-US" sz="2800" u="none" cap="none" strike="noStrike">
                <a:solidFill>
                  <a:srgbClr val="20425A"/>
                </a:solidFill>
                <a:latin typeface="Calibri"/>
                <a:ea typeface="Calibri"/>
                <a:cs typeface="Calibri"/>
                <a:sym typeface="Calibri"/>
              </a:rPr>
              <a:t>Scenario</a:t>
            </a:r>
            <a:endParaRPr b="0" i="0" sz="1467" u="none" cap="none" strike="noStrike">
              <a:solidFill>
                <a:srgbClr val="000000"/>
              </a:solidFill>
              <a:latin typeface="Arial"/>
              <a:ea typeface="Arial"/>
              <a:cs typeface="Arial"/>
              <a:sym typeface="Arial"/>
            </a:endParaRPr>
          </a:p>
        </p:txBody>
      </p:sp>
      <p:sp>
        <p:nvSpPr>
          <p:cNvPr id="189" name="Google Shape;189;p17"/>
          <p:cNvSpPr txBox="1"/>
          <p:nvPr/>
        </p:nvSpPr>
        <p:spPr>
          <a:xfrm>
            <a:off x="5998056" y="1179429"/>
            <a:ext cx="4966000" cy="486400"/>
          </a:xfrm>
          <a:prstGeom prst="rect">
            <a:avLst/>
          </a:prstGeom>
          <a:noFill/>
          <a:ln>
            <a:noFill/>
          </a:ln>
        </p:spPr>
        <p:txBody>
          <a:bodyPr anchorCtr="0" anchor="t" bIns="27425" lIns="91425" spcFirstLastPara="1" rIns="91425" wrap="square" tIns="27425">
            <a:noAutofit/>
          </a:bodyPr>
          <a:lstStyle/>
          <a:p>
            <a:pPr indent="0" lvl="0" marL="0" marR="0" rtl="0" algn="l">
              <a:spcBef>
                <a:spcPts val="0"/>
              </a:spcBef>
              <a:spcAft>
                <a:spcPts val="0"/>
              </a:spcAft>
              <a:buNone/>
            </a:pPr>
            <a:r>
              <a:rPr b="1" i="0" lang="en-US" sz="2800" u="none" cap="none" strike="noStrike">
                <a:solidFill>
                  <a:srgbClr val="F79646"/>
                </a:solidFill>
                <a:latin typeface="Calibri"/>
                <a:ea typeface="Calibri"/>
                <a:cs typeface="Calibri"/>
                <a:sym typeface="Calibri"/>
              </a:rPr>
              <a:t>Solution </a:t>
            </a:r>
            <a:endParaRPr b="1" i="0" sz="2800" u="none" cap="none" strike="noStrike">
              <a:solidFill>
                <a:srgbClr val="F79646"/>
              </a:solidFill>
              <a:latin typeface="Calibri"/>
              <a:ea typeface="Calibri"/>
              <a:cs typeface="Calibri"/>
              <a:sym typeface="Calibri"/>
            </a:endParaRPr>
          </a:p>
        </p:txBody>
      </p:sp>
      <p:cxnSp>
        <p:nvCxnSpPr>
          <p:cNvPr id="190" name="Google Shape;190;p17"/>
          <p:cNvCxnSpPr/>
          <p:nvPr/>
        </p:nvCxnSpPr>
        <p:spPr>
          <a:xfrm>
            <a:off x="384693" y="1695057"/>
            <a:ext cx="5282800" cy="0"/>
          </a:xfrm>
          <a:prstGeom prst="straightConnector1">
            <a:avLst/>
          </a:prstGeom>
          <a:noFill/>
          <a:ln cap="rnd" cmpd="sng" w="76200">
            <a:solidFill>
              <a:srgbClr val="20425A"/>
            </a:solidFill>
            <a:prstDash val="solid"/>
            <a:round/>
            <a:headEnd len="sm" w="sm" type="none"/>
            <a:tailEnd len="sm" w="sm" type="none"/>
          </a:ln>
        </p:spPr>
      </p:cxnSp>
      <p:cxnSp>
        <p:nvCxnSpPr>
          <p:cNvPr id="191" name="Google Shape;191;p17"/>
          <p:cNvCxnSpPr/>
          <p:nvPr/>
        </p:nvCxnSpPr>
        <p:spPr>
          <a:xfrm>
            <a:off x="5998056" y="1695057"/>
            <a:ext cx="5285200" cy="0"/>
          </a:xfrm>
          <a:prstGeom prst="straightConnector1">
            <a:avLst/>
          </a:prstGeom>
          <a:noFill/>
          <a:ln cap="rnd" cmpd="sng" w="76200">
            <a:solidFill>
              <a:schemeClr val="accent6"/>
            </a:solidFill>
            <a:prstDash val="solid"/>
            <a:round/>
            <a:headEnd len="sm" w="sm" type="none"/>
            <a:tailEnd len="sm" w="sm" type="none"/>
          </a:ln>
        </p:spPr>
      </p:cxnSp>
      <p:sp>
        <p:nvSpPr>
          <p:cNvPr id="192" name="Google Shape;192;p17"/>
          <p:cNvSpPr txBox="1"/>
          <p:nvPr/>
        </p:nvSpPr>
        <p:spPr>
          <a:xfrm>
            <a:off x="5960019" y="1705821"/>
            <a:ext cx="5361200" cy="2394800"/>
          </a:xfrm>
          <a:prstGeom prst="rect">
            <a:avLst/>
          </a:prstGeom>
          <a:noFill/>
          <a:ln>
            <a:noFill/>
          </a:ln>
        </p:spPr>
        <p:txBody>
          <a:bodyPr anchorCtr="0" anchor="t" bIns="45700" lIns="91425" spcFirstLastPara="1" rIns="91425" wrap="square" tIns="45700">
            <a:noAutofit/>
          </a:bodyPr>
          <a:lstStyle/>
          <a:p>
            <a:pPr indent="-279393" lvl="0" marL="28785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Use using the following condition to perform the mapping:</a:t>
            </a:r>
            <a:endParaRPr b="0" i="0" sz="1467" u="none" cap="none" strike="noStrike">
              <a:solidFill>
                <a:srgbClr val="000000"/>
              </a:solidFill>
              <a:latin typeface="Arial"/>
              <a:ea typeface="Arial"/>
              <a:cs typeface="Arial"/>
              <a:sym typeface="Arial"/>
            </a:endParaRPr>
          </a:p>
          <a:p>
            <a:pPr indent="0" lvl="1" marL="457189" marR="0" rtl="0" algn="l">
              <a:spcBef>
                <a:spcPts val="0"/>
              </a:spcBef>
              <a:spcAft>
                <a:spcPts val="0"/>
              </a:spcAft>
              <a:buNone/>
            </a:pPr>
            <a:r>
              <a:rPr b="0" i="0" lang="en-US" sz="2000" u="none" cap="none" strike="noStrike">
                <a:solidFill>
                  <a:srgbClr val="20425A"/>
                </a:solidFill>
                <a:latin typeface="Calibri"/>
                <a:ea typeface="Calibri"/>
                <a:cs typeface="Calibri"/>
                <a:sym typeface="Calibri"/>
              </a:rPr>
              <a:t>Where &lt;source code&gt; = CONCEPT.concept_code and &lt;source vocabulary&gt; = CONCEPT.vocabulary_id</a:t>
            </a:r>
            <a:endParaRPr b="0" i="0" sz="2000" u="none" cap="none" strike="noStrike">
              <a:solidFill>
                <a:srgbClr val="20425A"/>
              </a:solidFill>
              <a:latin typeface="Calibri"/>
              <a:ea typeface="Calibri"/>
              <a:cs typeface="Calibri"/>
              <a:sym typeface="Calibri"/>
            </a:endParaRPr>
          </a:p>
          <a:p>
            <a:pPr indent="-50799" lvl="0" marL="237061" marR="0" rtl="0" algn="l">
              <a:spcBef>
                <a:spcPts val="533"/>
              </a:spcBef>
              <a:spcAft>
                <a:spcPts val="0"/>
              </a:spcAft>
              <a:buNone/>
            </a:pPr>
            <a:r>
              <a:t/>
            </a:r>
            <a:endParaRPr b="0" i="0" sz="2800" u="none" cap="none" strike="noStrike">
              <a:solidFill>
                <a:srgbClr val="000000"/>
              </a:solidFill>
              <a:latin typeface="Calibri"/>
              <a:ea typeface="Calibri"/>
              <a:cs typeface="Calibri"/>
              <a:sym typeface="Calibri"/>
            </a:endParaRPr>
          </a:p>
        </p:txBody>
      </p:sp>
      <p:graphicFrame>
        <p:nvGraphicFramePr>
          <p:cNvPr id="193" name="Google Shape;193;p17"/>
          <p:cNvGraphicFramePr/>
          <p:nvPr/>
        </p:nvGraphicFramePr>
        <p:xfrm>
          <a:off x="742106" y="3769360"/>
          <a:ext cx="3000000" cy="3000000"/>
        </p:xfrm>
        <a:graphic>
          <a:graphicData uri="http://schemas.openxmlformats.org/drawingml/2006/table">
            <a:tbl>
              <a:tblPr>
                <a:noFill/>
                <a:tableStyleId>{5000C0AC-F8AF-484B-93E4-D2C59BA90F7C}</a:tableStyleId>
              </a:tblPr>
              <a:tblGrid>
                <a:gridCol w="2676975"/>
                <a:gridCol w="2676975"/>
                <a:gridCol w="2876500"/>
                <a:gridCol w="2477400"/>
              </a:tblGrid>
              <a:tr h="568075">
                <a:tc>
                  <a:txBody>
                    <a:bodyPr/>
                    <a:lstStyle/>
                    <a:p>
                      <a:pPr indent="0" lvl="0" marL="0" marR="0" rtl="0" algn="l">
                        <a:lnSpc>
                          <a:spcPct val="100000"/>
                        </a:lnSpc>
                        <a:spcBef>
                          <a:spcPts val="0"/>
                        </a:spcBef>
                        <a:spcAft>
                          <a:spcPts val="0"/>
                        </a:spcAft>
                        <a:buClr>
                          <a:srgbClr val="20425A"/>
                        </a:buClr>
                        <a:buSzPts val="1500"/>
                        <a:buFont typeface="Calibri"/>
                        <a:buNone/>
                      </a:pPr>
                      <a:r>
                        <a:rPr b="1" lang="en-US" sz="2000" u="none" cap="none" strike="noStrike">
                          <a:solidFill>
                            <a:srgbClr val="20425A"/>
                          </a:solidFill>
                          <a:latin typeface="Calibri"/>
                          <a:ea typeface="Calibri"/>
                          <a:cs typeface="Calibri"/>
                          <a:sym typeface="Calibri"/>
                        </a:rPr>
                        <a:t>Source code</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20425A"/>
                        </a:buClr>
                        <a:buSzPts val="1500"/>
                        <a:buFont typeface="Calibri"/>
                        <a:buNone/>
                      </a:pPr>
                      <a:r>
                        <a:rPr b="1" lang="en-US" sz="2000" u="none" cap="none" strike="noStrike">
                          <a:solidFill>
                            <a:srgbClr val="20425A"/>
                          </a:solidFill>
                          <a:latin typeface="Calibri"/>
                          <a:ea typeface="Calibri"/>
                          <a:cs typeface="Calibri"/>
                          <a:sym typeface="Calibri"/>
                        </a:rPr>
                        <a:t>Source vocabulary</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20425A"/>
                        </a:buClr>
                        <a:buSzPts val="1500"/>
                        <a:buFont typeface="Calibri"/>
                        <a:buNone/>
                      </a:pPr>
                      <a:r>
                        <a:rPr b="1" lang="en-US" sz="2000" u="none" cap="none" strike="noStrike">
                          <a:solidFill>
                            <a:srgbClr val="20425A"/>
                          </a:solidFill>
                          <a:latin typeface="Calibri"/>
                          <a:ea typeface="Calibri"/>
                          <a:cs typeface="Calibri"/>
                          <a:sym typeface="Calibri"/>
                        </a:rPr>
                        <a:t>Code description</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chemeClr val="dk1"/>
                        </a:buClr>
                        <a:buSzPts val="800"/>
                        <a:buFont typeface="Arial"/>
                        <a:buNone/>
                      </a:pPr>
                      <a:r>
                        <a:rPr b="1" lang="en-US" sz="2000" u="none" cap="none" strike="noStrike">
                          <a:solidFill>
                            <a:srgbClr val="20425A"/>
                          </a:solidFill>
                          <a:latin typeface="Calibri"/>
                          <a:ea typeface="Calibri"/>
                          <a:cs typeface="Calibri"/>
                          <a:sym typeface="Calibri"/>
                        </a:rPr>
                        <a:t>CONCEPT.concept_id</a:t>
                      </a:r>
                      <a:endParaRPr b="1" sz="2000" u="none" cap="none" strike="noStrike">
                        <a:solidFill>
                          <a:srgbClr val="20425A"/>
                        </a:solidFill>
                        <a:latin typeface="Calibri"/>
                        <a:ea typeface="Calibri"/>
                        <a:cs typeface="Calibri"/>
                        <a:sym typeface="Calibri"/>
                      </a:endParaRPr>
                    </a:p>
                  </a:txBody>
                  <a:tcPr marT="121900" marB="121900" marR="121900" marL="121900" anchor="ctr"/>
                </a:tc>
              </a:tr>
              <a:tr h="573750">
                <a:tc>
                  <a:txBody>
                    <a:bodyPr/>
                    <a:lstStyle/>
                    <a:p>
                      <a:pPr indent="0" lvl="0" marL="0" marR="0" rtl="0" algn="l">
                        <a:lnSpc>
                          <a:spcPct val="115000"/>
                        </a:lnSpc>
                        <a:spcBef>
                          <a:spcPts val="0"/>
                        </a:spcBef>
                        <a:spcAft>
                          <a:spcPts val="0"/>
                        </a:spcAft>
                        <a:buClr>
                          <a:srgbClr val="151D21"/>
                        </a:buClr>
                        <a:buSzPts val="1500"/>
                        <a:buFont typeface="Calibri"/>
                        <a:buNone/>
                      </a:pPr>
                      <a:r>
                        <a:rPr lang="en-US" sz="2000" u="none" cap="none" strike="noStrike">
                          <a:solidFill>
                            <a:srgbClr val="F39B19"/>
                          </a:solidFill>
                          <a:latin typeface="Calibri"/>
                          <a:ea typeface="Calibri"/>
                          <a:cs typeface="Calibri"/>
                          <a:sym typeface="Calibri"/>
                        </a:rPr>
                        <a:t>61462000</a:t>
                      </a:r>
                      <a:endParaRPr sz="1500" u="none" cap="none" strike="noStrike">
                        <a:solidFill>
                          <a:srgbClr val="F39B19"/>
                        </a:solidFill>
                      </a:endParaRPr>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F39B19"/>
                          </a:solidFill>
                          <a:latin typeface="Calibri"/>
                          <a:ea typeface="Calibri"/>
                          <a:cs typeface="Calibri"/>
                          <a:sym typeface="Calibri"/>
                        </a:rPr>
                        <a:t>SNOMED</a:t>
                      </a:r>
                      <a:endParaRPr sz="1500" u="none" cap="none" strike="noStrike">
                        <a:solidFill>
                          <a:srgbClr val="F39B19"/>
                        </a:solidFill>
                      </a:endParaRPr>
                    </a:p>
                  </a:txBody>
                  <a:tcPr marT="121900" marB="121900" marR="121900" marL="121900" anchor="ctr"/>
                </a:tc>
                <a:tc>
                  <a:txBody>
                    <a:bodyPr/>
                    <a:lstStyle/>
                    <a:p>
                      <a:pPr indent="0" lvl="0" marL="0" marR="0" rtl="0" algn="l">
                        <a:lnSpc>
                          <a:spcPct val="115000"/>
                        </a:lnSpc>
                        <a:spcBef>
                          <a:spcPts val="0"/>
                        </a:spcBef>
                        <a:spcAft>
                          <a:spcPts val="0"/>
                        </a:spcAft>
                        <a:buClr>
                          <a:srgbClr val="151D21"/>
                        </a:buClr>
                        <a:buSzPts val="1500"/>
                        <a:buFont typeface="Calibri"/>
                        <a:buNone/>
                      </a:pPr>
                      <a:r>
                        <a:rPr lang="en-US" sz="2000" u="none" cap="none" strike="noStrike">
                          <a:solidFill>
                            <a:srgbClr val="F39B19"/>
                          </a:solidFill>
                          <a:latin typeface="Calibri"/>
                          <a:ea typeface="Calibri"/>
                          <a:cs typeface="Calibri"/>
                          <a:sym typeface="Calibri"/>
                        </a:rPr>
                        <a:t>Malaria</a:t>
                      </a:r>
                      <a:endParaRPr sz="1500" u="none" cap="none" strike="noStrike">
                        <a:solidFill>
                          <a:srgbClr val="F39B19"/>
                        </a:solidFill>
                      </a:endParaRPr>
                    </a:p>
                  </a:txBody>
                  <a:tcPr marT="121900" marB="121900" marR="121900" marL="121900" anchor="ctr"/>
                </a:tc>
                <a:tc>
                  <a:txBody>
                    <a:bodyPr/>
                    <a:lstStyle/>
                    <a:p>
                      <a:pPr indent="0" lvl="0" marL="0" marR="0" rtl="0" algn="l">
                        <a:lnSpc>
                          <a:spcPct val="115000"/>
                        </a:lnSpc>
                        <a:spcBef>
                          <a:spcPts val="0"/>
                        </a:spcBef>
                        <a:spcAft>
                          <a:spcPts val="0"/>
                        </a:spcAft>
                        <a:buClr>
                          <a:schemeClr val="dk1"/>
                        </a:buClr>
                        <a:buSzPts val="800"/>
                        <a:buFont typeface="Arial"/>
                        <a:buNone/>
                      </a:pPr>
                      <a:r>
                        <a:rPr lang="en-US" sz="2000" u="none" cap="none" strike="noStrike">
                          <a:solidFill>
                            <a:srgbClr val="F39B19"/>
                          </a:solidFill>
                          <a:latin typeface="Calibri"/>
                          <a:ea typeface="Calibri"/>
                          <a:cs typeface="Calibri"/>
                          <a:sym typeface="Calibri"/>
                        </a:rPr>
                        <a:t>438067</a:t>
                      </a:r>
                      <a:endParaRPr sz="2000" u="none" cap="none" strike="noStrike">
                        <a:solidFill>
                          <a:srgbClr val="F39B19"/>
                        </a:solidFill>
                        <a:latin typeface="Calibri"/>
                        <a:ea typeface="Calibri"/>
                        <a:cs typeface="Calibri"/>
                        <a:sym typeface="Calibri"/>
                      </a:endParaRPr>
                    </a:p>
                  </a:txBody>
                  <a:tcPr marT="121900" marB="121900" marR="121900" marL="121900" anchor="ctr"/>
                </a:tc>
              </a:tr>
              <a:tr h="568075">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151D21"/>
                          </a:solidFill>
                          <a:latin typeface="Calibri"/>
                          <a:ea typeface="Calibri"/>
                          <a:cs typeface="Calibri"/>
                          <a:sym typeface="Calibri"/>
                        </a:rPr>
                        <a:t>A663D00</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151D21"/>
                          </a:solidFill>
                          <a:latin typeface="Calibri"/>
                          <a:ea typeface="Calibri"/>
                          <a:cs typeface="Calibri"/>
                          <a:sym typeface="Calibri"/>
                        </a:rPr>
                        <a:t>Read</a:t>
                      </a:r>
                      <a:endParaRPr sz="2000" u="none" cap="none" strike="noStrike">
                        <a:solidFill>
                          <a:srgbClr val="151D21"/>
                        </a:solidFill>
                        <a:latin typeface="Calibri"/>
                        <a:ea typeface="Calibri"/>
                        <a:cs typeface="Calibri"/>
                        <a:sym typeface="Calibri"/>
                      </a:endParaRPr>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151D21"/>
                          </a:solidFill>
                          <a:latin typeface="Calibri"/>
                          <a:ea typeface="Calibri"/>
                          <a:cs typeface="Calibri"/>
                          <a:sym typeface="Calibri"/>
                        </a:rPr>
                        <a:t>Zika Fever</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151D21"/>
                          </a:solidFill>
                          <a:latin typeface="Calibri"/>
                          <a:ea typeface="Calibri"/>
                          <a:cs typeface="Calibri"/>
                          <a:sym typeface="Calibri"/>
                        </a:rPr>
                        <a:t>45489770</a:t>
                      </a:r>
                      <a:endParaRPr sz="1500" u="none" cap="none" strike="noStrike"/>
                    </a:p>
                  </a:txBody>
                  <a:tcPr marT="121900" marB="121900" marR="121900" marL="121900"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8"/>
          <p:cNvPicPr preferRelativeResize="0"/>
          <p:nvPr/>
        </p:nvPicPr>
        <p:blipFill rotWithShape="1">
          <a:blip r:embed="rId3">
            <a:alphaModFix/>
          </a:blip>
          <a:srcRect b="0" l="0" r="0" t="0"/>
          <a:stretch/>
        </p:blipFill>
        <p:spPr>
          <a:xfrm>
            <a:off x="0" y="1"/>
            <a:ext cx="12192000" cy="68580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9"/>
          <p:cNvSpPr txBox="1"/>
          <p:nvPr>
            <p:ph type="title"/>
          </p:nvPr>
        </p:nvSpPr>
        <p:spPr>
          <a:xfrm>
            <a:off x="1143000" y="114300"/>
            <a:ext cx="10554000" cy="628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20425A"/>
              </a:buClr>
              <a:buSzPts val="3000"/>
              <a:buFont typeface="Calibri"/>
              <a:buNone/>
            </a:pPr>
            <a:r>
              <a:rPr b="1" lang="en-US"/>
              <a:t>Source Codes Mapping – Scenario 2</a:t>
            </a:r>
            <a:endParaRPr/>
          </a:p>
        </p:txBody>
      </p:sp>
      <p:sp>
        <p:nvSpPr>
          <p:cNvPr id="204" name="Google Shape;204;p19"/>
          <p:cNvSpPr txBox="1"/>
          <p:nvPr/>
        </p:nvSpPr>
        <p:spPr>
          <a:xfrm>
            <a:off x="384693" y="1676416"/>
            <a:ext cx="5323200" cy="1565600"/>
          </a:xfrm>
          <a:prstGeom prst="rect">
            <a:avLst/>
          </a:prstGeom>
          <a:noFill/>
          <a:ln>
            <a:noFill/>
          </a:ln>
        </p:spPr>
        <p:txBody>
          <a:bodyPr anchorCtr="0" anchor="t" bIns="45700" lIns="91425" spcFirstLastPara="1" rIns="91425" wrap="square" tIns="45700">
            <a:noAutofit/>
          </a:bodyPr>
          <a:lstStyle/>
          <a:p>
            <a:pPr indent="-228594" lvl="0" marL="237061"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Source code is a text string</a:t>
            </a:r>
            <a:endParaRPr b="0" i="0" sz="2400" u="none" cap="none" strike="noStrike">
              <a:solidFill>
                <a:srgbClr val="20425A"/>
              </a:solidFill>
              <a:latin typeface="Calibri"/>
              <a:ea typeface="Calibri"/>
              <a:cs typeface="Calibri"/>
              <a:sym typeface="Calibri"/>
            </a:endParaRPr>
          </a:p>
        </p:txBody>
      </p:sp>
      <p:sp>
        <p:nvSpPr>
          <p:cNvPr id="205" name="Google Shape;205;p19"/>
          <p:cNvSpPr txBox="1"/>
          <p:nvPr/>
        </p:nvSpPr>
        <p:spPr>
          <a:xfrm>
            <a:off x="384693" y="1218660"/>
            <a:ext cx="5133200" cy="40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i="0" lang="en-US" sz="2800" u="none" cap="none" strike="noStrike">
                <a:solidFill>
                  <a:srgbClr val="20425A"/>
                </a:solidFill>
                <a:latin typeface="Calibri"/>
                <a:ea typeface="Calibri"/>
                <a:cs typeface="Calibri"/>
                <a:sym typeface="Calibri"/>
              </a:rPr>
              <a:t>Scenario</a:t>
            </a:r>
            <a:endParaRPr b="0" i="0" sz="1467" u="none" cap="none" strike="noStrike">
              <a:solidFill>
                <a:srgbClr val="000000"/>
              </a:solidFill>
              <a:latin typeface="Arial"/>
              <a:ea typeface="Arial"/>
              <a:cs typeface="Arial"/>
              <a:sym typeface="Arial"/>
            </a:endParaRPr>
          </a:p>
        </p:txBody>
      </p:sp>
      <p:sp>
        <p:nvSpPr>
          <p:cNvPr id="206" name="Google Shape;206;p19"/>
          <p:cNvSpPr txBox="1"/>
          <p:nvPr/>
        </p:nvSpPr>
        <p:spPr>
          <a:xfrm>
            <a:off x="5998056" y="1179429"/>
            <a:ext cx="4966000" cy="486400"/>
          </a:xfrm>
          <a:prstGeom prst="rect">
            <a:avLst/>
          </a:prstGeom>
          <a:noFill/>
          <a:ln>
            <a:noFill/>
          </a:ln>
        </p:spPr>
        <p:txBody>
          <a:bodyPr anchorCtr="0" anchor="t" bIns="27425" lIns="91425" spcFirstLastPara="1" rIns="91425" wrap="square" tIns="27425">
            <a:noAutofit/>
          </a:bodyPr>
          <a:lstStyle/>
          <a:p>
            <a:pPr indent="0" lvl="0" marL="0" marR="0" rtl="0" algn="l">
              <a:spcBef>
                <a:spcPts val="0"/>
              </a:spcBef>
              <a:spcAft>
                <a:spcPts val="0"/>
              </a:spcAft>
              <a:buNone/>
            </a:pPr>
            <a:r>
              <a:rPr b="1" i="0" lang="en-US" sz="2800" u="none" cap="none" strike="noStrike">
                <a:solidFill>
                  <a:srgbClr val="F79646"/>
                </a:solidFill>
                <a:latin typeface="Calibri"/>
                <a:ea typeface="Calibri"/>
                <a:cs typeface="Calibri"/>
                <a:sym typeface="Calibri"/>
              </a:rPr>
              <a:t>Solution </a:t>
            </a:r>
            <a:endParaRPr b="1" i="0" sz="2800" u="none" cap="none" strike="noStrike">
              <a:solidFill>
                <a:srgbClr val="F79646"/>
              </a:solidFill>
              <a:latin typeface="Calibri"/>
              <a:ea typeface="Calibri"/>
              <a:cs typeface="Calibri"/>
              <a:sym typeface="Calibri"/>
            </a:endParaRPr>
          </a:p>
        </p:txBody>
      </p:sp>
      <p:cxnSp>
        <p:nvCxnSpPr>
          <p:cNvPr id="207" name="Google Shape;207;p19"/>
          <p:cNvCxnSpPr/>
          <p:nvPr/>
        </p:nvCxnSpPr>
        <p:spPr>
          <a:xfrm>
            <a:off x="384693" y="1695057"/>
            <a:ext cx="5282800" cy="0"/>
          </a:xfrm>
          <a:prstGeom prst="straightConnector1">
            <a:avLst/>
          </a:prstGeom>
          <a:noFill/>
          <a:ln cap="rnd" cmpd="sng" w="76200">
            <a:solidFill>
              <a:srgbClr val="20425A"/>
            </a:solidFill>
            <a:prstDash val="solid"/>
            <a:round/>
            <a:headEnd len="sm" w="sm" type="none"/>
            <a:tailEnd len="sm" w="sm" type="none"/>
          </a:ln>
        </p:spPr>
      </p:cxnSp>
      <p:cxnSp>
        <p:nvCxnSpPr>
          <p:cNvPr id="208" name="Google Shape;208;p19"/>
          <p:cNvCxnSpPr/>
          <p:nvPr/>
        </p:nvCxnSpPr>
        <p:spPr>
          <a:xfrm>
            <a:off x="5998056" y="1695057"/>
            <a:ext cx="5285200" cy="0"/>
          </a:xfrm>
          <a:prstGeom prst="straightConnector1">
            <a:avLst/>
          </a:prstGeom>
          <a:noFill/>
          <a:ln cap="rnd" cmpd="sng" w="76200">
            <a:solidFill>
              <a:schemeClr val="accent6"/>
            </a:solidFill>
            <a:prstDash val="solid"/>
            <a:round/>
            <a:headEnd len="sm" w="sm" type="none"/>
            <a:tailEnd len="sm" w="sm" type="none"/>
          </a:ln>
        </p:spPr>
      </p:cxnSp>
      <p:sp>
        <p:nvSpPr>
          <p:cNvPr id="209" name="Google Shape;209;p19"/>
          <p:cNvSpPr txBox="1"/>
          <p:nvPr/>
        </p:nvSpPr>
        <p:spPr>
          <a:xfrm>
            <a:off x="5960019" y="1705821"/>
            <a:ext cx="5361200" cy="2394800"/>
          </a:xfrm>
          <a:prstGeom prst="rect">
            <a:avLst/>
          </a:prstGeom>
          <a:noFill/>
          <a:ln>
            <a:noFill/>
          </a:ln>
        </p:spPr>
        <p:txBody>
          <a:bodyPr anchorCtr="0" anchor="t" bIns="45700" lIns="91425" spcFirstLastPara="1" rIns="91425" wrap="square" tIns="45700">
            <a:noAutofit/>
          </a:bodyPr>
          <a:lstStyle/>
          <a:p>
            <a:pPr indent="-279393" lvl="0" marL="28785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Use using the following condition to perform the mapping:</a:t>
            </a:r>
            <a:endParaRPr b="0" i="0" sz="1467" u="none" cap="none" strike="noStrike">
              <a:solidFill>
                <a:srgbClr val="000000"/>
              </a:solidFill>
              <a:latin typeface="Arial"/>
              <a:ea typeface="Arial"/>
              <a:cs typeface="Arial"/>
              <a:sym typeface="Arial"/>
            </a:endParaRPr>
          </a:p>
          <a:p>
            <a:pPr indent="0" lvl="1" marL="457189" marR="0" rtl="0" algn="l">
              <a:spcBef>
                <a:spcPts val="0"/>
              </a:spcBef>
              <a:spcAft>
                <a:spcPts val="0"/>
              </a:spcAft>
              <a:buNone/>
            </a:pPr>
            <a:r>
              <a:rPr b="0" i="0" lang="en-US" sz="2000" u="none" cap="none" strike="noStrike">
                <a:solidFill>
                  <a:srgbClr val="20425A"/>
                </a:solidFill>
                <a:latin typeface="Calibri"/>
                <a:ea typeface="Calibri"/>
                <a:cs typeface="Calibri"/>
                <a:sym typeface="Calibri"/>
              </a:rPr>
              <a:t>Where &lt;source string&gt; = CONCEPT.concept_name and &lt;source domain&gt; = CONCEPT.domain_id</a:t>
            </a:r>
            <a:endParaRPr b="0" i="0" sz="2000" u="none" cap="none" strike="noStrike">
              <a:solidFill>
                <a:srgbClr val="20425A"/>
              </a:solidFill>
              <a:latin typeface="Calibri"/>
              <a:ea typeface="Calibri"/>
              <a:cs typeface="Calibri"/>
              <a:sym typeface="Calibri"/>
            </a:endParaRPr>
          </a:p>
          <a:p>
            <a:pPr indent="-50799" lvl="0" marL="237061" marR="0" rtl="0" algn="l">
              <a:spcBef>
                <a:spcPts val="533"/>
              </a:spcBef>
              <a:spcAft>
                <a:spcPts val="0"/>
              </a:spcAft>
              <a:buNone/>
            </a:pPr>
            <a:r>
              <a:t/>
            </a:r>
            <a:endParaRPr b="0" i="0" sz="2800" u="none" cap="none" strike="noStrike">
              <a:solidFill>
                <a:srgbClr val="20425A"/>
              </a:solidFill>
              <a:latin typeface="Calibri"/>
              <a:ea typeface="Calibri"/>
              <a:cs typeface="Calibri"/>
              <a:sym typeface="Calibri"/>
            </a:endParaRPr>
          </a:p>
        </p:txBody>
      </p:sp>
      <p:graphicFrame>
        <p:nvGraphicFramePr>
          <p:cNvPr id="210" name="Google Shape;210;p19"/>
          <p:cNvGraphicFramePr/>
          <p:nvPr/>
        </p:nvGraphicFramePr>
        <p:xfrm>
          <a:off x="724898" y="3768644"/>
          <a:ext cx="3000000" cy="3000000"/>
        </p:xfrm>
        <a:graphic>
          <a:graphicData uri="http://schemas.openxmlformats.org/drawingml/2006/table">
            <a:tbl>
              <a:tblPr>
                <a:noFill/>
                <a:tableStyleId>{5000C0AC-F8AF-484B-93E4-D2C59BA90F7C}</a:tableStyleId>
              </a:tblPr>
              <a:tblGrid>
                <a:gridCol w="1704500"/>
                <a:gridCol w="1861675"/>
                <a:gridCol w="4490500"/>
                <a:gridCol w="2685575"/>
              </a:tblGrid>
              <a:tr h="467675">
                <a:tc>
                  <a:txBody>
                    <a:bodyPr/>
                    <a:lstStyle/>
                    <a:p>
                      <a:pPr indent="0" lvl="0" marL="0" marR="0" rtl="0" algn="l">
                        <a:lnSpc>
                          <a:spcPct val="100000"/>
                        </a:lnSpc>
                        <a:spcBef>
                          <a:spcPts val="0"/>
                        </a:spcBef>
                        <a:spcAft>
                          <a:spcPts val="0"/>
                        </a:spcAft>
                        <a:buClr>
                          <a:srgbClr val="20425A"/>
                        </a:buClr>
                        <a:buSzPts val="1500"/>
                        <a:buFont typeface="Calibri"/>
                        <a:buNone/>
                      </a:pPr>
                      <a:r>
                        <a:rPr b="1" lang="en-US" sz="2000" u="none" cap="none" strike="noStrike">
                          <a:solidFill>
                            <a:srgbClr val="20425A"/>
                          </a:solidFill>
                          <a:latin typeface="Calibri"/>
                          <a:ea typeface="Calibri"/>
                          <a:cs typeface="Calibri"/>
                          <a:sym typeface="Calibri"/>
                        </a:rPr>
                        <a:t>Source string</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20425A"/>
                        </a:buClr>
                        <a:buSzPts val="1500"/>
                        <a:buFont typeface="Calibri"/>
                        <a:buNone/>
                      </a:pPr>
                      <a:r>
                        <a:rPr b="1" lang="en-US" sz="2000" u="none" cap="none" strike="noStrike">
                          <a:solidFill>
                            <a:srgbClr val="20425A"/>
                          </a:solidFill>
                          <a:latin typeface="Calibri"/>
                          <a:ea typeface="Calibri"/>
                          <a:cs typeface="Calibri"/>
                          <a:sym typeface="Calibri"/>
                        </a:rPr>
                        <a:t>Source domain</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20425A"/>
                        </a:buClr>
                        <a:buSzPts val="1500"/>
                        <a:buFont typeface="Calibri"/>
                        <a:buNone/>
                      </a:pPr>
                      <a:r>
                        <a:rPr b="1" lang="en-US" sz="2000" u="none" cap="none" strike="noStrike">
                          <a:solidFill>
                            <a:srgbClr val="20425A"/>
                          </a:solidFill>
                          <a:latin typeface="Calibri"/>
                          <a:ea typeface="Calibri"/>
                          <a:cs typeface="Calibri"/>
                          <a:sym typeface="Calibri"/>
                        </a:rPr>
                        <a:t>Source table/field</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chemeClr val="dk1"/>
                        </a:buClr>
                        <a:buSzPts val="800"/>
                        <a:buFont typeface="Arial"/>
                        <a:buNone/>
                      </a:pPr>
                      <a:r>
                        <a:rPr b="1" lang="en-US" sz="2000" u="none" cap="none" strike="noStrike">
                          <a:solidFill>
                            <a:srgbClr val="20425A"/>
                          </a:solidFill>
                          <a:latin typeface="Calibri"/>
                          <a:ea typeface="Calibri"/>
                          <a:cs typeface="Calibri"/>
                          <a:sym typeface="Calibri"/>
                        </a:rPr>
                        <a:t>CONCEPT.concept_id</a:t>
                      </a:r>
                      <a:endParaRPr b="1" sz="2000" u="none" cap="none" strike="noStrike">
                        <a:solidFill>
                          <a:srgbClr val="20425A"/>
                        </a:solidFill>
                        <a:latin typeface="Calibri"/>
                        <a:ea typeface="Calibri"/>
                        <a:cs typeface="Calibri"/>
                        <a:sym typeface="Calibri"/>
                      </a:endParaRPr>
                    </a:p>
                  </a:txBody>
                  <a:tcPr marT="121900" marB="121900" marR="121900" marL="121900" anchor="ctr"/>
                </a:tc>
              </a:tr>
              <a:tr h="467675">
                <a:tc>
                  <a:txBody>
                    <a:bodyPr/>
                    <a:lstStyle/>
                    <a:p>
                      <a:pPr indent="0" lvl="0" marL="0" marR="0" rtl="0" algn="l">
                        <a:lnSpc>
                          <a:spcPct val="115000"/>
                        </a:lnSpc>
                        <a:spcBef>
                          <a:spcPts val="0"/>
                        </a:spcBef>
                        <a:spcAft>
                          <a:spcPts val="0"/>
                        </a:spcAft>
                        <a:buClr>
                          <a:srgbClr val="151D21"/>
                        </a:buClr>
                        <a:buSzPts val="1500"/>
                        <a:buFont typeface="Calibri"/>
                        <a:buNone/>
                      </a:pPr>
                      <a:r>
                        <a:rPr lang="en-US" sz="2000" u="none" cap="none" strike="noStrike">
                          <a:solidFill>
                            <a:srgbClr val="F39B19"/>
                          </a:solidFill>
                          <a:latin typeface="Calibri"/>
                          <a:ea typeface="Calibri"/>
                          <a:cs typeface="Calibri"/>
                          <a:sym typeface="Calibri"/>
                        </a:rPr>
                        <a:t>Centimeter</a:t>
                      </a:r>
                      <a:endParaRPr sz="2000" u="none" cap="none" strike="noStrike">
                        <a:solidFill>
                          <a:srgbClr val="F39B19"/>
                        </a:solidFill>
                        <a:latin typeface="Calibri"/>
                        <a:ea typeface="Calibri"/>
                        <a:cs typeface="Calibri"/>
                        <a:sym typeface="Calibri"/>
                      </a:endParaRPr>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F39B19"/>
                          </a:solidFill>
                          <a:latin typeface="Calibri"/>
                          <a:ea typeface="Calibri"/>
                          <a:cs typeface="Calibri"/>
                          <a:sym typeface="Calibri"/>
                        </a:rPr>
                        <a:t>Unit</a:t>
                      </a:r>
                      <a:endParaRPr sz="1500" u="none" cap="none" strike="noStrike">
                        <a:solidFill>
                          <a:srgbClr val="F39B19"/>
                        </a:solidFill>
                      </a:endParaRPr>
                    </a:p>
                  </a:txBody>
                  <a:tcPr marT="121900" marB="121900" marR="121900" marL="121900" anchor="ctr"/>
                </a:tc>
                <a:tc>
                  <a:txBody>
                    <a:bodyPr/>
                    <a:lstStyle/>
                    <a:p>
                      <a:pPr indent="0" lvl="0" marL="0" marR="0" rtl="0" algn="l">
                        <a:lnSpc>
                          <a:spcPct val="115000"/>
                        </a:lnSpc>
                        <a:spcBef>
                          <a:spcPts val="0"/>
                        </a:spcBef>
                        <a:spcAft>
                          <a:spcPts val="0"/>
                        </a:spcAft>
                        <a:buClr>
                          <a:srgbClr val="151D21"/>
                        </a:buClr>
                        <a:buSzPts val="1500"/>
                        <a:buFont typeface="Calibri"/>
                        <a:buNone/>
                      </a:pPr>
                      <a:r>
                        <a:rPr lang="en-US" sz="2000" u="none" cap="none" strike="noStrike">
                          <a:solidFill>
                            <a:srgbClr val="F39B19"/>
                          </a:solidFill>
                          <a:latin typeface="Calibri"/>
                          <a:ea typeface="Calibri"/>
                          <a:cs typeface="Calibri"/>
                          <a:sym typeface="Calibri"/>
                        </a:rPr>
                        <a:t>Unit for height measurement field</a:t>
                      </a:r>
                      <a:endParaRPr sz="1500" u="none" cap="none" strike="noStrike">
                        <a:solidFill>
                          <a:srgbClr val="F39B19"/>
                        </a:solidFill>
                      </a:endParaRPr>
                    </a:p>
                  </a:txBody>
                  <a:tcPr marT="121900" marB="121900" marR="121900" marL="121900" anchor="ctr"/>
                </a:tc>
                <a:tc>
                  <a:txBody>
                    <a:bodyPr/>
                    <a:lstStyle/>
                    <a:p>
                      <a:pPr indent="0" lvl="0" marL="0" marR="0" rtl="0" algn="l">
                        <a:lnSpc>
                          <a:spcPct val="115000"/>
                        </a:lnSpc>
                        <a:spcBef>
                          <a:spcPts val="0"/>
                        </a:spcBef>
                        <a:spcAft>
                          <a:spcPts val="0"/>
                        </a:spcAft>
                        <a:buClr>
                          <a:schemeClr val="dk1"/>
                        </a:buClr>
                        <a:buSzPts val="800"/>
                        <a:buFont typeface="Arial"/>
                        <a:buNone/>
                      </a:pPr>
                      <a:r>
                        <a:rPr lang="en-US" sz="2000" u="none" cap="none" strike="noStrike">
                          <a:solidFill>
                            <a:srgbClr val="F39B19"/>
                          </a:solidFill>
                          <a:latin typeface="Calibri"/>
                          <a:ea typeface="Calibri"/>
                          <a:cs typeface="Calibri"/>
                          <a:sym typeface="Calibri"/>
                        </a:rPr>
                        <a:t>8582</a:t>
                      </a:r>
                      <a:endParaRPr sz="1500" u="none" cap="none" strike="noStrike">
                        <a:solidFill>
                          <a:srgbClr val="F39B19"/>
                        </a:solidFill>
                      </a:endParaRPr>
                    </a:p>
                  </a:txBody>
                  <a:tcPr marT="121900" marB="121900" marR="121900" marL="121900" anchor="ctr"/>
                </a:tc>
              </a:tr>
              <a:tr h="467675">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151D21"/>
                          </a:solidFill>
                          <a:latin typeface="Calibri"/>
                          <a:ea typeface="Calibri"/>
                          <a:cs typeface="Calibri"/>
                          <a:sym typeface="Calibri"/>
                        </a:rPr>
                        <a:t>Intravenous</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151D21"/>
                          </a:solidFill>
                          <a:latin typeface="Calibri"/>
                          <a:ea typeface="Calibri"/>
                          <a:cs typeface="Calibri"/>
                          <a:sym typeface="Calibri"/>
                        </a:rPr>
                        <a:t>Route</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151D21"/>
                          </a:solidFill>
                          <a:latin typeface="Calibri"/>
                          <a:ea typeface="Calibri"/>
                          <a:cs typeface="Calibri"/>
                          <a:sym typeface="Calibri"/>
                        </a:rPr>
                        <a:t>Route for drug administration field</a:t>
                      </a:r>
                      <a:endParaRPr sz="1500" u="none" cap="none" strike="noStrike"/>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solidFill>
                            <a:srgbClr val="151D21"/>
                          </a:solidFill>
                          <a:latin typeface="Calibri"/>
                          <a:ea typeface="Calibri"/>
                          <a:cs typeface="Calibri"/>
                          <a:sym typeface="Calibri"/>
                        </a:rPr>
                        <a:t>4171047</a:t>
                      </a:r>
                      <a:endParaRPr sz="1500" u="none" cap="none" strike="noStrike"/>
                    </a:p>
                  </a:txBody>
                  <a:tcPr marT="121900" marB="121900" marR="121900" marL="121900" anchor="ctr"/>
                </a:tc>
              </a:tr>
              <a:tr h="467675">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latin typeface="Calibri"/>
                          <a:ea typeface="Calibri"/>
                          <a:cs typeface="Calibri"/>
                          <a:sym typeface="Calibri"/>
                        </a:rPr>
                        <a:t>EDD</a:t>
                      </a:r>
                      <a:endParaRPr sz="2000" u="none" cap="none" strike="noStrike">
                        <a:latin typeface="Calibri"/>
                        <a:ea typeface="Calibri"/>
                        <a:cs typeface="Calibri"/>
                        <a:sym typeface="Calibri"/>
                      </a:endParaRPr>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latin typeface="Calibri"/>
                          <a:ea typeface="Calibri"/>
                          <a:cs typeface="Calibri"/>
                          <a:sym typeface="Calibri"/>
                        </a:rPr>
                        <a:t>Observation</a:t>
                      </a:r>
                      <a:endParaRPr sz="2000" u="none" cap="none" strike="noStrike">
                        <a:latin typeface="Calibri"/>
                        <a:ea typeface="Calibri"/>
                        <a:cs typeface="Calibri"/>
                        <a:sym typeface="Calibri"/>
                      </a:endParaRPr>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latin typeface="Calibri"/>
                          <a:ea typeface="Calibri"/>
                          <a:cs typeface="Calibri"/>
                          <a:sym typeface="Calibri"/>
                        </a:rPr>
                        <a:t>Pregnancy data table</a:t>
                      </a:r>
                      <a:endParaRPr/>
                    </a:p>
                  </a:txBody>
                  <a:tcPr marT="121900" marB="121900" marR="121900" marL="121900" anchor="ctr"/>
                </a:tc>
                <a:tc>
                  <a:txBody>
                    <a:bodyPr/>
                    <a:lstStyle/>
                    <a:p>
                      <a:pPr indent="0" lvl="0" marL="0" marR="0" rtl="0" algn="l">
                        <a:lnSpc>
                          <a:spcPct val="100000"/>
                        </a:lnSpc>
                        <a:spcBef>
                          <a:spcPts val="0"/>
                        </a:spcBef>
                        <a:spcAft>
                          <a:spcPts val="0"/>
                        </a:spcAft>
                        <a:buClr>
                          <a:srgbClr val="151D21"/>
                        </a:buClr>
                        <a:buSzPts val="1500"/>
                        <a:buFont typeface="Calibri"/>
                        <a:buNone/>
                      </a:pPr>
                      <a:r>
                        <a:rPr lang="en-US" sz="2000" u="none" cap="none" strike="noStrike">
                          <a:latin typeface="Calibri"/>
                          <a:ea typeface="Calibri"/>
                          <a:cs typeface="Calibri"/>
                          <a:sym typeface="Calibri"/>
                        </a:rPr>
                        <a:t>3011536</a:t>
                      </a:r>
                      <a:endParaRPr sz="2000" u="none" cap="none" strike="noStrike">
                        <a:latin typeface="Calibri"/>
                        <a:ea typeface="Calibri"/>
                        <a:cs typeface="Calibri"/>
                        <a:sym typeface="Calibri"/>
                      </a:endParaRPr>
                    </a:p>
                  </a:txBody>
                  <a:tcPr marT="121900" marB="121900" marR="121900" marL="121900"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0"/>
          <p:cNvPicPr preferRelativeResize="0"/>
          <p:nvPr/>
        </p:nvPicPr>
        <p:blipFill rotWithShape="1">
          <a:blip r:embed="rId3">
            <a:alphaModFix/>
          </a:blip>
          <a:srcRect b="0" l="0" r="0" t="0"/>
          <a:stretch/>
        </p:blipFill>
        <p:spPr>
          <a:xfrm>
            <a:off x="0" y="1"/>
            <a:ext cx="12192000" cy="68579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txBox="1"/>
          <p:nvPr>
            <p:ph type="title"/>
          </p:nvPr>
        </p:nvSpPr>
        <p:spPr>
          <a:xfrm>
            <a:off x="1143000" y="114300"/>
            <a:ext cx="10363600" cy="628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20425A"/>
              </a:buClr>
              <a:buSzPts val="3000"/>
              <a:buFont typeface="Calibri"/>
              <a:buNone/>
            </a:pPr>
            <a:r>
              <a:rPr b="1" lang="en-US"/>
              <a:t>Source Codes Mapping – Scenario 3</a:t>
            </a:r>
            <a:endParaRPr/>
          </a:p>
        </p:txBody>
      </p:sp>
      <p:sp>
        <p:nvSpPr>
          <p:cNvPr id="221" name="Google Shape;221;p21"/>
          <p:cNvSpPr txBox="1"/>
          <p:nvPr/>
        </p:nvSpPr>
        <p:spPr>
          <a:xfrm>
            <a:off x="384693" y="1676416"/>
            <a:ext cx="5323200" cy="1565600"/>
          </a:xfrm>
          <a:prstGeom prst="rect">
            <a:avLst/>
          </a:prstGeom>
          <a:noFill/>
          <a:ln>
            <a:noFill/>
          </a:ln>
        </p:spPr>
        <p:txBody>
          <a:bodyPr anchorCtr="0" anchor="t" bIns="45700" lIns="91425" spcFirstLastPara="1" rIns="91425" wrap="square" tIns="45700">
            <a:noAutofit/>
          </a:bodyPr>
          <a:lstStyle/>
          <a:p>
            <a:pPr indent="-228594" lvl="0" marL="237061"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Source data does not map to standard vocabulary</a:t>
            </a:r>
            <a:endParaRPr b="0" i="0" sz="1467" u="none" cap="none" strike="noStrike">
              <a:solidFill>
                <a:srgbClr val="000000"/>
              </a:solidFill>
              <a:latin typeface="Arial"/>
              <a:ea typeface="Arial"/>
              <a:cs typeface="Arial"/>
              <a:sym typeface="Arial"/>
            </a:endParaRPr>
          </a:p>
        </p:txBody>
      </p:sp>
      <p:sp>
        <p:nvSpPr>
          <p:cNvPr id="222" name="Google Shape;222;p21"/>
          <p:cNvSpPr txBox="1"/>
          <p:nvPr/>
        </p:nvSpPr>
        <p:spPr>
          <a:xfrm>
            <a:off x="384693" y="1218660"/>
            <a:ext cx="5133200" cy="40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b="1" i="0" lang="en-US" sz="2800" u="none" cap="none" strike="noStrike">
                <a:solidFill>
                  <a:srgbClr val="20425A"/>
                </a:solidFill>
                <a:latin typeface="Calibri"/>
                <a:ea typeface="Calibri"/>
                <a:cs typeface="Calibri"/>
                <a:sym typeface="Calibri"/>
              </a:rPr>
              <a:t>Scenario</a:t>
            </a:r>
            <a:endParaRPr b="0" i="0" sz="1467" u="none" cap="none" strike="noStrike">
              <a:solidFill>
                <a:srgbClr val="000000"/>
              </a:solidFill>
              <a:latin typeface="Arial"/>
              <a:ea typeface="Arial"/>
              <a:cs typeface="Arial"/>
              <a:sym typeface="Arial"/>
            </a:endParaRPr>
          </a:p>
        </p:txBody>
      </p:sp>
      <p:sp>
        <p:nvSpPr>
          <p:cNvPr id="223" name="Google Shape;223;p21"/>
          <p:cNvSpPr txBox="1"/>
          <p:nvPr/>
        </p:nvSpPr>
        <p:spPr>
          <a:xfrm>
            <a:off x="5998056" y="1179429"/>
            <a:ext cx="4966000" cy="486400"/>
          </a:xfrm>
          <a:prstGeom prst="rect">
            <a:avLst/>
          </a:prstGeom>
          <a:noFill/>
          <a:ln>
            <a:noFill/>
          </a:ln>
        </p:spPr>
        <p:txBody>
          <a:bodyPr anchorCtr="0" anchor="t" bIns="27425" lIns="91425" spcFirstLastPara="1" rIns="91425" wrap="square" tIns="27425">
            <a:noAutofit/>
          </a:bodyPr>
          <a:lstStyle/>
          <a:p>
            <a:pPr indent="0" lvl="0" marL="0" marR="0" rtl="0" algn="l">
              <a:spcBef>
                <a:spcPts val="0"/>
              </a:spcBef>
              <a:spcAft>
                <a:spcPts val="0"/>
              </a:spcAft>
              <a:buNone/>
            </a:pPr>
            <a:r>
              <a:rPr b="1" i="0" lang="en-US" sz="2800" u="none" cap="none" strike="noStrike">
                <a:solidFill>
                  <a:srgbClr val="F79646"/>
                </a:solidFill>
                <a:latin typeface="Calibri"/>
                <a:ea typeface="Calibri"/>
                <a:cs typeface="Calibri"/>
                <a:sym typeface="Calibri"/>
              </a:rPr>
              <a:t>Solution </a:t>
            </a:r>
            <a:endParaRPr b="1" i="0" sz="2800" u="none" cap="none" strike="noStrike">
              <a:solidFill>
                <a:srgbClr val="F79646"/>
              </a:solidFill>
              <a:latin typeface="Calibri"/>
              <a:ea typeface="Calibri"/>
              <a:cs typeface="Calibri"/>
              <a:sym typeface="Calibri"/>
            </a:endParaRPr>
          </a:p>
        </p:txBody>
      </p:sp>
      <p:cxnSp>
        <p:nvCxnSpPr>
          <p:cNvPr id="224" name="Google Shape;224;p21"/>
          <p:cNvCxnSpPr/>
          <p:nvPr/>
        </p:nvCxnSpPr>
        <p:spPr>
          <a:xfrm>
            <a:off x="384693" y="1695057"/>
            <a:ext cx="5282800" cy="0"/>
          </a:xfrm>
          <a:prstGeom prst="straightConnector1">
            <a:avLst/>
          </a:prstGeom>
          <a:noFill/>
          <a:ln cap="rnd" cmpd="sng" w="76200">
            <a:solidFill>
              <a:srgbClr val="20425A"/>
            </a:solidFill>
            <a:prstDash val="solid"/>
            <a:round/>
            <a:headEnd len="sm" w="sm" type="none"/>
            <a:tailEnd len="sm" w="sm" type="none"/>
          </a:ln>
        </p:spPr>
      </p:cxnSp>
      <p:cxnSp>
        <p:nvCxnSpPr>
          <p:cNvPr id="225" name="Google Shape;225;p21"/>
          <p:cNvCxnSpPr/>
          <p:nvPr/>
        </p:nvCxnSpPr>
        <p:spPr>
          <a:xfrm>
            <a:off x="5998056" y="1695057"/>
            <a:ext cx="5285200" cy="0"/>
          </a:xfrm>
          <a:prstGeom prst="straightConnector1">
            <a:avLst/>
          </a:prstGeom>
          <a:noFill/>
          <a:ln cap="rnd" cmpd="sng" w="76200">
            <a:solidFill>
              <a:schemeClr val="accent6"/>
            </a:solidFill>
            <a:prstDash val="solid"/>
            <a:round/>
            <a:headEnd len="sm" w="sm" type="none"/>
            <a:tailEnd len="sm" w="sm" type="none"/>
          </a:ln>
        </p:spPr>
      </p:cxnSp>
      <p:sp>
        <p:nvSpPr>
          <p:cNvPr id="226" name="Google Shape;226;p21"/>
          <p:cNvSpPr txBox="1"/>
          <p:nvPr/>
        </p:nvSpPr>
        <p:spPr>
          <a:xfrm>
            <a:off x="5960019" y="1705821"/>
            <a:ext cx="5361200" cy="5216800"/>
          </a:xfrm>
          <a:prstGeom prst="rect">
            <a:avLst/>
          </a:prstGeom>
          <a:noFill/>
          <a:ln>
            <a:noFill/>
          </a:ln>
        </p:spPr>
        <p:txBody>
          <a:bodyPr anchorCtr="0" anchor="t" bIns="45700" lIns="91425" spcFirstLastPara="1" rIns="91425" wrap="square" tIns="45700">
            <a:noAutofit/>
          </a:bodyPr>
          <a:lstStyle/>
          <a:p>
            <a:pPr indent="-279393" lvl="0" marL="28785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Ask OHDSI to incorporate the vocabulary</a:t>
            </a:r>
            <a:endParaRPr b="0" i="0" sz="1467" u="none" cap="none" strike="noStrike">
              <a:solidFill>
                <a:srgbClr val="000000"/>
              </a:solidFill>
              <a:latin typeface="Arial"/>
              <a:ea typeface="Arial"/>
              <a:cs typeface="Arial"/>
              <a:sym typeface="Arial"/>
            </a:endParaRPr>
          </a:p>
          <a:p>
            <a:pPr indent="-279393" lvl="0" marL="28785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Utilize the community contribution process</a:t>
            </a:r>
            <a:endParaRPr b="0" i="0" sz="2400" u="none" cap="none" strike="noStrike">
              <a:solidFill>
                <a:srgbClr val="000000"/>
              </a:solidFill>
              <a:latin typeface="Calibri"/>
              <a:ea typeface="Calibri"/>
              <a:cs typeface="Calibri"/>
              <a:sym typeface="Calibri"/>
            </a:endParaRPr>
          </a:p>
          <a:p>
            <a:pPr indent="-50799" lvl="0" marL="237061" marR="0" rtl="0" algn="l">
              <a:spcBef>
                <a:spcPts val="533"/>
              </a:spcBef>
              <a:spcAft>
                <a:spcPts val="0"/>
              </a:spcAft>
              <a:buNone/>
            </a:pPr>
            <a:r>
              <a:t/>
            </a:r>
            <a:endParaRPr b="0" i="0" sz="2800" u="none" cap="none" strike="noStrike">
              <a:solidFill>
                <a:srgbClr val="20425A"/>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2"/>
          <p:cNvSpPr txBox="1"/>
          <p:nvPr>
            <p:ph type="ctrTitle"/>
          </p:nvPr>
        </p:nvSpPr>
        <p:spPr>
          <a:xfrm>
            <a:off x="3149600" y="2856468"/>
            <a:ext cx="8128000" cy="1145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0425A"/>
              </a:buClr>
              <a:buSzPts val="2700"/>
              <a:buFont typeface="Calibri"/>
              <a:buNone/>
            </a:pPr>
            <a:r>
              <a:rPr b="1" lang="en-US"/>
              <a:t>Other Relationships: Hierarchical and Part-of Relationships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nvSpPr>
        <p:spPr>
          <a:xfrm>
            <a:off x="494097" y="1198011"/>
            <a:ext cx="10972800" cy="1630000"/>
          </a:xfrm>
          <a:prstGeom prst="rect">
            <a:avLst/>
          </a:prstGeom>
          <a:noFill/>
          <a:ln>
            <a:noFill/>
          </a:ln>
        </p:spPr>
        <p:txBody>
          <a:bodyPr anchorCtr="0" anchor="t" bIns="91425" lIns="91425" spcFirstLastPara="1" rIns="91425" wrap="square" tIns="91425">
            <a:noAutofit/>
          </a:bodyPr>
          <a:lstStyle/>
          <a:p>
            <a:pPr indent="-135463" lvl="0" marL="795847" marR="0" rtl="0" algn="l">
              <a:spcBef>
                <a:spcPts val="0"/>
              </a:spcBef>
              <a:spcAft>
                <a:spcPts val="0"/>
              </a:spcAft>
              <a:buNone/>
            </a:pPr>
            <a:r>
              <a:rPr b="1" i="0" lang="en-US" sz="1600" u="none" cap="none" strike="noStrike">
                <a:solidFill>
                  <a:srgbClr val="0000FF"/>
                </a:solidFill>
                <a:highlight>
                  <a:srgbClr val="FFFFFF"/>
                </a:highlight>
                <a:latin typeface="Calibri"/>
                <a:ea typeface="Calibri"/>
                <a:cs typeface="Calibri"/>
                <a:sym typeface="Calibri"/>
              </a:rPr>
              <a:t>SELECT</a:t>
            </a:r>
            <a:r>
              <a:rPr b="0" i="0" lang="en-US" sz="1600" u="none" cap="none" strike="noStrike">
                <a:solidFill>
                  <a:srgbClr val="000000"/>
                </a:solidFill>
                <a:highlight>
                  <a:srgbClr val="FFFFFF"/>
                </a:highlight>
                <a:latin typeface="Calibri"/>
                <a:ea typeface="Calibri"/>
                <a:cs typeface="Calibri"/>
                <a:sym typeface="Calibri"/>
              </a:rPr>
              <a:t> cr</a:t>
            </a:r>
            <a:r>
              <a:rPr b="1" i="0" lang="en-US" sz="1600" u="none" cap="none" strike="noStrike">
                <a:solidFill>
                  <a:srgbClr val="000000"/>
                </a:solidFill>
                <a:highlight>
                  <a:srgbClr val="FFFFFF"/>
                </a:highlight>
                <a:latin typeface="Calibri"/>
                <a:ea typeface="Calibri"/>
                <a:cs typeface="Calibri"/>
                <a:sym typeface="Calibri"/>
              </a:rPr>
              <a:t>.</a:t>
            </a:r>
            <a:r>
              <a:rPr b="0" i="0" lang="en-US" sz="1600" u="none" cap="none" strike="noStrike">
                <a:solidFill>
                  <a:srgbClr val="000000"/>
                </a:solidFill>
                <a:highlight>
                  <a:srgbClr val="FFFFFF"/>
                </a:highlight>
                <a:latin typeface="Calibri"/>
                <a:ea typeface="Calibri"/>
                <a:cs typeface="Calibri"/>
                <a:sym typeface="Calibri"/>
              </a:rPr>
              <a:t>relationship_id</a:t>
            </a:r>
            <a:r>
              <a:rPr b="1" i="0" lang="en-US" sz="1600" u="none" cap="none" strike="noStrike">
                <a:solidFill>
                  <a:srgbClr val="000000"/>
                </a:solidFill>
                <a:highlight>
                  <a:srgbClr val="FFFFFF"/>
                </a:highlight>
                <a:latin typeface="Calibri"/>
                <a:ea typeface="Calibri"/>
                <a:cs typeface="Calibri"/>
                <a:sym typeface="Calibri"/>
              </a:rPr>
              <a:t>,</a:t>
            </a:r>
            <a:r>
              <a:rPr b="0" i="0" lang="en-US" sz="1600" u="none" cap="none" strike="noStrike">
                <a:solidFill>
                  <a:srgbClr val="000000"/>
                </a:solidFill>
                <a:highlight>
                  <a:srgbClr val="FFFFFF"/>
                </a:highlight>
                <a:latin typeface="Calibri"/>
                <a:ea typeface="Calibri"/>
                <a:cs typeface="Calibri"/>
                <a:sym typeface="Calibri"/>
              </a:rPr>
              <a:t> c</a:t>
            </a:r>
            <a:r>
              <a:rPr b="1" i="0" lang="en-US" sz="1600" u="none" cap="none" strike="noStrike">
                <a:solidFill>
                  <a:srgbClr val="000000"/>
                </a:solidFill>
                <a:highlight>
                  <a:srgbClr val="FFFFFF"/>
                </a:highlight>
                <a:latin typeface="Calibri"/>
                <a:ea typeface="Calibri"/>
                <a:cs typeface="Calibri"/>
                <a:sym typeface="Calibri"/>
              </a:rPr>
              <a:t>.*</a:t>
            </a:r>
            <a:r>
              <a:rPr b="0" i="0" lang="en-US" sz="1600" u="none" cap="none" strike="noStrike">
                <a:solidFill>
                  <a:srgbClr val="000000"/>
                </a:solidFill>
                <a:highlight>
                  <a:srgbClr val="FFFFFF"/>
                </a:highlight>
                <a:latin typeface="Calibri"/>
                <a:ea typeface="Calibri"/>
                <a:cs typeface="Calibri"/>
                <a:sym typeface="Calibri"/>
              </a:rPr>
              <a:t> </a:t>
            </a:r>
            <a:r>
              <a:rPr b="1" i="0" lang="en-US" sz="1600" u="none" cap="none" strike="noStrike">
                <a:solidFill>
                  <a:srgbClr val="0000FF"/>
                </a:solidFill>
                <a:highlight>
                  <a:srgbClr val="FFFFFF"/>
                </a:highlight>
                <a:latin typeface="Calibri"/>
                <a:ea typeface="Calibri"/>
                <a:cs typeface="Calibri"/>
                <a:sym typeface="Calibri"/>
              </a:rPr>
              <a:t>FROM</a:t>
            </a:r>
            <a:r>
              <a:rPr b="0" i="0" lang="en-US" sz="1600" u="none" cap="none" strike="noStrike">
                <a:solidFill>
                  <a:srgbClr val="000000"/>
                </a:solidFill>
                <a:highlight>
                  <a:srgbClr val="FFFFFF"/>
                </a:highlight>
                <a:latin typeface="Calibri"/>
                <a:ea typeface="Calibri"/>
                <a:cs typeface="Calibri"/>
                <a:sym typeface="Calibri"/>
              </a:rPr>
              <a:t> concept_relationship cr </a:t>
            </a:r>
            <a:endParaRPr b="0" i="0" sz="1600" u="none" cap="none" strike="noStrike">
              <a:solidFill>
                <a:srgbClr val="20425A"/>
              </a:solidFill>
              <a:highlight>
                <a:srgbClr val="FFFFFF"/>
              </a:highlight>
              <a:latin typeface="Calibri"/>
              <a:ea typeface="Calibri"/>
              <a:cs typeface="Calibri"/>
              <a:sym typeface="Calibri"/>
            </a:endParaRPr>
          </a:p>
          <a:p>
            <a:pPr indent="-135463" lvl="0" marL="795847" marR="0" rtl="0" algn="l">
              <a:spcBef>
                <a:spcPts val="667"/>
              </a:spcBef>
              <a:spcAft>
                <a:spcPts val="0"/>
              </a:spcAft>
              <a:buNone/>
            </a:pPr>
            <a:r>
              <a:rPr b="1" i="0" lang="en-US" sz="1600" u="none" cap="none" strike="noStrike">
                <a:solidFill>
                  <a:srgbClr val="0000FF"/>
                </a:solidFill>
                <a:highlight>
                  <a:srgbClr val="FFFFFF"/>
                </a:highlight>
                <a:latin typeface="Calibri"/>
                <a:ea typeface="Calibri"/>
                <a:cs typeface="Calibri"/>
                <a:sym typeface="Calibri"/>
              </a:rPr>
              <a:t>JOIN</a:t>
            </a:r>
            <a:r>
              <a:rPr b="0" i="0" lang="en-US" sz="1600" u="none" cap="none" strike="noStrike">
                <a:solidFill>
                  <a:srgbClr val="000000"/>
                </a:solidFill>
                <a:highlight>
                  <a:srgbClr val="FFFFFF"/>
                </a:highlight>
                <a:latin typeface="Calibri"/>
                <a:ea typeface="Calibri"/>
                <a:cs typeface="Calibri"/>
                <a:sym typeface="Calibri"/>
              </a:rPr>
              <a:t> concept c </a:t>
            </a:r>
            <a:r>
              <a:rPr b="1" i="0" lang="en-US" sz="1600" u="none" cap="none" strike="noStrike">
                <a:solidFill>
                  <a:srgbClr val="0000FF"/>
                </a:solidFill>
                <a:highlight>
                  <a:srgbClr val="FFFFFF"/>
                </a:highlight>
                <a:latin typeface="Calibri"/>
                <a:ea typeface="Calibri"/>
                <a:cs typeface="Calibri"/>
                <a:sym typeface="Calibri"/>
              </a:rPr>
              <a:t>ON</a:t>
            </a:r>
            <a:r>
              <a:rPr b="0" i="0" lang="en-US" sz="1600" u="none" cap="none" strike="noStrike">
                <a:solidFill>
                  <a:srgbClr val="000000"/>
                </a:solidFill>
                <a:highlight>
                  <a:srgbClr val="FFFFFF"/>
                </a:highlight>
                <a:latin typeface="Calibri"/>
                <a:ea typeface="Calibri"/>
                <a:cs typeface="Calibri"/>
                <a:sym typeface="Calibri"/>
              </a:rPr>
              <a:t> cr</a:t>
            </a:r>
            <a:r>
              <a:rPr b="1" i="0" lang="en-US" sz="1600" u="none" cap="none" strike="noStrike">
                <a:solidFill>
                  <a:srgbClr val="000000"/>
                </a:solidFill>
                <a:highlight>
                  <a:srgbClr val="FFFFFF"/>
                </a:highlight>
                <a:latin typeface="Calibri"/>
                <a:ea typeface="Calibri"/>
                <a:cs typeface="Calibri"/>
                <a:sym typeface="Calibri"/>
              </a:rPr>
              <a:t>.</a:t>
            </a:r>
            <a:r>
              <a:rPr b="0" i="0" lang="en-US" sz="1600" u="none" cap="none" strike="noStrike">
                <a:solidFill>
                  <a:srgbClr val="000000"/>
                </a:solidFill>
                <a:highlight>
                  <a:srgbClr val="FFFFFF"/>
                </a:highlight>
                <a:latin typeface="Calibri"/>
                <a:ea typeface="Calibri"/>
                <a:cs typeface="Calibri"/>
                <a:sym typeface="Calibri"/>
              </a:rPr>
              <a:t>concept_id_2 </a:t>
            </a:r>
            <a:r>
              <a:rPr b="1" i="0" lang="en-US" sz="1600" u="none" cap="none" strike="noStrike">
                <a:solidFill>
                  <a:srgbClr val="000000"/>
                </a:solidFill>
                <a:highlight>
                  <a:srgbClr val="FFFFFF"/>
                </a:highlight>
                <a:latin typeface="Calibri"/>
                <a:ea typeface="Calibri"/>
                <a:cs typeface="Calibri"/>
                <a:sym typeface="Calibri"/>
              </a:rPr>
              <a:t>=</a:t>
            </a:r>
            <a:r>
              <a:rPr b="0" i="0" lang="en-US" sz="1600" u="none" cap="none" strike="noStrike">
                <a:solidFill>
                  <a:srgbClr val="000000"/>
                </a:solidFill>
                <a:highlight>
                  <a:srgbClr val="FFFFFF"/>
                </a:highlight>
                <a:latin typeface="Calibri"/>
                <a:ea typeface="Calibri"/>
                <a:cs typeface="Calibri"/>
                <a:sym typeface="Calibri"/>
              </a:rPr>
              <a:t> c</a:t>
            </a:r>
            <a:r>
              <a:rPr b="1" i="0" lang="en-US" sz="1600" u="none" cap="none" strike="noStrike">
                <a:solidFill>
                  <a:srgbClr val="000000"/>
                </a:solidFill>
                <a:highlight>
                  <a:srgbClr val="FFFFFF"/>
                </a:highlight>
                <a:latin typeface="Calibri"/>
                <a:ea typeface="Calibri"/>
                <a:cs typeface="Calibri"/>
                <a:sym typeface="Calibri"/>
              </a:rPr>
              <a:t>.</a:t>
            </a:r>
            <a:r>
              <a:rPr b="0" i="0" lang="en-US" sz="1600" u="none" cap="none" strike="noStrike">
                <a:solidFill>
                  <a:srgbClr val="000000"/>
                </a:solidFill>
                <a:highlight>
                  <a:srgbClr val="FFFFFF"/>
                </a:highlight>
                <a:latin typeface="Calibri"/>
                <a:ea typeface="Calibri"/>
                <a:cs typeface="Calibri"/>
                <a:sym typeface="Calibri"/>
              </a:rPr>
              <a:t>concept_id </a:t>
            </a:r>
            <a:endParaRPr b="0" i="0" sz="1600" u="none" cap="none" strike="noStrike">
              <a:solidFill>
                <a:srgbClr val="20425A"/>
              </a:solidFill>
              <a:highlight>
                <a:srgbClr val="FFFFFF"/>
              </a:highlight>
              <a:latin typeface="Calibri"/>
              <a:ea typeface="Calibri"/>
              <a:cs typeface="Calibri"/>
              <a:sym typeface="Calibri"/>
            </a:endParaRPr>
          </a:p>
          <a:p>
            <a:pPr indent="-135463" lvl="0" marL="795847" marR="0" rtl="0" algn="l">
              <a:spcBef>
                <a:spcPts val="667"/>
              </a:spcBef>
              <a:spcAft>
                <a:spcPts val="0"/>
              </a:spcAft>
              <a:buNone/>
            </a:pPr>
            <a:r>
              <a:rPr b="1" i="0" lang="en-US" sz="1600" u="none" cap="none" strike="noStrike">
                <a:solidFill>
                  <a:srgbClr val="0000FF"/>
                </a:solidFill>
                <a:highlight>
                  <a:srgbClr val="FFFFFF"/>
                </a:highlight>
                <a:latin typeface="Calibri"/>
                <a:ea typeface="Calibri"/>
                <a:cs typeface="Calibri"/>
                <a:sym typeface="Calibri"/>
              </a:rPr>
              <a:t>WHERE</a:t>
            </a:r>
            <a:r>
              <a:rPr b="0" i="0" lang="en-US" sz="1600" u="none" cap="none" strike="noStrike">
                <a:solidFill>
                  <a:srgbClr val="000000"/>
                </a:solidFill>
                <a:highlight>
                  <a:srgbClr val="FFFFFF"/>
                </a:highlight>
                <a:latin typeface="Calibri"/>
                <a:ea typeface="Calibri"/>
                <a:cs typeface="Calibri"/>
                <a:sym typeface="Calibri"/>
              </a:rPr>
              <a:t> cr</a:t>
            </a:r>
            <a:r>
              <a:rPr b="1" i="0" lang="en-US" sz="1600" u="none" cap="none" strike="noStrike">
                <a:solidFill>
                  <a:srgbClr val="000000"/>
                </a:solidFill>
                <a:highlight>
                  <a:srgbClr val="FFFFFF"/>
                </a:highlight>
                <a:latin typeface="Calibri"/>
                <a:ea typeface="Calibri"/>
                <a:cs typeface="Calibri"/>
                <a:sym typeface="Calibri"/>
              </a:rPr>
              <a:t>.</a:t>
            </a:r>
            <a:r>
              <a:rPr b="0" i="0" lang="en-US" sz="1600" u="none" cap="none" strike="noStrike">
                <a:solidFill>
                  <a:srgbClr val="000000"/>
                </a:solidFill>
                <a:highlight>
                  <a:srgbClr val="FFFFFF"/>
                </a:highlight>
                <a:latin typeface="Calibri"/>
                <a:ea typeface="Calibri"/>
                <a:cs typeface="Calibri"/>
                <a:sym typeface="Calibri"/>
              </a:rPr>
              <a:t>concept_id_1 </a:t>
            </a:r>
            <a:r>
              <a:rPr b="1" i="0" lang="en-US" sz="1600" u="none" cap="none" strike="noStrike">
                <a:solidFill>
                  <a:srgbClr val="000000"/>
                </a:solidFill>
                <a:highlight>
                  <a:srgbClr val="FFFFFF"/>
                </a:highlight>
                <a:latin typeface="Calibri"/>
                <a:ea typeface="Calibri"/>
                <a:cs typeface="Calibri"/>
                <a:sym typeface="Calibri"/>
              </a:rPr>
              <a:t>=</a:t>
            </a:r>
            <a:r>
              <a:rPr b="0" i="0" lang="en-US" sz="1600" u="none" cap="none" strike="noStrike">
                <a:solidFill>
                  <a:srgbClr val="000000"/>
                </a:solidFill>
                <a:highlight>
                  <a:srgbClr val="FFFFFF"/>
                </a:highlight>
                <a:latin typeface="Calibri"/>
                <a:ea typeface="Calibri"/>
                <a:cs typeface="Calibri"/>
                <a:sym typeface="Calibri"/>
              </a:rPr>
              <a:t> </a:t>
            </a:r>
            <a:r>
              <a:rPr b="0" i="0" lang="en-US" sz="1600" u="none" cap="none" strike="noStrike">
                <a:solidFill>
                  <a:srgbClr val="808080"/>
                </a:solidFill>
                <a:highlight>
                  <a:srgbClr val="FFFFFF"/>
                </a:highlight>
                <a:latin typeface="Calibri"/>
                <a:ea typeface="Calibri"/>
                <a:cs typeface="Calibri"/>
                <a:sym typeface="Calibri"/>
              </a:rPr>
              <a:t>313217</a:t>
            </a:r>
            <a:endParaRPr b="0" i="0" sz="1600" u="none" cap="none" strike="noStrike">
              <a:solidFill>
                <a:srgbClr val="20425A"/>
              </a:solidFill>
              <a:highlight>
                <a:srgbClr val="FFFFFF"/>
              </a:highlight>
              <a:latin typeface="Calibri"/>
              <a:ea typeface="Calibri"/>
              <a:cs typeface="Calibri"/>
              <a:sym typeface="Calibri"/>
            </a:endParaRPr>
          </a:p>
        </p:txBody>
      </p:sp>
      <p:sp>
        <p:nvSpPr>
          <p:cNvPr id="238" name="Google Shape;238;p23"/>
          <p:cNvSpPr txBox="1"/>
          <p:nvPr>
            <p:ph type="title"/>
          </p:nvPr>
        </p:nvSpPr>
        <p:spPr>
          <a:xfrm>
            <a:off x="1143000" y="114300"/>
            <a:ext cx="7544000" cy="62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20425A"/>
              </a:buClr>
              <a:buSzPts val="3000"/>
              <a:buFont typeface="Calibri"/>
              <a:buNone/>
            </a:pPr>
            <a:r>
              <a:rPr b="1" lang="en-US"/>
              <a:t>Exploring Relationships</a:t>
            </a:r>
            <a:endParaRPr/>
          </a:p>
        </p:txBody>
      </p:sp>
      <p:sp>
        <p:nvSpPr>
          <p:cNvPr id="239" name="Google Shape;239;p23"/>
          <p:cNvSpPr txBox="1"/>
          <p:nvPr/>
        </p:nvSpPr>
        <p:spPr>
          <a:xfrm>
            <a:off x="7644040" y="1264701"/>
            <a:ext cx="2514400" cy="3384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Find out related concept</a:t>
            </a:r>
            <a:endParaRPr b="0" i="0" sz="2000" u="none" cap="none" strike="noStrike">
              <a:solidFill>
                <a:srgbClr val="20425A"/>
              </a:solidFill>
              <a:latin typeface="Calibri"/>
              <a:ea typeface="Calibri"/>
              <a:cs typeface="Calibri"/>
              <a:sym typeface="Calibri"/>
            </a:endParaRPr>
          </a:p>
        </p:txBody>
      </p:sp>
      <p:cxnSp>
        <p:nvCxnSpPr>
          <p:cNvPr id="240" name="Google Shape;240;p23"/>
          <p:cNvCxnSpPr>
            <a:stCxn id="239" idx="1"/>
          </p:cNvCxnSpPr>
          <p:nvPr/>
        </p:nvCxnSpPr>
        <p:spPr>
          <a:xfrm flipH="1">
            <a:off x="6348340" y="1433901"/>
            <a:ext cx="1295700" cy="4404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6078"/>
              </a:srgbClr>
            </a:outerShdw>
          </a:effectLst>
        </p:spPr>
      </p:cxnSp>
      <p:sp>
        <p:nvSpPr>
          <p:cNvPr id="241" name="Google Shape;241;p23"/>
          <p:cNvSpPr txBox="1"/>
          <p:nvPr/>
        </p:nvSpPr>
        <p:spPr>
          <a:xfrm>
            <a:off x="2412732" y="6479847"/>
            <a:ext cx="2133600" cy="3384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Descendant concepts</a:t>
            </a:r>
            <a:endParaRPr b="0" i="0" sz="2000" u="none" cap="none" strike="noStrike">
              <a:solidFill>
                <a:srgbClr val="20425A"/>
              </a:solidFill>
              <a:latin typeface="Calibri"/>
              <a:ea typeface="Calibri"/>
              <a:cs typeface="Calibri"/>
              <a:sym typeface="Calibri"/>
            </a:endParaRPr>
          </a:p>
        </p:txBody>
      </p:sp>
      <p:pic>
        <p:nvPicPr>
          <p:cNvPr id="242" name="Google Shape;242;p23"/>
          <p:cNvPicPr preferRelativeResize="0"/>
          <p:nvPr/>
        </p:nvPicPr>
        <p:blipFill rotWithShape="1">
          <a:blip r:embed="rId3">
            <a:alphaModFix/>
          </a:blip>
          <a:srcRect b="0" l="0" r="0" t="0"/>
          <a:stretch/>
        </p:blipFill>
        <p:spPr>
          <a:xfrm>
            <a:off x="2011552" y="2170757"/>
            <a:ext cx="8478381" cy="4184492"/>
          </a:xfrm>
          <a:prstGeom prst="rect">
            <a:avLst/>
          </a:prstGeom>
          <a:noFill/>
          <a:ln>
            <a:noFill/>
          </a:ln>
        </p:spPr>
      </p:pic>
      <p:sp>
        <p:nvSpPr>
          <p:cNvPr id="243" name="Google Shape;243;p23"/>
          <p:cNvSpPr txBox="1"/>
          <p:nvPr/>
        </p:nvSpPr>
        <p:spPr>
          <a:xfrm>
            <a:off x="3403332" y="2429577"/>
            <a:ext cx="1752800" cy="3384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20425A"/>
                </a:solidFill>
                <a:latin typeface="Calibri"/>
                <a:ea typeface="Calibri"/>
                <a:cs typeface="Calibri"/>
                <a:sym typeface="Calibri"/>
              </a:rPr>
              <a:t>Ancestor concepts</a:t>
            </a:r>
            <a:endParaRPr b="0" i="0" sz="2000" u="none" cap="none" strike="noStrike">
              <a:solidFill>
                <a:srgbClr val="20425A"/>
              </a:solidFill>
              <a:latin typeface="Calibri"/>
              <a:ea typeface="Calibri"/>
              <a:cs typeface="Calibri"/>
              <a:sym typeface="Calibri"/>
            </a:endParaRPr>
          </a:p>
        </p:txBody>
      </p:sp>
      <p:cxnSp>
        <p:nvCxnSpPr>
          <p:cNvPr id="244" name="Google Shape;244;p23"/>
          <p:cNvCxnSpPr>
            <a:stCxn id="243" idx="2"/>
          </p:cNvCxnSpPr>
          <p:nvPr/>
        </p:nvCxnSpPr>
        <p:spPr>
          <a:xfrm flipH="1">
            <a:off x="2336632" y="2767977"/>
            <a:ext cx="1943100" cy="8808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6078"/>
              </a:srgbClr>
            </a:outerShdw>
          </a:effectLst>
        </p:spPr>
      </p:cxnSp>
      <p:cxnSp>
        <p:nvCxnSpPr>
          <p:cNvPr id="245" name="Google Shape;245;p23"/>
          <p:cNvCxnSpPr>
            <a:stCxn id="241" idx="0"/>
          </p:cNvCxnSpPr>
          <p:nvPr/>
        </p:nvCxnSpPr>
        <p:spPr>
          <a:xfrm rot="10800000">
            <a:off x="2260332" y="5782347"/>
            <a:ext cx="1219200" cy="6975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6078"/>
              </a:srgbClr>
            </a:outerShdw>
          </a:effectLst>
        </p:spPr>
      </p:cxnSp>
      <p:cxnSp>
        <p:nvCxnSpPr>
          <p:cNvPr id="246" name="Google Shape;246;p23"/>
          <p:cNvCxnSpPr>
            <a:stCxn id="241" idx="0"/>
          </p:cNvCxnSpPr>
          <p:nvPr/>
        </p:nvCxnSpPr>
        <p:spPr>
          <a:xfrm flipH="1" rot="10800000">
            <a:off x="3479532" y="5791347"/>
            <a:ext cx="303300" cy="6885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6078"/>
              </a:srgbClr>
            </a:outerShdw>
          </a:effectLst>
        </p:spPr>
      </p:cxnSp>
      <p:cxnSp>
        <p:nvCxnSpPr>
          <p:cNvPr id="247" name="Google Shape;247;p23"/>
          <p:cNvCxnSpPr>
            <a:stCxn id="243" idx="2"/>
          </p:cNvCxnSpPr>
          <p:nvPr/>
        </p:nvCxnSpPr>
        <p:spPr>
          <a:xfrm>
            <a:off x="4279732" y="2767977"/>
            <a:ext cx="266700" cy="95730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6078"/>
              </a:srgbClr>
            </a:outerShdw>
          </a:effectLst>
        </p:spPr>
      </p:cxnSp>
      <p:sp>
        <p:nvSpPr>
          <p:cNvPr id="248" name="Google Shape;248;p23"/>
          <p:cNvSpPr txBox="1"/>
          <p:nvPr/>
        </p:nvSpPr>
        <p:spPr>
          <a:xfrm>
            <a:off x="1995707" y="4582327"/>
            <a:ext cx="2760400" cy="307600"/>
          </a:xfrm>
          <a:prstGeom prst="rect">
            <a:avLst/>
          </a:prstGeom>
          <a:noFill/>
          <a:ln cap="flat" cmpd="sng" w="19050">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867" u="none" cap="none" strike="noStrike">
              <a:solidFill>
                <a:srgbClr val="000000"/>
              </a:solidFill>
              <a:latin typeface="Calibri"/>
              <a:ea typeface="Calibri"/>
              <a:cs typeface="Calibri"/>
              <a:sym typeface="Calibri"/>
            </a:endParaRPr>
          </a:p>
        </p:txBody>
      </p:sp>
      <p:cxnSp>
        <p:nvCxnSpPr>
          <p:cNvPr id="249" name="Google Shape;249;p23"/>
          <p:cNvCxnSpPr>
            <a:endCxn id="248" idx="3"/>
          </p:cNvCxnSpPr>
          <p:nvPr/>
        </p:nvCxnSpPr>
        <p:spPr>
          <a:xfrm flipH="1">
            <a:off x="4756107" y="3705027"/>
            <a:ext cx="1690500" cy="1031100"/>
          </a:xfrm>
          <a:prstGeom prst="straightConnector1">
            <a:avLst/>
          </a:prstGeom>
          <a:noFill/>
          <a:ln cap="flat" cmpd="sng" w="19050">
            <a:solidFill>
              <a:srgbClr val="FF9900"/>
            </a:solidFill>
            <a:prstDash val="solid"/>
            <a:round/>
            <a:headEnd len="sm" w="sm" type="none"/>
            <a:tailEnd len="med" w="med" type="stealth"/>
          </a:ln>
          <a:effectLst>
            <a:outerShdw blurRad="40000" rotWithShape="0" dir="5400000" dist="20000">
              <a:srgbClr val="000000">
                <a:alpha val="36470"/>
              </a:srgbClr>
            </a:outerShdw>
          </a:effectLst>
        </p:spPr>
      </p:cxnSp>
      <p:sp>
        <p:nvSpPr>
          <p:cNvPr id="250" name="Google Shape;250;p23"/>
          <p:cNvSpPr txBox="1"/>
          <p:nvPr/>
        </p:nvSpPr>
        <p:spPr>
          <a:xfrm>
            <a:off x="6209056" y="3342477"/>
            <a:ext cx="3949200" cy="987600"/>
          </a:xfrm>
          <a:prstGeom prst="rect">
            <a:avLst/>
          </a:prstGeom>
          <a:solidFill>
            <a:schemeClr val="lt1"/>
          </a:solidFill>
          <a:ln cap="flat" cmpd="sng" w="25400">
            <a:solidFill>
              <a:schemeClr val="accent6"/>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000" u="none" cap="none" strike="noStrike">
                <a:solidFill>
                  <a:srgbClr val="20425A"/>
                </a:solidFill>
                <a:latin typeface="Calibri"/>
                <a:ea typeface="Calibri"/>
                <a:cs typeface="Calibri"/>
                <a:sym typeface="Calibri"/>
              </a:rPr>
              <a:t>Relationships are bi-directional: ‘Maps to’ and ‘Mapped from’; ‘Is a’ and ‘Subsumes’ etc.</a:t>
            </a:r>
            <a:endParaRPr b="0" i="0" sz="2000" u="none" cap="none" strike="noStrike">
              <a:solidFill>
                <a:srgbClr val="20425A"/>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4"/>
          <p:cNvSpPr txBox="1"/>
          <p:nvPr>
            <p:ph type="title"/>
          </p:nvPr>
        </p:nvSpPr>
        <p:spPr>
          <a:xfrm>
            <a:off x="1143000" y="114300"/>
            <a:ext cx="7544000" cy="628400"/>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rgbClr val="20425A"/>
              </a:buClr>
              <a:buSzPts val="3000"/>
              <a:buFont typeface="Calibri"/>
              <a:buNone/>
            </a:pPr>
            <a:r>
              <a:rPr b="1" lang="en-US"/>
              <a:t>Type of Relationships</a:t>
            </a:r>
            <a:endParaRPr/>
          </a:p>
        </p:txBody>
      </p:sp>
      <p:sp>
        <p:nvSpPr>
          <p:cNvPr id="256" name="Google Shape;256;p24"/>
          <p:cNvSpPr/>
          <p:nvPr/>
        </p:nvSpPr>
        <p:spPr>
          <a:xfrm rot="5400000">
            <a:off x="1234976" y="240639"/>
            <a:ext cx="1142800" cy="3612800"/>
          </a:xfrm>
          <a:prstGeom prst="round2SameRect">
            <a:avLst>
              <a:gd fmla="val 50000" name="adj1"/>
              <a:gd fmla="val 0" name="adj2"/>
            </a:avLst>
          </a:prstGeom>
          <a:solidFill>
            <a:srgbClr val="20425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sp>
        <p:nvSpPr>
          <p:cNvPr id="257" name="Google Shape;257;p24"/>
          <p:cNvSpPr/>
          <p:nvPr/>
        </p:nvSpPr>
        <p:spPr>
          <a:xfrm rot="5400000">
            <a:off x="1234976" y="2004057"/>
            <a:ext cx="1142800" cy="3612800"/>
          </a:xfrm>
          <a:prstGeom prst="round2SameRect">
            <a:avLst>
              <a:gd fmla="val 50000" name="adj1"/>
              <a:gd fmla="val 0" name="adj2"/>
            </a:avLst>
          </a:prstGeom>
          <a:solidFill>
            <a:srgbClr val="F8B81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sp>
        <p:nvSpPr>
          <p:cNvPr id="258" name="Google Shape;258;p24"/>
          <p:cNvSpPr/>
          <p:nvPr/>
        </p:nvSpPr>
        <p:spPr>
          <a:xfrm rot="5400000">
            <a:off x="1245976" y="3687895"/>
            <a:ext cx="1120800" cy="3612800"/>
          </a:xfrm>
          <a:prstGeom prst="round2SameRect">
            <a:avLst>
              <a:gd fmla="val 50000" name="adj1"/>
              <a:gd fmla="val 0" name="adj2"/>
            </a:avLst>
          </a:prstGeom>
          <a:noFill/>
          <a:ln cap="flat" cmpd="sng" w="12700">
            <a:solidFill>
              <a:srgbClr val="20425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sp>
        <p:nvSpPr>
          <p:cNvPr id="259" name="Google Shape;259;p24"/>
          <p:cNvSpPr txBox="1"/>
          <p:nvPr/>
        </p:nvSpPr>
        <p:spPr>
          <a:xfrm>
            <a:off x="384693" y="1572509"/>
            <a:ext cx="2576000" cy="94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Entity Relationships</a:t>
            </a:r>
            <a:endParaRPr b="0" i="0" sz="1467" u="none" cap="none" strike="noStrike">
              <a:solidFill>
                <a:srgbClr val="000000"/>
              </a:solidFill>
              <a:latin typeface="Arial"/>
              <a:ea typeface="Arial"/>
              <a:cs typeface="Arial"/>
              <a:sym typeface="Arial"/>
            </a:endParaRPr>
          </a:p>
        </p:txBody>
      </p:sp>
      <p:sp>
        <p:nvSpPr>
          <p:cNvPr id="260" name="Google Shape;260;p24"/>
          <p:cNvSpPr txBox="1"/>
          <p:nvPr/>
        </p:nvSpPr>
        <p:spPr>
          <a:xfrm>
            <a:off x="384693" y="3341657"/>
            <a:ext cx="2576000" cy="94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Part-of Relationships</a:t>
            </a:r>
            <a:endParaRPr b="0" i="0" sz="1467" u="none" cap="none" strike="noStrike">
              <a:solidFill>
                <a:srgbClr val="000000"/>
              </a:solidFill>
              <a:latin typeface="Arial"/>
              <a:ea typeface="Arial"/>
              <a:cs typeface="Arial"/>
              <a:sym typeface="Arial"/>
            </a:endParaRPr>
          </a:p>
        </p:txBody>
      </p:sp>
      <p:sp>
        <p:nvSpPr>
          <p:cNvPr id="261" name="Google Shape;261;p24"/>
          <p:cNvSpPr txBox="1"/>
          <p:nvPr/>
        </p:nvSpPr>
        <p:spPr>
          <a:xfrm>
            <a:off x="384693" y="5023111"/>
            <a:ext cx="2576000" cy="94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rgbClr val="000000"/>
                </a:solidFill>
                <a:latin typeface="Calibri"/>
                <a:ea typeface="Calibri"/>
                <a:cs typeface="Calibri"/>
                <a:sym typeface="Calibri"/>
              </a:rPr>
              <a:t>Hierarchical </a:t>
            </a:r>
            <a:r>
              <a:rPr b="1" i="0" lang="en-US" sz="2800" u="none" cap="none" strike="noStrike">
                <a:solidFill>
                  <a:srgbClr val="20425A"/>
                </a:solidFill>
                <a:latin typeface="Calibri"/>
                <a:ea typeface="Calibri"/>
                <a:cs typeface="Calibri"/>
                <a:sym typeface="Calibri"/>
              </a:rPr>
              <a:t>Relationships</a:t>
            </a:r>
            <a:endParaRPr b="0" i="0" sz="1467" u="none" cap="none" strike="noStrike">
              <a:solidFill>
                <a:srgbClr val="000000"/>
              </a:solidFill>
              <a:latin typeface="Arial"/>
              <a:ea typeface="Arial"/>
              <a:cs typeface="Arial"/>
              <a:sym typeface="Arial"/>
            </a:endParaRPr>
          </a:p>
        </p:txBody>
      </p:sp>
      <p:cxnSp>
        <p:nvCxnSpPr>
          <p:cNvPr id="262" name="Google Shape;262;p24"/>
          <p:cNvCxnSpPr/>
          <p:nvPr/>
        </p:nvCxnSpPr>
        <p:spPr>
          <a:xfrm rot="10800000">
            <a:off x="3899503" y="1285733"/>
            <a:ext cx="7992000" cy="0"/>
          </a:xfrm>
          <a:prstGeom prst="straightConnector1">
            <a:avLst/>
          </a:prstGeom>
          <a:noFill/>
          <a:ln cap="rnd" cmpd="sng" w="28575">
            <a:solidFill>
              <a:srgbClr val="BFBFBF"/>
            </a:solidFill>
            <a:prstDash val="solid"/>
            <a:miter lim="800000"/>
            <a:headEnd len="sm" w="sm" type="none"/>
            <a:tailEnd len="sm" w="sm" type="none"/>
          </a:ln>
        </p:spPr>
      </p:cxnSp>
      <p:cxnSp>
        <p:nvCxnSpPr>
          <p:cNvPr id="263" name="Google Shape;263;p24"/>
          <p:cNvCxnSpPr/>
          <p:nvPr/>
        </p:nvCxnSpPr>
        <p:spPr>
          <a:xfrm rot="10800000">
            <a:off x="3899600" y="2929785"/>
            <a:ext cx="7682800" cy="0"/>
          </a:xfrm>
          <a:prstGeom prst="straightConnector1">
            <a:avLst/>
          </a:prstGeom>
          <a:noFill/>
          <a:ln cap="rnd" cmpd="sng" w="28575">
            <a:solidFill>
              <a:srgbClr val="BFBFBF"/>
            </a:solidFill>
            <a:prstDash val="solid"/>
            <a:miter lim="800000"/>
            <a:headEnd len="sm" w="sm" type="none"/>
            <a:tailEnd len="sm" w="sm" type="none"/>
          </a:ln>
        </p:spPr>
      </p:cxnSp>
      <p:cxnSp>
        <p:nvCxnSpPr>
          <p:cNvPr id="264" name="Google Shape;264;p24"/>
          <p:cNvCxnSpPr/>
          <p:nvPr/>
        </p:nvCxnSpPr>
        <p:spPr>
          <a:xfrm rot="10800000">
            <a:off x="3899601" y="4647653"/>
            <a:ext cx="7682800" cy="0"/>
          </a:xfrm>
          <a:prstGeom prst="straightConnector1">
            <a:avLst/>
          </a:prstGeom>
          <a:noFill/>
          <a:ln cap="rnd" cmpd="sng" w="28575">
            <a:solidFill>
              <a:srgbClr val="BFBFBF"/>
            </a:solidFill>
            <a:prstDash val="solid"/>
            <a:miter lim="800000"/>
            <a:headEnd len="sm" w="sm" type="none"/>
            <a:tailEnd len="sm" w="sm" type="none"/>
          </a:ln>
        </p:spPr>
      </p:cxnSp>
      <p:cxnSp>
        <p:nvCxnSpPr>
          <p:cNvPr id="265" name="Google Shape;265;p24"/>
          <p:cNvCxnSpPr/>
          <p:nvPr/>
        </p:nvCxnSpPr>
        <p:spPr>
          <a:xfrm rot="10800000">
            <a:off x="3899503" y="6277005"/>
            <a:ext cx="7992000" cy="0"/>
          </a:xfrm>
          <a:prstGeom prst="straightConnector1">
            <a:avLst/>
          </a:prstGeom>
          <a:noFill/>
          <a:ln cap="rnd" cmpd="sng" w="28575">
            <a:solidFill>
              <a:srgbClr val="BFBFBF"/>
            </a:solidFill>
            <a:prstDash val="solid"/>
            <a:miter lim="800000"/>
            <a:headEnd len="sm" w="sm" type="none"/>
            <a:tailEnd len="sm" w="sm" type="none"/>
          </a:ln>
        </p:spPr>
      </p:cxnSp>
      <p:sp>
        <p:nvSpPr>
          <p:cNvPr id="266" name="Google Shape;266;p24"/>
          <p:cNvSpPr txBox="1"/>
          <p:nvPr/>
        </p:nvSpPr>
        <p:spPr>
          <a:xfrm>
            <a:off x="3899647" y="1227985"/>
            <a:ext cx="8036400" cy="1569600"/>
          </a:xfrm>
          <a:prstGeom prst="rect">
            <a:avLst/>
          </a:prstGeom>
          <a:noFill/>
          <a:ln>
            <a:noFill/>
          </a:ln>
        </p:spPr>
        <p:txBody>
          <a:bodyPr anchorCtr="0" anchor="t" bIns="45700" lIns="91425" spcFirstLastPara="1" rIns="91425" wrap="square" tIns="45700">
            <a:noAutofit/>
          </a:bodyPr>
          <a:lstStyle/>
          <a:p>
            <a:pPr indent="-448722" lvl="0" marL="45718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‘Maps to’</a:t>
            </a:r>
            <a:endParaRPr b="0" i="0" sz="1467" u="none" cap="none" strike="noStrike">
              <a:solidFill>
                <a:srgbClr val="000000"/>
              </a:solidFill>
              <a:latin typeface="Arial"/>
              <a:ea typeface="Arial"/>
              <a:cs typeface="Arial"/>
              <a:sym typeface="Arial"/>
            </a:endParaRPr>
          </a:p>
          <a:p>
            <a:pPr indent="-448722" lvl="0" marL="45718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‘Maps to Value’</a:t>
            </a:r>
            <a:endParaRPr b="0" i="0" sz="1467"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1" lang="en-US" sz="2000" u="none" cap="none" strike="noStrike">
                <a:solidFill>
                  <a:srgbClr val="20425A"/>
                </a:solidFill>
                <a:latin typeface="Calibri"/>
                <a:ea typeface="Calibri"/>
                <a:cs typeface="Calibri"/>
                <a:sym typeface="Calibri"/>
              </a:rPr>
              <a:t>All source vocabularies, provided by source or built by Vocab Team</a:t>
            </a:r>
            <a:endParaRPr b="0" i="0" sz="1467"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1" lang="en-US" sz="2000" u="none" cap="none" strike="noStrike">
                <a:solidFill>
                  <a:srgbClr val="20425A"/>
                </a:solidFill>
                <a:latin typeface="Calibri"/>
                <a:ea typeface="Calibri"/>
                <a:cs typeface="Calibri"/>
                <a:sym typeface="Calibri"/>
              </a:rPr>
              <a:t>Standard are mapped to themselves</a:t>
            </a:r>
            <a:endParaRPr b="0" i="0" sz="1467" u="none" cap="none" strike="noStrike">
              <a:solidFill>
                <a:srgbClr val="000000"/>
              </a:solidFill>
              <a:latin typeface="Arial"/>
              <a:ea typeface="Arial"/>
              <a:cs typeface="Arial"/>
              <a:sym typeface="Arial"/>
            </a:endParaRPr>
          </a:p>
        </p:txBody>
      </p:sp>
      <p:sp>
        <p:nvSpPr>
          <p:cNvPr id="267" name="Google Shape;267;p24"/>
          <p:cNvSpPr txBox="1"/>
          <p:nvPr/>
        </p:nvSpPr>
        <p:spPr>
          <a:xfrm>
            <a:off x="3899646" y="2949263"/>
            <a:ext cx="8160548" cy="1692800"/>
          </a:xfrm>
          <a:prstGeom prst="rect">
            <a:avLst/>
          </a:prstGeom>
          <a:noFill/>
          <a:ln>
            <a:noFill/>
          </a:ln>
        </p:spPr>
        <p:txBody>
          <a:bodyPr anchorCtr="0" anchor="t" bIns="45700" lIns="91425" spcFirstLastPara="1" rIns="91425" wrap="square" tIns="45700">
            <a:noAutofit/>
          </a:bodyPr>
          <a:lstStyle/>
          <a:p>
            <a:pPr indent="-448722" lvl="0" marL="45718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‘Has direct procedure site’</a:t>
            </a:r>
            <a:endParaRPr b="0" i="0" sz="1467" u="none" cap="none" strike="noStrike">
              <a:solidFill>
                <a:srgbClr val="000000"/>
              </a:solidFill>
              <a:latin typeface="Arial"/>
              <a:ea typeface="Arial"/>
              <a:cs typeface="Arial"/>
              <a:sym typeface="Arial"/>
            </a:endParaRPr>
          </a:p>
          <a:p>
            <a:pPr indent="-448722" lvl="0" marL="45718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‘Has method’</a:t>
            </a:r>
            <a:endParaRPr b="0" i="0" sz="1467" u="none" cap="none" strike="noStrike">
              <a:solidFill>
                <a:srgbClr val="000000"/>
              </a:solidFill>
              <a:latin typeface="Arial"/>
              <a:ea typeface="Arial"/>
              <a:cs typeface="Arial"/>
              <a:sym typeface="Arial"/>
            </a:endParaRPr>
          </a:p>
          <a:p>
            <a:pPr indent="-448722" lvl="0" marL="45718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‘Occurs after’</a:t>
            </a:r>
            <a:endParaRPr b="0" i="0" sz="1467"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1" lang="en-US" sz="2000" u="none" cap="none" strike="noStrike">
                <a:solidFill>
                  <a:srgbClr val="20425A"/>
                </a:solidFill>
                <a:latin typeface="Calibri"/>
                <a:ea typeface="Calibri"/>
                <a:cs typeface="Calibri"/>
                <a:sym typeface="Calibri"/>
              </a:rPr>
              <a:t>Controlled well-structured ontologies: RxNorm, SNOMED, LOINC, ICD10PCS</a:t>
            </a:r>
            <a:endParaRPr b="0" i="0" sz="1467" u="none" cap="none" strike="noStrike">
              <a:solidFill>
                <a:srgbClr val="000000"/>
              </a:solidFill>
              <a:latin typeface="Arial"/>
              <a:ea typeface="Arial"/>
              <a:cs typeface="Arial"/>
              <a:sym typeface="Arial"/>
            </a:endParaRPr>
          </a:p>
        </p:txBody>
      </p:sp>
      <p:sp>
        <p:nvSpPr>
          <p:cNvPr id="268" name="Google Shape;268;p24"/>
          <p:cNvSpPr txBox="1"/>
          <p:nvPr/>
        </p:nvSpPr>
        <p:spPr>
          <a:xfrm>
            <a:off x="3899647" y="4668616"/>
            <a:ext cx="7884000" cy="1692800"/>
          </a:xfrm>
          <a:prstGeom prst="rect">
            <a:avLst/>
          </a:prstGeom>
          <a:noFill/>
          <a:ln>
            <a:noFill/>
          </a:ln>
        </p:spPr>
        <p:txBody>
          <a:bodyPr anchorCtr="0" anchor="t" bIns="45700" lIns="91425" spcFirstLastPara="1" rIns="91425" wrap="square" tIns="45700">
            <a:noAutofit/>
          </a:bodyPr>
          <a:lstStyle/>
          <a:p>
            <a:pPr indent="-448722" lvl="0" marL="45718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‘Is a’</a:t>
            </a:r>
            <a:endParaRPr b="0" i="0" sz="1467" u="none" cap="none" strike="noStrike">
              <a:solidFill>
                <a:srgbClr val="000000"/>
              </a:solidFill>
              <a:latin typeface="Arial"/>
              <a:ea typeface="Arial"/>
              <a:cs typeface="Arial"/>
              <a:sym typeface="Arial"/>
            </a:endParaRPr>
          </a:p>
          <a:p>
            <a:pPr indent="-448722" lvl="0" marL="45718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‘Subsumes’</a:t>
            </a:r>
            <a:endParaRPr b="0" i="0" sz="1467" u="none" cap="none" strike="noStrike">
              <a:solidFill>
                <a:srgbClr val="000000"/>
              </a:solidFill>
              <a:latin typeface="Arial"/>
              <a:ea typeface="Arial"/>
              <a:cs typeface="Arial"/>
              <a:sym typeface="Arial"/>
            </a:endParaRPr>
          </a:p>
          <a:p>
            <a:pPr indent="-448722" lvl="0" marL="457189" marR="0" rtl="0" algn="l">
              <a:spcBef>
                <a:spcPts val="0"/>
              </a:spcBef>
              <a:spcAft>
                <a:spcPts val="0"/>
              </a:spcAft>
              <a:buClr>
                <a:srgbClr val="20425A"/>
              </a:buClr>
              <a:buSzPts val="2100"/>
              <a:buFont typeface="Arial"/>
              <a:buChar char="•"/>
            </a:pPr>
            <a:r>
              <a:rPr b="0" i="0" lang="en-US" sz="2800" u="none" cap="none" strike="noStrike">
                <a:solidFill>
                  <a:srgbClr val="20425A"/>
                </a:solidFill>
                <a:latin typeface="Calibri"/>
                <a:ea typeface="Calibri"/>
                <a:cs typeface="Calibri"/>
                <a:sym typeface="Calibri"/>
              </a:rPr>
              <a:t>‘Panel Contains’</a:t>
            </a:r>
            <a:endParaRPr b="0" i="0" sz="1467"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1" lang="en-US" sz="2000" u="none" cap="none" strike="noStrike">
                <a:solidFill>
                  <a:srgbClr val="20425A"/>
                </a:solidFill>
                <a:latin typeface="Calibri"/>
                <a:ea typeface="Calibri"/>
                <a:cs typeface="Calibri"/>
                <a:sym typeface="Calibri"/>
              </a:rPr>
              <a:t>Standard and classificational terminologies (ATC, ETC, CVX, NDFRT)</a:t>
            </a:r>
            <a:endParaRPr b="0" i="0" sz="1467"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5"/>
          <p:cNvSpPr txBox="1"/>
          <p:nvPr>
            <p:ph type="title"/>
          </p:nvPr>
        </p:nvSpPr>
        <p:spPr>
          <a:xfrm>
            <a:off x="1143000" y="114300"/>
            <a:ext cx="7544000" cy="6284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20425A"/>
              </a:buClr>
              <a:buSzPts val="3000"/>
              <a:buFont typeface="Calibri"/>
              <a:buNone/>
            </a:pPr>
            <a:r>
              <a:rPr b="1" lang="en-US"/>
              <a:t>LOINC</a:t>
            </a:r>
            <a:endParaRPr/>
          </a:p>
        </p:txBody>
      </p:sp>
      <p:sp>
        <p:nvSpPr>
          <p:cNvPr id="275" name="Google Shape;275;p25"/>
          <p:cNvSpPr txBox="1"/>
          <p:nvPr>
            <p:ph idx="1" type="body"/>
          </p:nvPr>
        </p:nvSpPr>
        <p:spPr>
          <a:xfrm>
            <a:off x="375351" y="4487340"/>
            <a:ext cx="1789200" cy="3880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800"/>
              <a:buNone/>
            </a:pPr>
            <a:r>
              <a:rPr lang="en-US" sz="1333">
                <a:solidFill>
                  <a:srgbClr val="000000"/>
                </a:solidFill>
              </a:rPr>
              <a:t>Contained in panel</a:t>
            </a:r>
            <a:endParaRPr sz="1333">
              <a:solidFill>
                <a:srgbClr val="000000"/>
              </a:solidFill>
            </a:endParaRPr>
          </a:p>
        </p:txBody>
      </p:sp>
      <p:sp>
        <p:nvSpPr>
          <p:cNvPr id="276" name="Google Shape;276;p25"/>
          <p:cNvSpPr txBox="1"/>
          <p:nvPr>
            <p:ph idx="1" type="body"/>
          </p:nvPr>
        </p:nvSpPr>
        <p:spPr>
          <a:xfrm>
            <a:off x="3002167" y="3692673"/>
            <a:ext cx="1265200" cy="3880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rgbClr val="000000"/>
              </a:buClr>
              <a:buSzPts val="1000"/>
              <a:buNone/>
            </a:pPr>
            <a:r>
              <a:rPr lang="en-US" sz="1333">
                <a:solidFill>
                  <a:srgbClr val="000000"/>
                </a:solidFill>
              </a:rPr>
              <a:t>Has property</a:t>
            </a:r>
            <a:endParaRPr sz="1333">
              <a:solidFill>
                <a:srgbClr val="000000"/>
              </a:solidFill>
            </a:endParaRPr>
          </a:p>
        </p:txBody>
      </p:sp>
      <p:sp>
        <p:nvSpPr>
          <p:cNvPr id="277" name="Google Shape;277;p25"/>
          <p:cNvSpPr txBox="1"/>
          <p:nvPr>
            <p:ph idx="1" type="body"/>
          </p:nvPr>
        </p:nvSpPr>
        <p:spPr>
          <a:xfrm>
            <a:off x="4723296" y="2731437"/>
            <a:ext cx="1787200" cy="3880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rgbClr val="000000"/>
              </a:buClr>
              <a:buSzPts val="1000"/>
              <a:buNone/>
            </a:pPr>
            <a:r>
              <a:rPr lang="en-US" sz="1333">
                <a:solidFill>
                  <a:srgbClr val="000000"/>
                </a:solidFill>
              </a:rPr>
              <a:t>Has component</a:t>
            </a:r>
            <a:endParaRPr sz="1333">
              <a:solidFill>
                <a:srgbClr val="000000"/>
              </a:solidFill>
            </a:endParaRPr>
          </a:p>
        </p:txBody>
      </p:sp>
      <p:sp>
        <p:nvSpPr>
          <p:cNvPr id="278" name="Google Shape;278;p25"/>
          <p:cNvSpPr txBox="1"/>
          <p:nvPr>
            <p:ph idx="1" type="body"/>
          </p:nvPr>
        </p:nvSpPr>
        <p:spPr>
          <a:xfrm>
            <a:off x="3013271" y="1725075"/>
            <a:ext cx="1223600" cy="3880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rgbClr val="000000"/>
              </a:buClr>
              <a:buSzPts val="1000"/>
              <a:buNone/>
            </a:pPr>
            <a:r>
              <a:rPr lang="en-US" sz="1333">
                <a:solidFill>
                  <a:srgbClr val="000000"/>
                </a:solidFill>
              </a:rPr>
              <a:t>Has system</a:t>
            </a:r>
            <a:endParaRPr sz="1333">
              <a:solidFill>
                <a:srgbClr val="000000"/>
              </a:solidFill>
            </a:endParaRPr>
          </a:p>
        </p:txBody>
      </p:sp>
      <p:sp>
        <p:nvSpPr>
          <p:cNvPr id="279" name="Google Shape;279;p25"/>
          <p:cNvSpPr txBox="1"/>
          <p:nvPr/>
        </p:nvSpPr>
        <p:spPr>
          <a:xfrm>
            <a:off x="4096595" y="1653953"/>
            <a:ext cx="1901600" cy="592000"/>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0" i="0" lang="en-US" sz="1600" u="none" cap="none" strike="noStrike">
                <a:solidFill>
                  <a:srgbClr val="C0504D"/>
                </a:solidFill>
                <a:latin typeface="Calibri"/>
                <a:ea typeface="Calibri"/>
                <a:cs typeface="Calibri"/>
                <a:sym typeface="Calibri"/>
              </a:rPr>
              <a:t>1029919</a:t>
            </a:r>
            <a:r>
              <a:rPr b="0" i="0" lang="en-US" sz="1600" u="none" cap="none" strike="noStrike">
                <a:solidFill>
                  <a:srgbClr val="464646"/>
                </a:solidFill>
                <a:highlight>
                  <a:srgbClr val="F6F6F6"/>
                </a:highlight>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Blood</a:t>
            </a:r>
            <a:endParaRPr b="0" i="0" sz="1600" u="none" cap="none" strike="noStrike">
              <a:solidFill>
                <a:srgbClr val="000000"/>
              </a:solidFill>
              <a:latin typeface="Calibri"/>
              <a:ea typeface="Calibri"/>
              <a:cs typeface="Calibri"/>
              <a:sym typeface="Calibri"/>
            </a:endParaRPr>
          </a:p>
        </p:txBody>
      </p:sp>
      <p:sp>
        <p:nvSpPr>
          <p:cNvPr id="280" name="Google Shape;280;p25"/>
          <p:cNvSpPr txBox="1"/>
          <p:nvPr/>
        </p:nvSpPr>
        <p:spPr>
          <a:xfrm>
            <a:off x="4723296" y="3119168"/>
            <a:ext cx="1737200" cy="572000"/>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0" i="0" lang="en-US" sz="1600" u="none" cap="none" strike="noStrike">
                <a:solidFill>
                  <a:srgbClr val="C0504D"/>
                </a:solidFill>
                <a:latin typeface="Calibri"/>
                <a:ea typeface="Calibri"/>
                <a:cs typeface="Calibri"/>
                <a:sym typeface="Calibri"/>
              </a:rPr>
              <a:t>40795740</a:t>
            </a:r>
            <a:r>
              <a:rPr b="0" i="0" lang="en-US" sz="1600" u="none" cap="none" strike="noStrike">
                <a:solidFill>
                  <a:srgbClr val="464646"/>
                </a:solidFill>
                <a:highlight>
                  <a:srgbClr val="F6F6F6"/>
                </a:highlight>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Glucose</a:t>
            </a:r>
            <a:endParaRPr b="0" i="0" sz="1600" u="none" cap="none" strike="noStrike">
              <a:solidFill>
                <a:srgbClr val="000000"/>
              </a:solidFill>
              <a:latin typeface="Calibri"/>
              <a:ea typeface="Calibri"/>
              <a:cs typeface="Calibri"/>
              <a:sym typeface="Calibri"/>
            </a:endParaRPr>
          </a:p>
        </p:txBody>
      </p:sp>
      <p:sp>
        <p:nvSpPr>
          <p:cNvPr id="281" name="Google Shape;281;p25"/>
          <p:cNvSpPr txBox="1"/>
          <p:nvPr/>
        </p:nvSpPr>
        <p:spPr>
          <a:xfrm>
            <a:off x="3376329" y="4081037"/>
            <a:ext cx="3017600" cy="592000"/>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0" i="0" lang="en-US" sz="1600" u="none" cap="none" strike="noStrike">
                <a:solidFill>
                  <a:srgbClr val="C0504D"/>
                </a:solidFill>
                <a:latin typeface="Calibri"/>
                <a:ea typeface="Calibri"/>
                <a:cs typeface="Calibri"/>
                <a:sym typeface="Calibri"/>
              </a:rPr>
              <a:t>1029726</a:t>
            </a:r>
            <a:r>
              <a:rPr b="0" i="0" lang="en-US" sz="1600" u="none" cap="none" strike="noStrike">
                <a:solidFill>
                  <a:srgbClr val="464646"/>
                </a:solidFill>
                <a:highlight>
                  <a:srgbClr val="F6F6F6"/>
                </a:highlight>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Substance Concentration</a:t>
            </a:r>
            <a:endParaRPr b="0" i="0" sz="1600" u="none" cap="none" strike="noStrike">
              <a:solidFill>
                <a:srgbClr val="000000"/>
              </a:solidFill>
              <a:latin typeface="Calibri"/>
              <a:ea typeface="Calibri"/>
              <a:cs typeface="Calibri"/>
              <a:sym typeface="Calibri"/>
            </a:endParaRPr>
          </a:p>
        </p:txBody>
      </p:sp>
      <p:sp>
        <p:nvSpPr>
          <p:cNvPr id="282" name="Google Shape;282;p25"/>
          <p:cNvSpPr txBox="1"/>
          <p:nvPr/>
        </p:nvSpPr>
        <p:spPr>
          <a:xfrm>
            <a:off x="2420515" y="5041037"/>
            <a:ext cx="4298000" cy="969200"/>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0" i="0" lang="en-US" sz="1600" u="none" cap="none" strike="noStrike">
                <a:solidFill>
                  <a:srgbClr val="C0504D"/>
                </a:solidFill>
                <a:latin typeface="Calibri"/>
                <a:ea typeface="Calibri"/>
                <a:cs typeface="Calibri"/>
                <a:sym typeface="Calibri"/>
              </a:rPr>
              <a:t>36304453</a:t>
            </a:r>
            <a:r>
              <a:rPr b="0" i="0" lang="en-US" sz="1600" u="none" cap="none" strike="noStrike">
                <a:solidFill>
                  <a:srgbClr val="464646"/>
                </a:solidFill>
                <a:highlight>
                  <a:srgbClr val="F6F6F6"/>
                </a:highlight>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German Interdisciplinary Association of Intensive Care and Emergency Care Medicine - recommended MIND protocol set</a:t>
            </a:r>
            <a:endParaRPr b="0" i="0" sz="1600" u="none" cap="none" strike="noStrike">
              <a:solidFill>
                <a:srgbClr val="000000"/>
              </a:solidFill>
              <a:latin typeface="Calibri"/>
              <a:ea typeface="Calibri"/>
              <a:cs typeface="Calibri"/>
              <a:sym typeface="Calibri"/>
            </a:endParaRPr>
          </a:p>
        </p:txBody>
      </p:sp>
      <p:sp>
        <p:nvSpPr>
          <p:cNvPr id="283" name="Google Shape;283;p25"/>
          <p:cNvSpPr txBox="1"/>
          <p:nvPr/>
        </p:nvSpPr>
        <p:spPr>
          <a:xfrm>
            <a:off x="804911" y="2219293"/>
            <a:ext cx="2064800" cy="1328000"/>
          </a:xfrm>
          <a:prstGeom prst="rect">
            <a:avLst/>
          </a:prstGeom>
          <a:solidFill>
            <a:schemeClr val="lt1"/>
          </a:solidFill>
          <a:ln cap="flat" cmpd="sng" w="9525">
            <a:solidFill>
              <a:srgbClr val="000000"/>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667"/>
              </a:spcBef>
              <a:spcAft>
                <a:spcPts val="0"/>
              </a:spcAft>
              <a:buNone/>
            </a:pPr>
            <a:r>
              <a:rPr b="0" i="0" lang="en-US" sz="1600" u="none" cap="none" strike="noStrike">
                <a:solidFill>
                  <a:srgbClr val="C0504D"/>
                </a:solidFill>
                <a:latin typeface="Calibri"/>
                <a:ea typeface="Calibri"/>
                <a:cs typeface="Calibri"/>
                <a:sym typeface="Calibri"/>
              </a:rPr>
              <a:t>3020491</a:t>
            </a:r>
            <a:r>
              <a:rPr b="0" i="0" lang="en-US" sz="1600" u="none" cap="none" strike="noStrike">
                <a:solidFill>
                  <a:srgbClr val="464646"/>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Glucose [Moles/volume] in Blood</a:t>
            </a:r>
            <a:endParaRPr b="0" i="0" sz="1600" u="none" cap="none" strike="noStrike">
              <a:solidFill>
                <a:srgbClr val="000000"/>
              </a:solidFill>
              <a:latin typeface="Calibri"/>
              <a:ea typeface="Calibri"/>
              <a:cs typeface="Calibri"/>
              <a:sym typeface="Calibri"/>
            </a:endParaRPr>
          </a:p>
        </p:txBody>
      </p:sp>
      <p:cxnSp>
        <p:nvCxnSpPr>
          <p:cNvPr id="284" name="Google Shape;284;p25"/>
          <p:cNvCxnSpPr>
            <a:stCxn id="281" idx="1"/>
            <a:endCxn id="283" idx="2"/>
          </p:cNvCxnSpPr>
          <p:nvPr/>
        </p:nvCxnSpPr>
        <p:spPr>
          <a:xfrm rot="10800000">
            <a:off x="1837329" y="3547237"/>
            <a:ext cx="1539000" cy="829800"/>
          </a:xfrm>
          <a:prstGeom prst="straightConnector1">
            <a:avLst/>
          </a:prstGeom>
          <a:noFill/>
          <a:ln cap="flat" cmpd="sng" w="19050">
            <a:solidFill>
              <a:schemeClr val="dk2"/>
            </a:solidFill>
            <a:prstDash val="solid"/>
            <a:round/>
            <a:headEnd len="med" w="med" type="stealth"/>
            <a:tailEnd len="sm" w="sm" type="none"/>
          </a:ln>
        </p:spPr>
      </p:cxnSp>
      <p:cxnSp>
        <p:nvCxnSpPr>
          <p:cNvPr id="285" name="Google Shape;285;p25"/>
          <p:cNvCxnSpPr>
            <a:stCxn id="282" idx="1"/>
            <a:endCxn id="283" idx="2"/>
          </p:cNvCxnSpPr>
          <p:nvPr/>
        </p:nvCxnSpPr>
        <p:spPr>
          <a:xfrm rot="10800000">
            <a:off x="1837315" y="3547437"/>
            <a:ext cx="583200" cy="1978200"/>
          </a:xfrm>
          <a:prstGeom prst="straightConnector1">
            <a:avLst/>
          </a:prstGeom>
          <a:noFill/>
          <a:ln cap="flat" cmpd="sng" w="19050">
            <a:solidFill>
              <a:schemeClr val="dk2"/>
            </a:solidFill>
            <a:prstDash val="solid"/>
            <a:round/>
            <a:headEnd len="med" w="med" type="stealth"/>
            <a:tailEnd len="sm" w="sm" type="none"/>
          </a:ln>
        </p:spPr>
      </p:cxnSp>
      <p:cxnSp>
        <p:nvCxnSpPr>
          <p:cNvPr id="286" name="Google Shape;286;p25"/>
          <p:cNvCxnSpPr>
            <a:stCxn id="283" idx="3"/>
            <a:endCxn id="280" idx="1"/>
          </p:cNvCxnSpPr>
          <p:nvPr/>
        </p:nvCxnSpPr>
        <p:spPr>
          <a:xfrm>
            <a:off x="2869711" y="2883293"/>
            <a:ext cx="1853700" cy="522000"/>
          </a:xfrm>
          <a:prstGeom prst="straightConnector1">
            <a:avLst/>
          </a:prstGeom>
          <a:noFill/>
          <a:ln cap="flat" cmpd="sng" w="19050">
            <a:solidFill>
              <a:schemeClr val="dk2"/>
            </a:solidFill>
            <a:prstDash val="solid"/>
            <a:round/>
            <a:headEnd len="sm" w="sm" type="none"/>
            <a:tailEnd len="med" w="med" type="stealth"/>
          </a:ln>
        </p:spPr>
      </p:cxnSp>
      <p:cxnSp>
        <p:nvCxnSpPr>
          <p:cNvPr id="287" name="Google Shape;287;p25"/>
          <p:cNvCxnSpPr>
            <a:stCxn id="283" idx="3"/>
            <a:endCxn id="279" idx="2"/>
          </p:cNvCxnSpPr>
          <p:nvPr/>
        </p:nvCxnSpPr>
        <p:spPr>
          <a:xfrm flipH="1" rot="10800000">
            <a:off x="2869711" y="2246093"/>
            <a:ext cx="2177700" cy="637200"/>
          </a:xfrm>
          <a:prstGeom prst="straightConnector1">
            <a:avLst/>
          </a:prstGeom>
          <a:noFill/>
          <a:ln cap="flat" cmpd="sng" w="19050">
            <a:solidFill>
              <a:schemeClr val="dk2"/>
            </a:solidFill>
            <a:prstDash val="solid"/>
            <a:round/>
            <a:headEnd len="sm" w="sm" type="none"/>
            <a:tailEnd len="med" w="med" type="stealth"/>
          </a:ln>
        </p:spPr>
      </p:cxnSp>
      <p:sp>
        <p:nvSpPr>
          <p:cNvPr id="288" name="Google Shape;288;p25"/>
          <p:cNvSpPr txBox="1"/>
          <p:nvPr/>
        </p:nvSpPr>
        <p:spPr>
          <a:xfrm>
            <a:off x="7827239" y="1611821"/>
            <a:ext cx="2875200" cy="969200"/>
          </a:xfrm>
          <a:prstGeom prst="rect">
            <a:avLst/>
          </a:prstGeom>
          <a:solidFill>
            <a:schemeClr val="lt1"/>
          </a:solidFill>
          <a:ln cap="flat" cmpd="sng" w="9525">
            <a:solidFill>
              <a:srgbClr val="000000"/>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0" i="0" lang="en-US" sz="1600" u="none" cap="none" strike="noStrike">
                <a:solidFill>
                  <a:srgbClr val="C0504D"/>
                </a:solidFill>
                <a:highlight>
                  <a:srgbClr val="FFFFFF"/>
                </a:highlight>
                <a:latin typeface="Calibri"/>
                <a:ea typeface="Calibri"/>
                <a:cs typeface="Calibri"/>
                <a:sym typeface="Calibri"/>
              </a:rPr>
              <a:t>46235479</a:t>
            </a:r>
            <a:r>
              <a:rPr b="0" i="0" lang="en-US" sz="1600" u="none" cap="none" strike="noStrike">
                <a:solidFill>
                  <a:srgbClr val="464646"/>
                </a:solidFill>
                <a:highlight>
                  <a:srgbClr val="FFFFFF"/>
                </a:highlight>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Bilirubin fractions panel [Moles/volume] - Serum or Plasma</a:t>
            </a:r>
            <a:endParaRPr b="0" i="0" sz="1600" u="none" cap="none" strike="noStrike">
              <a:solidFill>
                <a:srgbClr val="000000"/>
              </a:solidFill>
              <a:latin typeface="Calibri"/>
              <a:ea typeface="Calibri"/>
              <a:cs typeface="Calibri"/>
              <a:sym typeface="Calibri"/>
            </a:endParaRPr>
          </a:p>
        </p:txBody>
      </p:sp>
      <p:sp>
        <p:nvSpPr>
          <p:cNvPr id="289" name="Google Shape;289;p25"/>
          <p:cNvSpPr txBox="1"/>
          <p:nvPr/>
        </p:nvSpPr>
        <p:spPr>
          <a:xfrm>
            <a:off x="8044365" y="3153841"/>
            <a:ext cx="3383200" cy="762000"/>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0" i="0" lang="en-US" sz="1600" u="none" cap="none" strike="noStrike">
                <a:solidFill>
                  <a:srgbClr val="C0504D"/>
                </a:solidFill>
                <a:latin typeface="Calibri"/>
                <a:ea typeface="Calibri"/>
                <a:cs typeface="Calibri"/>
                <a:sym typeface="Calibri"/>
              </a:rPr>
              <a:t>3005772</a:t>
            </a:r>
            <a:r>
              <a:rPr b="0" i="0" lang="en-US" sz="1600" u="none" cap="none" strike="noStrike">
                <a:solidFill>
                  <a:srgbClr val="464646"/>
                </a:solidFill>
                <a:highlight>
                  <a:srgbClr val="F6F6F6"/>
                </a:highlight>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Bilirubin.conjugated [Moles/volume] in Serum or Plasma</a:t>
            </a:r>
            <a:endParaRPr b="0" i="0" sz="1600" u="none" cap="none" strike="noStrike">
              <a:solidFill>
                <a:srgbClr val="0B6681"/>
              </a:solidFill>
              <a:latin typeface="Calibri"/>
              <a:ea typeface="Calibri"/>
              <a:cs typeface="Calibri"/>
              <a:sym typeface="Calibri"/>
            </a:endParaRPr>
          </a:p>
          <a:p>
            <a:pPr indent="0" lvl="0" marL="0" marR="0" rtl="0" algn="l">
              <a:lnSpc>
                <a:spcPct val="115000"/>
              </a:lnSpc>
              <a:spcBef>
                <a:spcPts val="0"/>
              </a:spcBef>
              <a:spcAft>
                <a:spcPts val="0"/>
              </a:spcAft>
              <a:buNone/>
            </a:pPr>
            <a:r>
              <a:t/>
            </a:r>
            <a:endParaRPr b="0" i="0" sz="1600" u="none" cap="none" strike="noStrike">
              <a:solidFill>
                <a:srgbClr val="464646"/>
              </a:solidFill>
              <a:latin typeface="Calibri"/>
              <a:ea typeface="Calibri"/>
              <a:cs typeface="Calibri"/>
              <a:sym typeface="Calibri"/>
            </a:endParaRPr>
          </a:p>
        </p:txBody>
      </p:sp>
      <p:sp>
        <p:nvSpPr>
          <p:cNvPr id="290" name="Google Shape;290;p25"/>
          <p:cNvSpPr txBox="1"/>
          <p:nvPr/>
        </p:nvSpPr>
        <p:spPr>
          <a:xfrm>
            <a:off x="8042607" y="4095832"/>
            <a:ext cx="3383200" cy="852800"/>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0" i="0" lang="en-US" sz="1600" u="none" cap="none" strike="noStrike">
                <a:solidFill>
                  <a:srgbClr val="C0504D"/>
                </a:solidFill>
                <a:latin typeface="Calibri"/>
                <a:ea typeface="Calibri"/>
                <a:cs typeface="Calibri"/>
                <a:sym typeface="Calibri"/>
              </a:rPr>
              <a:t>3043995</a:t>
            </a:r>
            <a:r>
              <a:rPr b="0" i="0" lang="en-US" sz="1600" u="none" cap="none" strike="noStrike">
                <a:solidFill>
                  <a:srgbClr val="464646"/>
                </a:solidFill>
                <a:highlight>
                  <a:srgbClr val="F6F6F6"/>
                </a:highlight>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Bilirubin.conjugated +indirect [Moles/volume] in Serum or Plasma</a:t>
            </a:r>
            <a:endParaRPr b="0" i="0" sz="1600" u="none" cap="none" strike="noStrike">
              <a:solidFill>
                <a:srgbClr val="0B6681"/>
              </a:solidFill>
              <a:latin typeface="Calibri"/>
              <a:ea typeface="Calibri"/>
              <a:cs typeface="Calibri"/>
              <a:sym typeface="Calibri"/>
            </a:endParaRPr>
          </a:p>
          <a:p>
            <a:pPr indent="0" lvl="0" marL="0" marR="0" rtl="0" algn="l">
              <a:lnSpc>
                <a:spcPct val="115000"/>
              </a:lnSpc>
              <a:spcBef>
                <a:spcPts val="0"/>
              </a:spcBef>
              <a:spcAft>
                <a:spcPts val="0"/>
              </a:spcAft>
              <a:buNone/>
            </a:pPr>
            <a:r>
              <a:t/>
            </a:r>
            <a:endParaRPr b="0" i="0" sz="1600" u="none" cap="none" strike="noStrike">
              <a:solidFill>
                <a:srgbClr val="464646"/>
              </a:solidFill>
              <a:latin typeface="Calibri"/>
              <a:ea typeface="Calibri"/>
              <a:cs typeface="Calibri"/>
              <a:sym typeface="Calibri"/>
            </a:endParaRPr>
          </a:p>
        </p:txBody>
      </p:sp>
      <p:sp>
        <p:nvSpPr>
          <p:cNvPr id="291" name="Google Shape;291;p25"/>
          <p:cNvSpPr txBox="1"/>
          <p:nvPr/>
        </p:nvSpPr>
        <p:spPr>
          <a:xfrm>
            <a:off x="8044365" y="5183301"/>
            <a:ext cx="3383200" cy="762000"/>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0" i="0" lang="en-US" sz="1600" u="none" cap="none" strike="noStrike">
                <a:solidFill>
                  <a:srgbClr val="C0504D"/>
                </a:solidFill>
                <a:latin typeface="Calibri"/>
                <a:ea typeface="Calibri"/>
                <a:cs typeface="Calibri"/>
                <a:sym typeface="Calibri"/>
              </a:rPr>
              <a:t>3007242</a:t>
            </a:r>
            <a:r>
              <a:rPr b="0" i="0" lang="en-US" sz="1600" u="none" cap="none" strike="noStrike">
                <a:solidFill>
                  <a:srgbClr val="464646"/>
                </a:solidFill>
                <a:highlight>
                  <a:srgbClr val="F6F6F6"/>
                </a:highlight>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Bilirubin.indirect [Moles/volume] in Serum or Plasma</a:t>
            </a:r>
            <a:endParaRPr b="0" i="0" sz="1600" u="none" cap="none" strike="noStrike">
              <a:solidFill>
                <a:srgbClr val="000000"/>
              </a:solidFill>
              <a:latin typeface="Calibri"/>
              <a:ea typeface="Calibri"/>
              <a:cs typeface="Calibri"/>
              <a:sym typeface="Calibri"/>
            </a:endParaRPr>
          </a:p>
        </p:txBody>
      </p:sp>
      <p:cxnSp>
        <p:nvCxnSpPr>
          <p:cNvPr id="292" name="Google Shape;292;p25"/>
          <p:cNvCxnSpPr>
            <a:endCxn id="291" idx="1"/>
          </p:cNvCxnSpPr>
          <p:nvPr/>
        </p:nvCxnSpPr>
        <p:spPr>
          <a:xfrm flipH="1" rot="-5400000">
            <a:off x="6374265" y="3894201"/>
            <a:ext cx="3110100" cy="230100"/>
          </a:xfrm>
          <a:prstGeom prst="bentConnector2">
            <a:avLst/>
          </a:prstGeom>
          <a:noFill/>
          <a:ln cap="flat" cmpd="sng" w="12700">
            <a:solidFill>
              <a:schemeClr val="dk1"/>
            </a:solidFill>
            <a:prstDash val="solid"/>
            <a:miter lim="800000"/>
            <a:headEnd len="sm" w="sm" type="none"/>
            <a:tailEnd len="med" w="med" type="triangle"/>
          </a:ln>
        </p:spPr>
      </p:cxnSp>
      <p:cxnSp>
        <p:nvCxnSpPr>
          <p:cNvPr id="293" name="Google Shape;293;p25"/>
          <p:cNvCxnSpPr>
            <a:endCxn id="290" idx="1"/>
          </p:cNvCxnSpPr>
          <p:nvPr/>
        </p:nvCxnSpPr>
        <p:spPr>
          <a:xfrm flipH="1" rot="-5400000">
            <a:off x="6875607" y="3355232"/>
            <a:ext cx="2096100" cy="237900"/>
          </a:xfrm>
          <a:prstGeom prst="bentConnector2">
            <a:avLst/>
          </a:prstGeom>
          <a:noFill/>
          <a:ln cap="flat" cmpd="sng" w="12700">
            <a:solidFill>
              <a:schemeClr val="dk1"/>
            </a:solidFill>
            <a:prstDash val="solid"/>
            <a:miter lim="800000"/>
            <a:headEnd len="sm" w="sm" type="none"/>
            <a:tailEnd len="med" w="med" type="triangle"/>
          </a:ln>
        </p:spPr>
      </p:cxnSp>
      <p:cxnSp>
        <p:nvCxnSpPr>
          <p:cNvPr id="294" name="Google Shape;294;p25"/>
          <p:cNvCxnSpPr>
            <a:endCxn id="289" idx="1"/>
          </p:cNvCxnSpPr>
          <p:nvPr/>
        </p:nvCxnSpPr>
        <p:spPr>
          <a:xfrm flipH="1" rot="-5400000">
            <a:off x="7388865" y="2879341"/>
            <a:ext cx="1080900" cy="230100"/>
          </a:xfrm>
          <a:prstGeom prst="bentConnector2">
            <a:avLst/>
          </a:prstGeom>
          <a:noFill/>
          <a:ln cap="flat" cmpd="sng" w="12700">
            <a:solidFill>
              <a:schemeClr val="dk1"/>
            </a:solidFill>
            <a:prstDash val="solid"/>
            <a:miter lim="800000"/>
            <a:headEnd len="sm" w="sm" type="none"/>
            <a:tailEnd len="med" w="med" type="triangle"/>
          </a:ln>
        </p:spPr>
      </p:cxnSp>
      <p:sp>
        <p:nvSpPr>
          <p:cNvPr id="295" name="Google Shape;295;p25"/>
          <p:cNvSpPr txBox="1"/>
          <p:nvPr/>
        </p:nvSpPr>
        <p:spPr>
          <a:xfrm>
            <a:off x="7708543" y="1011772"/>
            <a:ext cx="32276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rgbClr val="F79646"/>
                </a:solidFill>
                <a:latin typeface="Calibri"/>
                <a:ea typeface="Calibri"/>
                <a:cs typeface="Calibri"/>
                <a:sym typeface="Calibri"/>
              </a:rPr>
              <a:t>Panel</a:t>
            </a:r>
            <a:endParaRPr b="0" i="0" sz="1467" u="none" cap="none" strike="noStrike">
              <a:solidFill>
                <a:srgbClr val="000000"/>
              </a:solidFill>
              <a:latin typeface="Arial"/>
              <a:ea typeface="Arial"/>
              <a:cs typeface="Arial"/>
              <a:sym typeface="Arial"/>
            </a:endParaRPr>
          </a:p>
        </p:txBody>
      </p:sp>
      <p:sp>
        <p:nvSpPr>
          <p:cNvPr id="296" name="Google Shape;296;p25"/>
          <p:cNvSpPr txBox="1"/>
          <p:nvPr/>
        </p:nvSpPr>
        <p:spPr>
          <a:xfrm>
            <a:off x="1820151" y="1011772"/>
            <a:ext cx="3227600" cy="523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2800" u="none" cap="none" strike="noStrike">
                <a:solidFill>
                  <a:srgbClr val="F79646"/>
                </a:solidFill>
                <a:latin typeface="Calibri"/>
                <a:ea typeface="Calibri"/>
                <a:cs typeface="Calibri"/>
                <a:sym typeface="Calibri"/>
              </a:rPr>
              <a:t>Individual Tests</a:t>
            </a:r>
            <a:endParaRPr b="0" i="0" sz="1467" u="none" cap="none" strike="noStrike">
              <a:solidFill>
                <a:srgbClr val="000000"/>
              </a:solidFill>
              <a:latin typeface="Arial"/>
              <a:ea typeface="Arial"/>
              <a:cs typeface="Arial"/>
              <a:sym typeface="Arial"/>
            </a:endParaRPr>
          </a:p>
        </p:txBody>
      </p:sp>
      <p:sp>
        <p:nvSpPr>
          <p:cNvPr id="297" name="Google Shape;297;p25"/>
          <p:cNvSpPr txBox="1"/>
          <p:nvPr/>
        </p:nvSpPr>
        <p:spPr>
          <a:xfrm>
            <a:off x="8035072" y="2712276"/>
            <a:ext cx="1789200" cy="388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n-US" sz="1600" u="none" cap="none" strike="noStrike">
                <a:solidFill>
                  <a:srgbClr val="181818"/>
                </a:solidFill>
                <a:latin typeface="Calibri"/>
                <a:ea typeface="Calibri"/>
                <a:cs typeface="Calibri"/>
                <a:sym typeface="Calibri"/>
              </a:rPr>
              <a:t>Panel contains</a:t>
            </a:r>
            <a:endParaRPr b="0" i="0" sz="1467"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6"/>
          <p:cNvSpPr txBox="1"/>
          <p:nvPr>
            <p:ph type="ctrTitle"/>
          </p:nvPr>
        </p:nvSpPr>
        <p:spPr>
          <a:xfrm>
            <a:off x="3149600" y="3023353"/>
            <a:ext cx="8321200" cy="811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0425A"/>
              </a:buClr>
              <a:buSzPts val="3000"/>
              <a:buFont typeface="Calibri"/>
              <a:buNone/>
            </a:pPr>
            <a:r>
              <a:rPr b="1" lang="en-US"/>
              <a:t>OMOP CDM</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7"/>
          <p:cNvSpPr txBox="1"/>
          <p:nvPr>
            <p:ph type="title"/>
          </p:nvPr>
        </p:nvSpPr>
        <p:spPr>
          <a:xfrm>
            <a:off x="1524000" y="152400"/>
            <a:ext cx="10058400" cy="8380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20425A"/>
              </a:buClr>
              <a:buSzPts val="3000"/>
              <a:buFont typeface="Calibri"/>
              <a:buNone/>
            </a:pPr>
            <a:r>
              <a:rPr b="1" lang="en-US"/>
              <a:t>OMOP CDM Principles</a:t>
            </a:r>
            <a:endParaRPr/>
          </a:p>
        </p:txBody>
      </p:sp>
      <p:sp>
        <p:nvSpPr>
          <p:cNvPr id="309" name="Google Shape;309;p27"/>
          <p:cNvSpPr txBox="1"/>
          <p:nvPr>
            <p:ph idx="1" type="body"/>
          </p:nvPr>
        </p:nvSpPr>
        <p:spPr>
          <a:xfrm>
            <a:off x="609600" y="1219200"/>
            <a:ext cx="10972800" cy="4906800"/>
          </a:xfrm>
          <a:prstGeom prst="rect">
            <a:avLst/>
          </a:prstGeom>
          <a:noFill/>
          <a:ln>
            <a:noFill/>
          </a:ln>
        </p:spPr>
        <p:txBody>
          <a:bodyPr anchorCtr="0" anchor="t" bIns="91425" lIns="91425" spcFirstLastPara="1" rIns="91425" wrap="square" tIns="91425">
            <a:noAutofit/>
          </a:bodyPr>
          <a:lstStyle/>
          <a:p>
            <a:pPr indent="-330192" lvl="0" marL="338658" rtl="0" algn="l">
              <a:lnSpc>
                <a:spcPct val="90000"/>
              </a:lnSpc>
              <a:spcBef>
                <a:spcPts val="0"/>
              </a:spcBef>
              <a:spcAft>
                <a:spcPts val="0"/>
              </a:spcAft>
              <a:buClr>
                <a:srgbClr val="20425A"/>
              </a:buClr>
              <a:buSzPts val="2100"/>
              <a:buChar char="•"/>
            </a:pPr>
            <a:r>
              <a:rPr lang="en-US" sz="2800"/>
              <a:t>Patient centric</a:t>
            </a:r>
            <a:endParaRPr/>
          </a:p>
          <a:p>
            <a:pPr indent="-330192" lvl="0" marL="338658" rtl="0" algn="l">
              <a:lnSpc>
                <a:spcPct val="90000"/>
              </a:lnSpc>
              <a:spcBef>
                <a:spcPts val="1200"/>
              </a:spcBef>
              <a:spcAft>
                <a:spcPts val="0"/>
              </a:spcAft>
              <a:buClr>
                <a:srgbClr val="20425A"/>
              </a:buClr>
              <a:buSzPts val="2100"/>
              <a:buChar char="•"/>
            </a:pPr>
            <a:r>
              <a:rPr lang="en-US" sz="2800"/>
              <a:t>Vocabulary and Data Model are standardized</a:t>
            </a:r>
            <a:endParaRPr/>
          </a:p>
          <a:p>
            <a:pPr indent="-330192" lvl="0" marL="338658" rtl="0" algn="l">
              <a:lnSpc>
                <a:spcPct val="90000"/>
              </a:lnSpc>
              <a:spcBef>
                <a:spcPts val="1200"/>
              </a:spcBef>
              <a:spcAft>
                <a:spcPts val="0"/>
              </a:spcAft>
              <a:buClr>
                <a:srgbClr val="20425A"/>
              </a:buClr>
              <a:buSzPts val="2100"/>
              <a:buChar char="•"/>
            </a:pPr>
            <a:r>
              <a:rPr lang="en-US" sz="2800"/>
              <a:t>Domain-oriented concepts</a:t>
            </a:r>
            <a:endParaRPr/>
          </a:p>
          <a:p>
            <a:pPr indent="-330192" lvl="0" marL="338658" rtl="0" algn="l">
              <a:lnSpc>
                <a:spcPct val="90000"/>
              </a:lnSpc>
              <a:spcBef>
                <a:spcPts val="1200"/>
              </a:spcBef>
              <a:spcAft>
                <a:spcPts val="0"/>
              </a:spcAft>
              <a:buClr>
                <a:srgbClr val="20425A"/>
              </a:buClr>
              <a:buSzPts val="2100"/>
              <a:buChar char="•"/>
            </a:pPr>
            <a:r>
              <a:rPr lang="en-US" sz="2800"/>
              <a:t>Accommodates data from various sources</a:t>
            </a:r>
            <a:endParaRPr/>
          </a:p>
          <a:p>
            <a:pPr indent="-330192" lvl="0" marL="338658" rtl="0" algn="l">
              <a:lnSpc>
                <a:spcPct val="90000"/>
              </a:lnSpc>
              <a:spcBef>
                <a:spcPts val="1200"/>
              </a:spcBef>
              <a:spcAft>
                <a:spcPts val="0"/>
              </a:spcAft>
              <a:buClr>
                <a:srgbClr val="20425A"/>
              </a:buClr>
              <a:buSzPts val="2100"/>
              <a:buChar char="•"/>
            </a:pPr>
            <a:r>
              <a:rPr lang="en-US" sz="2800"/>
              <a:t>Preserves data provenance &amp; source data</a:t>
            </a:r>
            <a:endParaRPr/>
          </a:p>
          <a:p>
            <a:pPr indent="-330192" lvl="0" marL="338658" rtl="0" algn="l">
              <a:lnSpc>
                <a:spcPct val="90000"/>
              </a:lnSpc>
              <a:spcBef>
                <a:spcPts val="1200"/>
              </a:spcBef>
              <a:spcAft>
                <a:spcPts val="0"/>
              </a:spcAft>
              <a:buClr>
                <a:srgbClr val="20425A"/>
              </a:buClr>
              <a:buSzPts val="2100"/>
              <a:buChar char="•"/>
            </a:pPr>
            <a:r>
              <a:rPr lang="en-US" sz="2800"/>
              <a:t>Extendable &amp; Evolving</a:t>
            </a:r>
            <a:endParaRPr/>
          </a:p>
          <a:p>
            <a:pPr indent="-330192" lvl="0" marL="338658" rtl="0" algn="l">
              <a:lnSpc>
                <a:spcPct val="90000"/>
              </a:lnSpc>
              <a:spcBef>
                <a:spcPts val="1200"/>
              </a:spcBef>
              <a:spcAft>
                <a:spcPts val="0"/>
              </a:spcAft>
              <a:buClr>
                <a:srgbClr val="20425A"/>
              </a:buClr>
              <a:buSzPts val="2100"/>
              <a:buChar char="•"/>
            </a:pPr>
            <a:r>
              <a:rPr lang="en-US" sz="2800"/>
              <a:t>Database Platform Independent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8"/>
          <p:cNvSpPr txBox="1"/>
          <p:nvPr>
            <p:ph type="title"/>
          </p:nvPr>
        </p:nvSpPr>
        <p:spPr>
          <a:xfrm>
            <a:off x="2667000" y="152400"/>
            <a:ext cx="75438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0425A"/>
              </a:buClr>
              <a:buSzPts val="1000"/>
              <a:buFont typeface="Calibri"/>
              <a:buNone/>
            </a:pPr>
            <a:r>
              <a:rPr b="1" lang="en-US"/>
              <a:t>CDM Version 5.4 Key Domains</a:t>
            </a:r>
            <a:endParaRPr/>
          </a:p>
        </p:txBody>
      </p:sp>
      <p:sp>
        <p:nvSpPr>
          <p:cNvPr id="315" name="Google Shape;315;p28"/>
          <p:cNvSpPr/>
          <p:nvPr/>
        </p:nvSpPr>
        <p:spPr>
          <a:xfrm>
            <a:off x="1524000" y="1028700"/>
            <a:ext cx="9144000" cy="5715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6" name="Google Shape;316;p28"/>
          <p:cNvSpPr/>
          <p:nvPr/>
        </p:nvSpPr>
        <p:spPr>
          <a:xfrm>
            <a:off x="8411602" y="2241216"/>
            <a:ext cx="2193701" cy="4538848"/>
          </a:xfrm>
          <a:prstGeom prst="rect">
            <a:avLst/>
          </a:prstGeom>
          <a:solidFill>
            <a:schemeClr val="accent6">
              <a:alpha val="24705"/>
            </a:schemeClr>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7" name="Google Shape;317;p28"/>
          <p:cNvSpPr txBox="1"/>
          <p:nvPr/>
        </p:nvSpPr>
        <p:spPr>
          <a:xfrm>
            <a:off x="8649669" y="2934724"/>
            <a:ext cx="17526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Concept</a:t>
            </a:r>
            <a:endParaRPr/>
          </a:p>
        </p:txBody>
      </p:sp>
      <p:sp>
        <p:nvSpPr>
          <p:cNvPr id="318" name="Google Shape;318;p28"/>
          <p:cNvSpPr txBox="1"/>
          <p:nvPr/>
        </p:nvSpPr>
        <p:spPr>
          <a:xfrm>
            <a:off x="8649669" y="4463183"/>
            <a:ext cx="17526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Concept_relationship</a:t>
            </a:r>
            <a:endParaRPr/>
          </a:p>
        </p:txBody>
      </p:sp>
      <p:sp>
        <p:nvSpPr>
          <p:cNvPr id="319" name="Google Shape;319;p28"/>
          <p:cNvSpPr txBox="1"/>
          <p:nvPr/>
        </p:nvSpPr>
        <p:spPr>
          <a:xfrm>
            <a:off x="8649669" y="5605508"/>
            <a:ext cx="17526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Concept_ancestor</a:t>
            </a:r>
            <a:endParaRPr/>
          </a:p>
        </p:txBody>
      </p:sp>
      <p:sp>
        <p:nvSpPr>
          <p:cNvPr id="320" name="Google Shape;320;p28"/>
          <p:cNvSpPr txBox="1"/>
          <p:nvPr/>
        </p:nvSpPr>
        <p:spPr>
          <a:xfrm>
            <a:off x="8649669" y="3315499"/>
            <a:ext cx="17526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Vocabulary</a:t>
            </a:r>
            <a:endParaRPr/>
          </a:p>
        </p:txBody>
      </p:sp>
      <p:sp>
        <p:nvSpPr>
          <p:cNvPr id="321" name="Google Shape;321;p28"/>
          <p:cNvSpPr txBox="1"/>
          <p:nvPr/>
        </p:nvSpPr>
        <p:spPr>
          <a:xfrm>
            <a:off x="8649669" y="5986283"/>
            <a:ext cx="17526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Source_to_concept_map</a:t>
            </a:r>
            <a:endParaRPr/>
          </a:p>
        </p:txBody>
      </p:sp>
      <p:sp>
        <p:nvSpPr>
          <p:cNvPr id="322" name="Google Shape;322;p28"/>
          <p:cNvSpPr txBox="1"/>
          <p:nvPr/>
        </p:nvSpPr>
        <p:spPr>
          <a:xfrm>
            <a:off x="8649669" y="4843958"/>
            <a:ext cx="17526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Relationship</a:t>
            </a:r>
            <a:endParaRPr/>
          </a:p>
        </p:txBody>
      </p:sp>
      <p:sp>
        <p:nvSpPr>
          <p:cNvPr id="323" name="Google Shape;323;p28"/>
          <p:cNvSpPr txBox="1"/>
          <p:nvPr/>
        </p:nvSpPr>
        <p:spPr>
          <a:xfrm>
            <a:off x="8649669" y="5224733"/>
            <a:ext cx="17526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Concept_synonym</a:t>
            </a:r>
            <a:endParaRPr/>
          </a:p>
        </p:txBody>
      </p:sp>
      <p:sp>
        <p:nvSpPr>
          <p:cNvPr id="324" name="Google Shape;324;p28"/>
          <p:cNvSpPr txBox="1"/>
          <p:nvPr/>
        </p:nvSpPr>
        <p:spPr>
          <a:xfrm>
            <a:off x="8649669" y="6367058"/>
            <a:ext cx="17526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Drug_strength</a:t>
            </a:r>
            <a:endParaRPr/>
          </a:p>
        </p:txBody>
      </p:sp>
      <p:sp>
        <p:nvSpPr>
          <p:cNvPr id="325" name="Google Shape;325;p28"/>
          <p:cNvSpPr txBox="1"/>
          <p:nvPr/>
        </p:nvSpPr>
        <p:spPr>
          <a:xfrm>
            <a:off x="8402523" y="2275304"/>
            <a:ext cx="2193701" cy="59492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Calibri"/>
                <a:ea typeface="Calibri"/>
                <a:cs typeface="Calibri"/>
                <a:sym typeface="Calibri"/>
              </a:rPr>
              <a:t>Standardized vocabularies</a:t>
            </a:r>
            <a:endParaRPr/>
          </a:p>
        </p:txBody>
      </p:sp>
      <p:sp>
        <p:nvSpPr>
          <p:cNvPr id="326" name="Google Shape;326;p28"/>
          <p:cNvSpPr txBox="1"/>
          <p:nvPr/>
        </p:nvSpPr>
        <p:spPr>
          <a:xfrm>
            <a:off x="8649669" y="3696274"/>
            <a:ext cx="1752600" cy="2769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Domain</a:t>
            </a:r>
            <a:endParaRPr/>
          </a:p>
        </p:txBody>
      </p:sp>
      <p:sp>
        <p:nvSpPr>
          <p:cNvPr id="327" name="Google Shape;327;p28"/>
          <p:cNvSpPr txBox="1"/>
          <p:nvPr/>
        </p:nvSpPr>
        <p:spPr>
          <a:xfrm>
            <a:off x="8649669" y="4079729"/>
            <a:ext cx="1752600" cy="2769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Concept_class</a:t>
            </a:r>
            <a:endParaRPr/>
          </a:p>
        </p:txBody>
      </p:sp>
      <p:sp>
        <p:nvSpPr>
          <p:cNvPr id="328" name="Google Shape;328;p28"/>
          <p:cNvSpPr/>
          <p:nvPr/>
        </p:nvSpPr>
        <p:spPr>
          <a:xfrm>
            <a:off x="5730967" y="3053993"/>
            <a:ext cx="2617937" cy="2493148"/>
          </a:xfrm>
          <a:prstGeom prst="rect">
            <a:avLst/>
          </a:prstGeom>
          <a:solidFill>
            <a:schemeClr val="accent4">
              <a:alpha val="24705"/>
            </a:schemeClr>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29" name="Google Shape;329;p28"/>
          <p:cNvSpPr txBox="1"/>
          <p:nvPr/>
        </p:nvSpPr>
        <p:spPr>
          <a:xfrm>
            <a:off x="6447385" y="4215093"/>
            <a:ext cx="1247100" cy="2769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Dose_era</a:t>
            </a:r>
            <a:endParaRPr/>
          </a:p>
        </p:txBody>
      </p:sp>
      <p:sp>
        <p:nvSpPr>
          <p:cNvPr id="330" name="Google Shape;330;p28"/>
          <p:cNvSpPr txBox="1"/>
          <p:nvPr/>
        </p:nvSpPr>
        <p:spPr>
          <a:xfrm>
            <a:off x="6448586" y="3545624"/>
            <a:ext cx="12471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Condition_era</a:t>
            </a:r>
            <a:endParaRPr/>
          </a:p>
        </p:txBody>
      </p:sp>
      <p:sp>
        <p:nvSpPr>
          <p:cNvPr id="331" name="Google Shape;331;p28"/>
          <p:cNvSpPr txBox="1"/>
          <p:nvPr/>
        </p:nvSpPr>
        <p:spPr>
          <a:xfrm>
            <a:off x="6448094" y="3872104"/>
            <a:ext cx="12471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Drug_era</a:t>
            </a:r>
            <a:endParaRPr/>
          </a:p>
        </p:txBody>
      </p:sp>
      <p:sp>
        <p:nvSpPr>
          <p:cNvPr id="332" name="Google Shape;332;p28"/>
          <p:cNvSpPr/>
          <p:nvPr/>
        </p:nvSpPr>
        <p:spPr>
          <a:xfrm>
            <a:off x="6157734" y="4569328"/>
            <a:ext cx="1815989" cy="922670"/>
          </a:xfrm>
          <a:prstGeom prst="roundRect">
            <a:avLst>
              <a:gd fmla="val 16667" name="adj"/>
            </a:avLst>
          </a:prstGeom>
          <a:solidFill>
            <a:schemeClr val="accent4"/>
          </a:solidFill>
          <a:ln cap="flat" cmpd="sng" w="25400">
            <a:solidFill>
              <a:srgbClr val="5D4876"/>
            </a:solidFill>
            <a:prstDash val="solid"/>
            <a:round/>
            <a:headEnd len="sm" w="sm" type="none"/>
            <a:tailEnd len="sm" w="sm" type="none"/>
          </a:ln>
        </p:spPr>
        <p:txBody>
          <a:bodyPr anchorCtr="0" anchor="t" bIns="45700" lIns="91425" spcFirstLastPara="1" rIns="91425" wrap="square" tIns="0">
            <a:noAutofit/>
          </a:bodyPr>
          <a:lstStyle/>
          <a:p>
            <a:pPr indent="0" lvl="0" marL="0" marR="0" rtl="0" algn="ctr">
              <a:spcBef>
                <a:spcPts val="0"/>
              </a:spcBef>
              <a:spcAft>
                <a:spcPts val="0"/>
              </a:spcAft>
              <a:buNone/>
            </a:pPr>
            <a:r>
              <a:rPr b="1" i="0" lang="en-US" sz="1600" u="none" cap="none" strike="noStrike">
                <a:solidFill>
                  <a:schemeClr val="lt1"/>
                </a:solidFill>
                <a:latin typeface="Calibri"/>
                <a:ea typeface="Calibri"/>
                <a:cs typeface="Calibri"/>
                <a:sym typeface="Calibri"/>
              </a:rPr>
              <a:t>Results Schema</a:t>
            </a:r>
            <a:endParaRPr/>
          </a:p>
        </p:txBody>
      </p:sp>
      <p:sp>
        <p:nvSpPr>
          <p:cNvPr id="333" name="Google Shape;333;p28"/>
          <p:cNvSpPr txBox="1"/>
          <p:nvPr/>
        </p:nvSpPr>
        <p:spPr>
          <a:xfrm>
            <a:off x="6379039" y="5197239"/>
            <a:ext cx="1422070" cy="209801"/>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Cohort_definition</a:t>
            </a:r>
            <a:endParaRPr/>
          </a:p>
        </p:txBody>
      </p:sp>
      <p:sp>
        <p:nvSpPr>
          <p:cNvPr id="334" name="Google Shape;334;p28"/>
          <p:cNvSpPr txBox="1"/>
          <p:nvPr/>
        </p:nvSpPr>
        <p:spPr>
          <a:xfrm>
            <a:off x="6379039" y="4923468"/>
            <a:ext cx="1422069" cy="209801"/>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Cohort</a:t>
            </a:r>
            <a:endParaRPr/>
          </a:p>
        </p:txBody>
      </p:sp>
      <p:sp>
        <p:nvSpPr>
          <p:cNvPr id="335" name="Google Shape;335;p28"/>
          <p:cNvSpPr txBox="1"/>
          <p:nvPr/>
        </p:nvSpPr>
        <p:spPr>
          <a:xfrm>
            <a:off x="5800960" y="2973340"/>
            <a:ext cx="2448124" cy="54983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Calibri"/>
                <a:ea typeface="Calibri"/>
                <a:cs typeface="Calibri"/>
                <a:sym typeface="Calibri"/>
              </a:rPr>
              <a:t>Standardized derived elements</a:t>
            </a:r>
            <a:endParaRPr/>
          </a:p>
        </p:txBody>
      </p:sp>
      <p:sp>
        <p:nvSpPr>
          <p:cNvPr id="336" name="Google Shape;336;p28"/>
          <p:cNvSpPr/>
          <p:nvPr/>
        </p:nvSpPr>
        <p:spPr>
          <a:xfrm>
            <a:off x="5730966" y="1044582"/>
            <a:ext cx="2617488" cy="1943582"/>
          </a:xfrm>
          <a:prstGeom prst="rect">
            <a:avLst/>
          </a:prstGeom>
          <a:solidFill>
            <a:schemeClr val="accent2">
              <a:alpha val="24705"/>
            </a:schemeClr>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7" name="Google Shape;337;p28"/>
          <p:cNvSpPr/>
          <p:nvPr/>
        </p:nvSpPr>
        <p:spPr>
          <a:xfrm>
            <a:off x="5730967" y="5637207"/>
            <a:ext cx="2617937" cy="1142858"/>
          </a:xfrm>
          <a:prstGeom prst="rect">
            <a:avLst/>
          </a:prstGeom>
          <a:solidFill>
            <a:srgbClr val="92D050">
              <a:alpha val="24705"/>
            </a:srgbClr>
          </a:solidFill>
          <a:ln cap="flat" cmpd="sng" w="2540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8" name="Google Shape;338;p28"/>
          <p:cNvSpPr/>
          <p:nvPr/>
        </p:nvSpPr>
        <p:spPr>
          <a:xfrm>
            <a:off x="1600201" y="1055467"/>
            <a:ext cx="4060329" cy="5724599"/>
          </a:xfrm>
          <a:prstGeom prst="rect">
            <a:avLst/>
          </a:prstGeom>
          <a:solidFill>
            <a:schemeClr val="accent1">
              <a:alpha val="24705"/>
            </a:schemeClr>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39" name="Google Shape;339;p28"/>
          <p:cNvSpPr txBox="1"/>
          <p:nvPr/>
        </p:nvSpPr>
        <p:spPr>
          <a:xfrm rot="-5400000">
            <a:off x="-1065328" y="3701052"/>
            <a:ext cx="5724600" cy="430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Calibri"/>
                <a:ea typeface="Calibri"/>
                <a:cs typeface="Calibri"/>
                <a:sym typeface="Calibri"/>
              </a:rPr>
              <a:t>Standardized clinical data</a:t>
            </a:r>
            <a:endParaRPr/>
          </a:p>
        </p:txBody>
      </p:sp>
      <p:sp>
        <p:nvSpPr>
          <p:cNvPr id="340" name="Google Shape;340;p28"/>
          <p:cNvSpPr txBox="1"/>
          <p:nvPr/>
        </p:nvSpPr>
        <p:spPr>
          <a:xfrm>
            <a:off x="3298010" y="2871835"/>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Drug_exposure</a:t>
            </a:r>
            <a:endParaRPr/>
          </a:p>
        </p:txBody>
      </p:sp>
      <p:sp>
        <p:nvSpPr>
          <p:cNvPr id="341" name="Google Shape;341;p28"/>
          <p:cNvSpPr txBox="1"/>
          <p:nvPr/>
        </p:nvSpPr>
        <p:spPr>
          <a:xfrm>
            <a:off x="3294095" y="2485324"/>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Condition_occurrence</a:t>
            </a:r>
            <a:endParaRPr/>
          </a:p>
        </p:txBody>
      </p:sp>
      <p:sp>
        <p:nvSpPr>
          <p:cNvPr id="342" name="Google Shape;342;p28"/>
          <p:cNvSpPr txBox="1"/>
          <p:nvPr/>
        </p:nvSpPr>
        <p:spPr>
          <a:xfrm>
            <a:off x="3297898" y="3261050"/>
            <a:ext cx="1832700" cy="274199"/>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Procedure</a:t>
            </a:r>
            <a:r>
              <a:rPr b="0" i="0" lang="en-US" sz="700" u="none" cap="none" strike="noStrike">
                <a:solidFill>
                  <a:schemeClr val="dk1"/>
                </a:solidFill>
                <a:latin typeface="Calibri"/>
                <a:ea typeface="Calibri"/>
                <a:cs typeface="Calibri"/>
                <a:sym typeface="Calibri"/>
              </a:rPr>
              <a:t>_</a:t>
            </a:r>
            <a:r>
              <a:rPr b="0" i="0" lang="en-US" sz="1400" u="none" cap="none" strike="noStrike">
                <a:solidFill>
                  <a:schemeClr val="dk1"/>
                </a:solidFill>
                <a:latin typeface="Calibri"/>
                <a:ea typeface="Calibri"/>
                <a:cs typeface="Calibri"/>
                <a:sym typeface="Calibri"/>
              </a:rPr>
              <a:t>occurrence</a:t>
            </a:r>
            <a:endParaRPr/>
          </a:p>
        </p:txBody>
      </p:sp>
      <p:sp>
        <p:nvSpPr>
          <p:cNvPr id="343" name="Google Shape;343;p28"/>
          <p:cNvSpPr txBox="1"/>
          <p:nvPr/>
        </p:nvSpPr>
        <p:spPr>
          <a:xfrm>
            <a:off x="2699617" y="1738878"/>
            <a:ext cx="1832700" cy="278194"/>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Visit_occurrence</a:t>
            </a:r>
            <a:endParaRPr/>
          </a:p>
        </p:txBody>
      </p:sp>
      <p:sp>
        <p:nvSpPr>
          <p:cNvPr id="344" name="Google Shape;344;p28"/>
          <p:cNvSpPr txBox="1"/>
          <p:nvPr/>
        </p:nvSpPr>
        <p:spPr>
          <a:xfrm>
            <a:off x="3303138" y="4050201"/>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Measurement</a:t>
            </a:r>
            <a:endParaRPr/>
          </a:p>
        </p:txBody>
      </p:sp>
      <p:sp>
        <p:nvSpPr>
          <p:cNvPr id="345" name="Google Shape;345;p28"/>
          <p:cNvSpPr txBox="1"/>
          <p:nvPr/>
        </p:nvSpPr>
        <p:spPr>
          <a:xfrm>
            <a:off x="3048000" y="1363979"/>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Observation_period</a:t>
            </a:r>
            <a:endParaRPr/>
          </a:p>
        </p:txBody>
      </p:sp>
      <p:sp>
        <p:nvSpPr>
          <p:cNvPr id="346" name="Google Shape;346;p28"/>
          <p:cNvSpPr txBox="1"/>
          <p:nvPr/>
        </p:nvSpPr>
        <p:spPr>
          <a:xfrm>
            <a:off x="6228900" y="6441862"/>
            <a:ext cx="1645800" cy="261773"/>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Payer_plan_period</a:t>
            </a:r>
            <a:endParaRPr/>
          </a:p>
        </p:txBody>
      </p:sp>
      <p:sp>
        <p:nvSpPr>
          <p:cNvPr id="347" name="Google Shape;347;p28"/>
          <p:cNvSpPr txBox="1"/>
          <p:nvPr/>
        </p:nvSpPr>
        <p:spPr>
          <a:xfrm>
            <a:off x="6408578" y="2639886"/>
            <a:ext cx="13143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Provider</a:t>
            </a:r>
            <a:endParaRPr/>
          </a:p>
        </p:txBody>
      </p:sp>
      <p:sp>
        <p:nvSpPr>
          <p:cNvPr id="348" name="Google Shape;348;p28"/>
          <p:cNvSpPr txBox="1"/>
          <p:nvPr/>
        </p:nvSpPr>
        <p:spPr>
          <a:xfrm>
            <a:off x="6465260" y="1529214"/>
            <a:ext cx="1190228"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Location</a:t>
            </a:r>
            <a:endParaRPr/>
          </a:p>
        </p:txBody>
      </p:sp>
      <p:sp>
        <p:nvSpPr>
          <p:cNvPr id="349" name="Google Shape;349;p28"/>
          <p:cNvSpPr txBox="1"/>
          <p:nvPr/>
        </p:nvSpPr>
        <p:spPr>
          <a:xfrm>
            <a:off x="6228900" y="6107036"/>
            <a:ext cx="1645800" cy="261773"/>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Cost</a:t>
            </a:r>
            <a:endParaRPr/>
          </a:p>
        </p:txBody>
      </p:sp>
      <p:sp>
        <p:nvSpPr>
          <p:cNvPr id="350" name="Google Shape;350;p28"/>
          <p:cNvSpPr txBox="1"/>
          <p:nvPr/>
        </p:nvSpPr>
        <p:spPr>
          <a:xfrm>
            <a:off x="3297898" y="3660987"/>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Device_exposure</a:t>
            </a:r>
            <a:endParaRPr/>
          </a:p>
        </p:txBody>
      </p:sp>
      <p:sp>
        <p:nvSpPr>
          <p:cNvPr id="351" name="Google Shape;351;p28"/>
          <p:cNvSpPr txBox="1"/>
          <p:nvPr/>
        </p:nvSpPr>
        <p:spPr>
          <a:xfrm>
            <a:off x="3306954" y="5649702"/>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Observation</a:t>
            </a:r>
            <a:endParaRPr/>
          </a:p>
        </p:txBody>
      </p:sp>
      <p:cxnSp>
        <p:nvCxnSpPr>
          <p:cNvPr id="352" name="Google Shape;352;p28"/>
          <p:cNvCxnSpPr>
            <a:stCxn id="343" idx="1"/>
            <a:endCxn id="342" idx="1"/>
          </p:cNvCxnSpPr>
          <p:nvPr/>
        </p:nvCxnSpPr>
        <p:spPr>
          <a:xfrm>
            <a:off x="2699617" y="1877975"/>
            <a:ext cx="598200" cy="1520100"/>
          </a:xfrm>
          <a:prstGeom prst="curvedConnector3">
            <a:avLst>
              <a:gd fmla="val -38214" name="adj1"/>
            </a:avLst>
          </a:prstGeom>
          <a:noFill/>
          <a:ln cap="flat" cmpd="sng" w="9525">
            <a:solidFill>
              <a:srgbClr val="E9611C"/>
            </a:solidFill>
            <a:prstDash val="solid"/>
            <a:round/>
            <a:headEnd len="sm" w="sm" type="none"/>
            <a:tailEnd len="lg" w="lg" type="stealth"/>
          </a:ln>
        </p:spPr>
      </p:cxnSp>
      <p:cxnSp>
        <p:nvCxnSpPr>
          <p:cNvPr id="353" name="Google Shape;353;p28"/>
          <p:cNvCxnSpPr>
            <a:stCxn id="343" idx="1"/>
            <a:endCxn id="340" idx="1"/>
          </p:cNvCxnSpPr>
          <p:nvPr/>
        </p:nvCxnSpPr>
        <p:spPr>
          <a:xfrm>
            <a:off x="2699617" y="1877975"/>
            <a:ext cx="598500" cy="1131000"/>
          </a:xfrm>
          <a:prstGeom prst="curvedConnector3">
            <a:avLst>
              <a:gd fmla="val -38195" name="adj1"/>
            </a:avLst>
          </a:prstGeom>
          <a:noFill/>
          <a:ln cap="flat" cmpd="sng" w="9525">
            <a:solidFill>
              <a:srgbClr val="E9611C"/>
            </a:solidFill>
            <a:prstDash val="solid"/>
            <a:round/>
            <a:headEnd len="sm" w="sm" type="none"/>
            <a:tailEnd len="lg" w="lg" type="stealth"/>
          </a:ln>
        </p:spPr>
      </p:cxnSp>
      <p:cxnSp>
        <p:nvCxnSpPr>
          <p:cNvPr id="354" name="Google Shape;354;p28"/>
          <p:cNvCxnSpPr>
            <a:stCxn id="343" idx="1"/>
            <a:endCxn id="350" idx="1"/>
          </p:cNvCxnSpPr>
          <p:nvPr/>
        </p:nvCxnSpPr>
        <p:spPr>
          <a:xfrm>
            <a:off x="2699617" y="1877975"/>
            <a:ext cx="598200" cy="1920000"/>
          </a:xfrm>
          <a:prstGeom prst="curvedConnector3">
            <a:avLst>
              <a:gd fmla="val -38214" name="adj1"/>
            </a:avLst>
          </a:prstGeom>
          <a:noFill/>
          <a:ln cap="flat" cmpd="sng" w="9525">
            <a:solidFill>
              <a:srgbClr val="E9611C"/>
            </a:solidFill>
            <a:prstDash val="solid"/>
            <a:round/>
            <a:headEnd len="sm" w="sm" type="none"/>
            <a:tailEnd len="lg" w="lg" type="stealth"/>
          </a:ln>
        </p:spPr>
      </p:cxnSp>
      <p:cxnSp>
        <p:nvCxnSpPr>
          <p:cNvPr id="355" name="Google Shape;355;p28"/>
          <p:cNvCxnSpPr>
            <a:stCxn id="343" idx="1"/>
            <a:endCxn id="341" idx="1"/>
          </p:cNvCxnSpPr>
          <p:nvPr/>
        </p:nvCxnSpPr>
        <p:spPr>
          <a:xfrm>
            <a:off x="2699617" y="1877975"/>
            <a:ext cx="594600" cy="744300"/>
          </a:xfrm>
          <a:prstGeom prst="curvedConnector3">
            <a:avLst>
              <a:gd fmla="val -38446" name="adj1"/>
            </a:avLst>
          </a:prstGeom>
          <a:noFill/>
          <a:ln cap="flat" cmpd="sng" w="9525">
            <a:solidFill>
              <a:srgbClr val="E9611C"/>
            </a:solidFill>
            <a:prstDash val="solid"/>
            <a:round/>
            <a:headEnd len="sm" w="sm" type="none"/>
            <a:tailEnd len="lg" w="lg" type="stealth"/>
          </a:ln>
        </p:spPr>
      </p:cxnSp>
      <p:cxnSp>
        <p:nvCxnSpPr>
          <p:cNvPr id="356" name="Google Shape;356;p28"/>
          <p:cNvCxnSpPr>
            <a:stCxn id="343" idx="1"/>
            <a:endCxn id="351" idx="1"/>
          </p:cNvCxnSpPr>
          <p:nvPr/>
        </p:nvCxnSpPr>
        <p:spPr>
          <a:xfrm>
            <a:off x="2699617" y="1877975"/>
            <a:ext cx="607200" cy="3908700"/>
          </a:xfrm>
          <a:prstGeom prst="curvedConnector3">
            <a:avLst>
              <a:gd fmla="val -37648" name="adj1"/>
            </a:avLst>
          </a:prstGeom>
          <a:noFill/>
          <a:ln cap="flat" cmpd="sng" w="9525">
            <a:solidFill>
              <a:srgbClr val="E9611C"/>
            </a:solidFill>
            <a:prstDash val="solid"/>
            <a:round/>
            <a:headEnd len="sm" w="sm" type="none"/>
            <a:tailEnd len="lg" w="lg" type="stealth"/>
          </a:ln>
        </p:spPr>
      </p:cxnSp>
      <p:cxnSp>
        <p:nvCxnSpPr>
          <p:cNvPr id="357" name="Google Shape;357;p28"/>
          <p:cNvCxnSpPr>
            <a:stCxn id="343" idx="1"/>
            <a:endCxn id="344" idx="1"/>
          </p:cNvCxnSpPr>
          <p:nvPr/>
        </p:nvCxnSpPr>
        <p:spPr>
          <a:xfrm>
            <a:off x="2699617" y="1877975"/>
            <a:ext cx="603600" cy="2309400"/>
          </a:xfrm>
          <a:prstGeom prst="curvedConnector3">
            <a:avLst>
              <a:gd fmla="val -37873" name="adj1"/>
            </a:avLst>
          </a:prstGeom>
          <a:noFill/>
          <a:ln cap="flat" cmpd="sng" w="9525">
            <a:solidFill>
              <a:srgbClr val="E9611C"/>
            </a:solidFill>
            <a:prstDash val="solid"/>
            <a:round/>
            <a:headEnd len="sm" w="sm" type="none"/>
            <a:tailEnd len="lg" w="lg" type="stealth"/>
          </a:ln>
        </p:spPr>
      </p:cxnSp>
      <p:sp>
        <p:nvSpPr>
          <p:cNvPr id="358" name="Google Shape;358;p28"/>
          <p:cNvSpPr txBox="1"/>
          <p:nvPr/>
        </p:nvSpPr>
        <p:spPr>
          <a:xfrm>
            <a:off x="3309595" y="4451751"/>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Note</a:t>
            </a:r>
            <a:endParaRPr/>
          </a:p>
        </p:txBody>
      </p:sp>
      <p:cxnSp>
        <p:nvCxnSpPr>
          <p:cNvPr id="359" name="Google Shape;359;p28"/>
          <p:cNvCxnSpPr>
            <a:stCxn id="343" idx="1"/>
            <a:endCxn id="358" idx="1"/>
          </p:cNvCxnSpPr>
          <p:nvPr/>
        </p:nvCxnSpPr>
        <p:spPr>
          <a:xfrm>
            <a:off x="2699617" y="1877975"/>
            <a:ext cx="609900" cy="2710800"/>
          </a:xfrm>
          <a:prstGeom prst="curvedConnector3">
            <a:avLst>
              <a:gd fmla="val -37482" name="adj1"/>
            </a:avLst>
          </a:prstGeom>
          <a:noFill/>
          <a:ln cap="flat" cmpd="sng" w="9525">
            <a:solidFill>
              <a:srgbClr val="E9611C"/>
            </a:solidFill>
            <a:prstDash val="solid"/>
            <a:round/>
            <a:headEnd len="sm" w="sm" type="none"/>
            <a:tailEnd len="lg" w="lg" type="stealth"/>
          </a:ln>
        </p:spPr>
      </p:cxnSp>
      <p:sp>
        <p:nvSpPr>
          <p:cNvPr id="360" name="Google Shape;360;p28"/>
          <p:cNvSpPr txBox="1"/>
          <p:nvPr/>
        </p:nvSpPr>
        <p:spPr>
          <a:xfrm>
            <a:off x="5807840" y="994424"/>
            <a:ext cx="2448125" cy="28192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Calibri"/>
                <a:ea typeface="Calibri"/>
                <a:cs typeface="Calibri"/>
                <a:sym typeface="Calibri"/>
              </a:rPr>
              <a:t>Standardized health system data</a:t>
            </a:r>
            <a:endParaRPr/>
          </a:p>
        </p:txBody>
      </p:sp>
      <p:sp>
        <p:nvSpPr>
          <p:cNvPr id="361" name="Google Shape;361;p28"/>
          <p:cNvSpPr txBox="1"/>
          <p:nvPr/>
        </p:nvSpPr>
        <p:spPr>
          <a:xfrm>
            <a:off x="3317929" y="6431400"/>
            <a:ext cx="1832699"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Fact_relationship</a:t>
            </a:r>
            <a:endParaRPr/>
          </a:p>
        </p:txBody>
      </p:sp>
      <p:sp>
        <p:nvSpPr>
          <p:cNvPr id="362" name="Google Shape;362;p28"/>
          <p:cNvSpPr txBox="1"/>
          <p:nvPr/>
        </p:nvSpPr>
        <p:spPr>
          <a:xfrm>
            <a:off x="3311179" y="6036241"/>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Specimen</a:t>
            </a:r>
            <a:endParaRPr/>
          </a:p>
        </p:txBody>
      </p:sp>
      <p:sp>
        <p:nvSpPr>
          <p:cNvPr id="363" name="Google Shape;363;p28"/>
          <p:cNvSpPr txBox="1"/>
          <p:nvPr/>
        </p:nvSpPr>
        <p:spPr>
          <a:xfrm>
            <a:off x="5730966" y="5528524"/>
            <a:ext cx="2608994" cy="48844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Calibri"/>
                <a:ea typeface="Calibri"/>
                <a:cs typeface="Calibri"/>
                <a:sym typeface="Calibri"/>
              </a:rPr>
              <a:t>Standardized health economics</a:t>
            </a:r>
            <a:endParaRPr/>
          </a:p>
        </p:txBody>
      </p:sp>
      <p:cxnSp>
        <p:nvCxnSpPr>
          <p:cNvPr id="364" name="Google Shape;364;p28"/>
          <p:cNvCxnSpPr>
            <a:stCxn id="358" idx="2"/>
            <a:endCxn id="365" idx="1"/>
          </p:cNvCxnSpPr>
          <p:nvPr/>
        </p:nvCxnSpPr>
        <p:spPr>
          <a:xfrm flipH="1" rot="-5400000">
            <a:off x="4199845" y="4752051"/>
            <a:ext cx="243000" cy="190800"/>
          </a:xfrm>
          <a:prstGeom prst="bentConnector2">
            <a:avLst/>
          </a:prstGeom>
          <a:noFill/>
          <a:ln cap="flat" cmpd="sng" w="9525">
            <a:solidFill>
              <a:srgbClr val="E9611C"/>
            </a:solidFill>
            <a:prstDash val="solid"/>
            <a:round/>
            <a:headEnd len="sm" w="sm" type="none"/>
            <a:tailEnd len="lg" w="lg" type="stealth"/>
          </a:ln>
        </p:spPr>
      </p:cxnSp>
      <p:grpSp>
        <p:nvGrpSpPr>
          <p:cNvPr id="366" name="Google Shape;366;p28"/>
          <p:cNvGrpSpPr/>
          <p:nvPr/>
        </p:nvGrpSpPr>
        <p:grpSpPr>
          <a:xfrm>
            <a:off x="8390111" y="1024687"/>
            <a:ext cx="2212796" cy="1144041"/>
            <a:chOff x="6758185" y="1037134"/>
            <a:chExt cx="2301628" cy="1000530"/>
          </a:xfrm>
        </p:grpSpPr>
        <p:sp>
          <p:nvSpPr>
            <p:cNvPr id="367" name="Google Shape;367;p28"/>
            <p:cNvSpPr/>
            <p:nvPr/>
          </p:nvSpPr>
          <p:spPr>
            <a:xfrm>
              <a:off x="6773813" y="1055466"/>
              <a:ext cx="2286000" cy="982198"/>
            </a:xfrm>
            <a:prstGeom prst="rect">
              <a:avLst/>
            </a:prstGeom>
            <a:solidFill>
              <a:srgbClr val="00B0F0">
                <a:alpha val="24705"/>
              </a:srgbClr>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28"/>
            <p:cNvSpPr txBox="1"/>
            <p:nvPr/>
          </p:nvSpPr>
          <p:spPr>
            <a:xfrm>
              <a:off x="7039371" y="1339601"/>
              <a:ext cx="17349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CDM_source</a:t>
              </a:r>
              <a:endParaRPr/>
            </a:p>
          </p:txBody>
        </p:sp>
        <p:sp>
          <p:nvSpPr>
            <p:cNvPr id="369" name="Google Shape;369;p28"/>
            <p:cNvSpPr txBox="1"/>
            <p:nvPr/>
          </p:nvSpPr>
          <p:spPr>
            <a:xfrm>
              <a:off x="6758185" y="1037134"/>
              <a:ext cx="2286000" cy="307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00" u="none" cap="none" strike="noStrike">
                  <a:solidFill>
                    <a:schemeClr val="dk1"/>
                  </a:solidFill>
                  <a:latin typeface="Calibri"/>
                  <a:ea typeface="Calibri"/>
                  <a:cs typeface="Calibri"/>
                  <a:sym typeface="Calibri"/>
                </a:rPr>
                <a:t>Standardized metadata</a:t>
              </a:r>
              <a:endParaRPr/>
            </a:p>
          </p:txBody>
        </p:sp>
        <p:sp>
          <p:nvSpPr>
            <p:cNvPr id="370" name="Google Shape;370;p28"/>
            <p:cNvSpPr txBox="1"/>
            <p:nvPr/>
          </p:nvSpPr>
          <p:spPr>
            <a:xfrm>
              <a:off x="7042426" y="1679901"/>
              <a:ext cx="17349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Metadata</a:t>
              </a:r>
              <a:endParaRPr/>
            </a:p>
          </p:txBody>
        </p:sp>
      </p:grpSp>
      <p:cxnSp>
        <p:nvCxnSpPr>
          <p:cNvPr id="371" name="Google Shape;371;p28"/>
          <p:cNvCxnSpPr>
            <a:stCxn id="372" idx="2"/>
            <a:endCxn id="351" idx="1"/>
          </p:cNvCxnSpPr>
          <p:nvPr/>
        </p:nvCxnSpPr>
        <p:spPr>
          <a:xfrm flipH="1" rot="-5400000">
            <a:off x="618000" y="3097888"/>
            <a:ext cx="4390200" cy="987600"/>
          </a:xfrm>
          <a:prstGeom prst="bentConnector2">
            <a:avLst/>
          </a:prstGeom>
          <a:noFill/>
          <a:ln cap="flat" cmpd="sng" w="9525">
            <a:solidFill>
              <a:schemeClr val="dk1"/>
            </a:solidFill>
            <a:prstDash val="solid"/>
            <a:round/>
            <a:headEnd len="sm" w="sm" type="none"/>
            <a:tailEnd len="lg" w="lg" type="stealth"/>
          </a:ln>
        </p:spPr>
      </p:cxnSp>
      <p:sp>
        <p:nvSpPr>
          <p:cNvPr id="372" name="Google Shape;372;p28"/>
          <p:cNvSpPr txBox="1"/>
          <p:nvPr/>
        </p:nvSpPr>
        <p:spPr>
          <a:xfrm>
            <a:off x="1671600" y="1122388"/>
            <a:ext cx="12954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dk1"/>
                </a:solidFill>
                <a:latin typeface="Calibri"/>
                <a:ea typeface="Calibri"/>
                <a:cs typeface="Calibri"/>
                <a:sym typeface="Calibri"/>
              </a:rPr>
              <a:t>Person</a:t>
            </a:r>
            <a:endParaRPr/>
          </a:p>
        </p:txBody>
      </p:sp>
      <p:sp>
        <p:nvSpPr>
          <p:cNvPr id="373" name="Google Shape;373;p28"/>
          <p:cNvSpPr txBox="1"/>
          <p:nvPr/>
        </p:nvSpPr>
        <p:spPr>
          <a:xfrm>
            <a:off x="3308601" y="5261214"/>
            <a:ext cx="18327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Survey_conduct</a:t>
            </a:r>
            <a:endParaRPr/>
          </a:p>
        </p:txBody>
      </p:sp>
      <p:cxnSp>
        <p:nvCxnSpPr>
          <p:cNvPr id="374" name="Google Shape;374;p28"/>
          <p:cNvCxnSpPr>
            <a:stCxn id="343" idx="1"/>
            <a:endCxn id="373" idx="1"/>
          </p:cNvCxnSpPr>
          <p:nvPr/>
        </p:nvCxnSpPr>
        <p:spPr>
          <a:xfrm>
            <a:off x="2699617" y="1877975"/>
            <a:ext cx="609000" cy="3520200"/>
          </a:xfrm>
          <a:prstGeom prst="curvedConnector3">
            <a:avLst>
              <a:gd fmla="val -37537" name="adj1"/>
            </a:avLst>
          </a:prstGeom>
          <a:noFill/>
          <a:ln cap="flat" cmpd="sng" w="9525">
            <a:solidFill>
              <a:srgbClr val="E9611C"/>
            </a:solidFill>
            <a:prstDash val="solid"/>
            <a:round/>
            <a:headEnd len="sm" w="sm" type="none"/>
            <a:tailEnd len="lg" w="lg" type="stealth"/>
          </a:ln>
        </p:spPr>
      </p:cxnSp>
      <p:sp>
        <p:nvSpPr>
          <p:cNvPr id="375" name="Google Shape;375;p28"/>
          <p:cNvSpPr txBox="1"/>
          <p:nvPr/>
        </p:nvSpPr>
        <p:spPr>
          <a:xfrm>
            <a:off x="6472212" y="1914350"/>
            <a:ext cx="1183277" cy="230523"/>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00" u="none" cap="none" strike="noStrike">
                <a:solidFill>
                  <a:schemeClr val="dk1"/>
                </a:solidFill>
                <a:latin typeface="Calibri"/>
                <a:ea typeface="Calibri"/>
                <a:cs typeface="Calibri"/>
                <a:sym typeface="Calibri"/>
              </a:rPr>
              <a:t>Location_history</a:t>
            </a:r>
            <a:endParaRPr/>
          </a:p>
        </p:txBody>
      </p:sp>
      <p:cxnSp>
        <p:nvCxnSpPr>
          <p:cNvPr id="376" name="Google Shape;376;p28"/>
          <p:cNvCxnSpPr>
            <a:stCxn id="348" idx="2"/>
            <a:endCxn id="375" idx="0"/>
          </p:cNvCxnSpPr>
          <p:nvPr/>
        </p:nvCxnSpPr>
        <p:spPr>
          <a:xfrm>
            <a:off x="7060374" y="1803414"/>
            <a:ext cx="3600" cy="111000"/>
          </a:xfrm>
          <a:prstGeom prst="straightConnector1">
            <a:avLst/>
          </a:prstGeom>
          <a:noFill/>
          <a:ln cap="flat" cmpd="sng" w="9525">
            <a:solidFill>
              <a:schemeClr val="dk1"/>
            </a:solidFill>
            <a:prstDash val="solid"/>
            <a:round/>
            <a:headEnd len="sm" w="sm" type="none"/>
            <a:tailEnd len="med" w="med" type="stealth"/>
          </a:ln>
        </p:spPr>
      </p:cxnSp>
      <p:cxnSp>
        <p:nvCxnSpPr>
          <p:cNvPr id="377" name="Google Shape;377;p28"/>
          <p:cNvCxnSpPr>
            <a:stCxn id="372" idx="3"/>
            <a:endCxn id="348" idx="1"/>
          </p:cNvCxnSpPr>
          <p:nvPr/>
        </p:nvCxnSpPr>
        <p:spPr>
          <a:xfrm>
            <a:off x="2967000" y="1259488"/>
            <a:ext cx="3498300" cy="406800"/>
          </a:xfrm>
          <a:prstGeom prst="bentConnector3">
            <a:avLst>
              <a:gd fmla="val 57643" name="adj1"/>
            </a:avLst>
          </a:prstGeom>
          <a:noFill/>
          <a:ln cap="flat" cmpd="sng" w="9525">
            <a:solidFill>
              <a:schemeClr val="dk1"/>
            </a:solidFill>
            <a:prstDash val="solid"/>
            <a:round/>
            <a:headEnd len="sm" w="sm" type="none"/>
            <a:tailEnd len="med" w="med" type="triangle"/>
          </a:ln>
        </p:spPr>
      </p:cxnSp>
      <p:cxnSp>
        <p:nvCxnSpPr>
          <p:cNvPr id="378" name="Google Shape;378;p28"/>
          <p:cNvCxnSpPr>
            <a:stCxn id="379" idx="3"/>
            <a:endCxn id="348" idx="3"/>
          </p:cNvCxnSpPr>
          <p:nvPr/>
        </p:nvCxnSpPr>
        <p:spPr>
          <a:xfrm rot="10800000">
            <a:off x="7655378" y="1666422"/>
            <a:ext cx="67500" cy="713400"/>
          </a:xfrm>
          <a:prstGeom prst="bentConnector3">
            <a:avLst>
              <a:gd fmla="val -338666" name="adj1"/>
            </a:avLst>
          </a:prstGeom>
          <a:noFill/>
          <a:ln cap="flat" cmpd="sng" w="9525">
            <a:solidFill>
              <a:srgbClr val="BD4B48"/>
            </a:solidFill>
            <a:prstDash val="solid"/>
            <a:round/>
            <a:headEnd len="sm" w="sm" type="none"/>
            <a:tailEnd len="med" w="med" type="triangle"/>
          </a:ln>
        </p:spPr>
      </p:cxnSp>
      <p:cxnSp>
        <p:nvCxnSpPr>
          <p:cNvPr id="380" name="Google Shape;380;p28"/>
          <p:cNvCxnSpPr>
            <a:stCxn id="347" idx="1"/>
            <a:endCxn id="343" idx="3"/>
          </p:cNvCxnSpPr>
          <p:nvPr/>
        </p:nvCxnSpPr>
        <p:spPr>
          <a:xfrm rot="10800000">
            <a:off x="4532378" y="1877886"/>
            <a:ext cx="1876200" cy="899100"/>
          </a:xfrm>
          <a:prstGeom prst="curvedConnector3">
            <a:avLst>
              <a:gd fmla="val 50002" name="adj1"/>
            </a:avLst>
          </a:prstGeom>
          <a:noFill/>
          <a:ln cap="flat" cmpd="sng" w="9525">
            <a:solidFill>
              <a:srgbClr val="BD4B48"/>
            </a:solidFill>
            <a:prstDash val="solid"/>
            <a:round/>
            <a:headEnd len="sm" w="sm" type="none"/>
            <a:tailEnd len="lg" w="lg" type="stealth"/>
          </a:ln>
        </p:spPr>
      </p:cxnSp>
      <p:cxnSp>
        <p:nvCxnSpPr>
          <p:cNvPr id="381" name="Google Shape;381;p28"/>
          <p:cNvCxnSpPr>
            <a:stCxn id="347" idx="1"/>
            <a:endCxn id="382" idx="3"/>
          </p:cNvCxnSpPr>
          <p:nvPr/>
        </p:nvCxnSpPr>
        <p:spPr>
          <a:xfrm rot="10800000">
            <a:off x="5441378" y="2241186"/>
            <a:ext cx="967200" cy="535800"/>
          </a:xfrm>
          <a:prstGeom prst="curvedConnector3">
            <a:avLst>
              <a:gd fmla="val 50005" name="adj1"/>
            </a:avLst>
          </a:prstGeom>
          <a:noFill/>
          <a:ln cap="flat" cmpd="sng" w="9525">
            <a:solidFill>
              <a:srgbClr val="BD4B48"/>
            </a:solidFill>
            <a:prstDash val="solid"/>
            <a:round/>
            <a:headEnd len="sm" w="sm" type="none"/>
            <a:tailEnd len="lg" w="lg" type="stealth"/>
          </a:ln>
        </p:spPr>
      </p:cxnSp>
      <p:cxnSp>
        <p:nvCxnSpPr>
          <p:cNvPr id="383" name="Google Shape;383;p28"/>
          <p:cNvCxnSpPr>
            <a:stCxn id="347" idx="1"/>
            <a:endCxn id="341" idx="3"/>
          </p:cNvCxnSpPr>
          <p:nvPr/>
        </p:nvCxnSpPr>
        <p:spPr>
          <a:xfrm rot="10800000">
            <a:off x="5126678" y="2622486"/>
            <a:ext cx="1281900" cy="154500"/>
          </a:xfrm>
          <a:prstGeom prst="curvedConnector3">
            <a:avLst>
              <a:gd fmla="val 49995" name="adj1"/>
            </a:avLst>
          </a:prstGeom>
          <a:noFill/>
          <a:ln cap="flat" cmpd="sng" w="9525">
            <a:solidFill>
              <a:srgbClr val="BD4B48"/>
            </a:solidFill>
            <a:prstDash val="solid"/>
            <a:round/>
            <a:headEnd len="sm" w="sm" type="none"/>
            <a:tailEnd len="lg" w="lg" type="stealth"/>
          </a:ln>
        </p:spPr>
      </p:cxnSp>
      <p:cxnSp>
        <p:nvCxnSpPr>
          <p:cNvPr id="384" name="Google Shape;384;p28"/>
          <p:cNvCxnSpPr>
            <a:stCxn id="347" idx="1"/>
            <a:endCxn id="340" idx="3"/>
          </p:cNvCxnSpPr>
          <p:nvPr/>
        </p:nvCxnSpPr>
        <p:spPr>
          <a:xfrm flipH="1">
            <a:off x="5130578" y="2776986"/>
            <a:ext cx="1278000" cy="231900"/>
          </a:xfrm>
          <a:prstGeom prst="curvedConnector3">
            <a:avLst>
              <a:gd fmla="val 49995" name="adj1"/>
            </a:avLst>
          </a:prstGeom>
          <a:noFill/>
          <a:ln cap="flat" cmpd="sng" w="9525">
            <a:solidFill>
              <a:srgbClr val="BD4B48"/>
            </a:solidFill>
            <a:prstDash val="solid"/>
            <a:round/>
            <a:headEnd len="sm" w="sm" type="none"/>
            <a:tailEnd len="lg" w="lg" type="stealth"/>
          </a:ln>
        </p:spPr>
      </p:cxnSp>
      <p:cxnSp>
        <p:nvCxnSpPr>
          <p:cNvPr id="385" name="Google Shape;385;p28"/>
          <p:cNvCxnSpPr>
            <a:stCxn id="347" idx="1"/>
            <a:endCxn id="342" idx="3"/>
          </p:cNvCxnSpPr>
          <p:nvPr/>
        </p:nvCxnSpPr>
        <p:spPr>
          <a:xfrm flipH="1">
            <a:off x="5130578" y="2776986"/>
            <a:ext cx="1278000" cy="621300"/>
          </a:xfrm>
          <a:prstGeom prst="curvedConnector3">
            <a:avLst>
              <a:gd fmla="val 49999" name="adj1"/>
            </a:avLst>
          </a:prstGeom>
          <a:noFill/>
          <a:ln cap="flat" cmpd="sng" w="9525">
            <a:solidFill>
              <a:srgbClr val="BD4B48"/>
            </a:solidFill>
            <a:prstDash val="solid"/>
            <a:round/>
            <a:headEnd len="sm" w="sm" type="none"/>
            <a:tailEnd len="lg" w="lg" type="stealth"/>
          </a:ln>
        </p:spPr>
      </p:cxnSp>
      <p:cxnSp>
        <p:nvCxnSpPr>
          <p:cNvPr id="386" name="Google Shape;386;p28"/>
          <p:cNvCxnSpPr>
            <a:stCxn id="347" idx="1"/>
            <a:endCxn id="350" idx="3"/>
          </p:cNvCxnSpPr>
          <p:nvPr/>
        </p:nvCxnSpPr>
        <p:spPr>
          <a:xfrm flipH="1">
            <a:off x="5130578" y="2776986"/>
            <a:ext cx="1278000" cy="1021200"/>
          </a:xfrm>
          <a:prstGeom prst="curvedConnector3">
            <a:avLst>
              <a:gd fmla="val 49999" name="adj1"/>
            </a:avLst>
          </a:prstGeom>
          <a:noFill/>
          <a:ln cap="flat" cmpd="sng" w="9525">
            <a:solidFill>
              <a:srgbClr val="BD4B48"/>
            </a:solidFill>
            <a:prstDash val="solid"/>
            <a:round/>
            <a:headEnd len="sm" w="sm" type="none"/>
            <a:tailEnd len="lg" w="lg" type="stealth"/>
          </a:ln>
        </p:spPr>
      </p:cxnSp>
      <p:cxnSp>
        <p:nvCxnSpPr>
          <p:cNvPr id="387" name="Google Shape;387;p28"/>
          <p:cNvCxnSpPr>
            <a:stCxn id="347" idx="1"/>
            <a:endCxn id="344" idx="3"/>
          </p:cNvCxnSpPr>
          <p:nvPr/>
        </p:nvCxnSpPr>
        <p:spPr>
          <a:xfrm flipH="1">
            <a:off x="5135978" y="2776986"/>
            <a:ext cx="1272600" cy="1410300"/>
          </a:xfrm>
          <a:prstGeom prst="curvedConnector3">
            <a:avLst>
              <a:gd fmla="val 50006" name="adj1"/>
            </a:avLst>
          </a:prstGeom>
          <a:noFill/>
          <a:ln cap="flat" cmpd="sng" w="9525">
            <a:solidFill>
              <a:srgbClr val="BD4B48"/>
            </a:solidFill>
            <a:prstDash val="solid"/>
            <a:round/>
            <a:headEnd len="sm" w="sm" type="none"/>
            <a:tailEnd len="lg" w="lg" type="stealth"/>
          </a:ln>
        </p:spPr>
      </p:cxnSp>
      <p:cxnSp>
        <p:nvCxnSpPr>
          <p:cNvPr id="388" name="Google Shape;388;p28"/>
          <p:cNvCxnSpPr>
            <a:stCxn id="347" idx="1"/>
            <a:endCxn id="358" idx="3"/>
          </p:cNvCxnSpPr>
          <p:nvPr/>
        </p:nvCxnSpPr>
        <p:spPr>
          <a:xfrm flipH="1">
            <a:off x="5142278" y="2776986"/>
            <a:ext cx="1266300" cy="1812000"/>
          </a:xfrm>
          <a:prstGeom prst="curvedConnector3">
            <a:avLst>
              <a:gd fmla="val 49999" name="adj1"/>
            </a:avLst>
          </a:prstGeom>
          <a:noFill/>
          <a:ln cap="flat" cmpd="sng" w="9525">
            <a:solidFill>
              <a:srgbClr val="BD4B48"/>
            </a:solidFill>
            <a:prstDash val="solid"/>
            <a:round/>
            <a:headEnd len="sm" w="sm" type="none"/>
            <a:tailEnd len="lg" w="lg" type="stealth"/>
          </a:ln>
        </p:spPr>
      </p:cxnSp>
      <p:cxnSp>
        <p:nvCxnSpPr>
          <p:cNvPr id="389" name="Google Shape;389;p28"/>
          <p:cNvCxnSpPr>
            <a:stCxn id="347" idx="1"/>
            <a:endCxn id="373" idx="3"/>
          </p:cNvCxnSpPr>
          <p:nvPr/>
        </p:nvCxnSpPr>
        <p:spPr>
          <a:xfrm flipH="1">
            <a:off x="5141378" y="2776986"/>
            <a:ext cx="1267200" cy="2621400"/>
          </a:xfrm>
          <a:prstGeom prst="curvedConnector3">
            <a:avLst>
              <a:gd fmla="val 50003" name="adj1"/>
            </a:avLst>
          </a:prstGeom>
          <a:noFill/>
          <a:ln cap="flat" cmpd="sng" w="9525">
            <a:solidFill>
              <a:srgbClr val="BD4B48"/>
            </a:solidFill>
            <a:prstDash val="solid"/>
            <a:round/>
            <a:headEnd len="sm" w="sm" type="none"/>
            <a:tailEnd len="lg" w="lg" type="stealth"/>
          </a:ln>
        </p:spPr>
      </p:cxnSp>
      <p:cxnSp>
        <p:nvCxnSpPr>
          <p:cNvPr id="390" name="Google Shape;390;p28"/>
          <p:cNvCxnSpPr>
            <a:stCxn id="347" idx="1"/>
            <a:endCxn id="351" idx="3"/>
          </p:cNvCxnSpPr>
          <p:nvPr/>
        </p:nvCxnSpPr>
        <p:spPr>
          <a:xfrm flipH="1">
            <a:off x="5139578" y="2776986"/>
            <a:ext cx="1269000" cy="3009900"/>
          </a:xfrm>
          <a:prstGeom prst="curvedConnector3">
            <a:avLst>
              <a:gd fmla="val 49997" name="adj1"/>
            </a:avLst>
          </a:prstGeom>
          <a:noFill/>
          <a:ln cap="flat" cmpd="sng" w="9525">
            <a:solidFill>
              <a:srgbClr val="BD4B48"/>
            </a:solidFill>
            <a:prstDash val="solid"/>
            <a:round/>
            <a:headEnd len="sm" w="sm" type="none"/>
            <a:tailEnd len="lg" w="lg" type="stealth"/>
          </a:ln>
        </p:spPr>
      </p:cxnSp>
      <p:cxnSp>
        <p:nvCxnSpPr>
          <p:cNvPr id="391" name="Google Shape;391;p28"/>
          <p:cNvCxnSpPr>
            <a:stCxn id="372" idx="2"/>
            <a:endCxn id="341" idx="1"/>
          </p:cNvCxnSpPr>
          <p:nvPr/>
        </p:nvCxnSpPr>
        <p:spPr>
          <a:xfrm flipH="1" rot="-5400000">
            <a:off x="2193750" y="1522138"/>
            <a:ext cx="1225800" cy="974700"/>
          </a:xfrm>
          <a:prstGeom prst="bentConnector2">
            <a:avLst/>
          </a:prstGeom>
          <a:noFill/>
          <a:ln cap="flat" cmpd="sng" w="9525">
            <a:solidFill>
              <a:schemeClr val="dk1"/>
            </a:solidFill>
            <a:prstDash val="solid"/>
            <a:round/>
            <a:headEnd len="sm" w="sm" type="none"/>
            <a:tailEnd len="med" w="med" type="triangle"/>
          </a:ln>
        </p:spPr>
      </p:cxnSp>
      <p:cxnSp>
        <p:nvCxnSpPr>
          <p:cNvPr id="392" name="Google Shape;392;p28"/>
          <p:cNvCxnSpPr>
            <a:stCxn id="372" idx="2"/>
            <a:endCxn id="340" idx="1"/>
          </p:cNvCxnSpPr>
          <p:nvPr/>
        </p:nvCxnSpPr>
        <p:spPr>
          <a:xfrm flipH="1" rot="-5400000">
            <a:off x="2002500" y="1713388"/>
            <a:ext cx="1612200" cy="978600"/>
          </a:xfrm>
          <a:prstGeom prst="bentConnector2">
            <a:avLst/>
          </a:prstGeom>
          <a:noFill/>
          <a:ln cap="flat" cmpd="sng" w="9525">
            <a:solidFill>
              <a:schemeClr val="dk1"/>
            </a:solidFill>
            <a:prstDash val="solid"/>
            <a:round/>
            <a:headEnd len="sm" w="sm" type="none"/>
            <a:tailEnd len="med" w="med" type="triangle"/>
          </a:ln>
        </p:spPr>
      </p:cxnSp>
      <p:cxnSp>
        <p:nvCxnSpPr>
          <p:cNvPr id="393" name="Google Shape;393;p28"/>
          <p:cNvCxnSpPr>
            <a:stCxn id="372" idx="2"/>
            <a:endCxn id="342" idx="1"/>
          </p:cNvCxnSpPr>
          <p:nvPr/>
        </p:nvCxnSpPr>
        <p:spPr>
          <a:xfrm flipH="1" rot="-5400000">
            <a:off x="1807800" y="1908088"/>
            <a:ext cx="2001600" cy="978600"/>
          </a:xfrm>
          <a:prstGeom prst="bentConnector2">
            <a:avLst/>
          </a:prstGeom>
          <a:noFill/>
          <a:ln cap="flat" cmpd="sng" w="9525">
            <a:solidFill>
              <a:schemeClr val="dk1"/>
            </a:solidFill>
            <a:prstDash val="solid"/>
            <a:round/>
            <a:headEnd len="sm" w="sm" type="none"/>
            <a:tailEnd len="med" w="med" type="triangle"/>
          </a:ln>
        </p:spPr>
      </p:cxnSp>
      <p:cxnSp>
        <p:nvCxnSpPr>
          <p:cNvPr id="394" name="Google Shape;394;p28"/>
          <p:cNvCxnSpPr>
            <a:stCxn id="372" idx="2"/>
            <a:endCxn id="350" idx="1"/>
          </p:cNvCxnSpPr>
          <p:nvPr/>
        </p:nvCxnSpPr>
        <p:spPr>
          <a:xfrm flipH="1" rot="-5400000">
            <a:off x="1607850" y="2108038"/>
            <a:ext cx="2401500" cy="978600"/>
          </a:xfrm>
          <a:prstGeom prst="bentConnector2">
            <a:avLst/>
          </a:prstGeom>
          <a:noFill/>
          <a:ln cap="flat" cmpd="sng" w="9525">
            <a:solidFill>
              <a:schemeClr val="dk1"/>
            </a:solidFill>
            <a:prstDash val="solid"/>
            <a:round/>
            <a:headEnd len="sm" w="sm" type="none"/>
            <a:tailEnd len="med" w="med" type="triangle"/>
          </a:ln>
        </p:spPr>
      </p:cxnSp>
      <p:cxnSp>
        <p:nvCxnSpPr>
          <p:cNvPr id="395" name="Google Shape;395;p28"/>
          <p:cNvCxnSpPr>
            <a:stCxn id="372" idx="2"/>
            <a:endCxn id="344" idx="1"/>
          </p:cNvCxnSpPr>
          <p:nvPr/>
        </p:nvCxnSpPr>
        <p:spPr>
          <a:xfrm flipH="1" rot="-5400000">
            <a:off x="1415850" y="2300038"/>
            <a:ext cx="2790600" cy="983700"/>
          </a:xfrm>
          <a:prstGeom prst="bentConnector2">
            <a:avLst/>
          </a:prstGeom>
          <a:noFill/>
          <a:ln cap="flat" cmpd="sng" w="9525">
            <a:solidFill>
              <a:schemeClr val="dk1"/>
            </a:solidFill>
            <a:prstDash val="solid"/>
            <a:round/>
            <a:headEnd len="sm" w="sm" type="none"/>
            <a:tailEnd len="med" w="med" type="triangle"/>
          </a:ln>
        </p:spPr>
      </p:cxnSp>
      <p:cxnSp>
        <p:nvCxnSpPr>
          <p:cNvPr id="396" name="Google Shape;396;p28"/>
          <p:cNvCxnSpPr>
            <a:stCxn id="372" idx="2"/>
            <a:endCxn id="358" idx="1"/>
          </p:cNvCxnSpPr>
          <p:nvPr/>
        </p:nvCxnSpPr>
        <p:spPr>
          <a:xfrm flipH="1" rot="-5400000">
            <a:off x="1218300" y="2497588"/>
            <a:ext cx="3192300" cy="990300"/>
          </a:xfrm>
          <a:prstGeom prst="bentConnector2">
            <a:avLst/>
          </a:prstGeom>
          <a:noFill/>
          <a:ln cap="flat" cmpd="sng" w="9525">
            <a:solidFill>
              <a:schemeClr val="dk1"/>
            </a:solidFill>
            <a:prstDash val="solid"/>
            <a:round/>
            <a:headEnd len="sm" w="sm" type="none"/>
            <a:tailEnd len="med" w="med" type="triangle"/>
          </a:ln>
        </p:spPr>
      </p:cxnSp>
      <p:cxnSp>
        <p:nvCxnSpPr>
          <p:cNvPr id="397" name="Google Shape;397;p28"/>
          <p:cNvCxnSpPr>
            <a:stCxn id="372" idx="2"/>
            <a:endCxn id="373" idx="1"/>
          </p:cNvCxnSpPr>
          <p:nvPr/>
        </p:nvCxnSpPr>
        <p:spPr>
          <a:xfrm flipH="1" rot="-5400000">
            <a:off x="813150" y="2902738"/>
            <a:ext cx="4001700" cy="989400"/>
          </a:xfrm>
          <a:prstGeom prst="bentConnector2">
            <a:avLst/>
          </a:prstGeom>
          <a:noFill/>
          <a:ln cap="flat" cmpd="sng" w="9525">
            <a:solidFill>
              <a:schemeClr val="dk1"/>
            </a:solidFill>
            <a:prstDash val="solid"/>
            <a:round/>
            <a:headEnd len="sm" w="sm" type="none"/>
            <a:tailEnd len="med" w="med" type="triangle"/>
          </a:ln>
        </p:spPr>
      </p:cxnSp>
      <p:cxnSp>
        <p:nvCxnSpPr>
          <p:cNvPr id="398" name="Google Shape;398;p28"/>
          <p:cNvCxnSpPr>
            <a:stCxn id="372" idx="2"/>
            <a:endCxn id="351" idx="1"/>
          </p:cNvCxnSpPr>
          <p:nvPr/>
        </p:nvCxnSpPr>
        <p:spPr>
          <a:xfrm flipH="1" rot="-5400000">
            <a:off x="618000" y="3097888"/>
            <a:ext cx="4390200" cy="987600"/>
          </a:xfrm>
          <a:prstGeom prst="bentConnector2">
            <a:avLst/>
          </a:prstGeom>
          <a:noFill/>
          <a:ln cap="flat" cmpd="sng" w="9525">
            <a:solidFill>
              <a:schemeClr val="dk1"/>
            </a:solidFill>
            <a:prstDash val="solid"/>
            <a:round/>
            <a:headEnd len="sm" w="sm" type="none"/>
            <a:tailEnd len="med" w="med" type="triangle"/>
          </a:ln>
        </p:spPr>
      </p:cxnSp>
      <p:cxnSp>
        <p:nvCxnSpPr>
          <p:cNvPr id="399" name="Google Shape;399;p28"/>
          <p:cNvCxnSpPr>
            <a:stCxn id="372" idx="2"/>
            <a:endCxn id="362" idx="1"/>
          </p:cNvCxnSpPr>
          <p:nvPr/>
        </p:nvCxnSpPr>
        <p:spPr>
          <a:xfrm flipH="1" rot="-5400000">
            <a:off x="426750" y="3289138"/>
            <a:ext cx="4776900" cy="991800"/>
          </a:xfrm>
          <a:prstGeom prst="bentConnector2">
            <a:avLst/>
          </a:prstGeom>
          <a:noFill/>
          <a:ln cap="flat" cmpd="sng" w="9525">
            <a:solidFill>
              <a:schemeClr val="dk1"/>
            </a:solidFill>
            <a:prstDash val="solid"/>
            <a:round/>
            <a:headEnd len="sm" w="sm" type="none"/>
            <a:tailEnd len="med" w="med" type="triangle"/>
          </a:ln>
        </p:spPr>
      </p:cxnSp>
      <p:cxnSp>
        <p:nvCxnSpPr>
          <p:cNvPr id="400" name="Google Shape;400;p28"/>
          <p:cNvCxnSpPr>
            <a:stCxn id="372" idx="2"/>
            <a:endCxn id="382" idx="1"/>
          </p:cNvCxnSpPr>
          <p:nvPr/>
        </p:nvCxnSpPr>
        <p:spPr>
          <a:xfrm flipH="1" rot="-5400000">
            <a:off x="2863500" y="852388"/>
            <a:ext cx="844500" cy="1932900"/>
          </a:xfrm>
          <a:prstGeom prst="bentConnector2">
            <a:avLst/>
          </a:prstGeom>
          <a:noFill/>
          <a:ln cap="flat" cmpd="sng" w="9525">
            <a:solidFill>
              <a:schemeClr val="dk1"/>
            </a:solidFill>
            <a:prstDash val="solid"/>
            <a:round/>
            <a:headEnd len="sm" w="sm" type="none"/>
            <a:tailEnd len="med" w="med" type="triangle"/>
          </a:ln>
        </p:spPr>
      </p:cxnSp>
      <p:cxnSp>
        <p:nvCxnSpPr>
          <p:cNvPr id="401" name="Google Shape;401;p28"/>
          <p:cNvCxnSpPr>
            <a:stCxn id="372" idx="2"/>
            <a:endCxn id="343" idx="1"/>
          </p:cNvCxnSpPr>
          <p:nvPr/>
        </p:nvCxnSpPr>
        <p:spPr>
          <a:xfrm flipH="1" rot="-5400000">
            <a:off x="2268750" y="1447138"/>
            <a:ext cx="481500" cy="380400"/>
          </a:xfrm>
          <a:prstGeom prst="bentConnector2">
            <a:avLst/>
          </a:prstGeom>
          <a:noFill/>
          <a:ln cap="flat" cmpd="sng" w="9525">
            <a:solidFill>
              <a:schemeClr val="dk1"/>
            </a:solidFill>
            <a:prstDash val="solid"/>
            <a:round/>
            <a:headEnd len="sm" w="sm" type="none"/>
            <a:tailEnd len="med" w="med" type="triangle"/>
          </a:ln>
        </p:spPr>
      </p:cxnSp>
      <p:cxnSp>
        <p:nvCxnSpPr>
          <p:cNvPr id="402" name="Google Shape;402;p28"/>
          <p:cNvCxnSpPr>
            <a:stCxn id="372" idx="2"/>
            <a:endCxn id="345" idx="1"/>
          </p:cNvCxnSpPr>
          <p:nvPr/>
        </p:nvCxnSpPr>
        <p:spPr>
          <a:xfrm flipH="1" rot="-5400000">
            <a:off x="2631450" y="1084438"/>
            <a:ext cx="104400" cy="728700"/>
          </a:xfrm>
          <a:prstGeom prst="bentConnector2">
            <a:avLst/>
          </a:prstGeom>
          <a:noFill/>
          <a:ln cap="flat" cmpd="sng" w="9525">
            <a:solidFill>
              <a:schemeClr val="dk1"/>
            </a:solidFill>
            <a:prstDash val="solid"/>
            <a:round/>
            <a:headEnd len="sm" w="sm" type="none"/>
            <a:tailEnd len="med" w="med" type="triangle"/>
          </a:ln>
        </p:spPr>
      </p:cxnSp>
      <p:sp>
        <p:nvSpPr>
          <p:cNvPr id="365" name="Google Shape;365;p28"/>
          <p:cNvSpPr txBox="1"/>
          <p:nvPr/>
        </p:nvSpPr>
        <p:spPr>
          <a:xfrm>
            <a:off x="4416668" y="4831899"/>
            <a:ext cx="1090117"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Note_NLP</a:t>
            </a:r>
            <a:endParaRPr/>
          </a:p>
        </p:txBody>
      </p:sp>
      <p:sp>
        <p:nvSpPr>
          <p:cNvPr id="382" name="Google Shape;382;p28"/>
          <p:cNvSpPr txBox="1"/>
          <p:nvPr/>
        </p:nvSpPr>
        <p:spPr>
          <a:xfrm>
            <a:off x="4252205" y="2102119"/>
            <a:ext cx="1189064" cy="278194"/>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Visit_detail</a:t>
            </a:r>
            <a:endParaRPr/>
          </a:p>
        </p:txBody>
      </p:sp>
      <p:cxnSp>
        <p:nvCxnSpPr>
          <p:cNvPr id="403" name="Google Shape;403;p28"/>
          <p:cNvCxnSpPr>
            <a:stCxn id="343" idx="2"/>
            <a:endCxn id="382" idx="1"/>
          </p:cNvCxnSpPr>
          <p:nvPr/>
        </p:nvCxnSpPr>
        <p:spPr>
          <a:xfrm flipH="1" rot="-5400000">
            <a:off x="3822067" y="1810972"/>
            <a:ext cx="224100" cy="636300"/>
          </a:xfrm>
          <a:prstGeom prst="curvedConnector2">
            <a:avLst/>
          </a:prstGeom>
          <a:noFill/>
          <a:ln cap="flat" cmpd="sng" w="9525">
            <a:solidFill>
              <a:srgbClr val="E9611C"/>
            </a:solidFill>
            <a:prstDash val="solid"/>
            <a:round/>
            <a:headEnd len="sm" w="sm" type="none"/>
            <a:tailEnd len="lg" w="lg" type="stealth"/>
          </a:ln>
        </p:spPr>
      </p:cxnSp>
      <p:cxnSp>
        <p:nvCxnSpPr>
          <p:cNvPr id="404" name="Google Shape;404;p28"/>
          <p:cNvCxnSpPr>
            <a:stCxn id="347" idx="0"/>
            <a:endCxn id="379" idx="2"/>
          </p:cNvCxnSpPr>
          <p:nvPr/>
        </p:nvCxnSpPr>
        <p:spPr>
          <a:xfrm rot="10800000">
            <a:off x="7065728" y="2516886"/>
            <a:ext cx="0" cy="123000"/>
          </a:xfrm>
          <a:prstGeom prst="straightConnector1">
            <a:avLst/>
          </a:prstGeom>
          <a:noFill/>
          <a:ln cap="flat" cmpd="sng" w="9525">
            <a:solidFill>
              <a:srgbClr val="BD4B48"/>
            </a:solidFill>
            <a:prstDash val="solid"/>
            <a:round/>
            <a:headEnd len="sm" w="sm" type="none"/>
            <a:tailEnd len="med" w="med" type="triangle"/>
          </a:ln>
        </p:spPr>
      </p:cxnSp>
      <p:sp>
        <p:nvSpPr>
          <p:cNvPr id="405" name="Google Shape;405;p28"/>
          <p:cNvSpPr/>
          <p:nvPr/>
        </p:nvSpPr>
        <p:spPr>
          <a:xfrm rot="661834">
            <a:off x="3761172" y="1963162"/>
            <a:ext cx="2673800" cy="481562"/>
          </a:xfrm>
          <a:prstGeom prst="arc">
            <a:avLst>
              <a:gd fmla="val 12002734" name="adj1"/>
              <a:gd fmla="val 21592798" name="adj2"/>
            </a:avLst>
          </a:prstGeom>
          <a:noFill/>
          <a:ln cap="flat" cmpd="sng" w="9525">
            <a:solidFill>
              <a:srgbClr val="BD4B48"/>
            </a:solidFill>
            <a:prstDash val="solid"/>
            <a:round/>
            <a:headEnd len="med" w="med" type="stealth"/>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6" name="Google Shape;406;p28"/>
          <p:cNvSpPr/>
          <p:nvPr/>
        </p:nvSpPr>
        <p:spPr>
          <a:xfrm rot="175342">
            <a:off x="5286069" y="2218488"/>
            <a:ext cx="1132718" cy="478645"/>
          </a:xfrm>
          <a:prstGeom prst="arc">
            <a:avLst>
              <a:gd fmla="val 12002734" name="adj1"/>
              <a:gd fmla="val 21057973" name="adj2"/>
            </a:avLst>
          </a:prstGeom>
          <a:noFill/>
          <a:ln cap="flat" cmpd="sng" w="9525">
            <a:solidFill>
              <a:srgbClr val="BD4B48"/>
            </a:solidFill>
            <a:prstDash val="solid"/>
            <a:round/>
            <a:headEnd len="med" w="med" type="stealth"/>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8"/>
          <p:cNvSpPr txBox="1"/>
          <p:nvPr/>
        </p:nvSpPr>
        <p:spPr>
          <a:xfrm>
            <a:off x="6408578" y="2242722"/>
            <a:ext cx="1314300" cy="2742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Care_site</a:t>
            </a:r>
            <a:endParaRPr/>
          </a:p>
        </p:txBody>
      </p:sp>
      <p:sp>
        <p:nvSpPr>
          <p:cNvPr id="407" name="Google Shape;407;p28"/>
          <p:cNvSpPr/>
          <p:nvPr/>
        </p:nvSpPr>
        <p:spPr>
          <a:xfrm>
            <a:off x="3048000" y="5140375"/>
            <a:ext cx="2393269" cy="522389"/>
          </a:xfrm>
          <a:prstGeom prst="ellipse">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28"/>
          <p:cNvSpPr/>
          <p:nvPr/>
        </p:nvSpPr>
        <p:spPr>
          <a:xfrm>
            <a:off x="6228900" y="1832474"/>
            <a:ext cx="1645800" cy="339952"/>
          </a:xfrm>
          <a:prstGeom prst="ellipse">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9"/>
          <p:cNvSpPr txBox="1"/>
          <p:nvPr>
            <p:ph type="title"/>
          </p:nvPr>
        </p:nvSpPr>
        <p:spPr>
          <a:xfrm>
            <a:off x="2667000" y="152400"/>
            <a:ext cx="7543800" cy="106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0425A"/>
              </a:buClr>
              <a:buSzPts val="4000"/>
              <a:buFont typeface="Calibri"/>
              <a:buNone/>
            </a:pPr>
            <a:r>
              <a:rPr b="1" lang="en-US"/>
              <a:t>Two OMOP designs that might be confusing</a:t>
            </a:r>
            <a:endParaRPr/>
          </a:p>
        </p:txBody>
      </p:sp>
      <p:sp>
        <p:nvSpPr>
          <p:cNvPr id="414" name="Google Shape;414;p2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20425A"/>
              </a:buClr>
              <a:buSzPts val="3200"/>
              <a:buChar char="•"/>
            </a:pPr>
            <a:r>
              <a:rPr lang="en-US"/>
              <a:t>OMOP tables combine data from multiple source tables</a:t>
            </a:r>
            <a:endParaRPr/>
          </a:p>
          <a:p>
            <a:pPr indent="-285750" lvl="1" marL="742950" rtl="0" algn="l">
              <a:spcBef>
                <a:spcPts val="560"/>
              </a:spcBef>
              <a:spcAft>
                <a:spcPts val="0"/>
              </a:spcAft>
              <a:buClr>
                <a:srgbClr val="20425A"/>
              </a:buClr>
              <a:buSzPts val="2800"/>
              <a:buChar char="–"/>
            </a:pPr>
            <a:r>
              <a:rPr lang="en-US"/>
              <a:t>Ordered drugs, procedure drugs, vaccines are all in Drug Exposure</a:t>
            </a:r>
            <a:endParaRPr/>
          </a:p>
          <a:p>
            <a:pPr indent="-285750" lvl="1" marL="742950" rtl="0" algn="l">
              <a:spcBef>
                <a:spcPts val="560"/>
              </a:spcBef>
              <a:spcAft>
                <a:spcPts val="0"/>
              </a:spcAft>
              <a:buClr>
                <a:srgbClr val="20425A"/>
              </a:buClr>
              <a:buSzPts val="2800"/>
              <a:buChar char="–"/>
            </a:pPr>
            <a:r>
              <a:rPr lang="en-US"/>
              <a:t>Duplicates removed</a:t>
            </a:r>
            <a:br>
              <a:rPr lang="en-US"/>
            </a:br>
            <a:endParaRPr/>
          </a:p>
          <a:p>
            <a:pPr indent="-342900" lvl="0" marL="342900" rtl="0" algn="l">
              <a:spcBef>
                <a:spcPts val="640"/>
              </a:spcBef>
              <a:spcAft>
                <a:spcPts val="0"/>
              </a:spcAft>
              <a:buClr>
                <a:srgbClr val="20425A"/>
              </a:buClr>
              <a:buSzPts val="3200"/>
              <a:buChar char="•"/>
            </a:pPr>
            <a:r>
              <a:rPr lang="en-US"/>
              <a:t>Source data may be distributed over multiple OMOP tables</a:t>
            </a:r>
            <a:endParaRPr/>
          </a:p>
          <a:p>
            <a:pPr indent="-285750" lvl="1" marL="742950" rtl="0" algn="l">
              <a:spcBef>
                <a:spcPts val="560"/>
              </a:spcBef>
              <a:spcAft>
                <a:spcPts val="0"/>
              </a:spcAft>
              <a:buClr>
                <a:srgbClr val="20425A"/>
              </a:buClr>
              <a:buSzPts val="2800"/>
              <a:buChar char="–"/>
            </a:pPr>
            <a:r>
              <a:rPr lang="en-US"/>
              <a:t>Not all ICD10CM billing codes are in OMOP Condition Occurrence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0"/>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b="1" lang="en-US"/>
              <a:t>W56.21XA</a:t>
            </a:r>
            <a:endParaRPr/>
          </a:p>
        </p:txBody>
      </p:sp>
      <p:pic>
        <p:nvPicPr>
          <p:cNvPr descr="Orca with solid fill" id="421" name="Google Shape;421;p30"/>
          <p:cNvPicPr preferRelativeResize="0"/>
          <p:nvPr/>
        </p:nvPicPr>
        <p:blipFill rotWithShape="1">
          <a:blip r:embed="rId3">
            <a:alphaModFix/>
          </a:blip>
          <a:srcRect b="0" l="0" r="0" t="0"/>
          <a:stretch/>
        </p:blipFill>
        <p:spPr>
          <a:xfrm>
            <a:off x="600075" y="1533525"/>
            <a:ext cx="4552950" cy="4552950"/>
          </a:xfrm>
          <a:prstGeom prst="rect">
            <a:avLst/>
          </a:prstGeom>
          <a:noFill/>
          <a:ln>
            <a:noFill/>
          </a:ln>
        </p:spPr>
      </p:pic>
      <p:sp>
        <p:nvSpPr>
          <p:cNvPr id="422" name="Google Shape;422;p30"/>
          <p:cNvSpPr txBox="1"/>
          <p:nvPr/>
        </p:nvSpPr>
        <p:spPr>
          <a:xfrm>
            <a:off x="6096000" y="2828835"/>
            <a:ext cx="457676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3600" u="none" cap="none" strike="noStrike">
                <a:solidFill>
                  <a:srgbClr val="F59F16"/>
                </a:solidFill>
                <a:latin typeface="Calibri"/>
                <a:ea typeface="Calibri"/>
                <a:cs typeface="Calibri"/>
                <a:sym typeface="Calibri"/>
              </a:rPr>
              <a:t>Bitten by orca, initial encounter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1"/>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0425A"/>
              </a:buClr>
              <a:buSzPct val="100000"/>
              <a:buFont typeface="Calibri"/>
              <a:buNone/>
            </a:pPr>
            <a:r>
              <a:rPr b="1" lang="en-US" sz="4400"/>
              <a:t>General CDM rules &amp; requirements</a:t>
            </a:r>
            <a:br>
              <a:rPr b="1" lang="en-US"/>
            </a:br>
            <a:r>
              <a:rPr b="1" i="1" lang="en-US" sz="2800"/>
              <a:t>*found on CDM GitHub site</a:t>
            </a:r>
            <a:endParaRPr b="1"/>
          </a:p>
        </p:txBody>
      </p:sp>
      <p:sp>
        <p:nvSpPr>
          <p:cNvPr id="428" name="Google Shape;428;p31"/>
          <p:cNvSpPr txBox="1"/>
          <p:nvPr>
            <p:ph idx="1" type="body"/>
          </p:nvPr>
        </p:nvSpPr>
        <p:spPr>
          <a:xfrm>
            <a:off x="2152650" y="1524000"/>
            <a:ext cx="7886700" cy="4495800"/>
          </a:xfrm>
          <a:prstGeom prst="rect">
            <a:avLst/>
          </a:prstGeom>
          <a:noFill/>
          <a:ln>
            <a:noFill/>
          </a:ln>
        </p:spPr>
        <p:txBody>
          <a:bodyPr anchorCtr="0" anchor="t" bIns="45700" lIns="91425" spcFirstLastPara="1" rIns="91425" wrap="square" tIns="45700">
            <a:normAutofit fontScale="92500" lnSpcReduction="10000"/>
          </a:bodyPr>
          <a:lstStyle/>
          <a:p>
            <a:pPr indent="-342932" lvl="0" marL="342900" rtl="0" algn="l">
              <a:spcBef>
                <a:spcPts val="0"/>
              </a:spcBef>
              <a:spcAft>
                <a:spcPts val="0"/>
              </a:spcAft>
              <a:buClr>
                <a:srgbClr val="20425A"/>
              </a:buClr>
              <a:buSzPct val="100000"/>
              <a:buChar char="•"/>
            </a:pPr>
            <a:r>
              <a:rPr lang="en-US" sz="3300"/>
              <a:t>All clinical event_start_dates must be populated</a:t>
            </a:r>
            <a:endParaRPr/>
          </a:p>
          <a:p>
            <a:pPr indent="-342932" lvl="0" marL="342900" rtl="0" algn="l">
              <a:spcBef>
                <a:spcPts val="610"/>
              </a:spcBef>
              <a:spcAft>
                <a:spcPts val="0"/>
              </a:spcAft>
              <a:buClr>
                <a:srgbClr val="20425A"/>
              </a:buClr>
              <a:buSzPct val="100000"/>
              <a:buChar char="•"/>
            </a:pPr>
            <a:r>
              <a:rPr lang="en-US" sz="3300"/>
              <a:t>Start dates must be &lt;= death_date</a:t>
            </a:r>
            <a:endParaRPr sz="3300"/>
          </a:p>
          <a:p>
            <a:pPr indent="-342932" lvl="0" marL="342900" rtl="0" algn="l">
              <a:spcBef>
                <a:spcPts val="610"/>
              </a:spcBef>
              <a:spcAft>
                <a:spcPts val="0"/>
              </a:spcAft>
              <a:buClr>
                <a:srgbClr val="20425A"/>
              </a:buClr>
              <a:buSzPct val="100000"/>
              <a:buChar char="•"/>
            </a:pPr>
            <a:r>
              <a:rPr lang="en-US" sz="3300"/>
              <a:t>End dates must be &lt;= death_date + 60 days</a:t>
            </a:r>
            <a:endParaRPr/>
          </a:p>
          <a:p>
            <a:pPr indent="-342932" lvl="0" marL="342900" rtl="0" algn="l">
              <a:spcBef>
                <a:spcPts val="610"/>
              </a:spcBef>
              <a:spcAft>
                <a:spcPts val="0"/>
              </a:spcAft>
              <a:buClr>
                <a:srgbClr val="20425A"/>
              </a:buClr>
              <a:buSzPct val="100000"/>
              <a:buChar char="•"/>
            </a:pPr>
            <a:r>
              <a:rPr lang="en-US" sz="3300"/>
              <a:t>If the end_date is populated, all event_start_dates must be &lt;=  event_end_dates</a:t>
            </a:r>
            <a:endParaRPr sz="3300"/>
          </a:p>
          <a:p>
            <a:pPr indent="-342932" lvl="0" marL="342900" rtl="0" algn="l">
              <a:spcBef>
                <a:spcPts val="610"/>
              </a:spcBef>
              <a:spcAft>
                <a:spcPts val="0"/>
              </a:spcAft>
              <a:buClr>
                <a:srgbClr val="20425A"/>
              </a:buClr>
              <a:buSzPct val="100000"/>
              <a:buChar char="•"/>
            </a:pPr>
            <a:r>
              <a:rPr lang="en-US" sz="3300"/>
              <a:t>All clinical event_start_dates must be &gt;= Birthdate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2"/>
          <p:cNvSpPr txBox="1"/>
          <p:nvPr>
            <p:ph type="title"/>
          </p:nvPr>
        </p:nvSpPr>
        <p:spPr>
          <a:xfrm>
            <a:off x="1250382" y="152400"/>
            <a:ext cx="95146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0425A"/>
              </a:buClr>
              <a:buSzPts val="4000"/>
              <a:buFont typeface="Calibri"/>
              <a:buNone/>
            </a:pPr>
            <a:r>
              <a:rPr b="1" lang="en-US"/>
              <a:t>Themis: What is it?</a:t>
            </a:r>
            <a:endParaRPr/>
          </a:p>
        </p:txBody>
      </p:sp>
      <p:sp>
        <p:nvSpPr>
          <p:cNvPr id="435" name="Google Shape;435;p32"/>
          <p:cNvSpPr txBox="1"/>
          <p:nvPr>
            <p:ph idx="1" type="body"/>
          </p:nvPr>
        </p:nvSpPr>
        <p:spPr>
          <a:xfrm>
            <a:off x="609600" y="1385455"/>
            <a:ext cx="10972800" cy="4906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rgbClr val="20425A"/>
              </a:buClr>
              <a:buSzPct val="100000"/>
              <a:buNone/>
            </a:pPr>
            <a:r>
              <a:rPr lang="en-US"/>
              <a:t>The goal of Themis is to provide </a:t>
            </a:r>
            <a:r>
              <a:rPr i="1" lang="en-US"/>
              <a:t>conventions</a:t>
            </a:r>
            <a:r>
              <a:rPr lang="en-US"/>
              <a:t> on how source data should be standardized to the OMOP CDM to support the OHDSI  community to generate the evidence that promotes better health decisions and better care. When there is </a:t>
            </a:r>
            <a:r>
              <a:rPr i="1" lang="en-US"/>
              <a:t>ambiguity</a:t>
            </a:r>
            <a:r>
              <a:rPr lang="en-US"/>
              <a:t> on how data should be inserted into the CDM, Themis will examine the issue, create a convention and document it. </a:t>
            </a:r>
            <a:endParaRPr/>
          </a:p>
          <a:p>
            <a:pPr indent="0" lvl="0" marL="0" rtl="0" algn="l">
              <a:spcBef>
                <a:spcPts val="544"/>
              </a:spcBef>
              <a:spcAft>
                <a:spcPts val="0"/>
              </a:spcAft>
              <a:buClr>
                <a:srgbClr val="20425A"/>
              </a:buClr>
              <a:buSzPct val="100000"/>
              <a:buNone/>
            </a:pPr>
            <a:r>
              <a:t/>
            </a:r>
            <a:endParaRPr/>
          </a:p>
          <a:p>
            <a:pPr indent="0" lvl="0" marL="0" rtl="0" algn="l">
              <a:spcBef>
                <a:spcPts val="544"/>
              </a:spcBef>
              <a:spcAft>
                <a:spcPts val="0"/>
              </a:spcAft>
              <a:buClr>
                <a:srgbClr val="20425A"/>
              </a:buClr>
              <a:buSzPct val="100000"/>
              <a:buNone/>
            </a:pPr>
            <a:r>
              <a:rPr lang="en-US"/>
              <a:t>We follow the FAIR principles: Findable, Accessible, Interoperable and Reusable.</a:t>
            </a:r>
            <a:endParaRPr/>
          </a:p>
          <a:p>
            <a:pPr indent="0" lvl="0" marL="0" rtl="0" algn="l">
              <a:spcBef>
                <a:spcPts val="544"/>
              </a:spcBef>
              <a:spcAft>
                <a:spcPts val="0"/>
              </a:spcAft>
              <a:buClr>
                <a:srgbClr val="20425A"/>
              </a:buClr>
              <a:buSzPct val="100000"/>
              <a:buNone/>
            </a:pPr>
            <a:r>
              <a:t/>
            </a:r>
            <a:endParaRPr/>
          </a:p>
          <a:p>
            <a:pPr indent="0" lvl="0" marL="0" rtl="0" algn="l">
              <a:spcBef>
                <a:spcPts val="544"/>
              </a:spcBef>
              <a:spcAft>
                <a:spcPts val="0"/>
              </a:spcAft>
              <a:buClr>
                <a:srgbClr val="20425A"/>
              </a:buClr>
              <a:buSzPct val="100000"/>
              <a:buNone/>
            </a:pPr>
            <a:r>
              <a:rPr lang="en-US"/>
              <a:t>Themis makes decisions for the good of the whole community. We must compromise. We can always revisit and modify the convention. Don’t let perfect be the enemy of great. And interoperability between different OMOP CDMs is great! </a:t>
            </a:r>
            <a:endParaRPr/>
          </a:p>
          <a:p>
            <a:pPr indent="0" lvl="0" marL="0" rtl="0" algn="l">
              <a:spcBef>
                <a:spcPts val="544"/>
              </a:spcBef>
              <a:spcAft>
                <a:spcPts val="0"/>
              </a:spcAft>
              <a:buClr>
                <a:srgbClr val="20425A"/>
              </a:buClr>
              <a:buSzPct val="100000"/>
              <a:buNone/>
            </a:pPr>
            <a:r>
              <a:t/>
            </a:r>
            <a:endParaRPr/>
          </a:p>
          <a:p>
            <a:pPr indent="0" lvl="0" marL="0" rtl="0" algn="l">
              <a:spcBef>
                <a:spcPts val="544"/>
              </a:spcBef>
              <a:spcAft>
                <a:spcPts val="0"/>
              </a:spcAft>
              <a:buClr>
                <a:srgbClr val="20425A"/>
              </a:buClr>
              <a:buSzPct val="100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3"/>
          <p:cNvSpPr txBox="1"/>
          <p:nvPr>
            <p:ph type="title"/>
          </p:nvPr>
        </p:nvSpPr>
        <p:spPr>
          <a:xfrm>
            <a:off x="1524000" y="152400"/>
            <a:ext cx="9263743"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b="1" lang="en-US"/>
              <a:t>Themis convention library</a:t>
            </a:r>
            <a:endParaRPr/>
          </a:p>
        </p:txBody>
      </p:sp>
      <p:pic>
        <p:nvPicPr>
          <p:cNvPr id="441" name="Google Shape;441;p33"/>
          <p:cNvPicPr preferRelativeResize="0"/>
          <p:nvPr/>
        </p:nvPicPr>
        <p:blipFill rotWithShape="1">
          <a:blip r:embed="rId3">
            <a:alphaModFix/>
          </a:blip>
          <a:srcRect b="0" l="0" r="0" t="0"/>
          <a:stretch/>
        </p:blipFill>
        <p:spPr>
          <a:xfrm>
            <a:off x="1632591" y="990600"/>
            <a:ext cx="8306066" cy="540553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4"/>
          <p:cNvSpPr txBox="1"/>
          <p:nvPr>
            <p:ph type="title"/>
          </p:nvPr>
        </p:nvSpPr>
        <p:spPr>
          <a:xfrm>
            <a:off x="1524000" y="152400"/>
            <a:ext cx="9067800" cy="8380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20425A"/>
              </a:buClr>
              <a:buSzPts val="3000"/>
              <a:buFont typeface="Calibri"/>
              <a:buNone/>
            </a:pPr>
            <a:r>
              <a:rPr b="1" lang="en-US"/>
              <a:t>CDM Version Control</a:t>
            </a:r>
            <a:endParaRPr/>
          </a:p>
        </p:txBody>
      </p:sp>
      <p:sp>
        <p:nvSpPr>
          <p:cNvPr id="447" name="Google Shape;447;p34"/>
          <p:cNvSpPr txBox="1"/>
          <p:nvPr>
            <p:ph idx="1" type="body"/>
          </p:nvPr>
        </p:nvSpPr>
        <p:spPr>
          <a:xfrm>
            <a:off x="609600" y="1219200"/>
            <a:ext cx="10972800" cy="4906800"/>
          </a:xfrm>
          <a:prstGeom prst="rect">
            <a:avLst/>
          </a:prstGeom>
          <a:noFill/>
          <a:ln>
            <a:noFill/>
          </a:ln>
        </p:spPr>
        <p:txBody>
          <a:bodyPr anchorCtr="0" anchor="t" bIns="91425" lIns="91425" spcFirstLastPara="1" rIns="91425" wrap="square" tIns="91425">
            <a:noAutofit/>
          </a:bodyPr>
          <a:lstStyle/>
          <a:p>
            <a:pPr indent="-329565" lvl="0" marL="338455" rtl="0" algn="l">
              <a:lnSpc>
                <a:spcPct val="90000"/>
              </a:lnSpc>
              <a:spcBef>
                <a:spcPts val="0"/>
              </a:spcBef>
              <a:spcAft>
                <a:spcPts val="0"/>
              </a:spcAft>
              <a:buClr>
                <a:srgbClr val="20425A"/>
              </a:buClr>
              <a:buSzPts val="2100"/>
              <a:buChar char="•"/>
            </a:pPr>
            <a:r>
              <a:rPr lang="en-US" sz="2800"/>
              <a:t>Working group meets twice a month to discuss proposed changes to the CDM</a:t>
            </a:r>
            <a:endParaRPr sz="2800"/>
          </a:p>
          <a:p>
            <a:pPr indent="-329565" lvl="0" marL="338455" rtl="0" algn="l">
              <a:lnSpc>
                <a:spcPct val="90000"/>
              </a:lnSpc>
              <a:spcBef>
                <a:spcPts val="667"/>
              </a:spcBef>
              <a:spcAft>
                <a:spcPts val="0"/>
              </a:spcAft>
              <a:buClr>
                <a:srgbClr val="20425A"/>
              </a:buClr>
              <a:buSzPts val="2100"/>
              <a:buChar char="•"/>
            </a:pPr>
            <a:r>
              <a:rPr lang="en-US" sz="2800"/>
              <a:t>All CDM documentation, versions, and proposals located on GitHub</a:t>
            </a:r>
            <a:endParaRPr sz="2800"/>
          </a:p>
          <a:p>
            <a:pPr indent="-448310" lvl="1" marL="846455" rtl="0" algn="l">
              <a:lnSpc>
                <a:spcPct val="90000"/>
              </a:lnSpc>
              <a:spcBef>
                <a:spcPts val="533"/>
              </a:spcBef>
              <a:spcAft>
                <a:spcPts val="0"/>
              </a:spcAft>
              <a:buClr>
                <a:srgbClr val="1DABFF"/>
              </a:buClr>
              <a:buSzPts val="2100"/>
              <a:buFont typeface="Arial"/>
              <a:buChar char="•"/>
            </a:pPr>
            <a:r>
              <a:rPr lang="en-US" u="sng">
                <a:solidFill>
                  <a:srgbClr val="1DABFF"/>
                </a:solidFill>
                <a:hlinkClick r:id="rId3">
                  <a:extLst>
                    <a:ext uri="{A12FA001-AC4F-418D-AE19-62706E023703}">
                      <ahyp:hlinkClr val="tx"/>
                    </a:ext>
                  </a:extLst>
                </a:hlinkClick>
              </a:rPr>
              <a:t>https://ohdsi.github.io/CommonDataModel/index.html </a:t>
            </a:r>
            <a:endParaRPr>
              <a:solidFill>
                <a:srgbClr val="1DABFF"/>
              </a:solidFill>
            </a:endParaRPr>
          </a:p>
          <a:p>
            <a:pPr indent="-448310" lvl="1" marL="846455" rtl="0" algn="l">
              <a:lnSpc>
                <a:spcPct val="90000"/>
              </a:lnSpc>
              <a:spcBef>
                <a:spcPts val="533"/>
              </a:spcBef>
              <a:spcAft>
                <a:spcPts val="0"/>
              </a:spcAft>
              <a:buClr>
                <a:srgbClr val="20425A"/>
              </a:buClr>
              <a:buSzPts val="2100"/>
              <a:buFont typeface="Arial"/>
              <a:buChar char="•"/>
            </a:pPr>
            <a:r>
              <a:rPr lang="en-US"/>
              <a:t>Proposals tracked and discussed as GitHub issues</a:t>
            </a:r>
            <a:endParaRPr/>
          </a:p>
          <a:p>
            <a:pPr indent="-448310" lvl="1" marL="846455" rtl="0" algn="l">
              <a:lnSpc>
                <a:spcPct val="90000"/>
              </a:lnSpc>
              <a:spcBef>
                <a:spcPts val="533"/>
              </a:spcBef>
              <a:spcAft>
                <a:spcPts val="0"/>
              </a:spcAft>
              <a:buClr>
                <a:srgbClr val="1DABFF"/>
              </a:buClr>
              <a:buSzPts val="2100"/>
              <a:buFont typeface="Arial"/>
              <a:buChar char="•"/>
            </a:pPr>
            <a:r>
              <a:rPr lang="en-US" u="sng">
                <a:solidFill>
                  <a:srgbClr val="1DABFF"/>
                </a:solidFill>
                <a:hlinkClick r:id="rId4">
                  <a:extLst>
                    <a:ext uri="{A12FA001-AC4F-418D-AE19-62706E023703}">
                      <ahyp:hlinkClr val="tx"/>
                    </a:ext>
                  </a:extLst>
                </a:hlinkClick>
              </a:rPr>
              <a:t>https://ohdsi.github.io/TheBookOfOhdsi/CommonDataModel.html</a:t>
            </a:r>
            <a:endParaRPr>
              <a:solidFill>
                <a:srgbClr val="1DABFF"/>
              </a:solidFill>
            </a:endParaRPr>
          </a:p>
          <a:p>
            <a:pPr indent="-329565" lvl="0" marL="338455" rtl="0" algn="l">
              <a:lnSpc>
                <a:spcPct val="90000"/>
              </a:lnSpc>
              <a:spcBef>
                <a:spcPts val="667"/>
              </a:spcBef>
              <a:spcAft>
                <a:spcPts val="0"/>
              </a:spcAft>
              <a:buClr>
                <a:srgbClr val="20425A"/>
              </a:buClr>
              <a:buSzPts val="2100"/>
              <a:buChar char="•"/>
            </a:pPr>
            <a:r>
              <a:rPr lang="en-US" sz="2800"/>
              <a:t>Meeting information can be found on the working group </a:t>
            </a:r>
            <a:r>
              <a:rPr lang="en-US" sz="2800" u="sng">
                <a:solidFill>
                  <a:srgbClr val="1DABFF"/>
                </a:solidFill>
                <a:hlinkClick r:id="rId5">
                  <a:extLst>
                    <a:ext uri="{A12FA001-AC4F-418D-AE19-62706E023703}">
                      <ahyp:hlinkClr val="tx"/>
                    </a:ext>
                  </a:extLst>
                </a:hlinkClick>
              </a:rPr>
              <a:t>wiki page</a:t>
            </a:r>
            <a:r>
              <a:rPr lang="en-US" sz="2800"/>
              <a:t>	</a:t>
            </a:r>
            <a:endParaRPr sz="2800"/>
          </a:p>
          <a:p>
            <a:pPr indent="-329565" lvl="0" marL="338455" rtl="0" algn="l">
              <a:lnSpc>
                <a:spcPct val="90000"/>
              </a:lnSpc>
              <a:spcBef>
                <a:spcPts val="667"/>
              </a:spcBef>
              <a:spcAft>
                <a:spcPts val="0"/>
              </a:spcAft>
              <a:buClr>
                <a:srgbClr val="20425A"/>
              </a:buClr>
              <a:buSzPts val="2100"/>
              <a:buChar char="•"/>
            </a:pPr>
            <a:r>
              <a:rPr lang="en-US" sz="2800"/>
              <a:t>Please contact Clair Blacketer (</a:t>
            </a:r>
            <a:r>
              <a:rPr lang="en-US" sz="2800" u="sng">
                <a:solidFill>
                  <a:srgbClr val="1DABFF"/>
                </a:solidFill>
                <a:hlinkClick r:id="rId6">
                  <a:extLst>
                    <a:ext uri="{A12FA001-AC4F-418D-AE19-62706E023703}">
                      <ahyp:hlinkClr val="tx"/>
                    </a:ext>
                  </a:extLst>
                </a:hlinkClick>
              </a:rPr>
              <a:t>mblacke@its.jnj.com</a:t>
            </a:r>
            <a:r>
              <a:rPr lang="en-US" sz="2800"/>
              <a:t>) for more information </a:t>
            </a:r>
            <a:endParaRPr sz="2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5"/>
          <p:cNvSpPr txBox="1"/>
          <p:nvPr>
            <p:ph type="title"/>
          </p:nvPr>
        </p:nvSpPr>
        <p:spPr>
          <a:xfrm>
            <a:off x="1524000" y="152400"/>
            <a:ext cx="9209314" cy="8380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20425A"/>
              </a:buClr>
              <a:buSzPts val="3000"/>
              <a:buFont typeface="Calibri"/>
              <a:buNone/>
            </a:pPr>
            <a:r>
              <a:rPr b="1" lang="en-US"/>
              <a:t>THEMIS</a:t>
            </a:r>
            <a:endParaRPr b="1"/>
          </a:p>
        </p:txBody>
      </p:sp>
      <p:sp>
        <p:nvSpPr>
          <p:cNvPr id="453" name="Google Shape;453;p35"/>
          <p:cNvSpPr txBox="1"/>
          <p:nvPr>
            <p:ph idx="1" type="body"/>
          </p:nvPr>
        </p:nvSpPr>
        <p:spPr>
          <a:xfrm>
            <a:off x="609600" y="1443038"/>
            <a:ext cx="10972800" cy="4682962"/>
          </a:xfrm>
          <a:prstGeom prst="rect">
            <a:avLst/>
          </a:prstGeom>
          <a:noFill/>
          <a:ln>
            <a:noFill/>
          </a:ln>
        </p:spPr>
        <p:txBody>
          <a:bodyPr anchorCtr="0" anchor="t" bIns="91425" lIns="91425" spcFirstLastPara="1" rIns="91425" wrap="square" tIns="91425">
            <a:noAutofit/>
          </a:bodyPr>
          <a:lstStyle/>
          <a:p>
            <a:pPr indent="-330192" lvl="0" marL="338658" rtl="0" algn="l">
              <a:lnSpc>
                <a:spcPct val="90000"/>
              </a:lnSpc>
              <a:spcBef>
                <a:spcPts val="0"/>
              </a:spcBef>
              <a:spcAft>
                <a:spcPts val="0"/>
              </a:spcAft>
              <a:buClr>
                <a:srgbClr val="20425A"/>
              </a:buClr>
              <a:buSzPts val="2100"/>
              <a:buChar char="•"/>
            </a:pPr>
            <a:r>
              <a:rPr lang="en-US" sz="2800"/>
              <a:t>What do I do when there’s ambiguity on how/where I should insert data into the OMOP CDM?</a:t>
            </a:r>
            <a:endParaRPr/>
          </a:p>
          <a:p>
            <a:pPr indent="-330192" lvl="0" marL="338658" rtl="0" algn="l">
              <a:lnSpc>
                <a:spcPct val="90000"/>
              </a:lnSpc>
              <a:spcBef>
                <a:spcPts val="0"/>
              </a:spcBef>
              <a:spcAft>
                <a:spcPts val="0"/>
              </a:spcAft>
              <a:buClr>
                <a:srgbClr val="20425A"/>
              </a:buClr>
              <a:buSzPts val="2100"/>
              <a:buChar char="•"/>
            </a:pPr>
            <a:r>
              <a:rPr lang="en-US" sz="2800"/>
              <a:t>Themis WG meets twice a month on the 1</a:t>
            </a:r>
            <a:r>
              <a:rPr baseline="30000" lang="en-US" sz="2800"/>
              <a:t>st</a:t>
            </a:r>
            <a:r>
              <a:rPr lang="en-US" sz="2800"/>
              <a:t> &amp; 3</a:t>
            </a:r>
            <a:r>
              <a:rPr baseline="30000" lang="en-US" sz="2800"/>
              <a:t>rd</a:t>
            </a:r>
            <a:r>
              <a:rPr lang="en-US" sz="2800"/>
              <a:t> Thursday of the month</a:t>
            </a:r>
            <a:endParaRPr/>
          </a:p>
          <a:p>
            <a:pPr indent="-330192" lvl="0" marL="338658" rtl="0" algn="l">
              <a:lnSpc>
                <a:spcPct val="90000"/>
              </a:lnSpc>
              <a:spcBef>
                <a:spcPts val="0"/>
              </a:spcBef>
              <a:spcAft>
                <a:spcPts val="0"/>
              </a:spcAft>
              <a:buClr>
                <a:srgbClr val="20425A"/>
              </a:buClr>
              <a:buSzPts val="2100"/>
              <a:buChar char="•"/>
            </a:pPr>
            <a:r>
              <a:rPr lang="en-US" sz="2800"/>
              <a:t>Themis convention library houses all conventions</a:t>
            </a:r>
            <a:endParaRPr/>
          </a:p>
          <a:p>
            <a:pPr indent="-330192" lvl="1" marL="948243" rtl="0" algn="l">
              <a:lnSpc>
                <a:spcPct val="90000"/>
              </a:lnSpc>
              <a:spcBef>
                <a:spcPts val="0"/>
              </a:spcBef>
              <a:spcAft>
                <a:spcPts val="0"/>
              </a:spcAft>
              <a:buClr>
                <a:srgbClr val="20425A"/>
              </a:buClr>
              <a:buSzPts val="2100"/>
              <a:buChar char="–"/>
            </a:pPr>
            <a:r>
              <a:rPr lang="en-US" sz="2400" u="sng">
                <a:solidFill>
                  <a:schemeClr val="hlink"/>
                </a:solidFill>
                <a:hlinkClick r:id="rId3"/>
              </a:rPr>
              <a:t>https://ohdsi.github.io/Themis/index.html</a:t>
            </a:r>
            <a:r>
              <a:rPr lang="en-US" sz="2400"/>
              <a:t> </a:t>
            </a:r>
            <a:endParaRPr/>
          </a:p>
          <a:p>
            <a:pPr indent="-330192" lvl="0" marL="338658" rtl="0" algn="l">
              <a:lnSpc>
                <a:spcPct val="90000"/>
              </a:lnSpc>
              <a:spcBef>
                <a:spcPts val="0"/>
              </a:spcBef>
              <a:spcAft>
                <a:spcPts val="0"/>
              </a:spcAft>
              <a:buClr>
                <a:srgbClr val="20425A"/>
              </a:buClr>
              <a:buSzPts val="2100"/>
              <a:buChar char="•"/>
            </a:pPr>
            <a:r>
              <a:rPr lang="en-US" sz="2800"/>
              <a:t>Themis GitHub contains issues, project plan and Themis process</a:t>
            </a:r>
            <a:endParaRPr sz="2800"/>
          </a:p>
          <a:p>
            <a:pPr indent="-448722" lvl="1" marL="846646" rtl="0" algn="l">
              <a:lnSpc>
                <a:spcPct val="90000"/>
              </a:lnSpc>
              <a:spcBef>
                <a:spcPts val="533"/>
              </a:spcBef>
              <a:spcAft>
                <a:spcPts val="0"/>
              </a:spcAft>
              <a:buClr>
                <a:srgbClr val="1DABFF"/>
              </a:buClr>
              <a:buSzPts val="2100"/>
              <a:buFont typeface="Arial"/>
              <a:buChar char="•"/>
            </a:pPr>
            <a:r>
              <a:rPr lang="en-US" sz="2400" u="sng">
                <a:solidFill>
                  <a:srgbClr val="1DABFF"/>
                </a:solidFill>
                <a:hlinkClick r:id="rId4">
                  <a:extLst>
                    <a:ext uri="{A12FA001-AC4F-418D-AE19-62706E023703}">
                      <ahyp:hlinkClr val="tx"/>
                    </a:ext>
                  </a:extLst>
                </a:hlinkClick>
              </a:rPr>
              <a:t>https://github.com/OHDSI/Themis</a:t>
            </a:r>
            <a:endParaRPr sz="2400" u="sng">
              <a:solidFill>
                <a:srgbClr val="1DABFF"/>
              </a:solidFill>
            </a:endParaRPr>
          </a:p>
          <a:p>
            <a:pPr indent="-330192" lvl="0" marL="338658" rtl="0" algn="l">
              <a:lnSpc>
                <a:spcPct val="90000"/>
              </a:lnSpc>
              <a:spcBef>
                <a:spcPts val="667"/>
              </a:spcBef>
              <a:spcAft>
                <a:spcPts val="0"/>
              </a:spcAft>
              <a:buClr>
                <a:srgbClr val="20425A"/>
              </a:buClr>
              <a:buSzPts val="2100"/>
              <a:buChar char="•"/>
            </a:pPr>
            <a:r>
              <a:rPr lang="en-US" sz="2800"/>
              <a:t>Please contact Melanie Philofsky (</a:t>
            </a:r>
            <a:r>
              <a:rPr lang="en-US" sz="2800" u="sng">
                <a:solidFill>
                  <a:srgbClr val="1DABFF"/>
                </a:solidFill>
              </a:rPr>
              <a:t>Philofsky@ohdsi.org</a:t>
            </a:r>
            <a:r>
              <a:rPr lang="en-US" sz="2800"/>
              <a:t>) for more information </a:t>
            </a:r>
            <a:endParaRPr sz="2800"/>
          </a:p>
        </p:txBody>
      </p:sp>
      <p:sp>
        <p:nvSpPr>
          <p:cNvPr id="454" name="Google Shape;454;p35"/>
          <p:cNvSpPr txBox="1"/>
          <p:nvPr>
            <p:ph idx="12" type="sldNum"/>
          </p:nvPr>
        </p:nvSpPr>
        <p:spPr>
          <a:xfrm>
            <a:off x="9347200" y="6492875"/>
            <a:ext cx="2844800" cy="365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t/>
            </a:r>
            <a:endParaRPr b="0" i="0" sz="1600" u="none" cap="none" strike="noStrike">
              <a:solidFill>
                <a:srgbClr val="20425A"/>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6"/>
          <p:cNvSpPr txBox="1"/>
          <p:nvPr>
            <p:ph type="title"/>
          </p:nvPr>
        </p:nvSpPr>
        <p:spPr>
          <a:xfrm>
            <a:off x="1524000" y="152400"/>
            <a:ext cx="9046029" cy="838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20425A"/>
              </a:buClr>
              <a:buSzPts val="3000"/>
              <a:buFont typeface="Calibri"/>
              <a:buNone/>
            </a:pPr>
            <a:r>
              <a:rPr b="1" lang="en-US"/>
              <a:t>Other Work Groups</a:t>
            </a:r>
            <a:endParaRPr b="1"/>
          </a:p>
        </p:txBody>
      </p:sp>
      <p:sp>
        <p:nvSpPr>
          <p:cNvPr id="460" name="Google Shape;460;p3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0425A"/>
              </a:buClr>
              <a:buSzPts val="2400"/>
              <a:buNone/>
            </a:pPr>
            <a:r>
              <a:rPr lang="en-US"/>
              <a:t>Vocabulary </a:t>
            </a:r>
            <a:endParaRPr/>
          </a:p>
        </p:txBody>
      </p:sp>
      <p:sp>
        <p:nvSpPr>
          <p:cNvPr id="461" name="Google Shape;461;p3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p>
            <a:pPr indent="-457200" lvl="0" marL="465666" rtl="0" algn="l">
              <a:lnSpc>
                <a:spcPct val="90000"/>
              </a:lnSpc>
              <a:spcBef>
                <a:spcPts val="0"/>
              </a:spcBef>
              <a:spcAft>
                <a:spcPts val="0"/>
              </a:spcAft>
              <a:buClr>
                <a:srgbClr val="20425A"/>
              </a:buClr>
              <a:buSzPts val="2100"/>
              <a:buFont typeface="Arial"/>
              <a:buChar char="•"/>
            </a:pPr>
            <a:r>
              <a:rPr lang="en-US" sz="2800"/>
              <a:t>Download vocabulary tables from Athena</a:t>
            </a:r>
            <a:endParaRPr/>
          </a:p>
          <a:p>
            <a:pPr indent="-342900" lvl="1" marL="960951" rtl="0" algn="l">
              <a:lnSpc>
                <a:spcPct val="90000"/>
              </a:lnSpc>
              <a:spcBef>
                <a:spcPts val="0"/>
              </a:spcBef>
              <a:spcAft>
                <a:spcPts val="0"/>
              </a:spcAft>
              <a:buClr>
                <a:srgbClr val="20425A"/>
              </a:buClr>
              <a:buSzPts val="2100"/>
              <a:buFont typeface="Arial"/>
              <a:buChar char="•"/>
            </a:pPr>
            <a:r>
              <a:rPr lang="en-US" sz="2400" u="sng">
                <a:solidFill>
                  <a:schemeClr val="hlink"/>
                </a:solidFill>
                <a:hlinkClick r:id="rId3"/>
              </a:rPr>
              <a:t>https://athena.ohdsi.org/search-terms/terms</a:t>
            </a:r>
            <a:r>
              <a:rPr lang="en-US" sz="2400"/>
              <a:t> </a:t>
            </a:r>
            <a:endParaRPr/>
          </a:p>
          <a:p>
            <a:pPr indent="-457200" lvl="0" marL="465666" rtl="0" algn="l">
              <a:lnSpc>
                <a:spcPct val="90000"/>
              </a:lnSpc>
              <a:spcBef>
                <a:spcPts val="667"/>
              </a:spcBef>
              <a:spcAft>
                <a:spcPts val="0"/>
              </a:spcAft>
              <a:buClr>
                <a:srgbClr val="20425A"/>
              </a:buClr>
              <a:buSzPts val="2100"/>
              <a:buFont typeface="Arial"/>
              <a:buChar char="•"/>
            </a:pPr>
            <a:r>
              <a:rPr lang="en-US" sz="2800"/>
              <a:t> Submit concerns on the Github</a:t>
            </a:r>
            <a:endParaRPr sz="2800"/>
          </a:p>
          <a:p>
            <a:pPr indent="-457200" lvl="1" marL="1075251" rtl="0" algn="l">
              <a:lnSpc>
                <a:spcPct val="90000"/>
              </a:lnSpc>
              <a:spcBef>
                <a:spcPts val="667"/>
              </a:spcBef>
              <a:spcAft>
                <a:spcPts val="0"/>
              </a:spcAft>
              <a:buClr>
                <a:srgbClr val="20425A"/>
              </a:buClr>
              <a:buSzPts val="2100"/>
              <a:buFont typeface="Arial"/>
              <a:buChar char="•"/>
            </a:pPr>
            <a:r>
              <a:rPr lang="en-US" sz="2267" u="sng">
                <a:solidFill>
                  <a:schemeClr val="hlink"/>
                </a:solidFill>
                <a:hlinkClick r:id="rId4"/>
              </a:rPr>
              <a:t>https://github.com/OHDSI/Vocabulary-v5.0</a:t>
            </a:r>
            <a:r>
              <a:rPr lang="en-US" sz="2267"/>
              <a:t> </a:t>
            </a:r>
            <a:endParaRPr/>
          </a:p>
          <a:p>
            <a:pPr indent="-190500" lvl="0" marL="342900" rtl="0" algn="l">
              <a:spcBef>
                <a:spcPts val="480"/>
              </a:spcBef>
              <a:spcAft>
                <a:spcPts val="0"/>
              </a:spcAft>
              <a:buClr>
                <a:srgbClr val="20425A"/>
              </a:buClr>
              <a:buSzPts val="2400"/>
              <a:buNone/>
            </a:pPr>
            <a:r>
              <a:t/>
            </a:r>
            <a:endParaRPr/>
          </a:p>
        </p:txBody>
      </p:sp>
      <p:sp>
        <p:nvSpPr>
          <p:cNvPr id="462" name="Google Shape;462;p36"/>
          <p:cNvSpPr txBox="1"/>
          <p:nvPr>
            <p:ph idx="3" type="body"/>
          </p:nvPr>
        </p:nvSpPr>
        <p:spPr>
          <a:xfrm>
            <a:off x="6193370" y="1535113"/>
            <a:ext cx="5389033"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0425A"/>
              </a:buClr>
              <a:buSzPts val="2400"/>
              <a:buNone/>
            </a:pPr>
            <a:r>
              <a:rPr lang="en-US"/>
              <a:t>Health Systems</a:t>
            </a:r>
            <a:endParaRPr/>
          </a:p>
        </p:txBody>
      </p:sp>
      <p:sp>
        <p:nvSpPr>
          <p:cNvPr id="463" name="Google Shape;463;p36"/>
          <p:cNvSpPr txBox="1"/>
          <p:nvPr>
            <p:ph idx="4" type="body"/>
          </p:nvPr>
        </p:nvSpPr>
        <p:spPr>
          <a:xfrm>
            <a:off x="6193370" y="2174875"/>
            <a:ext cx="5389033" cy="395128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800"/>
              <a:buChar char="•"/>
            </a:pPr>
            <a:r>
              <a:rPr lang="en-US" sz="2800"/>
              <a:t>Support health systems on their OHDSI journey</a:t>
            </a:r>
            <a:endParaRPr/>
          </a:p>
          <a:p>
            <a:pPr indent="-342900" lvl="0" marL="342900" rtl="0" algn="l">
              <a:spcBef>
                <a:spcPts val="560"/>
              </a:spcBef>
              <a:spcAft>
                <a:spcPts val="0"/>
              </a:spcAft>
              <a:buClr>
                <a:srgbClr val="20425A"/>
              </a:buClr>
              <a:buSzPts val="2800"/>
              <a:buChar char="•"/>
            </a:pPr>
            <a:r>
              <a:rPr lang="en-US" sz="2800"/>
              <a:t>Meet every other Monday at 10am Eastern Time on MS Teams</a:t>
            </a:r>
            <a:endParaRPr/>
          </a:p>
          <a:p>
            <a:pPr indent="-285750" lvl="1" marL="742950" rtl="0" algn="l">
              <a:spcBef>
                <a:spcPts val="480"/>
              </a:spcBef>
              <a:spcAft>
                <a:spcPts val="0"/>
              </a:spcAft>
              <a:buClr>
                <a:srgbClr val="20425A"/>
              </a:buClr>
              <a:buSzPts val="2400"/>
              <a:buChar char="–"/>
            </a:pPr>
            <a:r>
              <a:rPr lang="en-US" sz="2400" u="sng">
                <a:solidFill>
                  <a:schemeClr val="hlink"/>
                </a:solidFill>
                <a:hlinkClick r:id="rId5"/>
              </a:rPr>
              <a:t>Healthcare Systems Interest Group | General | Microsoft Teams</a:t>
            </a:r>
            <a:endParaRPr sz="2400"/>
          </a:p>
        </p:txBody>
      </p:sp>
      <p:sp>
        <p:nvSpPr>
          <p:cNvPr id="464" name="Google Shape;464;p36"/>
          <p:cNvSpPr txBox="1"/>
          <p:nvPr>
            <p:ph idx="12" type="sldNum"/>
          </p:nvPr>
        </p:nvSpPr>
        <p:spPr>
          <a:xfrm>
            <a:off x="9347200" y="6492875"/>
            <a:ext cx="2844800" cy="365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t/>
            </a:r>
            <a:endParaRPr b="0" i="0" sz="1600" u="none" cap="none" strike="noStrike">
              <a:solidFill>
                <a:srgbClr val="20425A"/>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7"/>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Synthea</a:t>
            </a:r>
            <a:r>
              <a:rPr baseline="30000" lang="en-US"/>
              <a:t>TM </a:t>
            </a:r>
            <a:r>
              <a:rPr lang="en-US"/>
              <a:t>Synthetic Patient Generator</a:t>
            </a:r>
            <a:endParaRPr baseline="30000"/>
          </a:p>
        </p:txBody>
      </p:sp>
      <p:sp>
        <p:nvSpPr>
          <p:cNvPr id="470" name="Google Shape;470;p37"/>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Synthea Logo" id="471" name="Google Shape;471;p37"/>
          <p:cNvPicPr preferRelativeResize="0"/>
          <p:nvPr/>
        </p:nvPicPr>
        <p:blipFill rotWithShape="1">
          <a:blip r:embed="rId3">
            <a:alphaModFix/>
          </a:blip>
          <a:srcRect b="0" l="0" r="0" t="0"/>
          <a:stretch/>
        </p:blipFill>
        <p:spPr>
          <a:xfrm>
            <a:off x="4495800" y="4539343"/>
            <a:ext cx="3200400" cy="862608"/>
          </a:xfrm>
          <a:prstGeom prst="rect">
            <a:avLst/>
          </a:prstGeom>
          <a:noFill/>
          <a:ln>
            <a:noFill/>
          </a:ln>
        </p:spPr>
      </p:pic>
      <p:pic>
        <p:nvPicPr>
          <p:cNvPr id="472" name="Google Shape;472;p37"/>
          <p:cNvPicPr preferRelativeResize="0"/>
          <p:nvPr/>
        </p:nvPicPr>
        <p:blipFill rotWithShape="1">
          <a:blip r:embed="rId4">
            <a:alphaModFix/>
          </a:blip>
          <a:srcRect b="0" l="0" r="0" t="0"/>
          <a:stretch/>
        </p:blipFill>
        <p:spPr>
          <a:xfrm>
            <a:off x="2220686" y="1538946"/>
            <a:ext cx="7772400" cy="290335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What is Synthea?</a:t>
            </a:r>
            <a:endParaRPr/>
          </a:p>
        </p:txBody>
      </p:sp>
      <p:sp>
        <p:nvSpPr>
          <p:cNvPr id="478" name="Google Shape;478;p38"/>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400"/>
              <a:buChar char="•"/>
            </a:pPr>
            <a:r>
              <a:rPr lang="en-US" sz="2400"/>
              <a:t>Synthea</a:t>
            </a:r>
            <a:r>
              <a:rPr baseline="30000" lang="en-US" sz="2400"/>
              <a:t>TM</a:t>
            </a:r>
            <a:r>
              <a:rPr lang="en-US" sz="2400"/>
              <a:t> is a Synthetic Patient Population Simulator. The goal is to output synthetic, realistic (but not real), patient data and associated health records in a variety of formats.</a:t>
            </a:r>
            <a:endParaRPr/>
          </a:p>
          <a:p>
            <a:pPr indent="-190500" lvl="0" marL="342900" rtl="0" algn="l">
              <a:spcBef>
                <a:spcPts val="480"/>
              </a:spcBef>
              <a:spcAft>
                <a:spcPts val="0"/>
              </a:spcAft>
              <a:buClr>
                <a:srgbClr val="20425A"/>
              </a:buClr>
              <a:buSzPts val="2400"/>
              <a:buNone/>
            </a:pPr>
            <a:r>
              <a:t/>
            </a:r>
            <a:endParaRPr sz="2400"/>
          </a:p>
          <a:p>
            <a:pPr indent="-342900" lvl="0" marL="342900" rtl="0" algn="l">
              <a:spcBef>
                <a:spcPts val="480"/>
              </a:spcBef>
              <a:spcAft>
                <a:spcPts val="0"/>
              </a:spcAft>
              <a:buClr>
                <a:srgbClr val="20425A"/>
              </a:buClr>
              <a:buSzPts val="2400"/>
              <a:buChar char="•"/>
            </a:pPr>
            <a:r>
              <a:rPr lang="en-US" sz="2400"/>
              <a:t>The resulting data is free from cost, privacy, and security restrictions. It can be used without restriction for a variety of secondary uses in academia, research, industry, and government (although a citation would be appreciated).</a:t>
            </a:r>
            <a:endParaRPr/>
          </a:p>
          <a:p>
            <a:pPr indent="-190500" lvl="0" marL="342900" rtl="0" algn="l">
              <a:spcBef>
                <a:spcPts val="480"/>
              </a:spcBef>
              <a:spcAft>
                <a:spcPts val="0"/>
              </a:spcAft>
              <a:buClr>
                <a:srgbClr val="20425A"/>
              </a:buClr>
              <a:buSzPts val="2400"/>
              <a:buNone/>
            </a:pPr>
            <a:r>
              <a:t/>
            </a:r>
            <a:endParaRPr sz="2400" u="sng">
              <a:solidFill>
                <a:schemeClr val="hlink"/>
              </a:solidFill>
              <a:hlinkClick r:id="rId3"/>
            </a:endParaRPr>
          </a:p>
          <a:p>
            <a:pPr indent="-342900" lvl="0" marL="342900" rtl="0" algn="l">
              <a:spcBef>
                <a:spcPts val="480"/>
              </a:spcBef>
              <a:spcAft>
                <a:spcPts val="0"/>
              </a:spcAft>
              <a:buClr>
                <a:srgbClr val="20425A"/>
              </a:buClr>
              <a:buSzPts val="2400"/>
              <a:buChar char="•"/>
            </a:pPr>
            <a:r>
              <a:rPr lang="en-US" sz="2400" u="sng">
                <a:solidFill>
                  <a:schemeClr val="hlink"/>
                </a:solidFill>
                <a:hlinkClick r:id="rId4"/>
              </a:rPr>
              <a:t>https://github.com/synthetichealth/synthea</a:t>
            </a:r>
            <a:endParaRPr sz="2400"/>
          </a:p>
          <a:p>
            <a:pPr indent="0" lvl="0" marL="0" rtl="0" algn="l">
              <a:spcBef>
                <a:spcPts val="480"/>
              </a:spcBef>
              <a:spcAft>
                <a:spcPts val="0"/>
              </a:spcAft>
              <a:buClr>
                <a:srgbClr val="20425A"/>
              </a:buClr>
              <a:buSzPts val="2400"/>
              <a:buNone/>
            </a:pPr>
            <a:r>
              <a:t/>
            </a:r>
            <a:endParaRPr sz="2400"/>
          </a:p>
        </p:txBody>
      </p:sp>
      <p:sp>
        <p:nvSpPr>
          <p:cNvPr id="479" name="Google Shape;479;p38"/>
          <p:cNvSpPr txBox="1"/>
          <p:nvPr/>
        </p:nvSpPr>
        <p:spPr>
          <a:xfrm>
            <a:off x="1676400" y="5710665"/>
            <a:ext cx="88392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Walonoski J, Kramer M, Nichols J, Quina A, Moesel C, Hall D, Duffett C, Dube K, Gallagher T, McLachlan S. Synthea: An approach, method, and software mechanism for generating synthetic patients and the synthetic electronic health care record. J Am Med Inform Assoc. 2017 Aug 30. doi: 10.1093/jamia/ocx079. [Epub ahead of print] PubMed PMID: 29025144.</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0" name="Google Shape;480;p3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9"/>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Synthea “Under the hood”</a:t>
            </a:r>
            <a:endParaRPr/>
          </a:p>
        </p:txBody>
      </p:sp>
      <p:sp>
        <p:nvSpPr>
          <p:cNvPr id="486" name="Google Shape;486;p39"/>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400"/>
              <a:buChar char="•"/>
            </a:pPr>
            <a:r>
              <a:rPr lang="en-US" sz="2400"/>
              <a:t>Synthea’s Generic Module Framework (GMF) enables modeling of various diseases and conditions that contribute to the medical history of synthetic patients.</a:t>
            </a:r>
            <a:endParaRPr/>
          </a:p>
          <a:p>
            <a:pPr indent="0" lvl="0" marL="0" rtl="0" algn="l">
              <a:spcBef>
                <a:spcPts val="480"/>
              </a:spcBef>
              <a:spcAft>
                <a:spcPts val="0"/>
              </a:spcAft>
              <a:buClr>
                <a:srgbClr val="20425A"/>
              </a:buClr>
              <a:buSzPts val="2400"/>
              <a:buNone/>
            </a:pPr>
            <a:r>
              <a:t/>
            </a:r>
            <a:endParaRPr sz="2400"/>
          </a:p>
          <a:p>
            <a:pPr indent="-285750" lvl="1" marL="742950" rtl="0" algn="l">
              <a:spcBef>
                <a:spcPts val="480"/>
              </a:spcBef>
              <a:spcAft>
                <a:spcPts val="0"/>
              </a:spcAft>
              <a:buClr>
                <a:srgbClr val="20425A"/>
              </a:buClr>
              <a:buSzPts val="2400"/>
              <a:buFont typeface="Arial"/>
              <a:buChar char="•"/>
            </a:pPr>
            <a:r>
              <a:rPr lang="en-US" sz="2400"/>
              <a:t>Each Patient simulated independently from birth to present day</a:t>
            </a:r>
            <a:endParaRPr/>
          </a:p>
          <a:p>
            <a:pPr indent="-285750" lvl="1" marL="742950" rtl="0" algn="l">
              <a:spcBef>
                <a:spcPts val="480"/>
              </a:spcBef>
              <a:spcAft>
                <a:spcPts val="0"/>
              </a:spcAft>
              <a:buClr>
                <a:srgbClr val="20425A"/>
              </a:buClr>
              <a:buSzPts val="2400"/>
              <a:buFont typeface="Arial"/>
              <a:buChar char="•"/>
            </a:pPr>
            <a:r>
              <a:rPr lang="en-US" sz="2400"/>
              <a:t>Modules define diseases, conditions and medical care</a:t>
            </a:r>
            <a:endParaRPr/>
          </a:p>
          <a:p>
            <a:pPr indent="-285750" lvl="1" marL="742950" rtl="0" algn="l">
              <a:spcBef>
                <a:spcPts val="480"/>
              </a:spcBef>
              <a:spcAft>
                <a:spcPts val="0"/>
              </a:spcAft>
              <a:buClr>
                <a:srgbClr val="20425A"/>
              </a:buClr>
              <a:buSzPts val="2400"/>
              <a:buFont typeface="Arial"/>
              <a:buChar char="•"/>
            </a:pPr>
            <a:r>
              <a:rPr lang="en-US" sz="2400"/>
              <a:t>Original Modules based on</a:t>
            </a:r>
            <a:endParaRPr/>
          </a:p>
          <a:p>
            <a:pPr indent="-228600" lvl="2" marL="1143000" rtl="0" algn="l">
              <a:spcBef>
                <a:spcPts val="400"/>
              </a:spcBef>
              <a:spcAft>
                <a:spcPts val="0"/>
              </a:spcAft>
              <a:buClr>
                <a:srgbClr val="20425A"/>
              </a:buClr>
              <a:buSzPts val="2000"/>
              <a:buChar char="•"/>
            </a:pPr>
            <a:r>
              <a:rPr lang="en-US" sz="2000"/>
              <a:t>Top 10 reasons patients see PCP</a:t>
            </a:r>
            <a:endParaRPr/>
          </a:p>
          <a:p>
            <a:pPr indent="-228600" lvl="2" marL="1143000" rtl="0" algn="l">
              <a:spcBef>
                <a:spcPts val="400"/>
              </a:spcBef>
              <a:spcAft>
                <a:spcPts val="0"/>
              </a:spcAft>
              <a:buClr>
                <a:srgbClr val="20425A"/>
              </a:buClr>
              <a:buSzPts val="2000"/>
              <a:buChar char="•"/>
            </a:pPr>
            <a:r>
              <a:rPr lang="en-US" sz="2000"/>
              <a:t>Top 10 conditions that result in years of life lost</a:t>
            </a:r>
            <a:endParaRPr sz="2400"/>
          </a:p>
          <a:p>
            <a:pPr indent="0" lvl="1" marL="457200" rtl="0" algn="l">
              <a:spcBef>
                <a:spcPts val="480"/>
              </a:spcBef>
              <a:spcAft>
                <a:spcPts val="0"/>
              </a:spcAft>
              <a:buClr>
                <a:srgbClr val="20425A"/>
              </a:buClr>
              <a:buSzPts val="2400"/>
              <a:buNone/>
            </a:pPr>
            <a:r>
              <a:t/>
            </a:r>
            <a:endParaRPr sz="2400"/>
          </a:p>
          <a:p>
            <a:pPr indent="0" lvl="1" marL="457200" rtl="0" algn="l">
              <a:spcBef>
                <a:spcPts val="480"/>
              </a:spcBef>
              <a:spcAft>
                <a:spcPts val="0"/>
              </a:spcAft>
              <a:buClr>
                <a:srgbClr val="20425A"/>
              </a:buClr>
              <a:buSzPts val="2400"/>
              <a:buNone/>
            </a:pPr>
            <a:r>
              <a:rPr lang="en-US" sz="2400"/>
              <a:t>Additional modules available: Breast Cancer, COVID19, Veterans, UTI</a:t>
            </a:r>
            <a:endParaRPr/>
          </a:p>
          <a:p>
            <a:pPr indent="-228600" lvl="2" marL="1143000" rtl="0" algn="l">
              <a:spcBef>
                <a:spcPts val="480"/>
              </a:spcBef>
              <a:spcAft>
                <a:spcPts val="0"/>
              </a:spcAft>
              <a:buClr>
                <a:srgbClr val="20425A"/>
              </a:buClr>
              <a:buSzPts val="2400"/>
              <a:buChar char="•"/>
            </a:pPr>
            <a:r>
              <a:rPr lang="en-US"/>
              <a:t>https://github.com/synthetichealth/synthea/tree/gh-pages/graphviz</a:t>
            </a:r>
            <a:endParaRPr/>
          </a:p>
        </p:txBody>
      </p:sp>
      <p:sp>
        <p:nvSpPr>
          <p:cNvPr id="487" name="Google Shape;487;p39"/>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0"/>
          <p:cNvSpPr txBox="1"/>
          <p:nvPr>
            <p:ph type="title"/>
          </p:nvPr>
        </p:nvSpPr>
        <p:spPr>
          <a:xfrm>
            <a:off x="1832663" y="28185"/>
            <a:ext cx="981323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Synthea Tables</a:t>
            </a:r>
            <a:endParaRPr/>
          </a:p>
        </p:txBody>
      </p:sp>
      <p:graphicFrame>
        <p:nvGraphicFramePr>
          <p:cNvPr id="494" name="Google Shape;494;p40"/>
          <p:cNvGraphicFramePr/>
          <p:nvPr/>
        </p:nvGraphicFramePr>
        <p:xfrm>
          <a:off x="1832662" y="866385"/>
          <a:ext cx="3000000" cy="3000000"/>
        </p:xfrm>
        <a:graphic>
          <a:graphicData uri="http://schemas.openxmlformats.org/drawingml/2006/table">
            <a:tbl>
              <a:tblPr>
                <a:noFill/>
                <a:tableStyleId>{5000C0AC-F8AF-484B-93E4-D2C59BA90F7C}</a:tableStyleId>
              </a:tblPr>
              <a:tblGrid>
                <a:gridCol w="3946700"/>
                <a:gridCol w="6002750"/>
              </a:tblGrid>
              <a:tr h="260825">
                <a:tc>
                  <a:txBody>
                    <a:bodyPr/>
                    <a:lstStyle/>
                    <a:p>
                      <a:pPr indent="0" lvl="0" marL="0" marR="0" rtl="0" algn="l">
                        <a:spcBef>
                          <a:spcPts val="0"/>
                        </a:spcBef>
                        <a:spcAft>
                          <a:spcPts val="0"/>
                        </a:spcAft>
                        <a:buNone/>
                      </a:pPr>
                      <a:r>
                        <a:rPr b="1" lang="en-US" sz="1400" u="none" cap="none" strike="noStrike">
                          <a:latin typeface="Calibri"/>
                          <a:ea typeface="Calibri"/>
                          <a:cs typeface="Calibri"/>
                          <a:sym typeface="Calibri"/>
                        </a:rPr>
                        <a:t>File</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l">
                        <a:spcBef>
                          <a:spcPts val="0"/>
                        </a:spcBef>
                        <a:spcAft>
                          <a:spcPts val="0"/>
                        </a:spcAft>
                        <a:buNone/>
                      </a:pPr>
                      <a:r>
                        <a:rPr b="1" lang="en-US" sz="1400">
                          <a:latin typeface="Calibri"/>
                          <a:ea typeface="Calibri"/>
                          <a:cs typeface="Calibri"/>
                          <a:sym typeface="Calibri"/>
                        </a:rPr>
                        <a:t>Description</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3">
                            <a:extLst>
                              <a:ext uri="{A12FA001-AC4F-418D-AE19-62706E023703}">
                                <ahyp:hlinkClr val="tx"/>
                              </a:ext>
                            </a:extLst>
                          </a:hlinkClick>
                        </a:rPr>
                        <a:t>allergies.csv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allergy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4">
                            <a:extLst>
                              <a:ext uri="{A12FA001-AC4F-418D-AE19-62706E023703}">
                                <ahyp:hlinkClr val="tx"/>
                              </a:ext>
                            </a:extLst>
                          </a:hlinkClick>
                        </a:rPr>
                        <a:t>careplans.csv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care plan data, including goals.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spcBef>
                          <a:spcPts val="0"/>
                        </a:spcBef>
                        <a:spcAft>
                          <a:spcPts val="0"/>
                        </a:spcAft>
                        <a:buClr>
                          <a:schemeClr val="dk1"/>
                        </a:buClr>
                        <a:buSzPts val="1400"/>
                        <a:buFont typeface="Calibri"/>
                        <a:buNone/>
                      </a:pPr>
                      <a:r>
                        <a:rPr b="0" i="0" lang="en-US" sz="1400" u="sng">
                          <a:solidFill>
                            <a:schemeClr val="dk1"/>
                          </a:solidFill>
                          <a:latin typeface="Calibri"/>
                          <a:ea typeface="Calibri"/>
                          <a:cs typeface="Calibri"/>
                          <a:sym typeface="Calibri"/>
                          <a:hlinkClick r:id="rId5">
                            <a:extLst>
                              <a:ext uri="{A12FA001-AC4F-418D-AE19-62706E023703}">
                                <ahyp:hlinkClr val="tx"/>
                              </a:ext>
                            </a:extLst>
                          </a:hlinkClick>
                        </a:rPr>
                        <a:t>claims.csv</a:t>
                      </a:r>
                      <a:endParaRPr sz="1400" u="none" strike="noStrike">
                        <a:solidFill>
                          <a:srgbClr val="0366D6"/>
                        </a:solidFill>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Clr>
                          <a:schemeClr val="dk1"/>
                        </a:buClr>
                        <a:buSzPts val="1400"/>
                        <a:buFont typeface="Calibri"/>
                        <a:buNone/>
                      </a:pPr>
                      <a:r>
                        <a:rPr b="0" i="0" lang="en-US" sz="1400">
                          <a:solidFill>
                            <a:schemeClr val="dk1"/>
                          </a:solidFill>
                          <a:latin typeface="Calibri"/>
                          <a:ea typeface="Calibri"/>
                          <a:cs typeface="Calibri"/>
                          <a:sym typeface="Calibri"/>
                        </a:rPr>
                        <a:t>Patient claim data.</a:t>
                      </a:r>
                      <a:endParaRPr sz="1400">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6"/>
                        </a:rPr>
                        <a:t>claims_transactions.csv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Clr>
                          <a:schemeClr val="dk1"/>
                        </a:buClr>
                        <a:buSzPts val="1400"/>
                        <a:buFont typeface="Calibri"/>
                        <a:buNone/>
                      </a:pPr>
                      <a:r>
                        <a:rPr b="0" i="0" lang="en-US" sz="1400">
                          <a:solidFill>
                            <a:schemeClr val="dk1"/>
                          </a:solidFill>
                          <a:latin typeface="Calibri"/>
                          <a:ea typeface="Calibri"/>
                          <a:cs typeface="Calibri"/>
                          <a:sym typeface="Calibri"/>
                        </a:rPr>
                        <a:t>Transactions per line item per claim</a:t>
                      </a:r>
                      <a:endParaRPr sz="1400">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7">
                            <a:extLst>
                              <a:ext uri="{A12FA001-AC4F-418D-AE19-62706E023703}">
                                <ahyp:hlinkClr val="tx"/>
                              </a:ext>
                            </a:extLst>
                          </a:hlinkClick>
                        </a:rPr>
                        <a:t>conditions.csv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conditions or diagnoses.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6082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8"/>
                        </a:rPr>
                        <a:t>devices.csv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Patient-affixed permanent and semi-permanent devices.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9">
                            <a:extLst>
                              <a:ext uri="{A12FA001-AC4F-418D-AE19-62706E023703}">
                                <ahyp:hlinkClr val="tx"/>
                              </a:ext>
                            </a:extLst>
                          </a:hlinkClick>
                        </a:rPr>
                        <a:t>encounters.csv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encounter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0">
                            <a:extLst>
                              <a:ext uri="{A12FA001-AC4F-418D-AE19-62706E023703}">
                                <ahyp:hlinkClr val="tx"/>
                              </a:ext>
                            </a:extLst>
                          </a:hlinkClick>
                        </a:rPr>
                        <a:t>imaging_studies.csv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imaging metadata.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1">
                            <a:extLst>
                              <a:ext uri="{A12FA001-AC4F-418D-AE19-62706E023703}">
                                <ahyp:hlinkClr val="tx"/>
                              </a:ext>
                            </a:extLst>
                          </a:hlinkClick>
                        </a:rPr>
                        <a:t>immunizations.csv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immunization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2">
                            <a:extLst>
                              <a:ext uri="{A12FA001-AC4F-418D-AE19-62706E023703}">
                                <ahyp:hlinkClr val="tx"/>
                              </a:ext>
                            </a:extLst>
                          </a:hlinkClick>
                        </a:rPr>
                        <a:t>medications.csv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medication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3">
                            <a:extLst>
                              <a:ext uri="{A12FA001-AC4F-418D-AE19-62706E023703}">
                                <ahyp:hlinkClr val="tx"/>
                              </a:ext>
                            </a:extLst>
                          </a:hlinkClick>
                        </a:rPr>
                        <a:t>observations.csv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observations including vital signs and lab reports.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4">
                            <a:extLst>
                              <a:ext uri="{A12FA001-AC4F-418D-AE19-62706E023703}">
                                <ahyp:hlinkClr val="tx"/>
                              </a:ext>
                            </a:extLst>
                          </a:hlinkClick>
                        </a:rPr>
                        <a:t>organizations.csv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Provider organizations including hospitals.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5">
                            <a:extLst>
                              <a:ext uri="{A12FA001-AC4F-418D-AE19-62706E023703}">
                                <ahyp:hlinkClr val="tx"/>
                              </a:ext>
                            </a:extLst>
                          </a:hlinkClick>
                        </a:rPr>
                        <a:t>patients.csv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demographic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16"/>
                        </a:rPr>
                        <a:t>payer_transitions.csv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Payer Transition data (i.e. changes in health insurance).</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17"/>
                        </a:rPr>
                        <a:t>payers.csv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lang="en-US" sz="1400">
                          <a:latin typeface="Calibri"/>
                          <a:ea typeface="Calibri"/>
                          <a:cs typeface="Calibri"/>
                          <a:sym typeface="Calibri"/>
                        </a:rPr>
                        <a:t>Payer organization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8">
                            <a:extLst>
                              <a:ext uri="{A12FA001-AC4F-418D-AE19-62706E023703}">
                                <ahyp:hlinkClr val="tx"/>
                              </a:ext>
                            </a:extLst>
                          </a:hlinkClick>
                        </a:rPr>
                        <a:t>procedures.csv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procedure data including surgeries.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9">
                            <a:extLst>
                              <a:ext uri="{A12FA001-AC4F-418D-AE19-62706E023703}">
                                <ahyp:hlinkClr val="tx"/>
                              </a:ext>
                            </a:extLst>
                          </a:hlinkClick>
                        </a:rPr>
                        <a:t>providers.csv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Clinicians that provide patient care.</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20"/>
                        </a:rPr>
                        <a:t>supplies.csv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lang="en-US" sz="1400">
                          <a:latin typeface="Calibri"/>
                          <a:ea typeface="Calibri"/>
                          <a:cs typeface="Calibri"/>
                          <a:sym typeface="Calibri"/>
                        </a:rPr>
                        <a:t>Supplies used in the provision of care.</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bl>
          </a:graphicData>
        </a:graphic>
      </p:graphicFrame>
      <p:sp>
        <p:nvSpPr>
          <p:cNvPr id="495" name="Google Shape;495;p4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1"/>
          <p:cNvSpPr txBox="1"/>
          <p:nvPr>
            <p:ph type="title"/>
          </p:nvPr>
        </p:nvSpPr>
        <p:spPr>
          <a:xfrm>
            <a:off x="1778478" y="66417"/>
            <a:ext cx="981323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Our population</a:t>
            </a:r>
            <a:endParaRPr/>
          </a:p>
        </p:txBody>
      </p:sp>
      <p:sp>
        <p:nvSpPr>
          <p:cNvPr id="501" name="Google Shape;501;p41"/>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blue and black logo with a number and people&#10;&#10;Description automatically generated" id="502" name="Google Shape;502;p41"/>
          <p:cNvPicPr preferRelativeResize="0"/>
          <p:nvPr/>
        </p:nvPicPr>
        <p:blipFill rotWithShape="1">
          <a:blip r:embed="rId3">
            <a:alphaModFix/>
          </a:blip>
          <a:srcRect b="0" l="0" r="0" t="0"/>
          <a:stretch/>
        </p:blipFill>
        <p:spPr>
          <a:xfrm>
            <a:off x="2078314" y="956309"/>
            <a:ext cx="2516132" cy="1214078"/>
          </a:xfrm>
          <a:prstGeom prst="rect">
            <a:avLst/>
          </a:prstGeom>
          <a:noFill/>
          <a:ln>
            <a:noFill/>
          </a:ln>
        </p:spPr>
      </p:pic>
      <p:pic>
        <p:nvPicPr>
          <p:cNvPr descr="A screenshot of a phone&#10;&#10;Description automatically generated" id="503" name="Google Shape;503;p41"/>
          <p:cNvPicPr preferRelativeResize="0"/>
          <p:nvPr/>
        </p:nvPicPr>
        <p:blipFill rotWithShape="1">
          <a:blip r:embed="rId4">
            <a:alphaModFix/>
          </a:blip>
          <a:srcRect b="0" l="0" r="0" t="0"/>
          <a:stretch/>
        </p:blipFill>
        <p:spPr>
          <a:xfrm>
            <a:off x="1394046" y="2122881"/>
            <a:ext cx="3200400" cy="914400"/>
          </a:xfrm>
          <a:prstGeom prst="rect">
            <a:avLst/>
          </a:prstGeom>
          <a:noFill/>
          <a:ln>
            <a:noFill/>
          </a:ln>
        </p:spPr>
      </p:pic>
      <p:pic>
        <p:nvPicPr>
          <p:cNvPr descr="A logo of a fruit company&#10;&#10;Description automatically generated" id="504" name="Google Shape;504;p41"/>
          <p:cNvPicPr preferRelativeResize="0"/>
          <p:nvPr/>
        </p:nvPicPr>
        <p:blipFill rotWithShape="1">
          <a:blip r:embed="rId5">
            <a:alphaModFix/>
          </a:blip>
          <a:srcRect b="0" l="0" r="0" t="0"/>
          <a:stretch/>
        </p:blipFill>
        <p:spPr>
          <a:xfrm>
            <a:off x="1832664" y="3628438"/>
            <a:ext cx="3007432" cy="2045054"/>
          </a:xfrm>
          <a:prstGeom prst="rect">
            <a:avLst/>
          </a:prstGeom>
          <a:noFill/>
          <a:ln>
            <a:noFill/>
          </a:ln>
        </p:spPr>
      </p:pic>
      <p:graphicFrame>
        <p:nvGraphicFramePr>
          <p:cNvPr id="505" name="Google Shape;505;p41"/>
          <p:cNvGraphicFramePr/>
          <p:nvPr/>
        </p:nvGraphicFramePr>
        <p:xfrm>
          <a:off x="6111836" y="3685723"/>
          <a:ext cx="3000000" cy="3000000"/>
        </p:xfrm>
        <a:graphic>
          <a:graphicData uri="http://schemas.openxmlformats.org/drawingml/2006/table">
            <a:tbl>
              <a:tblPr bandRow="1" firstRow="1">
                <a:noFill/>
                <a:tableStyleId>{72DC22A5-74C4-4D03-A5DB-BFD0FF45D49D}</a:tableStyleId>
              </a:tblPr>
              <a:tblGrid>
                <a:gridCol w="2216425"/>
                <a:gridCol w="2216425"/>
              </a:tblGrid>
              <a:tr h="423575">
                <a:tc gridSpan="2">
                  <a:txBody>
                    <a:bodyPr/>
                    <a:lstStyle/>
                    <a:p>
                      <a:pPr indent="0" lvl="0" marL="0" marR="0" rtl="0" algn="ctr">
                        <a:spcBef>
                          <a:spcPts val="0"/>
                        </a:spcBef>
                        <a:spcAft>
                          <a:spcPts val="0"/>
                        </a:spcAft>
                        <a:buNone/>
                      </a:pPr>
                      <a:r>
                        <a:rPr lang="en-US" sz="1400"/>
                        <a:t>Top 10 Conditions</a:t>
                      </a:r>
                      <a:endParaRPr/>
                    </a:p>
                  </a:txBody>
                  <a:tcPr marT="45725" marB="45725" marR="91450" marL="91450"/>
                </a:tc>
                <a:tc hMerge="1"/>
              </a:tr>
              <a:tr h="298400">
                <a:tc>
                  <a:txBody>
                    <a:bodyPr/>
                    <a:lstStyle/>
                    <a:p>
                      <a:pPr indent="0" lvl="0" marL="0" marR="0" rtl="0" algn="l">
                        <a:spcBef>
                          <a:spcPts val="0"/>
                        </a:spcBef>
                        <a:spcAft>
                          <a:spcPts val="0"/>
                        </a:spcAft>
                        <a:buNone/>
                      </a:pPr>
                      <a:r>
                        <a:rPr lang="en-US" sz="1400"/>
                        <a:t>Gingivitis</a:t>
                      </a:r>
                      <a:endParaRPr/>
                    </a:p>
                  </a:txBody>
                  <a:tcPr marT="45725" marB="45725" marR="91450" marL="91450"/>
                </a:tc>
                <a:tc>
                  <a:txBody>
                    <a:bodyPr/>
                    <a:lstStyle/>
                    <a:p>
                      <a:pPr indent="0" lvl="0" marL="0" marR="0" rtl="0" algn="l">
                        <a:spcBef>
                          <a:spcPts val="0"/>
                        </a:spcBef>
                        <a:spcAft>
                          <a:spcPts val="0"/>
                        </a:spcAft>
                        <a:buNone/>
                      </a:pPr>
                      <a:r>
                        <a:rPr lang="en-US" sz="1400"/>
                        <a:t>Anemia</a:t>
                      </a:r>
                      <a:endParaRPr/>
                    </a:p>
                  </a:txBody>
                  <a:tcPr marT="45725" marB="45725" marR="91450" marL="91450"/>
                </a:tc>
              </a:tr>
              <a:tr h="334475">
                <a:tc>
                  <a:txBody>
                    <a:bodyPr/>
                    <a:lstStyle/>
                    <a:p>
                      <a:pPr indent="0" lvl="0" marL="0" marR="0" rtl="0" algn="l">
                        <a:spcBef>
                          <a:spcPts val="0"/>
                        </a:spcBef>
                        <a:spcAft>
                          <a:spcPts val="0"/>
                        </a:spcAft>
                        <a:buNone/>
                      </a:pPr>
                      <a:r>
                        <a:rPr lang="en-US" sz="1400"/>
                        <a:t>Viral sinusitis</a:t>
                      </a:r>
                      <a:endParaRPr/>
                    </a:p>
                  </a:txBody>
                  <a:tcPr marT="45725" marB="45725" marR="91450" marL="91450"/>
                </a:tc>
                <a:tc>
                  <a:txBody>
                    <a:bodyPr/>
                    <a:lstStyle/>
                    <a:p>
                      <a:pPr indent="0" lvl="0" marL="0" marR="0" rtl="0" algn="l">
                        <a:spcBef>
                          <a:spcPts val="0"/>
                        </a:spcBef>
                        <a:spcAft>
                          <a:spcPts val="0"/>
                        </a:spcAft>
                        <a:buNone/>
                      </a:pPr>
                      <a:r>
                        <a:rPr lang="en-US" sz="1400"/>
                        <a:t>Impaired glucose tolerance</a:t>
                      </a:r>
                      <a:endParaRPr/>
                    </a:p>
                  </a:txBody>
                  <a:tcPr marT="45725" marB="45725" marR="91450" marL="91450"/>
                </a:tc>
              </a:tr>
              <a:tr h="315300">
                <a:tc>
                  <a:txBody>
                    <a:bodyPr/>
                    <a:lstStyle/>
                    <a:p>
                      <a:pPr indent="0" lvl="0" marL="0" marR="0" rtl="0" algn="l">
                        <a:spcBef>
                          <a:spcPts val="0"/>
                        </a:spcBef>
                        <a:spcAft>
                          <a:spcPts val="0"/>
                        </a:spcAft>
                        <a:buNone/>
                      </a:pPr>
                      <a:r>
                        <a:rPr lang="en-US" sz="1400"/>
                        <a:t>Acute Bronchitis</a:t>
                      </a:r>
                      <a:endParaRPr/>
                    </a:p>
                  </a:txBody>
                  <a:tcPr marT="45725" marB="45725" marR="91450" marL="91450"/>
                </a:tc>
                <a:tc>
                  <a:txBody>
                    <a:bodyPr/>
                    <a:lstStyle/>
                    <a:p>
                      <a:pPr indent="0" lvl="0" marL="0" marR="0" rtl="0" algn="l">
                        <a:spcBef>
                          <a:spcPts val="0"/>
                        </a:spcBef>
                        <a:spcAft>
                          <a:spcPts val="0"/>
                        </a:spcAft>
                        <a:buNone/>
                      </a:pPr>
                      <a:r>
                        <a:rPr lang="en-US" sz="1400"/>
                        <a:t>Essential Hypertension</a:t>
                      </a:r>
                      <a:endParaRPr/>
                    </a:p>
                  </a:txBody>
                  <a:tcPr marT="45725" marB="45725" marR="91450" marL="91450"/>
                </a:tc>
              </a:tr>
              <a:tr h="304800">
                <a:tc>
                  <a:txBody>
                    <a:bodyPr/>
                    <a:lstStyle/>
                    <a:p>
                      <a:pPr indent="0" lvl="0" marL="0" marR="0" rtl="0" algn="l">
                        <a:spcBef>
                          <a:spcPts val="0"/>
                        </a:spcBef>
                        <a:spcAft>
                          <a:spcPts val="0"/>
                        </a:spcAft>
                        <a:buNone/>
                      </a:pPr>
                      <a:r>
                        <a:rPr lang="en-US" sz="1400"/>
                        <a:t>Acute Viral Pharyngitis</a:t>
                      </a:r>
                      <a:endParaRPr/>
                    </a:p>
                  </a:txBody>
                  <a:tcPr marT="45725" marB="45725" marR="91450" marL="91450"/>
                </a:tc>
                <a:tc>
                  <a:txBody>
                    <a:bodyPr/>
                    <a:lstStyle/>
                    <a:p>
                      <a:pPr indent="0" lvl="0" marL="0" marR="0" rtl="0" algn="l">
                        <a:spcBef>
                          <a:spcPts val="0"/>
                        </a:spcBef>
                        <a:spcAft>
                          <a:spcPts val="0"/>
                        </a:spcAft>
                        <a:buNone/>
                      </a:pPr>
                      <a:r>
                        <a:rPr lang="en-US" sz="1400"/>
                        <a:t>Chronic Pain</a:t>
                      </a:r>
                      <a:endParaRPr/>
                    </a:p>
                  </a:txBody>
                  <a:tcPr marT="45725" marB="45725" marR="91450" marL="91450"/>
                </a:tc>
              </a:tr>
              <a:tr h="298400">
                <a:tc>
                  <a:txBody>
                    <a:bodyPr/>
                    <a:lstStyle/>
                    <a:p>
                      <a:pPr indent="0" lvl="0" marL="0" marR="0" rtl="0" algn="l">
                        <a:spcBef>
                          <a:spcPts val="0"/>
                        </a:spcBef>
                        <a:spcAft>
                          <a:spcPts val="0"/>
                        </a:spcAft>
                        <a:buNone/>
                      </a:pPr>
                      <a:r>
                        <a:rPr lang="en-US" sz="1400"/>
                        <a:t>Dental caries</a:t>
                      </a:r>
                      <a:endParaRPr/>
                    </a:p>
                  </a:txBody>
                  <a:tcPr marT="45725" marB="45725" marR="91450" marL="91450"/>
                </a:tc>
                <a:tc>
                  <a:txBody>
                    <a:bodyPr/>
                    <a:lstStyle/>
                    <a:p>
                      <a:pPr indent="0" lvl="0" marL="0" marR="0" rtl="0" algn="l">
                        <a:spcBef>
                          <a:spcPts val="0"/>
                        </a:spcBef>
                        <a:spcAft>
                          <a:spcPts val="0"/>
                        </a:spcAft>
                        <a:buNone/>
                      </a:pPr>
                      <a:r>
                        <a:rPr lang="en-US" sz="1400"/>
                        <a:t>Fracture of Bone</a:t>
                      </a:r>
                      <a:endParaRPr/>
                    </a:p>
                  </a:txBody>
                  <a:tcPr marT="45725" marB="45725" marR="91450" marL="91450"/>
                </a:tc>
              </a:tr>
            </a:tbl>
          </a:graphicData>
        </a:graphic>
      </p:graphicFrame>
      <p:pic>
        <p:nvPicPr>
          <p:cNvPr descr="A graph of blue and white bars&#10;&#10;Description automatically generated with medium confidence" id="506" name="Google Shape;506;p41"/>
          <p:cNvPicPr preferRelativeResize="0"/>
          <p:nvPr/>
        </p:nvPicPr>
        <p:blipFill rotWithShape="1">
          <a:blip r:embed="rId6">
            <a:alphaModFix/>
          </a:blip>
          <a:srcRect b="0" l="0" r="0" t="0"/>
          <a:stretch/>
        </p:blipFill>
        <p:spPr>
          <a:xfrm>
            <a:off x="4419599" y="1779671"/>
            <a:ext cx="7772400" cy="1377975"/>
          </a:xfrm>
          <a:prstGeom prst="rect">
            <a:avLst/>
          </a:prstGeom>
          <a:noFill/>
          <a:ln>
            <a:noFill/>
          </a:ln>
        </p:spPr>
      </p:pic>
      <p:sp>
        <p:nvSpPr>
          <p:cNvPr id="507" name="Google Shape;507;p41"/>
          <p:cNvSpPr/>
          <p:nvPr/>
        </p:nvSpPr>
        <p:spPr>
          <a:xfrm>
            <a:off x="7575330" y="1421024"/>
            <a:ext cx="1460938" cy="309532"/>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Year of Birth</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2"/>
          <p:cNvSpPr txBox="1"/>
          <p:nvPr>
            <p:ph type="ctrTitle"/>
          </p:nvPr>
        </p:nvSpPr>
        <p:spPr>
          <a:xfrm>
            <a:off x="3149600" y="3023353"/>
            <a:ext cx="8321200" cy="811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0425A"/>
              </a:buClr>
              <a:buSzPts val="3000"/>
              <a:buFont typeface="Calibri"/>
              <a:buNone/>
            </a:pPr>
            <a:r>
              <a:rPr b="1" lang="en-US"/>
              <a:t>ETL Process and Logic</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3"/>
          <p:cNvSpPr txBox="1"/>
          <p:nvPr>
            <p:ph type="title"/>
          </p:nvPr>
        </p:nvSpPr>
        <p:spPr>
          <a:xfrm>
            <a:off x="1832664" y="190500"/>
            <a:ext cx="98133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Process</a:t>
            </a:r>
            <a:endParaRPr/>
          </a:p>
        </p:txBody>
      </p:sp>
      <p:sp>
        <p:nvSpPr>
          <p:cNvPr id="519" name="Google Shape;519;p43"/>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lt text" id="520" name="Google Shape;520;p43"/>
          <p:cNvPicPr preferRelativeResize="0"/>
          <p:nvPr/>
        </p:nvPicPr>
        <p:blipFill rotWithShape="1">
          <a:blip r:embed="rId3">
            <a:alphaModFix/>
          </a:blip>
          <a:srcRect b="0" l="0" r="0" t="0"/>
          <a:stretch/>
        </p:blipFill>
        <p:spPr>
          <a:xfrm>
            <a:off x="5015843" y="5176886"/>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alt text" id="521" name="Google Shape;521;p43"/>
          <p:cNvPicPr preferRelativeResize="0"/>
          <p:nvPr/>
        </p:nvPicPr>
        <p:blipFill rotWithShape="1">
          <a:blip r:embed="rId4">
            <a:alphaModFix/>
          </a:blip>
          <a:srcRect b="0" l="0" r="0" t="0"/>
          <a:stretch/>
        </p:blipFill>
        <p:spPr>
          <a:xfrm>
            <a:off x="2201660" y="5189299"/>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id="522" name="Google Shape;522;p43"/>
          <p:cNvPicPr preferRelativeResize="0"/>
          <p:nvPr/>
        </p:nvPicPr>
        <p:blipFill rotWithShape="1">
          <a:blip r:embed="rId5">
            <a:alphaModFix/>
          </a:blip>
          <a:srcRect b="0" l="0" r="0" t="0"/>
          <a:stretch/>
        </p:blipFill>
        <p:spPr>
          <a:xfrm>
            <a:off x="3197935" y="5165487"/>
            <a:ext cx="666750" cy="65722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http://www.ohdsi.org/web/wiki/lib/exe/fetch.php?w=100&amp;tok=44f68f&amp;media=t-ohdsi-logo-only.png" id="523" name="Google Shape;523;p43"/>
          <p:cNvPicPr preferRelativeResize="0"/>
          <p:nvPr/>
        </p:nvPicPr>
        <p:blipFill rotWithShape="1">
          <a:blip r:embed="rId6">
            <a:alphaModFix/>
          </a:blip>
          <a:srcRect b="0" l="0" r="0" t="0"/>
          <a:stretch/>
        </p:blipFill>
        <p:spPr>
          <a:xfrm>
            <a:off x="7382636" y="5118974"/>
            <a:ext cx="667512" cy="66751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524" name="Google Shape;524;p43"/>
          <p:cNvSpPr txBox="1"/>
          <p:nvPr/>
        </p:nvSpPr>
        <p:spPr>
          <a:xfrm rot="-5400000">
            <a:off x="1046836" y="5411489"/>
            <a:ext cx="1466020" cy="369332"/>
          </a:xfrm>
          <a:prstGeom prst="rect">
            <a:avLst/>
          </a:prstGeom>
          <a:solidFill>
            <a:schemeClr val="accent6"/>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OHDSI Tools</a:t>
            </a:r>
            <a:endParaRPr/>
          </a:p>
        </p:txBody>
      </p:sp>
      <p:cxnSp>
        <p:nvCxnSpPr>
          <p:cNvPr id="525" name="Google Shape;525;p43"/>
          <p:cNvCxnSpPr/>
          <p:nvPr/>
        </p:nvCxnSpPr>
        <p:spPr>
          <a:xfrm>
            <a:off x="1964512" y="4863145"/>
            <a:ext cx="8540202" cy="0"/>
          </a:xfrm>
          <a:prstGeom prst="straightConnector1">
            <a:avLst/>
          </a:prstGeom>
          <a:noFill/>
          <a:ln cap="flat" cmpd="sng" w="25400">
            <a:solidFill>
              <a:schemeClr val="accent6"/>
            </a:solidFill>
            <a:prstDash val="dash"/>
            <a:round/>
            <a:headEnd len="sm" w="sm" type="none"/>
            <a:tailEnd len="sm" w="sm" type="none"/>
          </a:ln>
          <a:effectLst>
            <a:outerShdw blurRad="40000" rotWithShape="0" dir="5400000" dist="20000">
              <a:srgbClr val="000000">
                <a:alpha val="37647"/>
              </a:srgbClr>
            </a:outerShdw>
          </a:effectLst>
        </p:spPr>
      </p:cxnSp>
      <p:sp>
        <p:nvSpPr>
          <p:cNvPr id="526" name="Google Shape;526;p43"/>
          <p:cNvSpPr/>
          <p:nvPr/>
        </p:nvSpPr>
        <p:spPr>
          <a:xfrm>
            <a:off x="2025007" y="5822712"/>
            <a:ext cx="88754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White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Rabbit</a:t>
            </a:r>
            <a:endParaRPr/>
          </a:p>
        </p:txBody>
      </p:sp>
      <p:sp>
        <p:nvSpPr>
          <p:cNvPr id="527" name="Google Shape;527;p43"/>
          <p:cNvSpPr/>
          <p:nvPr/>
        </p:nvSpPr>
        <p:spPr>
          <a:xfrm>
            <a:off x="3017970" y="5857426"/>
            <a:ext cx="10266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Rabbit In a Hat</a:t>
            </a:r>
            <a:endParaRPr/>
          </a:p>
        </p:txBody>
      </p:sp>
      <p:pic>
        <p:nvPicPr>
          <p:cNvPr id="528" name="Google Shape;528;p43"/>
          <p:cNvPicPr preferRelativeResize="0"/>
          <p:nvPr/>
        </p:nvPicPr>
        <p:blipFill rotWithShape="1">
          <a:blip r:embed="rId5">
            <a:alphaModFix/>
          </a:blip>
          <a:srcRect b="0" l="0" r="0" t="0"/>
          <a:stretch/>
        </p:blipFill>
        <p:spPr>
          <a:xfrm>
            <a:off x="9458959" y="5118975"/>
            <a:ext cx="666750" cy="65722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529" name="Google Shape;529;p43"/>
          <p:cNvSpPr/>
          <p:nvPr/>
        </p:nvSpPr>
        <p:spPr>
          <a:xfrm>
            <a:off x="9278994" y="5810914"/>
            <a:ext cx="10266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Rabbit In a Hat</a:t>
            </a:r>
            <a:endParaRPr/>
          </a:p>
        </p:txBody>
      </p:sp>
      <p:pic>
        <p:nvPicPr>
          <p:cNvPr descr="alt text" id="530" name="Google Shape;530;p43"/>
          <p:cNvPicPr preferRelativeResize="0"/>
          <p:nvPr/>
        </p:nvPicPr>
        <p:blipFill rotWithShape="1">
          <a:blip r:embed="rId4">
            <a:alphaModFix/>
          </a:blip>
          <a:srcRect b="0" l="0" r="0" t="0"/>
          <a:stretch/>
        </p:blipFill>
        <p:spPr>
          <a:xfrm>
            <a:off x="6496447" y="5156161"/>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531" name="Google Shape;531;p43"/>
          <p:cNvSpPr/>
          <p:nvPr/>
        </p:nvSpPr>
        <p:spPr>
          <a:xfrm>
            <a:off x="6319794" y="5789574"/>
            <a:ext cx="88754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White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Rabbit</a:t>
            </a:r>
            <a:endParaRPr/>
          </a:p>
        </p:txBody>
      </p:sp>
      <p:sp>
        <p:nvSpPr>
          <p:cNvPr id="532" name="Google Shape;532;p43"/>
          <p:cNvSpPr/>
          <p:nvPr/>
        </p:nvSpPr>
        <p:spPr>
          <a:xfrm>
            <a:off x="7144181" y="5893393"/>
            <a:ext cx="11444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ACHILLES</a:t>
            </a:r>
            <a:endParaRPr/>
          </a:p>
        </p:txBody>
      </p:sp>
      <p:sp>
        <p:nvSpPr>
          <p:cNvPr id="533" name="Google Shape;533;p43"/>
          <p:cNvSpPr/>
          <p:nvPr/>
        </p:nvSpPr>
        <p:spPr>
          <a:xfrm>
            <a:off x="4885631" y="5810913"/>
            <a:ext cx="88754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Usagi</a:t>
            </a:r>
            <a:endParaRPr/>
          </a:p>
        </p:txBody>
      </p:sp>
      <p:grpSp>
        <p:nvGrpSpPr>
          <p:cNvPr id="534" name="Google Shape;534;p43"/>
          <p:cNvGrpSpPr/>
          <p:nvPr/>
        </p:nvGrpSpPr>
        <p:grpSpPr>
          <a:xfrm>
            <a:off x="1964512" y="720516"/>
            <a:ext cx="8733012" cy="3919603"/>
            <a:chOff x="440512" y="720515"/>
            <a:chExt cx="8733012" cy="3919603"/>
          </a:xfrm>
        </p:grpSpPr>
        <p:pic>
          <p:nvPicPr>
            <p:cNvPr descr="Image result for pusheen transparent background" id="535" name="Google Shape;535;p43"/>
            <p:cNvPicPr preferRelativeResize="0"/>
            <p:nvPr/>
          </p:nvPicPr>
          <p:blipFill rotWithShape="1">
            <a:blip r:embed="rId7">
              <a:alphaModFix/>
            </a:blip>
            <a:srcRect b="0" l="0" r="0" t="0"/>
            <a:stretch/>
          </p:blipFill>
          <p:spPr>
            <a:xfrm>
              <a:off x="677660" y="1058180"/>
              <a:ext cx="1319346" cy="1319346"/>
            </a:xfrm>
            <a:prstGeom prst="rect">
              <a:avLst/>
            </a:prstGeom>
            <a:noFill/>
            <a:ln>
              <a:noFill/>
            </a:ln>
          </p:spPr>
        </p:pic>
        <p:pic>
          <p:nvPicPr>
            <p:cNvPr descr="Related image" id="536" name="Google Shape;536;p43"/>
            <p:cNvPicPr preferRelativeResize="0"/>
            <p:nvPr/>
          </p:nvPicPr>
          <p:blipFill rotWithShape="1">
            <a:blip r:embed="rId8">
              <a:alphaModFix/>
            </a:blip>
            <a:srcRect b="0" l="0" r="0" t="0"/>
            <a:stretch/>
          </p:blipFill>
          <p:spPr>
            <a:xfrm>
              <a:off x="3176230" y="1005611"/>
              <a:ext cx="1466020" cy="1424483"/>
            </a:xfrm>
            <a:prstGeom prst="rect">
              <a:avLst/>
            </a:prstGeom>
            <a:noFill/>
            <a:ln>
              <a:noFill/>
            </a:ln>
          </p:spPr>
        </p:pic>
        <p:pic>
          <p:nvPicPr>
            <p:cNvPr descr="Image result for pusheen transparent background" id="537" name="Google Shape;537;p43"/>
            <p:cNvPicPr preferRelativeResize="0"/>
            <p:nvPr/>
          </p:nvPicPr>
          <p:blipFill rotWithShape="1">
            <a:blip r:embed="rId9">
              <a:alphaModFix/>
            </a:blip>
            <a:srcRect b="0" l="0" r="0" t="0"/>
            <a:stretch/>
          </p:blipFill>
          <p:spPr>
            <a:xfrm>
              <a:off x="7621083" y="2715198"/>
              <a:ext cx="1522917" cy="1522917"/>
            </a:xfrm>
            <a:prstGeom prst="rect">
              <a:avLst/>
            </a:prstGeom>
            <a:noFill/>
            <a:ln>
              <a:noFill/>
            </a:ln>
          </p:spPr>
        </p:pic>
        <p:pic>
          <p:nvPicPr>
            <p:cNvPr id="538" name="Google Shape;538;p43"/>
            <p:cNvPicPr preferRelativeResize="0"/>
            <p:nvPr/>
          </p:nvPicPr>
          <p:blipFill rotWithShape="1">
            <a:blip r:embed="rId10">
              <a:alphaModFix/>
            </a:blip>
            <a:srcRect b="0" l="0" r="0" t="0"/>
            <a:stretch/>
          </p:blipFill>
          <p:spPr>
            <a:xfrm>
              <a:off x="5237840" y="2772095"/>
              <a:ext cx="1466020" cy="1466020"/>
            </a:xfrm>
            <a:prstGeom prst="rect">
              <a:avLst/>
            </a:prstGeom>
            <a:noFill/>
            <a:ln>
              <a:noFill/>
            </a:ln>
          </p:spPr>
        </p:pic>
        <p:sp>
          <p:nvSpPr>
            <p:cNvPr id="539" name="Google Shape;539;p43"/>
            <p:cNvSpPr/>
            <p:nvPr/>
          </p:nvSpPr>
          <p:spPr>
            <a:xfrm>
              <a:off x="440512" y="2377526"/>
              <a:ext cx="1785258"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Data experts and CDM experts together design the ETL</a:t>
              </a:r>
              <a:endParaRPr/>
            </a:p>
          </p:txBody>
        </p:sp>
        <p:sp>
          <p:nvSpPr>
            <p:cNvPr id="540" name="Google Shape;540;p43"/>
            <p:cNvSpPr/>
            <p:nvPr/>
          </p:nvSpPr>
          <p:spPr>
            <a:xfrm>
              <a:off x="2234154" y="1190269"/>
              <a:ext cx="1077686" cy="1055165"/>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43"/>
            <p:cNvSpPr/>
            <p:nvPr/>
          </p:nvSpPr>
          <p:spPr>
            <a:xfrm>
              <a:off x="3031312" y="2390392"/>
              <a:ext cx="1872343"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People with medical knowledge create the code mappings</a:t>
              </a:r>
              <a:endParaRPr/>
            </a:p>
          </p:txBody>
        </p:sp>
        <p:sp>
          <p:nvSpPr>
            <p:cNvPr id="542" name="Google Shape;542;p43"/>
            <p:cNvSpPr/>
            <p:nvPr/>
          </p:nvSpPr>
          <p:spPr>
            <a:xfrm>
              <a:off x="4737308" y="1142836"/>
              <a:ext cx="1077686" cy="1055165"/>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3" name="Google Shape;543;p43"/>
            <p:cNvSpPr/>
            <p:nvPr/>
          </p:nvSpPr>
          <p:spPr>
            <a:xfrm>
              <a:off x="6703860" y="1435839"/>
              <a:ext cx="675609" cy="762162"/>
            </a:xfrm>
            <a:prstGeom prst="verticalScroll">
              <a:avLst>
                <a:gd fmla="val 12500" name="adj"/>
              </a:avLst>
            </a:prstGeom>
            <a:solidFill>
              <a:srgbClr val="C2D59B"/>
            </a:solidFill>
            <a:ln cap="flat" cmpd="sng" w="25400">
              <a:solidFill>
                <a:srgbClr val="4F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a:t>
              </a:r>
              <a:endParaRPr/>
            </a:p>
          </p:txBody>
        </p:sp>
        <p:sp>
          <p:nvSpPr>
            <p:cNvPr id="544" name="Google Shape;544;p43"/>
            <p:cNvSpPr/>
            <p:nvPr/>
          </p:nvSpPr>
          <p:spPr>
            <a:xfrm>
              <a:off x="7041664" y="3985086"/>
              <a:ext cx="213186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 technical person implements the ETL</a:t>
              </a:r>
              <a:endParaRPr/>
            </a:p>
          </p:txBody>
        </p:sp>
        <p:sp>
          <p:nvSpPr>
            <p:cNvPr id="545" name="Google Shape;545;p43"/>
            <p:cNvSpPr/>
            <p:nvPr/>
          </p:nvSpPr>
          <p:spPr>
            <a:xfrm>
              <a:off x="4972447" y="3993787"/>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All are involved in quality control</a:t>
              </a:r>
              <a:endParaRPr/>
            </a:p>
          </p:txBody>
        </p:sp>
        <p:sp>
          <p:nvSpPr>
            <p:cNvPr id="546" name="Google Shape;546;p43"/>
            <p:cNvSpPr/>
            <p:nvPr/>
          </p:nvSpPr>
          <p:spPr>
            <a:xfrm rot="2775711">
              <a:off x="7462135" y="2307312"/>
              <a:ext cx="669579" cy="664208"/>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7" name="Google Shape;547;p43"/>
            <p:cNvSpPr/>
            <p:nvPr/>
          </p:nvSpPr>
          <p:spPr>
            <a:xfrm rot="10800000">
              <a:off x="6630060" y="3177312"/>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8" name="Google Shape;548;p43"/>
            <p:cNvSpPr/>
            <p:nvPr/>
          </p:nvSpPr>
          <p:spPr>
            <a:xfrm rot="-2606331">
              <a:off x="5921350" y="2121135"/>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 name="Google Shape;549;p43"/>
            <p:cNvSpPr/>
            <p:nvPr/>
          </p:nvSpPr>
          <p:spPr>
            <a:xfrm>
              <a:off x="6161056" y="720515"/>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 Documentation </a:t>
              </a:r>
              <a:endParaRPr/>
            </a:p>
          </p:txBody>
        </p:sp>
      </p:grpSp>
      <p:pic>
        <p:nvPicPr>
          <p:cNvPr id="550" name="Google Shape;550;p43"/>
          <p:cNvPicPr preferRelativeResize="0"/>
          <p:nvPr/>
        </p:nvPicPr>
        <p:blipFill rotWithShape="1">
          <a:blip r:embed="rId11">
            <a:alphaModFix/>
          </a:blip>
          <a:srcRect b="0" l="0" r="0" t="0"/>
          <a:stretch/>
        </p:blipFill>
        <p:spPr>
          <a:xfrm>
            <a:off x="8332618" y="5087179"/>
            <a:ext cx="766410" cy="74756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551" name="Google Shape;551;p43"/>
          <p:cNvSpPr/>
          <p:nvPr/>
        </p:nvSpPr>
        <p:spPr>
          <a:xfrm>
            <a:off x="8163687" y="5872371"/>
            <a:ext cx="11444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DQD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4"/>
          <p:cNvSpPr txBox="1"/>
          <p:nvPr>
            <p:ph type="title"/>
          </p:nvPr>
        </p:nvSpPr>
        <p:spPr>
          <a:xfrm>
            <a:off x="1832664" y="190500"/>
            <a:ext cx="981323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Process</a:t>
            </a:r>
            <a:endParaRPr/>
          </a:p>
        </p:txBody>
      </p:sp>
      <p:sp>
        <p:nvSpPr>
          <p:cNvPr id="557" name="Google Shape;557;p44"/>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lt text" id="558" name="Google Shape;558;p44"/>
          <p:cNvPicPr preferRelativeResize="0"/>
          <p:nvPr/>
        </p:nvPicPr>
        <p:blipFill rotWithShape="1">
          <a:blip r:embed="rId3">
            <a:alphaModFix/>
          </a:blip>
          <a:srcRect b="0" l="0" r="0" t="0"/>
          <a:stretch/>
        </p:blipFill>
        <p:spPr>
          <a:xfrm>
            <a:off x="5015843" y="5176886"/>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alt text" id="559" name="Google Shape;559;p44"/>
          <p:cNvPicPr preferRelativeResize="0"/>
          <p:nvPr/>
        </p:nvPicPr>
        <p:blipFill rotWithShape="1">
          <a:blip r:embed="rId4">
            <a:alphaModFix/>
          </a:blip>
          <a:srcRect b="0" l="0" r="0" t="0"/>
          <a:stretch/>
        </p:blipFill>
        <p:spPr>
          <a:xfrm>
            <a:off x="2201660" y="5189299"/>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id="560" name="Google Shape;560;p44"/>
          <p:cNvPicPr preferRelativeResize="0"/>
          <p:nvPr/>
        </p:nvPicPr>
        <p:blipFill rotWithShape="1">
          <a:blip r:embed="rId5">
            <a:alphaModFix/>
          </a:blip>
          <a:srcRect b="0" l="0" r="0" t="0"/>
          <a:stretch/>
        </p:blipFill>
        <p:spPr>
          <a:xfrm>
            <a:off x="3197935" y="5165487"/>
            <a:ext cx="666750" cy="65722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http://www.ohdsi.org/web/wiki/lib/exe/fetch.php?w=100&amp;tok=44f68f&amp;media=t-ohdsi-logo-only.png" id="561" name="Google Shape;561;p44"/>
          <p:cNvPicPr preferRelativeResize="0"/>
          <p:nvPr/>
        </p:nvPicPr>
        <p:blipFill rotWithShape="1">
          <a:blip r:embed="rId6">
            <a:alphaModFix/>
          </a:blip>
          <a:srcRect b="0" l="0" r="0" t="0"/>
          <a:stretch/>
        </p:blipFill>
        <p:spPr>
          <a:xfrm>
            <a:off x="7382636" y="5118974"/>
            <a:ext cx="667512" cy="66751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562" name="Google Shape;562;p44"/>
          <p:cNvSpPr txBox="1"/>
          <p:nvPr/>
        </p:nvSpPr>
        <p:spPr>
          <a:xfrm rot="-5400000">
            <a:off x="1046836" y="5411489"/>
            <a:ext cx="1466020" cy="369332"/>
          </a:xfrm>
          <a:prstGeom prst="rect">
            <a:avLst/>
          </a:prstGeom>
          <a:solidFill>
            <a:schemeClr val="accent6"/>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OHDSI Tools</a:t>
            </a:r>
            <a:endParaRPr/>
          </a:p>
        </p:txBody>
      </p:sp>
      <p:cxnSp>
        <p:nvCxnSpPr>
          <p:cNvPr id="563" name="Google Shape;563;p44"/>
          <p:cNvCxnSpPr/>
          <p:nvPr/>
        </p:nvCxnSpPr>
        <p:spPr>
          <a:xfrm>
            <a:off x="1964512" y="4863145"/>
            <a:ext cx="8540202" cy="0"/>
          </a:xfrm>
          <a:prstGeom prst="straightConnector1">
            <a:avLst/>
          </a:prstGeom>
          <a:noFill/>
          <a:ln cap="flat" cmpd="sng" w="25400">
            <a:solidFill>
              <a:schemeClr val="accent6"/>
            </a:solidFill>
            <a:prstDash val="dash"/>
            <a:round/>
            <a:headEnd len="sm" w="sm" type="none"/>
            <a:tailEnd len="sm" w="sm" type="none"/>
          </a:ln>
          <a:effectLst>
            <a:outerShdw blurRad="40000" rotWithShape="0" dir="5400000" dist="20000">
              <a:srgbClr val="000000">
                <a:alpha val="37647"/>
              </a:srgbClr>
            </a:outerShdw>
          </a:effectLst>
        </p:spPr>
      </p:cxnSp>
      <p:sp>
        <p:nvSpPr>
          <p:cNvPr id="564" name="Google Shape;564;p44"/>
          <p:cNvSpPr/>
          <p:nvPr/>
        </p:nvSpPr>
        <p:spPr>
          <a:xfrm>
            <a:off x="2025007" y="5822712"/>
            <a:ext cx="88754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White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Rabbit</a:t>
            </a:r>
            <a:endParaRPr/>
          </a:p>
        </p:txBody>
      </p:sp>
      <p:sp>
        <p:nvSpPr>
          <p:cNvPr id="565" name="Google Shape;565;p44"/>
          <p:cNvSpPr/>
          <p:nvPr/>
        </p:nvSpPr>
        <p:spPr>
          <a:xfrm>
            <a:off x="3017970" y="5857426"/>
            <a:ext cx="10266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Rabbit In a Hat</a:t>
            </a:r>
            <a:endParaRPr/>
          </a:p>
        </p:txBody>
      </p:sp>
      <p:pic>
        <p:nvPicPr>
          <p:cNvPr id="566" name="Google Shape;566;p44"/>
          <p:cNvPicPr preferRelativeResize="0"/>
          <p:nvPr/>
        </p:nvPicPr>
        <p:blipFill rotWithShape="1">
          <a:blip r:embed="rId5">
            <a:alphaModFix/>
          </a:blip>
          <a:srcRect b="0" l="0" r="0" t="0"/>
          <a:stretch/>
        </p:blipFill>
        <p:spPr>
          <a:xfrm>
            <a:off x="9458959" y="5118975"/>
            <a:ext cx="666750" cy="65722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567" name="Google Shape;567;p44"/>
          <p:cNvSpPr/>
          <p:nvPr/>
        </p:nvSpPr>
        <p:spPr>
          <a:xfrm>
            <a:off x="9278994" y="5810914"/>
            <a:ext cx="10266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Rabbit In a Hat</a:t>
            </a:r>
            <a:endParaRPr/>
          </a:p>
        </p:txBody>
      </p:sp>
      <p:pic>
        <p:nvPicPr>
          <p:cNvPr descr="alt text" id="568" name="Google Shape;568;p44"/>
          <p:cNvPicPr preferRelativeResize="0"/>
          <p:nvPr/>
        </p:nvPicPr>
        <p:blipFill rotWithShape="1">
          <a:blip r:embed="rId4">
            <a:alphaModFix/>
          </a:blip>
          <a:srcRect b="0" l="0" r="0" t="0"/>
          <a:stretch/>
        </p:blipFill>
        <p:spPr>
          <a:xfrm>
            <a:off x="6496447" y="5156161"/>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569" name="Google Shape;569;p44"/>
          <p:cNvSpPr/>
          <p:nvPr/>
        </p:nvSpPr>
        <p:spPr>
          <a:xfrm>
            <a:off x="6319794" y="5789574"/>
            <a:ext cx="88754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White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Rabbit</a:t>
            </a:r>
            <a:endParaRPr/>
          </a:p>
        </p:txBody>
      </p:sp>
      <p:sp>
        <p:nvSpPr>
          <p:cNvPr id="570" name="Google Shape;570;p44"/>
          <p:cNvSpPr/>
          <p:nvPr/>
        </p:nvSpPr>
        <p:spPr>
          <a:xfrm>
            <a:off x="7144181" y="5893393"/>
            <a:ext cx="11444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ACHILLES</a:t>
            </a:r>
            <a:endParaRPr/>
          </a:p>
        </p:txBody>
      </p:sp>
      <p:sp>
        <p:nvSpPr>
          <p:cNvPr id="571" name="Google Shape;571;p44"/>
          <p:cNvSpPr/>
          <p:nvPr/>
        </p:nvSpPr>
        <p:spPr>
          <a:xfrm>
            <a:off x="4885631" y="5810913"/>
            <a:ext cx="88754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Usagi</a:t>
            </a:r>
            <a:endParaRPr/>
          </a:p>
        </p:txBody>
      </p:sp>
      <p:grpSp>
        <p:nvGrpSpPr>
          <p:cNvPr id="572" name="Google Shape;572;p44"/>
          <p:cNvGrpSpPr/>
          <p:nvPr/>
        </p:nvGrpSpPr>
        <p:grpSpPr>
          <a:xfrm>
            <a:off x="1964512" y="720516"/>
            <a:ext cx="8733012" cy="3919603"/>
            <a:chOff x="440512" y="720515"/>
            <a:chExt cx="8733012" cy="3919603"/>
          </a:xfrm>
        </p:grpSpPr>
        <p:pic>
          <p:nvPicPr>
            <p:cNvPr descr="Image result for pusheen transparent background" id="573" name="Google Shape;573;p44"/>
            <p:cNvPicPr preferRelativeResize="0"/>
            <p:nvPr/>
          </p:nvPicPr>
          <p:blipFill rotWithShape="1">
            <a:blip r:embed="rId7">
              <a:alphaModFix/>
            </a:blip>
            <a:srcRect b="0" l="0" r="0" t="0"/>
            <a:stretch/>
          </p:blipFill>
          <p:spPr>
            <a:xfrm>
              <a:off x="677660" y="1058180"/>
              <a:ext cx="1319346" cy="1319346"/>
            </a:xfrm>
            <a:prstGeom prst="rect">
              <a:avLst/>
            </a:prstGeom>
            <a:noFill/>
            <a:ln>
              <a:noFill/>
            </a:ln>
          </p:spPr>
        </p:pic>
        <p:pic>
          <p:nvPicPr>
            <p:cNvPr descr="Related image" id="574" name="Google Shape;574;p44"/>
            <p:cNvPicPr preferRelativeResize="0"/>
            <p:nvPr/>
          </p:nvPicPr>
          <p:blipFill rotWithShape="1">
            <a:blip r:embed="rId8">
              <a:alphaModFix/>
            </a:blip>
            <a:srcRect b="0" l="0" r="0" t="0"/>
            <a:stretch/>
          </p:blipFill>
          <p:spPr>
            <a:xfrm>
              <a:off x="3176230" y="1005611"/>
              <a:ext cx="1466020" cy="1424483"/>
            </a:xfrm>
            <a:prstGeom prst="rect">
              <a:avLst/>
            </a:prstGeom>
            <a:noFill/>
            <a:ln>
              <a:noFill/>
            </a:ln>
          </p:spPr>
        </p:pic>
        <p:pic>
          <p:nvPicPr>
            <p:cNvPr descr="Image result for pusheen transparent background" id="575" name="Google Shape;575;p44"/>
            <p:cNvPicPr preferRelativeResize="0"/>
            <p:nvPr/>
          </p:nvPicPr>
          <p:blipFill rotWithShape="1">
            <a:blip r:embed="rId9">
              <a:alphaModFix/>
            </a:blip>
            <a:srcRect b="0" l="0" r="0" t="0"/>
            <a:stretch/>
          </p:blipFill>
          <p:spPr>
            <a:xfrm>
              <a:off x="7621083" y="2715198"/>
              <a:ext cx="1522917" cy="1522917"/>
            </a:xfrm>
            <a:prstGeom prst="rect">
              <a:avLst/>
            </a:prstGeom>
            <a:noFill/>
            <a:ln>
              <a:noFill/>
            </a:ln>
          </p:spPr>
        </p:pic>
        <p:pic>
          <p:nvPicPr>
            <p:cNvPr id="576" name="Google Shape;576;p44"/>
            <p:cNvPicPr preferRelativeResize="0"/>
            <p:nvPr/>
          </p:nvPicPr>
          <p:blipFill rotWithShape="1">
            <a:blip r:embed="rId10">
              <a:alphaModFix/>
            </a:blip>
            <a:srcRect b="0" l="0" r="0" t="0"/>
            <a:stretch/>
          </p:blipFill>
          <p:spPr>
            <a:xfrm>
              <a:off x="5237840" y="2772095"/>
              <a:ext cx="1466020" cy="1466020"/>
            </a:xfrm>
            <a:prstGeom prst="rect">
              <a:avLst/>
            </a:prstGeom>
            <a:noFill/>
            <a:ln>
              <a:noFill/>
            </a:ln>
          </p:spPr>
        </p:pic>
        <p:sp>
          <p:nvSpPr>
            <p:cNvPr id="577" name="Google Shape;577;p44"/>
            <p:cNvSpPr/>
            <p:nvPr/>
          </p:nvSpPr>
          <p:spPr>
            <a:xfrm>
              <a:off x="440512" y="2377526"/>
              <a:ext cx="1785258"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Data experts and CDM experts together design the ETL</a:t>
              </a:r>
              <a:endParaRPr/>
            </a:p>
          </p:txBody>
        </p:sp>
        <p:sp>
          <p:nvSpPr>
            <p:cNvPr id="578" name="Google Shape;578;p44"/>
            <p:cNvSpPr/>
            <p:nvPr/>
          </p:nvSpPr>
          <p:spPr>
            <a:xfrm>
              <a:off x="2234154" y="1190269"/>
              <a:ext cx="1077686" cy="1055165"/>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9" name="Google Shape;579;p44"/>
            <p:cNvSpPr/>
            <p:nvPr/>
          </p:nvSpPr>
          <p:spPr>
            <a:xfrm>
              <a:off x="3031312" y="2390392"/>
              <a:ext cx="1872343"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People with medical knowledge create the code mappings</a:t>
              </a:r>
              <a:endParaRPr/>
            </a:p>
          </p:txBody>
        </p:sp>
        <p:sp>
          <p:nvSpPr>
            <p:cNvPr id="580" name="Google Shape;580;p44"/>
            <p:cNvSpPr/>
            <p:nvPr/>
          </p:nvSpPr>
          <p:spPr>
            <a:xfrm>
              <a:off x="4737308" y="1142836"/>
              <a:ext cx="1077686" cy="1055165"/>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1" name="Google Shape;581;p44"/>
            <p:cNvSpPr/>
            <p:nvPr/>
          </p:nvSpPr>
          <p:spPr>
            <a:xfrm>
              <a:off x="6703860" y="1435839"/>
              <a:ext cx="675609" cy="762162"/>
            </a:xfrm>
            <a:prstGeom prst="verticalScroll">
              <a:avLst>
                <a:gd fmla="val 12500" name="adj"/>
              </a:avLst>
            </a:prstGeom>
            <a:solidFill>
              <a:srgbClr val="C2D59B"/>
            </a:solidFill>
            <a:ln cap="flat" cmpd="sng" w="25400">
              <a:solidFill>
                <a:srgbClr val="4F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a:t>
              </a:r>
              <a:endParaRPr/>
            </a:p>
          </p:txBody>
        </p:sp>
        <p:sp>
          <p:nvSpPr>
            <p:cNvPr id="582" name="Google Shape;582;p44"/>
            <p:cNvSpPr/>
            <p:nvPr/>
          </p:nvSpPr>
          <p:spPr>
            <a:xfrm>
              <a:off x="7041664" y="3985086"/>
              <a:ext cx="213186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 technical person implements the ETL</a:t>
              </a:r>
              <a:endParaRPr/>
            </a:p>
          </p:txBody>
        </p:sp>
        <p:sp>
          <p:nvSpPr>
            <p:cNvPr id="583" name="Google Shape;583;p44"/>
            <p:cNvSpPr/>
            <p:nvPr/>
          </p:nvSpPr>
          <p:spPr>
            <a:xfrm>
              <a:off x="4972447" y="3993787"/>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All are involved in quality control</a:t>
              </a:r>
              <a:endParaRPr/>
            </a:p>
          </p:txBody>
        </p:sp>
        <p:sp>
          <p:nvSpPr>
            <p:cNvPr id="584" name="Google Shape;584;p44"/>
            <p:cNvSpPr/>
            <p:nvPr/>
          </p:nvSpPr>
          <p:spPr>
            <a:xfrm rot="2775711">
              <a:off x="7462135" y="2307312"/>
              <a:ext cx="669579" cy="664208"/>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5" name="Google Shape;585;p44"/>
            <p:cNvSpPr/>
            <p:nvPr/>
          </p:nvSpPr>
          <p:spPr>
            <a:xfrm rot="10800000">
              <a:off x="6630060" y="3177312"/>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6" name="Google Shape;586;p44"/>
            <p:cNvSpPr/>
            <p:nvPr/>
          </p:nvSpPr>
          <p:spPr>
            <a:xfrm rot="-2606331">
              <a:off x="5921350" y="2121135"/>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7" name="Google Shape;587;p44"/>
            <p:cNvSpPr/>
            <p:nvPr/>
          </p:nvSpPr>
          <p:spPr>
            <a:xfrm>
              <a:off x="6161056" y="720515"/>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 Documentation </a:t>
              </a:r>
              <a:endParaRPr/>
            </a:p>
          </p:txBody>
        </p:sp>
      </p:grpSp>
      <p:pic>
        <p:nvPicPr>
          <p:cNvPr id="588" name="Google Shape;588;p44"/>
          <p:cNvPicPr preferRelativeResize="0"/>
          <p:nvPr/>
        </p:nvPicPr>
        <p:blipFill rotWithShape="1">
          <a:blip r:embed="rId11">
            <a:alphaModFix/>
          </a:blip>
          <a:srcRect b="0" l="0" r="0" t="0"/>
          <a:stretch/>
        </p:blipFill>
        <p:spPr>
          <a:xfrm>
            <a:off x="8332618" y="5087179"/>
            <a:ext cx="766410" cy="74756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589" name="Google Shape;589;p44"/>
          <p:cNvSpPr/>
          <p:nvPr/>
        </p:nvSpPr>
        <p:spPr>
          <a:xfrm>
            <a:off x="8163687" y="5872371"/>
            <a:ext cx="11444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DQD</a:t>
            </a:r>
            <a:endParaRPr/>
          </a:p>
        </p:txBody>
      </p:sp>
      <p:sp>
        <p:nvSpPr>
          <p:cNvPr id="590" name="Google Shape;590;p44"/>
          <p:cNvSpPr txBox="1"/>
          <p:nvPr/>
        </p:nvSpPr>
        <p:spPr>
          <a:xfrm>
            <a:off x="4985082" y="4847422"/>
            <a:ext cx="89631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chemeClr val="dk1"/>
                </a:solidFill>
                <a:latin typeface="Calibri"/>
                <a:ea typeface="Calibri"/>
                <a:cs typeface="Calibri"/>
                <a:sym typeface="Calibri"/>
              </a:rPr>
              <a:t>X</a:t>
            </a:r>
            <a:endParaRPr/>
          </a:p>
        </p:txBody>
      </p:sp>
      <p:sp>
        <p:nvSpPr>
          <p:cNvPr id="591" name="Google Shape;591;p44"/>
          <p:cNvSpPr txBox="1"/>
          <p:nvPr/>
        </p:nvSpPr>
        <p:spPr>
          <a:xfrm>
            <a:off x="4338725" y="4032279"/>
            <a:ext cx="2009938" cy="1015663"/>
          </a:xfrm>
          <a:prstGeom prst="rect">
            <a:avLst/>
          </a:prstGeom>
          <a:solidFill>
            <a:schemeClr val="accent1"/>
          </a:solidFill>
          <a:ln cap="flat" cmpd="sng" w="25400">
            <a:solidFill>
              <a:srgbClr val="632B0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We won’t be covering this today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5"/>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Process</a:t>
            </a:r>
            <a:endParaRPr/>
          </a:p>
        </p:txBody>
      </p:sp>
      <p:sp>
        <p:nvSpPr>
          <p:cNvPr id="598" name="Google Shape;598;p45"/>
          <p:cNvSpPr/>
          <p:nvPr/>
        </p:nvSpPr>
        <p:spPr>
          <a:xfrm>
            <a:off x="1752600" y="6488668"/>
            <a:ext cx="82296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https://ohdsi.github.io/TheBookOfOhdsi/ExtractTransformLoad.html</a:t>
            </a:r>
            <a:endParaRPr/>
          </a:p>
        </p:txBody>
      </p:sp>
      <p:sp>
        <p:nvSpPr>
          <p:cNvPr id="599" name="Google Shape;599;p45"/>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00" name="Google Shape;600;p45"/>
          <p:cNvPicPr preferRelativeResize="0"/>
          <p:nvPr/>
        </p:nvPicPr>
        <p:blipFill rotWithShape="1">
          <a:blip r:embed="rId3">
            <a:alphaModFix/>
          </a:blip>
          <a:srcRect b="0" l="0" r="0" t="0"/>
          <a:stretch/>
        </p:blipFill>
        <p:spPr>
          <a:xfrm>
            <a:off x="1964647" y="1450815"/>
            <a:ext cx="8262706" cy="4410971"/>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descr="Cover image" id="601" name="Google Shape;601;p45"/>
          <p:cNvPicPr preferRelativeResize="0"/>
          <p:nvPr/>
        </p:nvPicPr>
        <p:blipFill rotWithShape="1">
          <a:blip r:embed="rId4">
            <a:alphaModFix/>
          </a:blip>
          <a:srcRect b="0" l="0" r="0" t="0"/>
          <a:stretch/>
        </p:blipFill>
        <p:spPr>
          <a:xfrm>
            <a:off x="8380496" y="298384"/>
            <a:ext cx="2003258" cy="320521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6"/>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Follow-Along Exercises for Today</a:t>
            </a:r>
            <a:endParaRPr/>
          </a:p>
        </p:txBody>
      </p:sp>
      <p:sp>
        <p:nvSpPr>
          <p:cNvPr id="607" name="Google Shape;607;p46"/>
          <p:cNvSpPr txBox="1"/>
          <p:nvPr>
            <p:ph idx="1" type="body"/>
          </p:nvPr>
        </p:nvSpPr>
        <p:spPr>
          <a:xfrm>
            <a:off x="1981200" y="1643745"/>
            <a:ext cx="8229600" cy="3809999"/>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20425A"/>
              </a:buClr>
              <a:buSzPts val="3200"/>
              <a:buChar char="•"/>
            </a:pPr>
            <a:r>
              <a:rPr lang="en-US"/>
              <a:t>Scan a database with White Rabbit</a:t>
            </a:r>
            <a:endParaRPr/>
          </a:p>
          <a:p>
            <a:pPr indent="-139700" lvl="0" marL="342900" rtl="0" algn="l">
              <a:spcBef>
                <a:spcPts val="640"/>
              </a:spcBef>
              <a:spcAft>
                <a:spcPts val="0"/>
              </a:spcAft>
              <a:buClr>
                <a:srgbClr val="20425A"/>
              </a:buClr>
              <a:buSzPts val="3200"/>
              <a:buNone/>
            </a:pPr>
            <a:r>
              <a:t/>
            </a:r>
            <a:endParaRPr/>
          </a:p>
          <a:p>
            <a:pPr indent="-342900" lvl="0" marL="342900" rtl="0" algn="l">
              <a:spcBef>
                <a:spcPts val="640"/>
              </a:spcBef>
              <a:spcAft>
                <a:spcPts val="0"/>
              </a:spcAft>
              <a:buClr>
                <a:srgbClr val="20425A"/>
              </a:buClr>
              <a:buSzPts val="3200"/>
              <a:buChar char="•"/>
            </a:pPr>
            <a:r>
              <a:rPr lang="en-US"/>
              <a:t>Practice building an ETL document with Rabbit in a Hat</a:t>
            </a:r>
            <a:endParaRPr/>
          </a:p>
          <a:p>
            <a:pPr indent="-139700" lvl="0" marL="342900" rtl="0" algn="l">
              <a:spcBef>
                <a:spcPts val="640"/>
              </a:spcBef>
              <a:spcAft>
                <a:spcPts val="0"/>
              </a:spcAft>
              <a:buClr>
                <a:srgbClr val="20425A"/>
              </a:buClr>
              <a:buSzPts val="3200"/>
              <a:buNone/>
            </a:pPr>
            <a:r>
              <a:t/>
            </a:r>
            <a:endParaRPr/>
          </a:p>
          <a:p>
            <a:pPr indent="-342900" lvl="0" marL="342900" rtl="0" algn="l">
              <a:spcBef>
                <a:spcPts val="640"/>
              </a:spcBef>
              <a:spcAft>
                <a:spcPts val="0"/>
              </a:spcAft>
              <a:buClr>
                <a:srgbClr val="20425A"/>
              </a:buClr>
              <a:buSzPts val="3200"/>
              <a:buChar char="•"/>
            </a:pPr>
            <a:r>
              <a:rPr lang="en-US"/>
              <a:t>Examining Achilles and Data Quality Dashboard output</a:t>
            </a:r>
            <a:endParaRPr/>
          </a:p>
        </p:txBody>
      </p:sp>
      <p:sp>
        <p:nvSpPr>
          <p:cNvPr id="608" name="Google Shape;608;p46"/>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Image result for pusheen working" id="609" name="Google Shape;609;p46"/>
          <p:cNvPicPr preferRelativeResize="0"/>
          <p:nvPr/>
        </p:nvPicPr>
        <p:blipFill rotWithShape="1">
          <a:blip r:embed="rId3">
            <a:alphaModFix/>
          </a:blip>
          <a:srcRect b="0" l="0" r="0" t="0"/>
          <a:stretch/>
        </p:blipFill>
        <p:spPr>
          <a:xfrm>
            <a:off x="8141982" y="4104595"/>
            <a:ext cx="2388280" cy="238828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7"/>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Tools help us get started . . . </a:t>
            </a:r>
            <a:endParaRPr/>
          </a:p>
        </p:txBody>
      </p:sp>
      <p:sp>
        <p:nvSpPr>
          <p:cNvPr id="615" name="Google Shape;615;p47"/>
          <p:cNvSpPr txBox="1"/>
          <p:nvPr>
            <p:ph idx="3" type="body"/>
          </p:nvPr>
        </p:nvSpPr>
        <p:spPr>
          <a:xfrm>
            <a:off x="6169026" y="3059113"/>
            <a:ext cx="4041775"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0425A"/>
              </a:buClr>
              <a:buSzPts val="2400"/>
              <a:buNone/>
            </a:pPr>
            <a:r>
              <a:rPr lang="en-US"/>
              <a:t>Rabbit In a Hat</a:t>
            </a:r>
            <a:endParaRPr/>
          </a:p>
        </p:txBody>
      </p:sp>
      <p:sp>
        <p:nvSpPr>
          <p:cNvPr id="616" name="Google Shape;616;p47"/>
          <p:cNvSpPr txBox="1"/>
          <p:nvPr>
            <p:ph idx="4" type="body"/>
          </p:nvPr>
        </p:nvSpPr>
        <p:spPr>
          <a:xfrm>
            <a:off x="6169026" y="3698876"/>
            <a:ext cx="4041775" cy="26003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400"/>
              <a:buChar char="•"/>
            </a:pPr>
            <a:r>
              <a:rPr lang="en-US"/>
              <a:t>Uses White Rabbit scan to provide a graphical user interface to help build an ETL document</a:t>
            </a:r>
            <a:endParaRPr/>
          </a:p>
          <a:p>
            <a:pPr indent="-190500" lvl="0" marL="342900" rtl="0" algn="l">
              <a:spcBef>
                <a:spcPts val="480"/>
              </a:spcBef>
              <a:spcAft>
                <a:spcPts val="0"/>
              </a:spcAft>
              <a:buClr>
                <a:srgbClr val="20425A"/>
              </a:buClr>
              <a:buSzPts val="2400"/>
              <a:buNone/>
            </a:pPr>
            <a:r>
              <a:t/>
            </a:r>
            <a:endParaRPr/>
          </a:p>
          <a:p>
            <a:pPr indent="-342900" lvl="0" marL="342900" rtl="0" algn="l">
              <a:spcBef>
                <a:spcPts val="480"/>
              </a:spcBef>
              <a:spcAft>
                <a:spcPts val="0"/>
              </a:spcAft>
              <a:buClr>
                <a:srgbClr val="20425A"/>
              </a:buClr>
              <a:buSzPts val="2400"/>
              <a:buChar char="•"/>
            </a:pPr>
            <a:r>
              <a:rPr lang="en-US"/>
              <a:t>Does not generate code</a:t>
            </a:r>
            <a:endParaRPr/>
          </a:p>
        </p:txBody>
      </p:sp>
      <p:sp>
        <p:nvSpPr>
          <p:cNvPr id="617" name="Google Shape;617;p47"/>
          <p:cNvSpPr txBox="1"/>
          <p:nvPr>
            <p:ph idx="1" type="body"/>
          </p:nvPr>
        </p:nvSpPr>
        <p:spPr>
          <a:xfrm>
            <a:off x="1981200" y="3059113"/>
            <a:ext cx="4040188"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20425A"/>
              </a:buClr>
              <a:buSzPts val="2400"/>
              <a:buNone/>
            </a:pPr>
            <a:r>
              <a:rPr lang="en-US"/>
              <a:t>White Rabbit</a:t>
            </a:r>
            <a:endParaRPr/>
          </a:p>
        </p:txBody>
      </p:sp>
      <p:sp>
        <p:nvSpPr>
          <p:cNvPr id="618" name="Google Shape;618;p47"/>
          <p:cNvSpPr txBox="1"/>
          <p:nvPr>
            <p:ph idx="2" type="body"/>
          </p:nvPr>
        </p:nvSpPr>
        <p:spPr>
          <a:xfrm>
            <a:off x="1981200" y="3698876"/>
            <a:ext cx="4040188" cy="26003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400"/>
              <a:buChar char="•"/>
            </a:pPr>
            <a:r>
              <a:rPr lang="en-US"/>
              <a:t>performs a scan of the source data, providing detailed information on the tables, fields, and values that appear in a field</a:t>
            </a:r>
            <a:endParaRPr/>
          </a:p>
        </p:txBody>
      </p:sp>
      <p:pic>
        <p:nvPicPr>
          <p:cNvPr descr="alt text" id="619" name="Google Shape;619;p47"/>
          <p:cNvPicPr preferRelativeResize="0"/>
          <p:nvPr/>
        </p:nvPicPr>
        <p:blipFill rotWithShape="1">
          <a:blip r:embed="rId3">
            <a:alphaModFix/>
          </a:blip>
          <a:srcRect b="0" l="0" r="0" t="0"/>
          <a:stretch/>
        </p:blipFill>
        <p:spPr>
          <a:xfrm>
            <a:off x="3400403" y="1671616"/>
            <a:ext cx="1201783" cy="1201783"/>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id="620" name="Google Shape;620;p47"/>
          <p:cNvPicPr preferRelativeResize="0"/>
          <p:nvPr/>
        </p:nvPicPr>
        <p:blipFill rotWithShape="1">
          <a:blip r:embed="rId4">
            <a:alphaModFix/>
          </a:blip>
          <a:srcRect b="0" l="0" r="0" t="0"/>
          <a:stretch/>
        </p:blipFill>
        <p:spPr>
          <a:xfrm>
            <a:off x="7532687" y="1671615"/>
            <a:ext cx="1314450" cy="129567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21" name="Google Shape;621;p47"/>
          <p:cNvSpPr/>
          <p:nvPr/>
        </p:nvSpPr>
        <p:spPr>
          <a:xfrm>
            <a:off x="5372100" y="1943100"/>
            <a:ext cx="1447800" cy="930298"/>
          </a:xfrm>
          <a:prstGeom prst="rightArrow">
            <a:avLst>
              <a:gd fmla="val 50000" name="adj1"/>
              <a:gd fmla="val 50000" name="adj2"/>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2" name="Google Shape;622;p47"/>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White Rabbit - Location</a:t>
            </a:r>
            <a:endParaRPr/>
          </a:p>
        </p:txBody>
      </p:sp>
      <p:pic>
        <p:nvPicPr>
          <p:cNvPr descr="alt text" id="628" name="Google Shape;628;p48"/>
          <p:cNvPicPr preferRelativeResize="0"/>
          <p:nvPr/>
        </p:nvPicPr>
        <p:blipFill rotWithShape="1">
          <a:blip r:embed="rId3">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29" name="Google Shape;629;p4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30" name="Google Shape;630;p48"/>
          <p:cNvPicPr preferRelativeResize="0"/>
          <p:nvPr/>
        </p:nvPicPr>
        <p:blipFill rotWithShape="1">
          <a:blip r:embed="rId4">
            <a:alphaModFix/>
          </a:blip>
          <a:srcRect b="0" l="0" r="0" t="0"/>
          <a:stretch/>
        </p:blipFill>
        <p:spPr>
          <a:xfrm>
            <a:off x="2378964" y="1167608"/>
            <a:ext cx="7434072" cy="491358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9"/>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White Rabbit - Scan</a:t>
            </a:r>
            <a:endParaRPr/>
          </a:p>
        </p:txBody>
      </p:sp>
      <p:pic>
        <p:nvPicPr>
          <p:cNvPr id="636" name="Google Shape;636;p49"/>
          <p:cNvPicPr preferRelativeResize="0"/>
          <p:nvPr>
            <p:ph idx="1" type="body"/>
          </p:nvPr>
        </p:nvPicPr>
        <p:blipFill rotWithShape="1">
          <a:blip r:embed="rId3">
            <a:alphaModFix/>
          </a:blip>
          <a:srcRect b="0" l="0" r="0" t="0"/>
          <a:stretch/>
        </p:blipFill>
        <p:spPr>
          <a:xfrm>
            <a:off x="2376943" y="1219201"/>
            <a:ext cx="7438115" cy="4906963"/>
          </a:xfrm>
          <a:prstGeom prst="rect">
            <a:avLst/>
          </a:prstGeom>
          <a:noFill/>
          <a:ln>
            <a:noFill/>
          </a:ln>
        </p:spPr>
      </p:pic>
      <p:pic>
        <p:nvPicPr>
          <p:cNvPr descr="alt text" id="637" name="Google Shape;637;p49"/>
          <p:cNvPicPr preferRelativeResize="0"/>
          <p:nvPr/>
        </p:nvPicPr>
        <p:blipFill rotWithShape="1">
          <a:blip r:embed="rId4">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38" name="Google Shape;638;p49"/>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0"/>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White Rabbit - Scan</a:t>
            </a:r>
            <a:endParaRPr/>
          </a:p>
        </p:txBody>
      </p:sp>
      <p:pic>
        <p:nvPicPr>
          <p:cNvPr id="644" name="Google Shape;644;p50"/>
          <p:cNvPicPr preferRelativeResize="0"/>
          <p:nvPr>
            <p:ph idx="1" type="body"/>
          </p:nvPr>
        </p:nvPicPr>
        <p:blipFill rotWithShape="1">
          <a:blip r:embed="rId3">
            <a:alphaModFix/>
          </a:blip>
          <a:srcRect b="0" l="0" r="0" t="0"/>
          <a:stretch/>
        </p:blipFill>
        <p:spPr>
          <a:xfrm>
            <a:off x="2376943" y="1219201"/>
            <a:ext cx="7438115" cy="4906963"/>
          </a:xfrm>
          <a:prstGeom prst="rect">
            <a:avLst/>
          </a:prstGeom>
          <a:noFill/>
          <a:ln>
            <a:noFill/>
          </a:ln>
        </p:spPr>
      </p:pic>
      <p:pic>
        <p:nvPicPr>
          <p:cNvPr descr="alt text" id="645" name="Google Shape;645;p50"/>
          <p:cNvPicPr preferRelativeResize="0"/>
          <p:nvPr/>
        </p:nvPicPr>
        <p:blipFill rotWithShape="1">
          <a:blip r:embed="rId4">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46" name="Google Shape;646;p50"/>
          <p:cNvSpPr/>
          <p:nvPr/>
        </p:nvSpPr>
        <p:spPr>
          <a:xfrm>
            <a:off x="8521700" y="2501900"/>
            <a:ext cx="1397000" cy="749300"/>
          </a:xfrm>
          <a:prstGeom prst="frame">
            <a:avLst>
              <a:gd fmla="val 12500" name="adj1"/>
            </a:avLst>
          </a:prstGeom>
          <a:solidFill>
            <a:schemeClr val="accent2"/>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5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1"/>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White Rabbit - Scan</a:t>
            </a:r>
            <a:endParaRPr/>
          </a:p>
        </p:txBody>
      </p:sp>
      <p:pic>
        <p:nvPicPr>
          <p:cNvPr id="653" name="Google Shape;653;p51"/>
          <p:cNvPicPr preferRelativeResize="0"/>
          <p:nvPr>
            <p:ph idx="1" type="body"/>
          </p:nvPr>
        </p:nvPicPr>
        <p:blipFill rotWithShape="1">
          <a:blip r:embed="rId3">
            <a:alphaModFix/>
          </a:blip>
          <a:srcRect b="0" l="0" r="0" t="0"/>
          <a:stretch/>
        </p:blipFill>
        <p:spPr>
          <a:xfrm>
            <a:off x="2376943" y="1219201"/>
            <a:ext cx="7438115" cy="4906963"/>
          </a:xfrm>
          <a:prstGeom prst="rect">
            <a:avLst/>
          </a:prstGeom>
          <a:noFill/>
          <a:ln>
            <a:noFill/>
          </a:ln>
        </p:spPr>
      </p:pic>
      <p:pic>
        <p:nvPicPr>
          <p:cNvPr descr="alt text" id="654" name="Google Shape;654;p51"/>
          <p:cNvPicPr preferRelativeResize="0"/>
          <p:nvPr/>
        </p:nvPicPr>
        <p:blipFill rotWithShape="1">
          <a:blip r:embed="rId4">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55" name="Google Shape;655;p51"/>
          <p:cNvSpPr/>
          <p:nvPr/>
        </p:nvSpPr>
        <p:spPr>
          <a:xfrm>
            <a:off x="3683000" y="3429000"/>
            <a:ext cx="6132057" cy="749300"/>
          </a:xfrm>
          <a:prstGeom prst="frame">
            <a:avLst>
              <a:gd fmla="val 12500" name="adj1"/>
            </a:avLst>
          </a:prstGeom>
          <a:solidFill>
            <a:schemeClr val="accent2"/>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51"/>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2"/>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White Rabbit – Scan Report</a:t>
            </a:r>
            <a:endParaRPr/>
          </a:p>
        </p:txBody>
      </p:sp>
      <p:sp>
        <p:nvSpPr>
          <p:cNvPr id="662" name="Google Shape;662;p52"/>
          <p:cNvSpPr txBox="1"/>
          <p:nvPr>
            <p:ph idx="1" type="body"/>
          </p:nvPr>
        </p:nvSpPr>
        <p:spPr>
          <a:xfrm>
            <a:off x="2117272" y="3287486"/>
            <a:ext cx="7957457" cy="2921567"/>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20425A"/>
              </a:buClr>
              <a:buSzPct val="100000"/>
              <a:buChar char="•"/>
            </a:pPr>
            <a:r>
              <a:rPr lang="en-US"/>
              <a:t>We already ran the scan on synthea native data</a:t>
            </a:r>
            <a:endParaRPr/>
          </a:p>
          <a:p>
            <a:pPr indent="-154940" lvl="0" marL="342900" rtl="0" algn="l">
              <a:spcBef>
                <a:spcPts val="592"/>
              </a:spcBef>
              <a:spcAft>
                <a:spcPts val="0"/>
              </a:spcAft>
              <a:buClr>
                <a:srgbClr val="20425A"/>
              </a:buClr>
              <a:buSzPct val="100000"/>
              <a:buNone/>
            </a:pPr>
            <a:r>
              <a:t/>
            </a:r>
            <a:endParaRPr/>
          </a:p>
          <a:p>
            <a:pPr indent="-342900" lvl="0" marL="342900" rtl="0" algn="l">
              <a:spcBef>
                <a:spcPts val="592"/>
              </a:spcBef>
              <a:spcAft>
                <a:spcPts val="0"/>
              </a:spcAft>
              <a:buClr>
                <a:srgbClr val="20425A"/>
              </a:buClr>
              <a:buSzPct val="100000"/>
              <a:buChar char="•"/>
            </a:pPr>
            <a:r>
              <a:rPr lang="en-US"/>
              <a:t>To open the scan while we review:</a:t>
            </a:r>
            <a:endParaRPr/>
          </a:p>
          <a:p>
            <a:pPr indent="-285750" lvl="1" marL="742950" rtl="0" algn="l">
              <a:spcBef>
                <a:spcPts val="518"/>
              </a:spcBef>
              <a:spcAft>
                <a:spcPts val="0"/>
              </a:spcAft>
              <a:buClr>
                <a:srgbClr val="20425A"/>
              </a:buClr>
              <a:buSzPct val="100000"/>
              <a:buChar char="–"/>
            </a:pPr>
            <a:r>
              <a:rPr lang="en-US" u="sng">
                <a:solidFill>
                  <a:schemeClr val="hlink"/>
                </a:solidFill>
                <a:hlinkClick r:id="rId3"/>
              </a:rPr>
              <a:t>https://github.com/OHDSI/Tutorial-ETL</a:t>
            </a:r>
            <a:endParaRPr/>
          </a:p>
          <a:p>
            <a:pPr indent="-285750" lvl="1" marL="742950" rtl="0" algn="l">
              <a:spcBef>
                <a:spcPts val="518"/>
              </a:spcBef>
              <a:spcAft>
                <a:spcPts val="0"/>
              </a:spcAft>
              <a:buClr>
                <a:srgbClr val="20425A"/>
              </a:buClr>
              <a:buSzPct val="100000"/>
              <a:buChar char="–"/>
            </a:pPr>
            <a:r>
              <a:rPr lang="en-US"/>
              <a:t>Materials 🡪 WhiteRabbit 🡪 Synthea_ScanReport.xlsx</a:t>
            </a:r>
            <a:endParaRPr/>
          </a:p>
          <a:p>
            <a:pPr indent="-285750" lvl="1" marL="742950" rtl="0" algn="l">
              <a:spcBef>
                <a:spcPts val="518"/>
              </a:spcBef>
              <a:spcAft>
                <a:spcPts val="0"/>
              </a:spcAft>
              <a:buClr>
                <a:srgbClr val="20425A"/>
              </a:buClr>
              <a:buSzPct val="100000"/>
              <a:buChar char="–"/>
            </a:pPr>
            <a:r>
              <a:rPr lang="en-US"/>
              <a:t>Click “View Raw” to download the XLSX</a:t>
            </a:r>
            <a:endParaRPr/>
          </a:p>
        </p:txBody>
      </p:sp>
      <p:pic>
        <p:nvPicPr>
          <p:cNvPr descr="alt text" id="663" name="Google Shape;663;p52"/>
          <p:cNvPicPr preferRelativeResize="0"/>
          <p:nvPr/>
        </p:nvPicPr>
        <p:blipFill rotWithShape="1">
          <a:blip r:embed="rId4">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64" name="Google Shape;664;p52"/>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65" name="Google Shape;665;p52"/>
          <p:cNvSpPr/>
          <p:nvPr/>
        </p:nvSpPr>
        <p:spPr>
          <a:xfrm>
            <a:off x="5135335" y="1149349"/>
            <a:ext cx="1921330" cy="1979386"/>
          </a:xfrm>
          <a:prstGeom prst="flowChartMagneticDisk">
            <a:avLst/>
          </a:prstGeom>
          <a:solidFill>
            <a:schemeClr val="accent5"/>
          </a:solidFill>
          <a:ln cap="flat" cmpd="sng" w="25400">
            <a:solidFill>
              <a:srgbClr val="367D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synthea</a:t>
            </a:r>
            <a:endParaRPr sz="2400">
              <a:solidFill>
                <a:schemeClr val="lt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pic>
        <p:nvPicPr>
          <p:cNvPr id="670" name="Google Shape;670;p53"/>
          <p:cNvPicPr preferRelativeResize="0"/>
          <p:nvPr/>
        </p:nvPicPr>
        <p:blipFill rotWithShape="1">
          <a:blip r:embed="rId3">
            <a:alphaModFix/>
          </a:blip>
          <a:srcRect b="0" l="0" r="0" t="0"/>
          <a:stretch/>
        </p:blipFill>
        <p:spPr>
          <a:xfrm>
            <a:off x="4042636" y="1204037"/>
            <a:ext cx="4106731" cy="5288839"/>
          </a:xfrm>
          <a:prstGeom prst="rect">
            <a:avLst/>
          </a:prstGeom>
          <a:noFill/>
          <a:ln>
            <a:noFill/>
          </a:ln>
        </p:spPr>
      </p:pic>
      <p:sp>
        <p:nvSpPr>
          <p:cNvPr id="671" name="Google Shape;671;p53"/>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0425A"/>
              </a:buClr>
              <a:buSzPct val="100000"/>
              <a:buFont typeface="Calibri"/>
              <a:buNone/>
            </a:pPr>
            <a:r>
              <a:rPr lang="en-US"/>
              <a:t>White Rabbit – Scan Report:</a:t>
            </a:r>
            <a:br>
              <a:rPr lang="en-US"/>
            </a:br>
            <a:r>
              <a:rPr lang="en-US"/>
              <a:t>Synthea</a:t>
            </a:r>
            <a:endParaRPr/>
          </a:p>
        </p:txBody>
      </p:sp>
      <p:pic>
        <p:nvPicPr>
          <p:cNvPr descr="alt text" id="672" name="Google Shape;672;p53"/>
          <p:cNvPicPr preferRelativeResize="0"/>
          <p:nvPr/>
        </p:nvPicPr>
        <p:blipFill rotWithShape="1">
          <a:blip r:embed="rId4">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73" name="Google Shape;673;p53"/>
          <p:cNvSpPr/>
          <p:nvPr/>
        </p:nvSpPr>
        <p:spPr>
          <a:xfrm>
            <a:off x="8159245" y="5508171"/>
            <a:ext cx="2188028" cy="1113292"/>
          </a:xfrm>
          <a:prstGeom prst="rect">
            <a:avLst/>
          </a:prstGeom>
          <a:solidFill>
            <a:schemeClr val="accent1"/>
          </a:solidFill>
          <a:ln cap="flat" cmpd="sng" w="25400">
            <a:solidFill>
              <a:srgbClr val="AB4A1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Overview Tab</a:t>
            </a:r>
            <a:endParaRPr/>
          </a:p>
        </p:txBody>
      </p:sp>
      <p:sp>
        <p:nvSpPr>
          <p:cNvPr id="674" name="Google Shape;674;p53"/>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pic>
        <p:nvPicPr>
          <p:cNvPr id="679" name="Google Shape;679;p54"/>
          <p:cNvPicPr preferRelativeResize="0"/>
          <p:nvPr/>
        </p:nvPicPr>
        <p:blipFill rotWithShape="1">
          <a:blip r:embed="rId3">
            <a:alphaModFix/>
          </a:blip>
          <a:srcRect b="0" l="0" r="0" t="0"/>
          <a:stretch/>
        </p:blipFill>
        <p:spPr>
          <a:xfrm>
            <a:off x="3236119" y="1117303"/>
            <a:ext cx="5719762" cy="5244106"/>
          </a:xfrm>
          <a:prstGeom prst="rect">
            <a:avLst/>
          </a:prstGeom>
          <a:noFill/>
          <a:ln>
            <a:noFill/>
          </a:ln>
        </p:spPr>
      </p:pic>
      <p:sp>
        <p:nvSpPr>
          <p:cNvPr id="680" name="Google Shape;680;p54"/>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0425A"/>
              </a:buClr>
              <a:buSzPct val="100000"/>
              <a:buFont typeface="Calibri"/>
              <a:buNone/>
            </a:pPr>
            <a:r>
              <a:rPr lang="en-US"/>
              <a:t>White Rabbit – Scan Report:</a:t>
            </a:r>
            <a:br>
              <a:rPr lang="en-US"/>
            </a:br>
            <a:r>
              <a:rPr lang="en-US"/>
              <a:t>Synthea</a:t>
            </a:r>
            <a:endParaRPr/>
          </a:p>
        </p:txBody>
      </p:sp>
      <p:pic>
        <p:nvPicPr>
          <p:cNvPr descr="alt text" id="681" name="Google Shape;681;p54"/>
          <p:cNvPicPr preferRelativeResize="0"/>
          <p:nvPr/>
        </p:nvPicPr>
        <p:blipFill rotWithShape="1">
          <a:blip r:embed="rId4">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82" name="Google Shape;682;p54"/>
          <p:cNvSpPr/>
          <p:nvPr/>
        </p:nvSpPr>
        <p:spPr>
          <a:xfrm>
            <a:off x="3912475" y="5872163"/>
            <a:ext cx="1397000" cy="749300"/>
          </a:xfrm>
          <a:prstGeom prst="frame">
            <a:avLst>
              <a:gd fmla="val 12500" name="adj1"/>
            </a:avLst>
          </a:prstGeom>
          <a:solidFill>
            <a:schemeClr val="accent2"/>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54"/>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84" name="Google Shape;684;p54"/>
          <p:cNvSpPr/>
          <p:nvPr/>
        </p:nvSpPr>
        <p:spPr>
          <a:xfrm>
            <a:off x="8159245" y="5508171"/>
            <a:ext cx="2188028" cy="1113292"/>
          </a:xfrm>
          <a:prstGeom prst="rect">
            <a:avLst/>
          </a:prstGeom>
          <a:solidFill>
            <a:schemeClr val="accent1"/>
          </a:solidFill>
          <a:ln cap="flat" cmpd="sng" w="25400">
            <a:solidFill>
              <a:srgbClr val="AB4A1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Overview Tab</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pic>
        <p:nvPicPr>
          <p:cNvPr id="690" name="Google Shape;690;p55"/>
          <p:cNvPicPr preferRelativeResize="0"/>
          <p:nvPr/>
        </p:nvPicPr>
        <p:blipFill rotWithShape="1">
          <a:blip r:embed="rId3">
            <a:alphaModFix/>
          </a:blip>
          <a:srcRect b="0" l="0" r="0" t="0"/>
          <a:stretch/>
        </p:blipFill>
        <p:spPr>
          <a:xfrm>
            <a:off x="2915404" y="1236007"/>
            <a:ext cx="6361192" cy="5041319"/>
          </a:xfrm>
          <a:prstGeom prst="rect">
            <a:avLst/>
          </a:prstGeom>
          <a:noFill/>
          <a:ln>
            <a:noFill/>
          </a:ln>
        </p:spPr>
      </p:pic>
      <p:sp>
        <p:nvSpPr>
          <p:cNvPr id="691" name="Google Shape;691;p55"/>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0425A"/>
              </a:buClr>
              <a:buSzPct val="100000"/>
              <a:buFont typeface="Calibri"/>
              <a:buNone/>
            </a:pPr>
            <a:r>
              <a:rPr lang="en-US"/>
              <a:t>White Rabbit – Scan Report:</a:t>
            </a:r>
            <a:br>
              <a:rPr lang="en-US"/>
            </a:br>
            <a:r>
              <a:rPr lang="en-US"/>
              <a:t>Synthea</a:t>
            </a:r>
            <a:endParaRPr/>
          </a:p>
        </p:txBody>
      </p:sp>
      <p:pic>
        <p:nvPicPr>
          <p:cNvPr descr="alt text" id="692" name="Google Shape;692;p55"/>
          <p:cNvPicPr preferRelativeResize="0"/>
          <p:nvPr/>
        </p:nvPicPr>
        <p:blipFill rotWithShape="1">
          <a:blip r:embed="rId4">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693" name="Google Shape;693;p55"/>
          <p:cNvSpPr/>
          <p:nvPr/>
        </p:nvSpPr>
        <p:spPr>
          <a:xfrm>
            <a:off x="6971053" y="5782901"/>
            <a:ext cx="1143000" cy="749300"/>
          </a:xfrm>
          <a:prstGeom prst="frame">
            <a:avLst>
              <a:gd fmla="val 12500" name="adj1"/>
            </a:avLst>
          </a:prstGeom>
          <a:solidFill>
            <a:schemeClr val="accent2"/>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55"/>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95" name="Google Shape;695;p55"/>
          <p:cNvSpPr/>
          <p:nvPr/>
        </p:nvSpPr>
        <p:spPr>
          <a:xfrm>
            <a:off x="8159245" y="5508171"/>
            <a:ext cx="2188028" cy="1113292"/>
          </a:xfrm>
          <a:prstGeom prst="rect">
            <a:avLst/>
          </a:prstGeom>
          <a:solidFill>
            <a:schemeClr val="accent1"/>
          </a:solidFill>
          <a:ln cap="flat" cmpd="sng" w="25400">
            <a:solidFill>
              <a:srgbClr val="AB4A1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Patients Tab</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56"/>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Review Scan Report</a:t>
            </a:r>
            <a:endParaRPr/>
          </a:p>
        </p:txBody>
      </p:sp>
      <p:sp>
        <p:nvSpPr>
          <p:cNvPr id="701" name="Google Shape;701;p56"/>
          <p:cNvSpPr txBox="1"/>
          <p:nvPr>
            <p:ph idx="1" type="body"/>
          </p:nvPr>
        </p:nvSpPr>
        <p:spPr>
          <a:xfrm>
            <a:off x="609600" y="1317171"/>
            <a:ext cx="10972800" cy="480899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Look for </a:t>
            </a:r>
            <a:endParaRPr/>
          </a:p>
          <a:p>
            <a:pPr indent="-285750" lvl="1" marL="742950" rtl="0" algn="l">
              <a:spcBef>
                <a:spcPts val="560"/>
              </a:spcBef>
              <a:spcAft>
                <a:spcPts val="0"/>
              </a:spcAft>
              <a:buClr>
                <a:srgbClr val="20425A"/>
              </a:buClr>
              <a:buSzPts val="2800"/>
              <a:buChar char="–"/>
            </a:pPr>
            <a:r>
              <a:rPr lang="en-US"/>
              <a:t>Odd values in dates</a:t>
            </a:r>
            <a:endParaRPr/>
          </a:p>
          <a:p>
            <a:pPr indent="-285750" lvl="1" marL="742950" rtl="0" algn="l">
              <a:spcBef>
                <a:spcPts val="560"/>
              </a:spcBef>
              <a:spcAft>
                <a:spcPts val="0"/>
              </a:spcAft>
              <a:buClr>
                <a:srgbClr val="20425A"/>
              </a:buClr>
              <a:buSzPts val="2800"/>
              <a:buChar char="–"/>
            </a:pPr>
            <a:r>
              <a:rPr lang="en-US"/>
              <a:t>Missing genders</a:t>
            </a:r>
            <a:endParaRPr/>
          </a:p>
          <a:p>
            <a:pPr indent="-285750" lvl="1" marL="742950" rtl="0" algn="l">
              <a:spcBef>
                <a:spcPts val="560"/>
              </a:spcBef>
              <a:spcAft>
                <a:spcPts val="0"/>
              </a:spcAft>
              <a:buClr>
                <a:srgbClr val="20425A"/>
              </a:buClr>
              <a:buSzPts val="2800"/>
              <a:buChar char="–"/>
            </a:pPr>
            <a:r>
              <a:rPr lang="en-US"/>
              <a:t>Missing birth years or birthdates</a:t>
            </a:r>
            <a:endParaRPr/>
          </a:p>
          <a:p>
            <a:pPr indent="-285750" lvl="1" marL="742950" rtl="0" algn="l">
              <a:spcBef>
                <a:spcPts val="560"/>
              </a:spcBef>
              <a:spcAft>
                <a:spcPts val="0"/>
              </a:spcAft>
              <a:buClr>
                <a:srgbClr val="20425A"/>
              </a:buClr>
              <a:buSzPts val="2800"/>
              <a:buChar char="–"/>
            </a:pPr>
            <a:r>
              <a:rPr lang="en-US"/>
              <a:t>Missing codes</a:t>
            </a:r>
            <a:endParaRPr/>
          </a:p>
          <a:p>
            <a:pPr indent="-139700" lvl="0" marL="342900" rtl="0" algn="l">
              <a:spcBef>
                <a:spcPts val="640"/>
              </a:spcBef>
              <a:spcAft>
                <a:spcPts val="0"/>
              </a:spcAft>
              <a:buClr>
                <a:srgbClr val="20425A"/>
              </a:buClr>
              <a:buSzPts val="3200"/>
              <a:buNone/>
            </a:pPr>
            <a:r>
              <a:t/>
            </a:r>
            <a:endParaRPr/>
          </a:p>
        </p:txBody>
      </p:sp>
      <p:sp>
        <p:nvSpPr>
          <p:cNvPr id="702" name="Google Shape;702;p56"/>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57"/>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White Rabbit</a:t>
            </a:r>
            <a:endParaRPr/>
          </a:p>
        </p:txBody>
      </p:sp>
      <p:sp>
        <p:nvSpPr>
          <p:cNvPr id="708" name="Google Shape;708;p57"/>
          <p:cNvSpPr txBox="1"/>
          <p:nvPr>
            <p:ph idx="2" type="body"/>
          </p:nvPr>
        </p:nvSpPr>
        <p:spPr>
          <a:xfrm>
            <a:off x="5246914" y="1600201"/>
            <a:ext cx="49638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800"/>
              <a:buChar char="•"/>
            </a:pPr>
            <a:r>
              <a:rPr lang="en-US"/>
              <a:t>White Rabbit creates an export of information about the source data</a:t>
            </a:r>
            <a:endParaRPr/>
          </a:p>
          <a:p>
            <a:pPr indent="-165100" lvl="0" marL="342900" rtl="0" algn="l">
              <a:spcBef>
                <a:spcPts val="560"/>
              </a:spcBef>
              <a:spcAft>
                <a:spcPts val="0"/>
              </a:spcAft>
              <a:buClr>
                <a:srgbClr val="20425A"/>
              </a:buClr>
              <a:buSzPts val="2800"/>
              <a:buNone/>
            </a:pPr>
            <a:r>
              <a:t/>
            </a:r>
            <a:endParaRPr/>
          </a:p>
          <a:p>
            <a:pPr indent="-342900" lvl="0" marL="342900" rtl="0" algn="l">
              <a:spcBef>
                <a:spcPts val="560"/>
              </a:spcBef>
              <a:spcAft>
                <a:spcPts val="0"/>
              </a:spcAft>
              <a:buClr>
                <a:srgbClr val="20425A"/>
              </a:buClr>
              <a:buSzPts val="2800"/>
              <a:buChar char="•"/>
            </a:pPr>
            <a:r>
              <a:rPr lang="en-US"/>
              <a:t>The scan can be used to:</a:t>
            </a:r>
            <a:endParaRPr/>
          </a:p>
          <a:p>
            <a:pPr indent="-285750" lvl="1" marL="742950" rtl="0" algn="l">
              <a:spcBef>
                <a:spcPts val="480"/>
              </a:spcBef>
              <a:spcAft>
                <a:spcPts val="0"/>
              </a:spcAft>
              <a:buClr>
                <a:srgbClr val="20425A"/>
              </a:buClr>
              <a:buSzPts val="2400"/>
              <a:buChar char="–"/>
            </a:pPr>
            <a:r>
              <a:rPr lang="en-US"/>
              <a:t>Learn about your source data</a:t>
            </a:r>
            <a:endParaRPr/>
          </a:p>
          <a:p>
            <a:pPr indent="-285750" lvl="1" marL="742950" rtl="0" algn="l">
              <a:spcBef>
                <a:spcPts val="480"/>
              </a:spcBef>
              <a:spcAft>
                <a:spcPts val="0"/>
              </a:spcAft>
              <a:buClr>
                <a:srgbClr val="20425A"/>
              </a:buClr>
              <a:buSzPts val="2400"/>
              <a:buChar char="–"/>
            </a:pPr>
            <a:r>
              <a:rPr lang="en-US"/>
              <a:t>Used by Rabbit In a Hat</a:t>
            </a:r>
            <a:endParaRPr/>
          </a:p>
        </p:txBody>
      </p:sp>
      <p:sp>
        <p:nvSpPr>
          <p:cNvPr id="709" name="Google Shape;709;p57"/>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lt text" id="710" name="Google Shape;710;p57"/>
          <p:cNvPicPr preferRelativeResize="0"/>
          <p:nvPr>
            <p:ph idx="1" type="body"/>
          </p:nvPr>
        </p:nvPicPr>
        <p:blipFill rotWithShape="1">
          <a:blip r:embed="rId3">
            <a:alphaModFix/>
          </a:blip>
          <a:srcRect b="0" l="0" r="0" t="0"/>
          <a:stretch/>
        </p:blipFill>
        <p:spPr>
          <a:xfrm>
            <a:off x="2955471" y="1600201"/>
            <a:ext cx="1459933" cy="1459933"/>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id="711" name="Google Shape;711;p57"/>
          <p:cNvPicPr preferRelativeResize="0"/>
          <p:nvPr/>
        </p:nvPicPr>
        <p:blipFill rotWithShape="1">
          <a:blip r:embed="rId4">
            <a:alphaModFix/>
          </a:blip>
          <a:srcRect b="0" l="0" r="0" t="0"/>
          <a:stretch/>
        </p:blipFill>
        <p:spPr>
          <a:xfrm>
            <a:off x="2285846" y="3669734"/>
            <a:ext cx="2799180" cy="184093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descr="alt text" id="712" name="Google Shape;712;p57"/>
          <p:cNvPicPr preferRelativeResize="0"/>
          <p:nvPr/>
        </p:nvPicPr>
        <p:blipFill rotWithShape="1">
          <a:blip r:embed="rId3">
            <a:alphaModFix/>
          </a:blip>
          <a:srcRect b="0" l="0" r="0" t="0"/>
          <a:stretch/>
        </p:blipFill>
        <p:spPr>
          <a:xfrm>
            <a:off x="9597973" y="236537"/>
            <a:ext cx="749300" cy="7493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8"/>
          <p:cNvSpPr txBox="1"/>
          <p:nvPr>
            <p:ph idx="1" type="body"/>
          </p:nvPr>
        </p:nvSpPr>
        <p:spPr>
          <a:xfrm>
            <a:off x="1981200" y="1600201"/>
            <a:ext cx="4038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800"/>
              <a:buChar char="•"/>
            </a:pPr>
            <a:r>
              <a:rPr lang="en-US"/>
              <a:t>Can read and display a White Rabbit scan document</a:t>
            </a:r>
            <a:endParaRPr/>
          </a:p>
          <a:p>
            <a:pPr indent="-165100" lvl="0" marL="342900" rtl="0" algn="l">
              <a:spcBef>
                <a:spcPts val="560"/>
              </a:spcBef>
              <a:spcAft>
                <a:spcPts val="0"/>
              </a:spcAft>
              <a:buClr>
                <a:srgbClr val="20425A"/>
              </a:buClr>
              <a:buSzPts val="2800"/>
              <a:buNone/>
            </a:pPr>
            <a:r>
              <a:t/>
            </a:r>
            <a:endParaRPr/>
          </a:p>
          <a:p>
            <a:pPr indent="-342900" lvl="0" marL="342900" rtl="0" algn="l">
              <a:spcBef>
                <a:spcPts val="560"/>
              </a:spcBef>
              <a:spcAft>
                <a:spcPts val="0"/>
              </a:spcAft>
              <a:buClr>
                <a:srgbClr val="20425A"/>
              </a:buClr>
              <a:buSzPts val="2800"/>
              <a:buChar char="•"/>
            </a:pPr>
            <a:r>
              <a:rPr lang="en-US"/>
              <a:t>Provides a graphical interface to allow a user to connect source data to tables </a:t>
            </a:r>
            <a:endParaRPr/>
          </a:p>
        </p:txBody>
      </p:sp>
      <p:pic>
        <p:nvPicPr>
          <p:cNvPr id="718" name="Google Shape;718;p58"/>
          <p:cNvPicPr preferRelativeResize="0"/>
          <p:nvPr/>
        </p:nvPicPr>
        <p:blipFill rotWithShape="1">
          <a:blip r:embed="rId3">
            <a:alphaModFix/>
          </a:blip>
          <a:srcRect b="0" l="0" r="0" t="0"/>
          <a:stretch/>
        </p:blipFill>
        <p:spPr>
          <a:xfrm>
            <a:off x="9597973" y="246741"/>
            <a:ext cx="749808" cy="739096"/>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719" name="Google Shape;719;p5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Rabbit in a Hat</a:t>
            </a:r>
            <a:endParaRPr/>
          </a:p>
        </p:txBody>
      </p:sp>
      <p:sp>
        <p:nvSpPr>
          <p:cNvPr id="720" name="Google Shape;720;p5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721" name="Google Shape;721;p58"/>
          <p:cNvPicPr preferRelativeResize="0"/>
          <p:nvPr/>
        </p:nvPicPr>
        <p:blipFill rotWithShape="1">
          <a:blip r:embed="rId3">
            <a:alphaModFix/>
          </a:blip>
          <a:srcRect b="0" l="0" r="0" t="0"/>
          <a:stretch/>
        </p:blipFill>
        <p:spPr>
          <a:xfrm>
            <a:off x="7505698" y="1698171"/>
            <a:ext cx="1481091" cy="145993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Switching between CDMv4 and CDMv5" id="722" name="Google Shape;722;p58"/>
          <p:cNvPicPr preferRelativeResize="0"/>
          <p:nvPr/>
        </p:nvPicPr>
        <p:blipFill rotWithShape="1">
          <a:blip r:embed="rId4">
            <a:alphaModFix/>
          </a:blip>
          <a:srcRect b="0" l="0" r="0" t="0"/>
          <a:stretch/>
        </p:blipFill>
        <p:spPr>
          <a:xfrm>
            <a:off x="6736872" y="3667579"/>
            <a:ext cx="3018740" cy="184059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id="727" name="Google Shape;727;p59"/>
          <p:cNvPicPr preferRelativeResize="0"/>
          <p:nvPr/>
        </p:nvPicPr>
        <p:blipFill rotWithShape="1">
          <a:blip r:embed="rId3">
            <a:alphaModFix/>
          </a:blip>
          <a:srcRect b="0" l="0" r="0" t="0"/>
          <a:stretch/>
        </p:blipFill>
        <p:spPr>
          <a:xfrm>
            <a:off x="9597973" y="246741"/>
            <a:ext cx="749808" cy="739096"/>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728" name="Google Shape;728;p59"/>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Rabbit in a Hat</a:t>
            </a:r>
            <a:endParaRPr/>
          </a:p>
        </p:txBody>
      </p:sp>
      <p:sp>
        <p:nvSpPr>
          <p:cNvPr id="729" name="Google Shape;729;p59"/>
          <p:cNvSpPr txBox="1"/>
          <p:nvPr>
            <p:ph idx="1" type="body"/>
          </p:nvPr>
        </p:nvSpPr>
        <p:spPr>
          <a:xfrm>
            <a:off x="1981200" y="2710543"/>
            <a:ext cx="4634565" cy="341562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rgbClr val="20425A"/>
              </a:buClr>
              <a:buSzPct val="100000"/>
              <a:buChar char="•"/>
            </a:pPr>
            <a:r>
              <a:rPr lang="en-US"/>
              <a:t>We will use the Synthea_ScanReport.xlsx for this:</a:t>
            </a:r>
            <a:endParaRPr/>
          </a:p>
          <a:p>
            <a:pPr indent="-285750" lvl="1" marL="742950" rtl="0" algn="l">
              <a:spcBef>
                <a:spcPts val="444"/>
              </a:spcBef>
              <a:spcAft>
                <a:spcPts val="0"/>
              </a:spcAft>
              <a:buClr>
                <a:srgbClr val="20425A"/>
              </a:buClr>
              <a:buSzPct val="100000"/>
              <a:buChar char="–"/>
            </a:pPr>
            <a:r>
              <a:rPr lang="en-US" u="sng">
                <a:solidFill>
                  <a:schemeClr val="hlink"/>
                </a:solidFill>
                <a:hlinkClick r:id="rId4"/>
              </a:rPr>
              <a:t>https://github.com/OHDSI/Tutorial-ETL</a:t>
            </a:r>
            <a:endParaRPr/>
          </a:p>
          <a:p>
            <a:pPr indent="-144780" lvl="1" marL="742950" rtl="0" algn="l">
              <a:spcBef>
                <a:spcPts val="444"/>
              </a:spcBef>
              <a:spcAft>
                <a:spcPts val="0"/>
              </a:spcAft>
              <a:buClr>
                <a:srgbClr val="20425A"/>
              </a:buClr>
              <a:buSzPct val="100000"/>
              <a:buNone/>
            </a:pPr>
            <a:r>
              <a:t/>
            </a:r>
            <a:endParaRPr/>
          </a:p>
          <a:p>
            <a:pPr indent="-285750" lvl="1" marL="742950" rtl="0" algn="l">
              <a:spcBef>
                <a:spcPts val="444"/>
              </a:spcBef>
              <a:spcAft>
                <a:spcPts val="0"/>
              </a:spcAft>
              <a:buClr>
                <a:srgbClr val="20425A"/>
              </a:buClr>
              <a:buSzPct val="100000"/>
              <a:buChar char="–"/>
            </a:pPr>
            <a:r>
              <a:rPr lang="en-US"/>
              <a:t>Materials 🡪 WhiteRabbit 🡪 Synthea_ScanReport.xlsx</a:t>
            </a:r>
            <a:endParaRPr/>
          </a:p>
          <a:p>
            <a:pPr indent="-221171" lvl="1" marL="742950" rtl="0" algn="l">
              <a:spcBef>
                <a:spcPts val="203"/>
              </a:spcBef>
              <a:spcAft>
                <a:spcPts val="0"/>
              </a:spcAft>
              <a:buClr>
                <a:srgbClr val="20425A"/>
              </a:buClr>
              <a:buSzPct val="100000"/>
              <a:buNone/>
            </a:pPr>
            <a:r>
              <a:t/>
            </a:r>
            <a:endParaRPr sz="1100"/>
          </a:p>
          <a:p>
            <a:pPr indent="-285750" lvl="1" marL="742950" rtl="0" algn="l">
              <a:spcBef>
                <a:spcPts val="444"/>
              </a:spcBef>
              <a:spcAft>
                <a:spcPts val="0"/>
              </a:spcAft>
              <a:buClr>
                <a:srgbClr val="20425A"/>
              </a:buClr>
              <a:buSzPct val="100000"/>
              <a:buChar char="–"/>
            </a:pPr>
            <a:r>
              <a:rPr lang="en-US"/>
              <a:t>Press the “Download” button</a:t>
            </a:r>
            <a:endParaRPr/>
          </a:p>
        </p:txBody>
      </p:sp>
      <p:sp>
        <p:nvSpPr>
          <p:cNvPr id="730" name="Google Shape;730;p59"/>
          <p:cNvSpPr txBox="1"/>
          <p:nvPr>
            <p:ph idx="2" type="body"/>
          </p:nvPr>
        </p:nvSpPr>
        <p:spPr>
          <a:xfrm>
            <a:off x="6950949" y="2710543"/>
            <a:ext cx="3432875" cy="2141304"/>
          </a:xfrm>
          <a:prstGeom prst="rect">
            <a:avLst/>
          </a:prstGeom>
          <a:noFill/>
          <a:ln>
            <a:noFill/>
          </a:ln>
        </p:spPr>
        <p:txBody>
          <a:bodyPr anchorCtr="0" anchor="t" bIns="45700" lIns="91425" spcFirstLastPara="1" rIns="91425" wrap="square" tIns="45700">
            <a:normAutofit fontScale="92500" lnSpcReduction="10000"/>
          </a:bodyPr>
          <a:lstStyle/>
          <a:p>
            <a:pPr indent="-285750" lvl="1" marL="742950" rtl="0" algn="l">
              <a:spcBef>
                <a:spcPts val="0"/>
              </a:spcBef>
              <a:spcAft>
                <a:spcPts val="0"/>
              </a:spcAft>
              <a:buClr>
                <a:srgbClr val="20425A"/>
              </a:buClr>
              <a:buSzPct val="100000"/>
              <a:buChar char="–"/>
            </a:pPr>
            <a:r>
              <a:rPr lang="en-US"/>
              <a:t>Save it to the desktop</a:t>
            </a:r>
            <a:endParaRPr/>
          </a:p>
          <a:p>
            <a:pPr indent="-144780" lvl="1" marL="742950" rtl="0" algn="l">
              <a:spcBef>
                <a:spcPts val="444"/>
              </a:spcBef>
              <a:spcAft>
                <a:spcPts val="0"/>
              </a:spcAft>
              <a:buClr>
                <a:srgbClr val="20425A"/>
              </a:buClr>
              <a:buSzPct val="100000"/>
              <a:buNone/>
            </a:pPr>
            <a:r>
              <a:t/>
            </a:r>
            <a:endParaRPr/>
          </a:p>
          <a:p>
            <a:pPr indent="-285750" lvl="1" marL="742950" rtl="0" algn="l">
              <a:spcBef>
                <a:spcPts val="444"/>
              </a:spcBef>
              <a:spcAft>
                <a:spcPts val="0"/>
              </a:spcAft>
              <a:buClr>
                <a:srgbClr val="20425A"/>
              </a:buClr>
              <a:buSzPct val="100000"/>
              <a:buChar char="–"/>
            </a:pPr>
            <a:r>
              <a:rPr lang="en-US"/>
              <a:t>Open it Rabbit in a Hat</a:t>
            </a:r>
            <a:endParaRPr/>
          </a:p>
        </p:txBody>
      </p:sp>
      <p:sp>
        <p:nvSpPr>
          <p:cNvPr id="731" name="Google Shape;731;p59"/>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32" name="Google Shape;732;p59"/>
          <p:cNvSpPr/>
          <p:nvPr/>
        </p:nvSpPr>
        <p:spPr>
          <a:xfrm>
            <a:off x="3088821" y="1167947"/>
            <a:ext cx="1428751" cy="1365251"/>
          </a:xfrm>
          <a:prstGeom prst="flowChartMagneticDisk">
            <a:avLst/>
          </a:prstGeom>
          <a:solidFill>
            <a:schemeClr val="accent5"/>
          </a:solidFill>
          <a:ln cap="flat" cmpd="sng" w="25400">
            <a:solidFill>
              <a:srgbClr val="367D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Synthea</a:t>
            </a:r>
            <a:endParaRPr sz="2400">
              <a:solidFill>
                <a:schemeClr val="lt1"/>
              </a:solidFill>
              <a:latin typeface="Calibri"/>
              <a:ea typeface="Calibri"/>
              <a:cs typeface="Calibri"/>
              <a:sym typeface="Calibri"/>
            </a:endParaRPr>
          </a:p>
        </p:txBody>
      </p:sp>
      <p:pic>
        <p:nvPicPr>
          <p:cNvPr id="733" name="Google Shape;733;p59"/>
          <p:cNvPicPr preferRelativeResize="0"/>
          <p:nvPr/>
        </p:nvPicPr>
        <p:blipFill rotWithShape="1">
          <a:blip r:embed="rId5">
            <a:alphaModFix/>
          </a:blip>
          <a:srcRect b="0" l="0" r="0" t="0"/>
          <a:stretch/>
        </p:blipFill>
        <p:spPr>
          <a:xfrm>
            <a:off x="7443423" y="1560008"/>
            <a:ext cx="2447925" cy="8286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0"/>
          <p:cNvSpPr txBox="1"/>
          <p:nvPr>
            <p:ph idx="1" type="body"/>
          </p:nvPr>
        </p:nvSpPr>
        <p:spPr>
          <a:xfrm>
            <a:off x="1981200" y="1600201"/>
            <a:ext cx="4038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800"/>
              <a:buChar char="•"/>
            </a:pPr>
            <a:r>
              <a:rPr lang="en-US"/>
              <a:t>The scan tells Rabbit in a Hat what is in the raw database</a:t>
            </a:r>
            <a:endParaRPr/>
          </a:p>
          <a:p>
            <a:pPr indent="-228600" lvl="0" marL="342900" rtl="0" algn="l">
              <a:spcBef>
                <a:spcPts val="360"/>
              </a:spcBef>
              <a:spcAft>
                <a:spcPts val="0"/>
              </a:spcAft>
              <a:buClr>
                <a:srgbClr val="20425A"/>
              </a:buClr>
              <a:buSzPts val="1800"/>
              <a:buNone/>
            </a:pPr>
            <a:r>
              <a:t/>
            </a:r>
            <a:endParaRPr sz="1800"/>
          </a:p>
          <a:p>
            <a:pPr indent="-285750" lvl="1" marL="742950" rtl="0" algn="l">
              <a:spcBef>
                <a:spcPts val="480"/>
              </a:spcBef>
              <a:spcAft>
                <a:spcPts val="0"/>
              </a:spcAft>
              <a:buClr>
                <a:srgbClr val="20425A"/>
              </a:buClr>
              <a:buSzPts val="2400"/>
              <a:buChar char="–"/>
            </a:pPr>
            <a:r>
              <a:rPr lang="en-US"/>
              <a:t>Orange Tables = Raw</a:t>
            </a:r>
            <a:endParaRPr/>
          </a:p>
          <a:p>
            <a:pPr indent="-171450" lvl="1" marL="742950" rtl="0" algn="l">
              <a:spcBef>
                <a:spcPts val="360"/>
              </a:spcBef>
              <a:spcAft>
                <a:spcPts val="0"/>
              </a:spcAft>
              <a:buClr>
                <a:srgbClr val="20425A"/>
              </a:buClr>
              <a:buSzPts val="1800"/>
              <a:buNone/>
            </a:pPr>
            <a:r>
              <a:t/>
            </a:r>
            <a:endParaRPr sz="1800"/>
          </a:p>
          <a:p>
            <a:pPr indent="-285750" lvl="1" marL="742950" rtl="0" algn="l">
              <a:spcBef>
                <a:spcPts val="480"/>
              </a:spcBef>
              <a:spcAft>
                <a:spcPts val="0"/>
              </a:spcAft>
              <a:buClr>
                <a:srgbClr val="20425A"/>
              </a:buClr>
              <a:buSzPts val="2400"/>
              <a:buChar char="–"/>
            </a:pPr>
            <a:r>
              <a:rPr lang="en-US"/>
              <a:t>Blue Tables = CDM</a:t>
            </a:r>
            <a:endParaRPr/>
          </a:p>
        </p:txBody>
      </p:sp>
      <p:pic>
        <p:nvPicPr>
          <p:cNvPr id="739" name="Google Shape;739;p60"/>
          <p:cNvPicPr preferRelativeResize="0"/>
          <p:nvPr/>
        </p:nvPicPr>
        <p:blipFill rotWithShape="1">
          <a:blip r:embed="rId3">
            <a:alphaModFix/>
          </a:blip>
          <a:srcRect b="0" l="0" r="0" t="0"/>
          <a:stretch/>
        </p:blipFill>
        <p:spPr>
          <a:xfrm>
            <a:off x="9597973" y="246741"/>
            <a:ext cx="749808" cy="739096"/>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740" name="Google Shape;740;p60"/>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Rabbit in a Hat</a:t>
            </a:r>
            <a:endParaRPr/>
          </a:p>
        </p:txBody>
      </p:sp>
      <p:sp>
        <p:nvSpPr>
          <p:cNvPr id="741" name="Google Shape;741;p6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742" name="Google Shape;742;p60"/>
          <p:cNvPicPr preferRelativeResize="0"/>
          <p:nvPr/>
        </p:nvPicPr>
        <p:blipFill rotWithShape="1">
          <a:blip r:embed="rId4">
            <a:alphaModFix/>
          </a:blip>
          <a:srcRect b="0" l="0" r="0" t="0"/>
          <a:stretch/>
        </p:blipFill>
        <p:spPr>
          <a:xfrm>
            <a:off x="6080205" y="1719944"/>
            <a:ext cx="3892672" cy="382077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61"/>
          <p:cNvSpPr txBox="1"/>
          <p:nvPr>
            <p:ph type="title"/>
          </p:nvPr>
        </p:nvSpPr>
        <p:spPr>
          <a:xfrm>
            <a:off x="2667000" y="152400"/>
            <a:ext cx="678459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Rabbit in a Hat</a:t>
            </a:r>
            <a:endParaRPr/>
          </a:p>
        </p:txBody>
      </p:sp>
      <p:sp>
        <p:nvSpPr>
          <p:cNvPr id="749" name="Google Shape;749;p61"/>
          <p:cNvSpPr txBox="1"/>
          <p:nvPr>
            <p:ph idx="1" type="body"/>
          </p:nvPr>
        </p:nvSpPr>
        <p:spPr>
          <a:xfrm>
            <a:off x="1976833" y="1535113"/>
            <a:ext cx="8190423" cy="639762"/>
          </a:xfrm>
          <a:prstGeom prst="rect">
            <a:avLst/>
          </a:prstGeom>
          <a:solidFill>
            <a:srgbClr val="D8D8D8"/>
          </a:solidFill>
          <a:ln>
            <a:noFill/>
          </a:ln>
        </p:spPr>
        <p:txBody>
          <a:bodyPr anchorCtr="0" anchor="b" bIns="45700" lIns="91425" spcFirstLastPara="1" rIns="91425" wrap="square" tIns="45700">
            <a:normAutofit/>
          </a:bodyPr>
          <a:lstStyle/>
          <a:p>
            <a:pPr indent="0" lvl="0" marL="0" rtl="0" algn="l">
              <a:spcBef>
                <a:spcPts val="0"/>
              </a:spcBef>
              <a:spcAft>
                <a:spcPts val="0"/>
              </a:spcAft>
              <a:buClr>
                <a:srgbClr val="20425A"/>
              </a:buClr>
              <a:buSzPts val="3200"/>
              <a:buNone/>
            </a:pPr>
            <a:r>
              <a:rPr lang="en-US" sz="3200"/>
              <a:t>Tables we will go through today -&gt; </a:t>
            </a:r>
            <a:endParaRPr/>
          </a:p>
        </p:txBody>
      </p:sp>
      <p:sp>
        <p:nvSpPr>
          <p:cNvPr id="750" name="Google Shape;750;p61"/>
          <p:cNvSpPr txBox="1"/>
          <p:nvPr>
            <p:ph idx="4" type="body"/>
          </p:nvPr>
        </p:nvSpPr>
        <p:spPr>
          <a:xfrm>
            <a:off x="6193370" y="2174875"/>
            <a:ext cx="5389033" cy="3951288"/>
          </a:xfrm>
          <a:prstGeom prst="rect">
            <a:avLst/>
          </a:prstGeom>
          <a:noFill/>
          <a:ln>
            <a:noFill/>
          </a:ln>
        </p:spPr>
        <p:txBody>
          <a:bodyPr anchorCtr="0" anchor="t" bIns="45700" lIns="91425" spcFirstLastPara="1" rIns="91425" wrap="square" tIns="45700">
            <a:normAutofit/>
          </a:bodyPr>
          <a:lstStyle/>
          <a:p>
            <a:pPr indent="0" lvl="1" marL="457200" rtl="0" algn="l">
              <a:spcBef>
                <a:spcPts val="0"/>
              </a:spcBef>
              <a:spcAft>
                <a:spcPts val="0"/>
              </a:spcAft>
              <a:buClr>
                <a:srgbClr val="20425A"/>
              </a:buClr>
              <a:buSzPts val="2000"/>
              <a:buNone/>
            </a:pPr>
            <a:r>
              <a:t/>
            </a:r>
            <a:endParaRPr/>
          </a:p>
          <a:p>
            <a:pPr indent="0" lvl="1" marL="457200" rtl="0" algn="l">
              <a:spcBef>
                <a:spcPts val="400"/>
              </a:spcBef>
              <a:spcAft>
                <a:spcPts val="0"/>
              </a:spcAft>
              <a:buClr>
                <a:srgbClr val="20425A"/>
              </a:buClr>
              <a:buSzPts val="2000"/>
              <a:buNone/>
            </a:pPr>
            <a:r>
              <a:t/>
            </a:r>
            <a:endParaRPr/>
          </a:p>
        </p:txBody>
      </p:sp>
      <p:sp>
        <p:nvSpPr>
          <p:cNvPr id="751" name="Google Shape;751;p61"/>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752" name="Google Shape;752;p61"/>
          <p:cNvPicPr preferRelativeResize="0"/>
          <p:nvPr/>
        </p:nvPicPr>
        <p:blipFill rotWithShape="1">
          <a:blip r:embed="rId3">
            <a:alphaModFix/>
          </a:blip>
          <a:srcRect b="0" l="0" r="0" t="0"/>
          <a:stretch/>
        </p:blipFill>
        <p:spPr>
          <a:xfrm>
            <a:off x="9597973" y="246741"/>
            <a:ext cx="749808" cy="739096"/>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Image result for pusheen working" id="753" name="Google Shape;753;p61"/>
          <p:cNvPicPr preferRelativeResize="0"/>
          <p:nvPr/>
        </p:nvPicPr>
        <p:blipFill rotWithShape="1">
          <a:blip r:embed="rId4">
            <a:alphaModFix/>
          </a:blip>
          <a:srcRect b="0" l="0" r="0" t="0"/>
          <a:stretch/>
        </p:blipFill>
        <p:spPr>
          <a:xfrm>
            <a:off x="6995772" y="3094944"/>
            <a:ext cx="2388280" cy="2388280"/>
          </a:xfrm>
          <a:prstGeom prst="rect">
            <a:avLst/>
          </a:prstGeom>
          <a:noFill/>
          <a:ln>
            <a:noFill/>
          </a:ln>
        </p:spPr>
      </p:pic>
      <p:pic>
        <p:nvPicPr>
          <p:cNvPr id="754" name="Google Shape;754;p61"/>
          <p:cNvPicPr preferRelativeResize="0"/>
          <p:nvPr/>
        </p:nvPicPr>
        <p:blipFill rotWithShape="1">
          <a:blip r:embed="rId5">
            <a:alphaModFix/>
          </a:blip>
          <a:srcRect b="0" l="0" r="0" t="0"/>
          <a:stretch/>
        </p:blipFill>
        <p:spPr>
          <a:xfrm>
            <a:off x="7127876" y="2618693"/>
            <a:ext cx="2085975" cy="619125"/>
          </a:xfrm>
          <a:prstGeom prst="rect">
            <a:avLst/>
          </a:prstGeom>
          <a:noFill/>
          <a:ln>
            <a:noFill/>
          </a:ln>
        </p:spPr>
      </p:pic>
      <p:sp>
        <p:nvSpPr>
          <p:cNvPr id="755" name="Google Shape;755;p61"/>
          <p:cNvSpPr txBox="1"/>
          <p:nvPr/>
        </p:nvSpPr>
        <p:spPr>
          <a:xfrm>
            <a:off x="7385713" y="2757701"/>
            <a:ext cx="1760562" cy="307777"/>
          </a:xfrm>
          <a:prstGeom prst="rect">
            <a:avLst/>
          </a:prstGeom>
          <a:solidFill>
            <a:srgbClr val="C88AC5"/>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Generate document</a:t>
            </a:r>
            <a:endParaRPr/>
          </a:p>
        </p:txBody>
      </p:sp>
      <p:sp>
        <p:nvSpPr>
          <p:cNvPr id="756" name="Google Shape;756;p61"/>
          <p:cNvSpPr/>
          <p:nvPr/>
        </p:nvSpPr>
        <p:spPr>
          <a:xfrm>
            <a:off x="2978149" y="2571068"/>
            <a:ext cx="1897625" cy="472191"/>
          </a:xfrm>
          <a:prstGeom prst="rect">
            <a:avLst/>
          </a:prstGeom>
          <a:solidFill>
            <a:srgbClr val="C0BFFF"/>
          </a:solidFill>
          <a:ln cap="flat" cmpd="sng" w="25400">
            <a:solidFill>
              <a:srgbClr val="362A4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183143"/>
                </a:solidFill>
                <a:latin typeface="Calibri"/>
                <a:ea typeface="Calibri"/>
                <a:cs typeface="Calibri"/>
                <a:sym typeface="Calibri"/>
              </a:rPr>
              <a:t>Person</a:t>
            </a:r>
            <a:endParaRPr/>
          </a:p>
        </p:txBody>
      </p:sp>
      <p:sp>
        <p:nvSpPr>
          <p:cNvPr id="757" name="Google Shape;757;p61"/>
          <p:cNvSpPr/>
          <p:nvPr/>
        </p:nvSpPr>
        <p:spPr>
          <a:xfrm>
            <a:off x="2978149" y="3135360"/>
            <a:ext cx="1897625" cy="472191"/>
          </a:xfrm>
          <a:prstGeom prst="rect">
            <a:avLst/>
          </a:prstGeom>
          <a:solidFill>
            <a:srgbClr val="C0BFFF"/>
          </a:solidFill>
          <a:ln cap="flat" cmpd="sng" w="25400">
            <a:solidFill>
              <a:srgbClr val="362A4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183143"/>
                </a:solidFill>
                <a:latin typeface="Calibri"/>
                <a:ea typeface="Calibri"/>
                <a:cs typeface="Calibri"/>
                <a:sym typeface="Calibri"/>
              </a:rPr>
              <a:t>Observation_period</a:t>
            </a:r>
            <a:endParaRPr sz="1600">
              <a:solidFill>
                <a:srgbClr val="183143"/>
              </a:solidFill>
              <a:latin typeface="Calibri"/>
              <a:ea typeface="Calibri"/>
              <a:cs typeface="Calibri"/>
              <a:sym typeface="Calibri"/>
            </a:endParaRPr>
          </a:p>
        </p:txBody>
      </p:sp>
      <p:sp>
        <p:nvSpPr>
          <p:cNvPr id="758" name="Google Shape;758;p61"/>
          <p:cNvSpPr/>
          <p:nvPr/>
        </p:nvSpPr>
        <p:spPr>
          <a:xfrm>
            <a:off x="2978149" y="3703326"/>
            <a:ext cx="1897625" cy="472191"/>
          </a:xfrm>
          <a:prstGeom prst="rect">
            <a:avLst/>
          </a:prstGeom>
          <a:solidFill>
            <a:srgbClr val="C0BFFF"/>
          </a:solidFill>
          <a:ln cap="flat" cmpd="sng" w="25400">
            <a:solidFill>
              <a:srgbClr val="362A4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183143"/>
                </a:solidFill>
                <a:latin typeface="Calibri"/>
                <a:ea typeface="Calibri"/>
                <a:cs typeface="Calibri"/>
                <a:sym typeface="Calibri"/>
              </a:rPr>
              <a:t>Visit_occurrence</a:t>
            </a:r>
            <a:endParaRPr sz="1600">
              <a:solidFill>
                <a:srgbClr val="183143"/>
              </a:solidFill>
              <a:latin typeface="Calibri"/>
              <a:ea typeface="Calibri"/>
              <a:cs typeface="Calibri"/>
              <a:sym typeface="Calibri"/>
            </a:endParaRPr>
          </a:p>
        </p:txBody>
      </p:sp>
      <p:sp>
        <p:nvSpPr>
          <p:cNvPr id="759" name="Google Shape;759;p61"/>
          <p:cNvSpPr/>
          <p:nvPr/>
        </p:nvSpPr>
        <p:spPr>
          <a:xfrm>
            <a:off x="2978148" y="4289084"/>
            <a:ext cx="1897625" cy="472191"/>
          </a:xfrm>
          <a:prstGeom prst="rect">
            <a:avLst/>
          </a:prstGeom>
          <a:solidFill>
            <a:srgbClr val="C0BFFF"/>
          </a:solidFill>
          <a:ln cap="flat" cmpd="sng" w="25400">
            <a:solidFill>
              <a:srgbClr val="362A4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183143"/>
                </a:solidFill>
                <a:latin typeface="Calibri"/>
                <a:ea typeface="Calibri"/>
                <a:cs typeface="Calibri"/>
                <a:sym typeface="Calibri"/>
              </a:rPr>
              <a:t>Condition_occurrence</a:t>
            </a:r>
            <a:endParaRPr sz="1400">
              <a:solidFill>
                <a:srgbClr val="183143"/>
              </a:solidFill>
              <a:latin typeface="Calibri"/>
              <a:ea typeface="Calibri"/>
              <a:cs typeface="Calibri"/>
              <a:sym typeface="Calibri"/>
            </a:endParaRPr>
          </a:p>
        </p:txBody>
      </p:sp>
      <p:sp>
        <p:nvSpPr>
          <p:cNvPr id="760" name="Google Shape;760;p61"/>
          <p:cNvSpPr/>
          <p:nvPr/>
        </p:nvSpPr>
        <p:spPr>
          <a:xfrm>
            <a:off x="2978148" y="4850696"/>
            <a:ext cx="1897625" cy="472191"/>
          </a:xfrm>
          <a:prstGeom prst="rect">
            <a:avLst/>
          </a:prstGeom>
          <a:solidFill>
            <a:srgbClr val="C0BFFF"/>
          </a:solidFill>
          <a:ln cap="flat" cmpd="sng" w="25400">
            <a:solidFill>
              <a:srgbClr val="362A4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183143"/>
                </a:solidFill>
                <a:latin typeface="Calibri"/>
                <a:ea typeface="Calibri"/>
                <a:cs typeface="Calibri"/>
                <a:sym typeface="Calibri"/>
              </a:rPr>
              <a:t>Drug_exposure</a:t>
            </a:r>
            <a:endParaRPr sz="1800">
              <a:solidFill>
                <a:srgbClr val="183143"/>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2"/>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Resources</a:t>
            </a:r>
            <a:endParaRPr/>
          </a:p>
        </p:txBody>
      </p:sp>
      <p:sp>
        <p:nvSpPr>
          <p:cNvPr id="766" name="Google Shape;766;p62"/>
          <p:cNvSpPr txBox="1"/>
          <p:nvPr>
            <p:ph idx="1" type="body"/>
          </p:nvPr>
        </p:nvSpPr>
        <p:spPr>
          <a:xfrm>
            <a:off x="1981200" y="1219200"/>
            <a:ext cx="8229600" cy="515112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rgbClr val="20425A"/>
              </a:buClr>
              <a:buSzPct val="100000"/>
              <a:buChar char="•"/>
            </a:pPr>
            <a:r>
              <a:rPr lang="en-US"/>
              <a:t>Important links to keep in mind when working on an ETL:</a:t>
            </a:r>
            <a:br>
              <a:rPr lang="en-US"/>
            </a:br>
            <a:endParaRPr/>
          </a:p>
          <a:p>
            <a:pPr indent="-285750" lvl="1" marL="742950" rtl="0" algn="l">
              <a:spcBef>
                <a:spcPts val="336"/>
              </a:spcBef>
              <a:spcAft>
                <a:spcPts val="0"/>
              </a:spcAft>
              <a:buClr>
                <a:srgbClr val="20425A"/>
              </a:buClr>
              <a:buSzPct val="100000"/>
              <a:buChar char="–"/>
            </a:pPr>
            <a:r>
              <a:rPr lang="en-US" sz="2400"/>
              <a:t>CDM Documentation</a:t>
            </a:r>
            <a:br>
              <a:rPr lang="en-US" sz="2400" u="sng">
                <a:solidFill>
                  <a:schemeClr val="hlink"/>
                </a:solidFill>
                <a:hlinkClick r:id="rId3"/>
              </a:rPr>
            </a:br>
            <a:r>
              <a:rPr lang="en-US" sz="2400" u="sng">
                <a:solidFill>
                  <a:schemeClr val="hlink"/>
                </a:solidFill>
                <a:hlinkClick r:id="rId4"/>
              </a:rPr>
              <a:t>https://ohdsi.github.io/CommonDataModel</a:t>
            </a:r>
            <a:br>
              <a:rPr lang="en-US" sz="2400"/>
            </a:br>
            <a:r>
              <a:rPr lang="en-US" sz="2400"/>
              <a:t>Information about the CDM structure and conventions to follow can be found here</a:t>
            </a:r>
            <a:br>
              <a:rPr lang="en-US" sz="2400"/>
            </a:br>
            <a:endParaRPr sz="2400"/>
          </a:p>
          <a:p>
            <a:pPr indent="-285750" lvl="1" marL="742950" rtl="0" algn="l">
              <a:spcBef>
                <a:spcPts val="336"/>
              </a:spcBef>
              <a:spcAft>
                <a:spcPts val="0"/>
              </a:spcAft>
              <a:buClr>
                <a:srgbClr val="20425A"/>
              </a:buClr>
              <a:buSzPct val="100000"/>
              <a:buChar char="–"/>
            </a:pPr>
            <a:r>
              <a:rPr lang="en-US" sz="2400"/>
              <a:t>OHDSI Forums</a:t>
            </a:r>
            <a:br>
              <a:rPr lang="en-US" sz="2400"/>
            </a:br>
            <a:r>
              <a:rPr lang="en-US" sz="2400" u="sng">
                <a:solidFill>
                  <a:schemeClr val="hlink"/>
                </a:solidFill>
                <a:hlinkClick r:id="rId5"/>
              </a:rPr>
              <a:t>http://forums.ohdsi.org/</a:t>
            </a:r>
            <a:br>
              <a:rPr lang="en-US" sz="2400"/>
            </a:br>
            <a:r>
              <a:rPr lang="en-US" sz="2400" u="sng">
                <a:solidFill>
                  <a:schemeClr val="hlink"/>
                </a:solidFill>
                <a:hlinkClick r:id="rId6"/>
              </a:rPr>
              <a:t>http://forums.ohdsi.org/c/cdm-builders</a:t>
            </a:r>
            <a:br>
              <a:rPr lang="en-US" sz="2400"/>
            </a:br>
            <a:r>
              <a:rPr lang="en-US" sz="2400"/>
              <a:t>OHDSI is an active community, your questions may have already been asked on the forum however if not do not be afraid to ask it yourself!</a:t>
            </a:r>
            <a:endParaRPr/>
          </a:p>
          <a:p>
            <a:pPr indent="-179070" lvl="1" marL="742950" rtl="0" algn="l">
              <a:spcBef>
                <a:spcPts val="336"/>
              </a:spcBef>
              <a:spcAft>
                <a:spcPts val="0"/>
              </a:spcAft>
              <a:buClr>
                <a:srgbClr val="20425A"/>
              </a:buClr>
              <a:buSzPct val="100000"/>
              <a:buNone/>
            </a:pPr>
            <a:r>
              <a:t/>
            </a:r>
            <a:endParaRPr sz="2400"/>
          </a:p>
          <a:p>
            <a:pPr indent="-285750" lvl="1" marL="742950" rtl="0" algn="l">
              <a:spcBef>
                <a:spcPts val="336"/>
              </a:spcBef>
              <a:spcAft>
                <a:spcPts val="0"/>
              </a:spcAft>
              <a:buClr>
                <a:srgbClr val="20425A"/>
              </a:buClr>
              <a:buSzPct val="100000"/>
              <a:buChar char="–"/>
            </a:pPr>
            <a:r>
              <a:rPr lang="en-US" sz="2400"/>
              <a:t>Book of OHDSI:  ETL Chapter</a:t>
            </a:r>
            <a:br>
              <a:rPr lang="en-US" sz="2400" u="sng">
                <a:solidFill>
                  <a:schemeClr val="hlink"/>
                </a:solidFill>
                <a:hlinkClick r:id="rId7"/>
              </a:rPr>
            </a:br>
            <a:r>
              <a:rPr lang="en-US" sz="2400" u="sng">
                <a:solidFill>
                  <a:schemeClr val="hlink"/>
                </a:solidFill>
                <a:hlinkClick r:id="rId8"/>
              </a:rPr>
              <a:t>https://ohdsi.github.io/TheBookOfOhdsi/ExtractTransformLoad.html</a:t>
            </a:r>
            <a:br>
              <a:rPr lang="en-US" sz="2400"/>
            </a:br>
            <a:r>
              <a:rPr lang="en-US" sz="2400"/>
              <a:t>The OHSDI community wrote the book to serve as a central knowledge repository for all things OHDSI. </a:t>
            </a:r>
            <a:endParaRPr/>
          </a:p>
          <a:p>
            <a:pPr indent="-179070" lvl="1" marL="742950" rtl="0" algn="l">
              <a:spcBef>
                <a:spcPts val="336"/>
              </a:spcBef>
              <a:spcAft>
                <a:spcPts val="0"/>
              </a:spcAft>
              <a:buClr>
                <a:srgbClr val="20425A"/>
              </a:buClr>
              <a:buSzPct val="100000"/>
              <a:buNone/>
            </a:pPr>
            <a:r>
              <a:t/>
            </a:r>
            <a:endParaRPr sz="2400"/>
          </a:p>
          <a:p>
            <a:pPr indent="-285750" lvl="1" marL="742950" rtl="0" algn="l">
              <a:spcBef>
                <a:spcPts val="336"/>
              </a:spcBef>
              <a:spcAft>
                <a:spcPts val="0"/>
              </a:spcAft>
              <a:buClr>
                <a:srgbClr val="20425A"/>
              </a:buClr>
              <a:buSzPct val="100000"/>
              <a:buChar char="–"/>
            </a:pPr>
            <a:r>
              <a:rPr lang="en-US" sz="2400"/>
              <a:t>THEMIS Repository</a:t>
            </a:r>
            <a:br>
              <a:rPr lang="en-US" sz="2400"/>
            </a:br>
            <a:r>
              <a:rPr lang="en-US" sz="2400" u="sng">
                <a:solidFill>
                  <a:schemeClr val="hlink"/>
                </a:solidFill>
                <a:hlinkClick r:id="rId9"/>
              </a:rPr>
              <a:t>https://ohdsi.github.io/Themis/</a:t>
            </a:r>
            <a:r>
              <a:rPr lang="en-US" sz="2400"/>
              <a:t> </a:t>
            </a:r>
            <a:endParaRPr sz="2400"/>
          </a:p>
        </p:txBody>
      </p:sp>
      <p:pic>
        <p:nvPicPr>
          <p:cNvPr descr="Image result for pusheen transparent background" id="767" name="Google Shape;767;p62"/>
          <p:cNvPicPr preferRelativeResize="0"/>
          <p:nvPr/>
        </p:nvPicPr>
        <p:blipFill rotWithShape="1">
          <a:blip r:embed="rId10">
            <a:alphaModFix/>
          </a:blip>
          <a:srcRect b="0" l="0" r="0" t="0"/>
          <a:stretch/>
        </p:blipFill>
        <p:spPr>
          <a:xfrm>
            <a:off x="9681940" y="152400"/>
            <a:ext cx="838200" cy="838200"/>
          </a:xfrm>
          <a:prstGeom prst="rect">
            <a:avLst/>
          </a:prstGeom>
          <a:noFill/>
          <a:ln>
            <a:noFill/>
          </a:ln>
        </p:spPr>
      </p:pic>
      <p:sp>
        <p:nvSpPr>
          <p:cNvPr id="768" name="Google Shape;768;p62"/>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http://www.ohdsi.org/web/wiki/lib/exe/fetch.php?w=300&amp;tok=37dda3&amp;media=projects:workgroups:themis-logo-horizontal.png" id="769" name="Google Shape;769;p62"/>
          <p:cNvPicPr preferRelativeResize="0"/>
          <p:nvPr/>
        </p:nvPicPr>
        <p:blipFill rotWithShape="1">
          <a:blip r:embed="rId11">
            <a:alphaModFix/>
          </a:blip>
          <a:srcRect b="0" l="0" r="0" t="0"/>
          <a:stretch/>
        </p:blipFill>
        <p:spPr>
          <a:xfrm>
            <a:off x="6222132" y="4974066"/>
            <a:ext cx="1516380" cy="76740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63"/>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Rabbit in a Hat</a:t>
            </a:r>
            <a:endParaRPr/>
          </a:p>
        </p:txBody>
      </p:sp>
      <p:sp>
        <p:nvSpPr>
          <p:cNvPr id="776" name="Google Shape;776;p63"/>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The full ETL document:</a:t>
            </a:r>
            <a:br>
              <a:rPr lang="en-US"/>
            </a:br>
            <a:r>
              <a:rPr lang="en-US" u="sng">
                <a:solidFill>
                  <a:schemeClr val="hlink"/>
                </a:solidFill>
                <a:hlinkClick r:id="rId3"/>
              </a:rPr>
              <a:t>https://ohdsi.github.io/ETL-Synthea/</a:t>
            </a:r>
            <a:endParaRPr/>
          </a:p>
          <a:p>
            <a:pPr indent="-139700" lvl="0" marL="342900" rtl="0" algn="l">
              <a:spcBef>
                <a:spcPts val="640"/>
              </a:spcBef>
              <a:spcAft>
                <a:spcPts val="0"/>
              </a:spcAft>
              <a:buClr>
                <a:srgbClr val="20425A"/>
              </a:buClr>
              <a:buSzPts val="3200"/>
              <a:buNone/>
            </a:pPr>
            <a:r>
              <a:t/>
            </a:r>
            <a:endParaRPr/>
          </a:p>
        </p:txBody>
      </p:sp>
      <p:sp>
        <p:nvSpPr>
          <p:cNvPr id="777" name="Google Shape;777;p63"/>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https://ohdsi.github.io/ETL-Synthea/syntheaETL_files/image1.png" id="778" name="Google Shape;778;p63"/>
          <p:cNvPicPr preferRelativeResize="0"/>
          <p:nvPr/>
        </p:nvPicPr>
        <p:blipFill rotWithShape="1">
          <a:blip r:embed="rId4">
            <a:alphaModFix/>
          </a:blip>
          <a:srcRect b="0" l="0" r="0" t="0"/>
          <a:stretch/>
        </p:blipFill>
        <p:spPr>
          <a:xfrm>
            <a:off x="3251230" y="2623458"/>
            <a:ext cx="5376394" cy="3393849"/>
          </a:xfrm>
          <a:prstGeom prst="rect">
            <a:avLst/>
          </a:prstGeom>
          <a:noFill/>
          <a:ln>
            <a:noFill/>
          </a:ln>
        </p:spPr>
      </p:pic>
      <p:pic>
        <p:nvPicPr>
          <p:cNvPr id="779" name="Google Shape;779;p63"/>
          <p:cNvPicPr preferRelativeResize="0"/>
          <p:nvPr/>
        </p:nvPicPr>
        <p:blipFill rotWithShape="1">
          <a:blip r:embed="rId5">
            <a:alphaModFix/>
          </a:blip>
          <a:srcRect b="0" l="0" r="0" t="0"/>
          <a:stretch/>
        </p:blipFill>
        <p:spPr>
          <a:xfrm>
            <a:off x="9597973" y="246741"/>
            <a:ext cx="749808" cy="739096"/>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4"/>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PERSON</a:t>
            </a:r>
            <a:endParaRPr/>
          </a:p>
        </p:txBody>
      </p:sp>
      <p:pic>
        <p:nvPicPr>
          <p:cNvPr id="785" name="Google Shape;785;p64"/>
          <p:cNvPicPr preferRelativeResize="0"/>
          <p:nvPr>
            <p:ph idx="1" type="body"/>
          </p:nvPr>
        </p:nvPicPr>
        <p:blipFill rotWithShape="1">
          <a:blip r:embed="rId3">
            <a:alphaModFix/>
          </a:blip>
          <a:srcRect b="0" l="0" r="0" t="0"/>
          <a:stretch/>
        </p:blipFill>
        <p:spPr>
          <a:xfrm>
            <a:off x="3233015" y="1071716"/>
            <a:ext cx="5942278" cy="4906963"/>
          </a:xfrm>
          <a:prstGeom prst="rect">
            <a:avLst/>
          </a:prstGeom>
          <a:noFill/>
          <a:ln cap="flat" cmpd="sng" w="28575">
            <a:solidFill>
              <a:schemeClr val="dk1"/>
            </a:solidFill>
            <a:prstDash val="solid"/>
            <a:round/>
            <a:headEnd len="sm" w="sm" type="none"/>
            <a:tailEnd len="sm" w="sm" type="none"/>
          </a:ln>
        </p:spPr>
      </p:pic>
      <p:sp>
        <p:nvSpPr>
          <p:cNvPr id="786" name="Google Shape;786;p64"/>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87" name="Google Shape;787;p64"/>
          <p:cNvSpPr txBox="1"/>
          <p:nvPr/>
        </p:nvSpPr>
        <p:spPr>
          <a:xfrm>
            <a:off x="93406" y="6492880"/>
            <a:ext cx="61205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4">
                  <a:extLst>
                    <a:ext uri="{A12FA001-AC4F-418D-AE19-62706E023703}">
                      <ahyp:hlinkClr val="tx"/>
                    </a:ext>
                  </a:extLst>
                </a:hlinkClick>
              </a:rPr>
              <a:t>https://ohdsi.github.io/ETL-Synthea/articles/person.html</a:t>
            </a:r>
            <a:endParaRPr sz="18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65"/>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OBSERVATION_PERIOD</a:t>
            </a:r>
            <a:endParaRPr/>
          </a:p>
        </p:txBody>
      </p:sp>
      <p:pic>
        <p:nvPicPr>
          <p:cNvPr id="793" name="Google Shape;793;p65"/>
          <p:cNvPicPr preferRelativeResize="0"/>
          <p:nvPr>
            <p:ph idx="1" type="body"/>
          </p:nvPr>
        </p:nvPicPr>
        <p:blipFill rotWithShape="1">
          <a:blip r:embed="rId3">
            <a:alphaModFix/>
          </a:blip>
          <a:srcRect b="0" l="0" r="0" t="0"/>
          <a:stretch/>
        </p:blipFill>
        <p:spPr>
          <a:xfrm>
            <a:off x="2898863" y="1179871"/>
            <a:ext cx="7062868" cy="4906963"/>
          </a:xfrm>
          <a:prstGeom prst="rect">
            <a:avLst/>
          </a:prstGeom>
          <a:noFill/>
          <a:ln cap="flat" cmpd="sng" w="28575">
            <a:solidFill>
              <a:schemeClr val="dk1"/>
            </a:solidFill>
            <a:prstDash val="solid"/>
            <a:round/>
            <a:headEnd len="sm" w="sm" type="none"/>
            <a:tailEnd len="sm" w="sm" type="none"/>
          </a:ln>
        </p:spPr>
      </p:pic>
      <p:sp>
        <p:nvSpPr>
          <p:cNvPr id="794" name="Google Shape;794;p65"/>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95" name="Google Shape;795;p65"/>
          <p:cNvSpPr txBox="1"/>
          <p:nvPr/>
        </p:nvSpPr>
        <p:spPr>
          <a:xfrm>
            <a:off x="0" y="6466718"/>
            <a:ext cx="82173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4">
                  <a:extLst>
                    <a:ext uri="{A12FA001-AC4F-418D-AE19-62706E023703}">
                      <ahyp:hlinkClr val="tx"/>
                    </a:ext>
                  </a:extLst>
                </a:hlinkClick>
              </a:rPr>
              <a:t>https://ohdsi.github.io/ETL-Synthea/articles/observation_period.html</a:t>
            </a:r>
            <a:endParaRPr sz="18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66"/>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VISIT_OCCURRENCE</a:t>
            </a:r>
            <a:endParaRPr/>
          </a:p>
        </p:txBody>
      </p:sp>
      <p:sp>
        <p:nvSpPr>
          <p:cNvPr id="801" name="Google Shape;801;p66"/>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ETL Conventions: </a:t>
            </a:r>
            <a:r>
              <a:rPr lang="en-US" sz="2400" u="sng">
                <a:solidFill>
                  <a:schemeClr val="hlink"/>
                </a:solidFill>
                <a:hlinkClick r:id="rId3"/>
              </a:rPr>
              <a:t>https://ohdsi.github.io/CommonDataModel/cdm54.html#visit_occurrence</a:t>
            </a:r>
            <a:endParaRPr sz="2400"/>
          </a:p>
          <a:p>
            <a:pPr indent="-139700" lvl="0" marL="342900" rtl="0" algn="l">
              <a:spcBef>
                <a:spcPts val="640"/>
              </a:spcBef>
              <a:spcAft>
                <a:spcPts val="0"/>
              </a:spcAft>
              <a:buClr>
                <a:srgbClr val="20425A"/>
              </a:buClr>
              <a:buSzPts val="3200"/>
              <a:buNone/>
            </a:pPr>
            <a:r>
              <a:t/>
            </a:r>
            <a:endParaRPr/>
          </a:p>
        </p:txBody>
      </p:sp>
      <p:sp>
        <p:nvSpPr>
          <p:cNvPr id="802" name="Google Shape;802;p66"/>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03" name="Google Shape;803;p66"/>
          <p:cNvPicPr preferRelativeResize="0"/>
          <p:nvPr/>
        </p:nvPicPr>
        <p:blipFill rotWithShape="1">
          <a:blip r:embed="rId4">
            <a:alphaModFix/>
          </a:blip>
          <a:srcRect b="0" l="0" r="0" t="0"/>
          <a:stretch/>
        </p:blipFill>
        <p:spPr>
          <a:xfrm>
            <a:off x="707922" y="2259756"/>
            <a:ext cx="5724832" cy="3977355"/>
          </a:xfrm>
          <a:prstGeom prst="rect">
            <a:avLst/>
          </a:prstGeom>
          <a:noFill/>
          <a:ln cap="flat" cmpd="sng" w="28575">
            <a:solidFill>
              <a:schemeClr val="dk1"/>
            </a:solidFill>
            <a:prstDash val="solid"/>
            <a:round/>
            <a:headEnd len="sm" w="sm" type="none"/>
            <a:tailEnd len="sm" w="sm" type="none"/>
          </a:ln>
        </p:spPr>
      </p:pic>
      <p:sp>
        <p:nvSpPr>
          <p:cNvPr id="804" name="Google Shape;804;p66"/>
          <p:cNvSpPr txBox="1"/>
          <p:nvPr/>
        </p:nvSpPr>
        <p:spPr>
          <a:xfrm>
            <a:off x="8091949" y="2114799"/>
            <a:ext cx="2844800" cy="440120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1"/>
                </a:solidFill>
                <a:latin typeface="Calibri"/>
                <a:ea typeface="Calibri"/>
                <a:cs typeface="Calibri"/>
                <a:sym typeface="Calibri"/>
              </a:rPr>
              <a:t>Visit Hierarchy</a:t>
            </a:r>
            <a:endParaRPr/>
          </a:p>
          <a:p>
            <a:pPr indent="0" lvl="0" marL="0" marR="0" rtl="0" algn="ctr">
              <a:spcBef>
                <a:spcPts val="0"/>
              </a:spcBef>
              <a:spcAft>
                <a:spcPts val="0"/>
              </a:spcAft>
              <a:buNone/>
            </a:pPr>
            <a:r>
              <a:rPr lang="en-US" sz="4000">
                <a:solidFill>
                  <a:schemeClr val="dk1"/>
                </a:solidFill>
                <a:latin typeface="Calibri"/>
                <a:ea typeface="Calibri"/>
                <a:cs typeface="Calibri"/>
                <a:sym typeface="Calibri"/>
              </a:rPr>
              <a:t>IP</a:t>
            </a:r>
            <a:endParaRPr/>
          </a:p>
          <a:p>
            <a:pPr indent="0" lvl="0" marL="0" marR="0" rtl="0" algn="ctr">
              <a:spcBef>
                <a:spcPts val="0"/>
              </a:spcBef>
              <a:spcAft>
                <a:spcPts val="0"/>
              </a:spcAft>
              <a:buNone/>
            </a:pPr>
            <a:r>
              <a:rPr lang="en-US" sz="4000">
                <a:solidFill>
                  <a:schemeClr val="dk1"/>
                </a:solidFill>
                <a:latin typeface="Calibri"/>
                <a:ea typeface="Calibri"/>
                <a:cs typeface="Calibri"/>
                <a:sym typeface="Calibri"/>
              </a:rPr>
              <a:t>&gt;</a:t>
            </a:r>
            <a:endParaRPr/>
          </a:p>
          <a:p>
            <a:pPr indent="0" lvl="0" marL="0" marR="0" rtl="0" algn="ctr">
              <a:spcBef>
                <a:spcPts val="0"/>
              </a:spcBef>
              <a:spcAft>
                <a:spcPts val="0"/>
              </a:spcAft>
              <a:buNone/>
            </a:pPr>
            <a:r>
              <a:rPr lang="en-US" sz="4000">
                <a:solidFill>
                  <a:schemeClr val="dk1"/>
                </a:solidFill>
                <a:latin typeface="Calibri"/>
                <a:ea typeface="Calibri"/>
                <a:cs typeface="Calibri"/>
                <a:sym typeface="Calibri"/>
              </a:rPr>
              <a:t>ER</a:t>
            </a:r>
            <a:endParaRPr/>
          </a:p>
          <a:p>
            <a:pPr indent="0" lvl="0" marL="0" marR="0" rtl="0" algn="ctr">
              <a:spcBef>
                <a:spcPts val="0"/>
              </a:spcBef>
              <a:spcAft>
                <a:spcPts val="0"/>
              </a:spcAft>
              <a:buNone/>
            </a:pPr>
            <a:r>
              <a:rPr lang="en-US" sz="4000">
                <a:solidFill>
                  <a:schemeClr val="dk1"/>
                </a:solidFill>
                <a:latin typeface="Calibri"/>
                <a:ea typeface="Calibri"/>
                <a:cs typeface="Calibri"/>
                <a:sym typeface="Calibri"/>
              </a:rPr>
              <a:t>&gt;</a:t>
            </a:r>
            <a:endParaRPr/>
          </a:p>
          <a:p>
            <a:pPr indent="0" lvl="0" marL="0" marR="0" rtl="0" algn="ctr">
              <a:spcBef>
                <a:spcPts val="0"/>
              </a:spcBef>
              <a:spcAft>
                <a:spcPts val="0"/>
              </a:spcAft>
              <a:buNone/>
            </a:pPr>
            <a:r>
              <a:rPr lang="en-US" sz="4000">
                <a:solidFill>
                  <a:schemeClr val="dk1"/>
                </a:solidFill>
                <a:latin typeface="Calibri"/>
                <a:ea typeface="Calibri"/>
                <a:cs typeface="Calibri"/>
                <a:sym typeface="Calibri"/>
              </a:rPr>
              <a:t>OP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67"/>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OMOP Vocab</a:t>
            </a:r>
            <a:endParaRPr/>
          </a:p>
        </p:txBody>
      </p:sp>
      <p:sp>
        <p:nvSpPr>
          <p:cNvPr id="810" name="Google Shape;810;p67"/>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There are two standard queries to help us use the OMOP Vocabulary:</a:t>
            </a:r>
            <a:endParaRPr/>
          </a:p>
          <a:p>
            <a:pPr indent="-285750" lvl="1" marL="742950" rtl="0" algn="l">
              <a:spcBef>
                <a:spcPts val="560"/>
              </a:spcBef>
              <a:spcAft>
                <a:spcPts val="0"/>
              </a:spcAft>
              <a:buClr>
                <a:srgbClr val="20425A"/>
              </a:buClr>
              <a:buSzPts val="2800"/>
              <a:buChar char="–"/>
            </a:pPr>
            <a:r>
              <a:rPr lang="en-US">
                <a:latin typeface="Consolas"/>
                <a:ea typeface="Consolas"/>
                <a:cs typeface="Consolas"/>
                <a:sym typeface="Consolas"/>
              </a:rPr>
              <a:t>SOURCE_TO_STANDARD.sql</a:t>
            </a:r>
            <a:endParaRPr/>
          </a:p>
          <a:p>
            <a:pPr indent="-285750" lvl="1" marL="742950" rtl="0" algn="l">
              <a:spcBef>
                <a:spcPts val="560"/>
              </a:spcBef>
              <a:spcAft>
                <a:spcPts val="0"/>
              </a:spcAft>
              <a:buClr>
                <a:srgbClr val="20425A"/>
              </a:buClr>
              <a:buSzPts val="2800"/>
              <a:buChar char="–"/>
            </a:pPr>
            <a:r>
              <a:rPr lang="en-US">
                <a:latin typeface="Consolas"/>
                <a:ea typeface="Consolas"/>
                <a:cs typeface="Consolas"/>
                <a:sym typeface="Consolas"/>
              </a:rPr>
              <a:t>SOURCE_TO_SOURCE.sql</a:t>
            </a:r>
            <a:endParaRPr/>
          </a:p>
          <a:p>
            <a:pPr indent="-107950" lvl="1" marL="742950" rtl="0" algn="l">
              <a:spcBef>
                <a:spcPts val="560"/>
              </a:spcBef>
              <a:spcAft>
                <a:spcPts val="0"/>
              </a:spcAft>
              <a:buClr>
                <a:srgbClr val="20425A"/>
              </a:buClr>
              <a:buSzPts val="2800"/>
              <a:buNone/>
            </a:pPr>
            <a:r>
              <a:t/>
            </a:r>
            <a:endParaRPr/>
          </a:p>
          <a:p>
            <a:pPr indent="-342900" lvl="0" marL="342900" rtl="0" algn="l">
              <a:spcBef>
                <a:spcPts val="640"/>
              </a:spcBef>
              <a:spcAft>
                <a:spcPts val="0"/>
              </a:spcAft>
              <a:buClr>
                <a:srgbClr val="20425A"/>
              </a:buClr>
              <a:buSzPts val="3200"/>
              <a:buChar char="•"/>
            </a:pPr>
            <a:r>
              <a:rPr lang="en-US" u="sng">
                <a:solidFill>
                  <a:schemeClr val="hlink"/>
                </a:solidFill>
                <a:hlinkClick r:id="rId3"/>
              </a:rPr>
              <a:t>https://github.com/OHDSI/Tutorial-ETL</a:t>
            </a:r>
            <a:endParaRPr/>
          </a:p>
          <a:p>
            <a:pPr indent="-285750" lvl="1" marL="742950" rtl="0" algn="l">
              <a:spcBef>
                <a:spcPts val="560"/>
              </a:spcBef>
              <a:spcAft>
                <a:spcPts val="0"/>
              </a:spcAft>
              <a:buClr>
                <a:srgbClr val="20425A"/>
              </a:buClr>
              <a:buSzPts val="2800"/>
              <a:buChar char="–"/>
            </a:pPr>
            <a:r>
              <a:rPr lang="en-US"/>
              <a:t>Materials 🡪 Queries</a:t>
            </a:r>
            <a:endParaRPr/>
          </a:p>
        </p:txBody>
      </p:sp>
      <p:sp>
        <p:nvSpPr>
          <p:cNvPr id="811" name="Google Shape;811;p67"/>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Related image" id="812" name="Google Shape;812;p67"/>
          <p:cNvPicPr preferRelativeResize="0"/>
          <p:nvPr/>
        </p:nvPicPr>
        <p:blipFill rotWithShape="1">
          <a:blip r:embed="rId4">
            <a:alphaModFix/>
          </a:blip>
          <a:srcRect b="0" l="0" r="0" t="0"/>
          <a:stretch/>
        </p:blipFill>
        <p:spPr>
          <a:xfrm>
            <a:off x="9601200" y="42614"/>
            <a:ext cx="1022192" cy="99323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6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Source to Standard</a:t>
            </a:r>
            <a:endParaRPr/>
          </a:p>
        </p:txBody>
      </p:sp>
      <p:sp>
        <p:nvSpPr>
          <p:cNvPr id="818" name="Google Shape;818;p68"/>
          <p:cNvSpPr txBox="1"/>
          <p:nvPr>
            <p:ph idx="1" type="body"/>
          </p:nvPr>
        </p:nvSpPr>
        <p:spPr>
          <a:xfrm>
            <a:off x="1981200" y="1110343"/>
            <a:ext cx="8229600" cy="5382532"/>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rgbClr val="0000FF"/>
              </a:buClr>
              <a:buSzPct val="100000"/>
              <a:buNone/>
            </a:pPr>
            <a:r>
              <a:rPr lang="en-US" sz="900">
                <a:solidFill>
                  <a:srgbClr val="0000FF"/>
                </a:solidFill>
                <a:latin typeface="Consolas"/>
                <a:ea typeface="Consolas"/>
                <a:cs typeface="Consolas"/>
                <a:sym typeface="Consolas"/>
              </a:rPr>
              <a:t>WITH</a:t>
            </a:r>
            <a:r>
              <a:rPr lang="en-US" sz="900">
                <a:solidFill>
                  <a:srgbClr val="000000"/>
                </a:solidFill>
                <a:latin typeface="Consolas"/>
                <a:ea typeface="Consolas"/>
                <a:cs typeface="Consolas"/>
                <a:sym typeface="Consolas"/>
              </a:rPr>
              <a:t> CTE_VOCAB_MAP </a:t>
            </a:r>
            <a:r>
              <a:rPr lang="en-US" sz="900">
                <a:solidFill>
                  <a:srgbClr val="0000FF"/>
                </a:solidFill>
                <a:latin typeface="Consolas"/>
                <a:ea typeface="Consolas"/>
                <a:cs typeface="Consolas"/>
                <a:sym typeface="Consolas"/>
              </a:rPr>
              <a:t>AS </a:t>
            </a: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concept_code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TARGET_VOCABUALRY_ID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CONCEPT C</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CONCEPT_RELATIONSHIP CR</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relationship_id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'Maps to'</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CONCEPT_ID_2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UNION</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20425A"/>
              </a:buClr>
              <a:buSzPct val="100000"/>
              <a:buNone/>
            </a:pPr>
            <a:r>
              <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source_to_concept_map stcm</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source_concept_id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c2</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TARGET_DOMAIN_ID</a:t>
            </a:r>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CTE_VOCAB_MAP</a:t>
            </a:r>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SOURCE_CODE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'N94.6'</a:t>
            </a:r>
            <a:endParaRPr sz="900">
              <a:solidFill>
                <a:srgbClr val="000000"/>
              </a:solidFill>
              <a:highlight>
                <a:srgbClr val="FFFF00"/>
              </a:highlight>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SOURCE_VOCABULARY_ID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'ICD10CM'</a:t>
            </a:r>
            <a:endParaRPr sz="900">
              <a:solidFill>
                <a:srgbClr val="000000"/>
              </a:solidFill>
              <a:highlight>
                <a:srgbClr val="FFFF00"/>
              </a:highlight>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TARGET_STANDARD_CONCEPT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'S'</a:t>
            </a:r>
            <a:endParaRPr sz="900"/>
          </a:p>
        </p:txBody>
      </p:sp>
      <p:sp>
        <p:nvSpPr>
          <p:cNvPr id="819" name="Google Shape;819;p6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Related image" id="820" name="Google Shape;820;p68"/>
          <p:cNvPicPr preferRelativeResize="0"/>
          <p:nvPr/>
        </p:nvPicPr>
        <p:blipFill rotWithShape="1">
          <a:blip r:embed="rId3">
            <a:alphaModFix/>
          </a:blip>
          <a:srcRect b="0" l="0" r="0" t="0"/>
          <a:stretch/>
        </p:blipFill>
        <p:spPr>
          <a:xfrm>
            <a:off x="9601200" y="42614"/>
            <a:ext cx="1022192" cy="99323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69"/>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Source to Standard</a:t>
            </a:r>
            <a:endParaRPr/>
          </a:p>
        </p:txBody>
      </p:sp>
      <p:sp>
        <p:nvSpPr>
          <p:cNvPr id="826" name="Google Shape;826;p69"/>
          <p:cNvSpPr txBox="1"/>
          <p:nvPr>
            <p:ph idx="1" type="body"/>
          </p:nvPr>
        </p:nvSpPr>
        <p:spPr>
          <a:xfrm>
            <a:off x="1981200" y="1110343"/>
            <a:ext cx="8229600" cy="5382532"/>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rgbClr val="0000FF"/>
              </a:buClr>
              <a:buSzPct val="100000"/>
              <a:buNone/>
            </a:pPr>
            <a:r>
              <a:rPr lang="en-US" sz="900">
                <a:solidFill>
                  <a:srgbClr val="0000FF"/>
                </a:solidFill>
                <a:latin typeface="Consolas"/>
                <a:ea typeface="Consolas"/>
                <a:cs typeface="Consolas"/>
                <a:sym typeface="Consolas"/>
              </a:rPr>
              <a:t>WITH</a:t>
            </a:r>
            <a:r>
              <a:rPr lang="en-US" sz="900">
                <a:solidFill>
                  <a:srgbClr val="000000"/>
                </a:solidFill>
                <a:latin typeface="Consolas"/>
                <a:ea typeface="Consolas"/>
                <a:cs typeface="Consolas"/>
                <a:sym typeface="Consolas"/>
              </a:rPr>
              <a:t> CTE_VOCAB_MAP </a:t>
            </a:r>
            <a:r>
              <a:rPr lang="en-US" sz="900">
                <a:solidFill>
                  <a:srgbClr val="0000FF"/>
                </a:solidFill>
                <a:latin typeface="Consolas"/>
                <a:ea typeface="Consolas"/>
                <a:cs typeface="Consolas"/>
                <a:sym typeface="Consolas"/>
              </a:rPr>
              <a:t>AS </a:t>
            </a: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concept_code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TARGET_VOCABUALRY_ID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CONCEPT C</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CONCEPT_RELATIONSHIP CR</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relationship_id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'Maps to'</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CONCEPT_ID_2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UNION</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20425A"/>
              </a:buClr>
              <a:buSzPct val="100000"/>
              <a:buNone/>
            </a:pPr>
            <a:r>
              <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source_to_concept_map stcm</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source_concept_id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c2</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TARGET_DOMAIN_ID</a:t>
            </a:r>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CTE_VOCAB_MAP</a:t>
            </a:r>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SOURCE_CODE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'N94.6'</a:t>
            </a:r>
            <a:endParaRPr sz="900">
              <a:solidFill>
                <a:srgbClr val="000000"/>
              </a:solidFill>
              <a:highlight>
                <a:srgbClr val="FFFF00"/>
              </a:highlight>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SOURCE_VOCABULARY_ID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'ICD10CM'</a:t>
            </a:r>
            <a:endParaRPr sz="900">
              <a:solidFill>
                <a:srgbClr val="000000"/>
              </a:solidFill>
              <a:highlight>
                <a:srgbClr val="FFFF00"/>
              </a:highlight>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TARGET_STANDARD_CONCEPT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'S'</a:t>
            </a:r>
            <a:endParaRPr sz="900"/>
          </a:p>
        </p:txBody>
      </p:sp>
      <p:sp>
        <p:nvSpPr>
          <p:cNvPr id="827" name="Google Shape;827;p69"/>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Related image" id="828" name="Google Shape;828;p69"/>
          <p:cNvPicPr preferRelativeResize="0"/>
          <p:nvPr/>
        </p:nvPicPr>
        <p:blipFill rotWithShape="1">
          <a:blip r:embed="rId3">
            <a:alphaModFix/>
          </a:blip>
          <a:srcRect b="0" l="0" r="0" t="0"/>
          <a:stretch/>
        </p:blipFill>
        <p:spPr>
          <a:xfrm>
            <a:off x="9601200" y="42614"/>
            <a:ext cx="1022192" cy="993230"/>
          </a:xfrm>
          <a:prstGeom prst="rect">
            <a:avLst/>
          </a:prstGeom>
          <a:noFill/>
          <a:ln>
            <a:noFill/>
          </a:ln>
        </p:spPr>
      </p:pic>
      <p:sp>
        <p:nvSpPr>
          <p:cNvPr id="829" name="Google Shape;829;p69"/>
          <p:cNvSpPr/>
          <p:nvPr/>
        </p:nvSpPr>
        <p:spPr>
          <a:xfrm>
            <a:off x="1860885" y="990601"/>
            <a:ext cx="8349916" cy="2438399"/>
          </a:xfrm>
          <a:prstGeom prst="frame">
            <a:avLst>
              <a:gd fmla="val 3094" name="adj1"/>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0" name="Google Shape;830;p69"/>
          <p:cNvSpPr/>
          <p:nvPr/>
        </p:nvSpPr>
        <p:spPr>
          <a:xfrm>
            <a:off x="4713516" y="3559630"/>
            <a:ext cx="3145971" cy="1404257"/>
          </a:xfrm>
          <a:prstGeom prst="roundRect">
            <a:avLst>
              <a:gd fmla="val 16667" name="adj"/>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Look in the </a:t>
            </a:r>
            <a:br>
              <a:rPr lang="en-US" sz="1800">
                <a:solidFill>
                  <a:schemeClr val="lt1"/>
                </a:solidFill>
                <a:latin typeface="Calibri"/>
                <a:ea typeface="Calibri"/>
                <a:cs typeface="Calibri"/>
                <a:sym typeface="Calibri"/>
              </a:rPr>
            </a:br>
            <a:r>
              <a:rPr lang="en-US" sz="1800">
                <a:solidFill>
                  <a:schemeClr val="lt1"/>
                </a:solidFill>
                <a:latin typeface="Calibri"/>
                <a:ea typeface="Calibri"/>
                <a:cs typeface="Calibri"/>
                <a:sym typeface="Calibri"/>
              </a:rPr>
              <a:t>OMOP Vocabulary for a map</a:t>
            </a:r>
            <a:endParaRPr/>
          </a:p>
        </p:txBody>
      </p:sp>
      <p:sp>
        <p:nvSpPr>
          <p:cNvPr id="831" name="Google Shape;831;p69"/>
          <p:cNvSpPr/>
          <p:nvPr/>
        </p:nvSpPr>
        <p:spPr>
          <a:xfrm>
            <a:off x="1524000" y="5310910"/>
            <a:ext cx="5458691" cy="1006762"/>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2" name="Google Shape;832;p69"/>
          <p:cNvSpPr/>
          <p:nvPr/>
        </p:nvSpPr>
        <p:spPr>
          <a:xfrm>
            <a:off x="1984170" y="1159327"/>
            <a:ext cx="1433285" cy="115291"/>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70"/>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Source to Standard</a:t>
            </a:r>
            <a:endParaRPr/>
          </a:p>
        </p:txBody>
      </p:sp>
      <p:sp>
        <p:nvSpPr>
          <p:cNvPr id="838" name="Google Shape;838;p70"/>
          <p:cNvSpPr txBox="1"/>
          <p:nvPr>
            <p:ph idx="1" type="body"/>
          </p:nvPr>
        </p:nvSpPr>
        <p:spPr>
          <a:xfrm>
            <a:off x="1981200" y="1110343"/>
            <a:ext cx="8229600" cy="5382532"/>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rgbClr val="0000FF"/>
              </a:buClr>
              <a:buSzPct val="100000"/>
              <a:buNone/>
            </a:pPr>
            <a:r>
              <a:rPr lang="en-US" sz="900">
                <a:solidFill>
                  <a:srgbClr val="0000FF"/>
                </a:solidFill>
                <a:latin typeface="Consolas"/>
                <a:ea typeface="Consolas"/>
                <a:cs typeface="Consolas"/>
                <a:sym typeface="Consolas"/>
              </a:rPr>
              <a:t>WITH</a:t>
            </a:r>
            <a:r>
              <a:rPr lang="en-US" sz="900">
                <a:solidFill>
                  <a:srgbClr val="000000"/>
                </a:solidFill>
                <a:latin typeface="Consolas"/>
                <a:ea typeface="Consolas"/>
                <a:cs typeface="Consolas"/>
                <a:sym typeface="Consolas"/>
              </a:rPr>
              <a:t> CTE_VOCAB_MAP </a:t>
            </a:r>
            <a:r>
              <a:rPr lang="en-US" sz="900">
                <a:solidFill>
                  <a:srgbClr val="0000FF"/>
                </a:solidFill>
                <a:latin typeface="Consolas"/>
                <a:ea typeface="Consolas"/>
                <a:cs typeface="Consolas"/>
                <a:sym typeface="Consolas"/>
              </a:rPr>
              <a:t>AS </a:t>
            </a: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concept_code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TARGET_VOCABUALRY_ID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CONCEPT C</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CONCEPT_RELATIONSHIP CR</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relationship_id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'Maps to'</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CONCEPT_ID_2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UNION</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20425A"/>
              </a:buClr>
              <a:buSzPct val="100000"/>
              <a:buNone/>
            </a:pPr>
            <a:r>
              <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source_to_concept_map stcm</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source_concept_id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c2</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TARGET_DOMAIN_ID</a:t>
            </a:r>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CTE_VOCAB_MAP</a:t>
            </a:r>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SOURCE_CODE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'N94.6'</a:t>
            </a:r>
            <a:endParaRPr sz="900">
              <a:solidFill>
                <a:srgbClr val="000000"/>
              </a:solidFill>
              <a:highlight>
                <a:srgbClr val="FFFF00"/>
              </a:highlight>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SOURCE_VOCABULARY_ID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'ICD10CM'</a:t>
            </a:r>
            <a:endParaRPr sz="900">
              <a:solidFill>
                <a:srgbClr val="000000"/>
              </a:solidFill>
              <a:highlight>
                <a:srgbClr val="FFFF00"/>
              </a:highlight>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TARGET_STANDARD_CONCEPT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'S'</a:t>
            </a:r>
            <a:endParaRPr sz="900"/>
          </a:p>
        </p:txBody>
      </p:sp>
      <p:sp>
        <p:nvSpPr>
          <p:cNvPr id="839" name="Google Shape;839;p7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Related image" id="840" name="Google Shape;840;p70"/>
          <p:cNvPicPr preferRelativeResize="0"/>
          <p:nvPr/>
        </p:nvPicPr>
        <p:blipFill rotWithShape="1">
          <a:blip r:embed="rId3">
            <a:alphaModFix/>
          </a:blip>
          <a:srcRect b="0" l="0" r="0" t="0"/>
          <a:stretch/>
        </p:blipFill>
        <p:spPr>
          <a:xfrm>
            <a:off x="9601200" y="42614"/>
            <a:ext cx="1022192" cy="993230"/>
          </a:xfrm>
          <a:prstGeom prst="rect">
            <a:avLst/>
          </a:prstGeom>
          <a:noFill/>
          <a:ln>
            <a:noFill/>
          </a:ln>
        </p:spPr>
      </p:pic>
      <p:sp>
        <p:nvSpPr>
          <p:cNvPr id="841" name="Google Shape;841;p70"/>
          <p:cNvSpPr/>
          <p:nvPr/>
        </p:nvSpPr>
        <p:spPr>
          <a:xfrm>
            <a:off x="1817916" y="3429001"/>
            <a:ext cx="8392885" cy="1992085"/>
          </a:xfrm>
          <a:prstGeom prst="frame">
            <a:avLst>
              <a:gd fmla="val 3094" name="adj1"/>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2" name="Google Shape;842;p70"/>
          <p:cNvSpPr/>
          <p:nvPr/>
        </p:nvSpPr>
        <p:spPr>
          <a:xfrm>
            <a:off x="4615545" y="1817916"/>
            <a:ext cx="3145971" cy="1404257"/>
          </a:xfrm>
          <a:prstGeom prst="roundRect">
            <a:avLst>
              <a:gd fmla="val 16667" name="adj"/>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Look in the Source to Concept Map table for a map </a:t>
            </a:r>
            <a:endParaRPr/>
          </a:p>
        </p:txBody>
      </p:sp>
      <p:sp>
        <p:nvSpPr>
          <p:cNvPr id="843" name="Google Shape;843;p70"/>
          <p:cNvSpPr/>
          <p:nvPr/>
        </p:nvSpPr>
        <p:spPr>
          <a:xfrm>
            <a:off x="1524000" y="5467266"/>
            <a:ext cx="5458691" cy="850405"/>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4" name="Google Shape;844;p70"/>
          <p:cNvSpPr/>
          <p:nvPr/>
        </p:nvSpPr>
        <p:spPr>
          <a:xfrm>
            <a:off x="1984170" y="1159327"/>
            <a:ext cx="1433285" cy="115291"/>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1"/>
          <p:cNvSpPr txBox="1"/>
          <p:nvPr>
            <p:ph type="title"/>
          </p:nvPr>
        </p:nvSpPr>
        <p:spPr>
          <a:xfrm>
            <a:off x="2667000" y="152400"/>
            <a:ext cx="7543800" cy="106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0425A"/>
              </a:buClr>
              <a:buSzPts val="4000"/>
              <a:buFont typeface="Calibri"/>
              <a:buNone/>
            </a:pPr>
            <a:r>
              <a:rPr b="1" lang="en-US"/>
              <a:t>Two OMOP designs that might be confusing</a:t>
            </a:r>
            <a:endParaRPr/>
          </a:p>
        </p:txBody>
      </p:sp>
      <p:sp>
        <p:nvSpPr>
          <p:cNvPr id="851" name="Google Shape;851;p71"/>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rgbClr val="20425A"/>
              </a:buClr>
              <a:buSzPts val="3200"/>
              <a:buChar char="•"/>
            </a:pPr>
            <a:r>
              <a:rPr lang="en-US"/>
              <a:t>OMOP tables combine data from multiple source tables</a:t>
            </a:r>
            <a:endParaRPr/>
          </a:p>
          <a:p>
            <a:pPr indent="-285750" lvl="1" marL="742950" rtl="0" algn="l">
              <a:spcBef>
                <a:spcPts val="560"/>
              </a:spcBef>
              <a:spcAft>
                <a:spcPts val="0"/>
              </a:spcAft>
              <a:buClr>
                <a:srgbClr val="20425A"/>
              </a:buClr>
              <a:buSzPts val="2800"/>
              <a:buChar char="–"/>
            </a:pPr>
            <a:r>
              <a:rPr lang="en-US"/>
              <a:t>Ordered drugs, procedure drugs, vaccines are all in Drug Exposure</a:t>
            </a:r>
            <a:endParaRPr/>
          </a:p>
          <a:p>
            <a:pPr indent="-285750" lvl="1" marL="742950" rtl="0" algn="l">
              <a:spcBef>
                <a:spcPts val="560"/>
              </a:spcBef>
              <a:spcAft>
                <a:spcPts val="0"/>
              </a:spcAft>
              <a:buClr>
                <a:srgbClr val="20425A"/>
              </a:buClr>
              <a:buSzPts val="2800"/>
              <a:buChar char="–"/>
            </a:pPr>
            <a:r>
              <a:rPr lang="en-US"/>
              <a:t>Duplicates removed</a:t>
            </a:r>
            <a:br>
              <a:rPr lang="en-US"/>
            </a:br>
            <a:endParaRPr/>
          </a:p>
          <a:p>
            <a:pPr indent="-342900" lvl="0" marL="342900" rtl="0" algn="l">
              <a:spcBef>
                <a:spcPts val="640"/>
              </a:spcBef>
              <a:spcAft>
                <a:spcPts val="0"/>
              </a:spcAft>
              <a:buClr>
                <a:srgbClr val="20425A"/>
              </a:buClr>
              <a:buSzPts val="3200"/>
              <a:buChar char="•"/>
            </a:pPr>
            <a:r>
              <a:rPr b="1" lang="en-US"/>
              <a:t>Source data may be distributed over multiple OMOP tables</a:t>
            </a:r>
            <a:endParaRPr/>
          </a:p>
          <a:p>
            <a:pPr indent="-285750" lvl="1" marL="742950" rtl="0" algn="l">
              <a:spcBef>
                <a:spcPts val="560"/>
              </a:spcBef>
              <a:spcAft>
                <a:spcPts val="0"/>
              </a:spcAft>
              <a:buClr>
                <a:srgbClr val="20425A"/>
              </a:buClr>
              <a:buSzPts val="2800"/>
              <a:buChar char="–"/>
            </a:pPr>
            <a:r>
              <a:rPr b="1" lang="en-US"/>
              <a:t>Not all ICD10CM billing codes are in OMOP Condition Occurrence</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5" name="Shape 855"/>
        <p:cNvGrpSpPr/>
        <p:nvPr/>
      </p:nvGrpSpPr>
      <p:grpSpPr>
        <a:xfrm>
          <a:off x="0" y="0"/>
          <a:ext cx="0" cy="0"/>
          <a:chOff x="0" y="0"/>
          <a:chExt cx="0" cy="0"/>
        </a:xfrm>
      </p:grpSpPr>
      <p:sp>
        <p:nvSpPr>
          <p:cNvPr id="856" name="Google Shape;856;p72"/>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Source to Standard</a:t>
            </a:r>
            <a:endParaRPr/>
          </a:p>
        </p:txBody>
      </p:sp>
      <p:sp>
        <p:nvSpPr>
          <p:cNvPr id="857" name="Google Shape;857;p72"/>
          <p:cNvSpPr txBox="1"/>
          <p:nvPr>
            <p:ph idx="1" type="body"/>
          </p:nvPr>
        </p:nvSpPr>
        <p:spPr>
          <a:xfrm>
            <a:off x="1981200" y="1110343"/>
            <a:ext cx="8229600" cy="5382532"/>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rgbClr val="0000FF"/>
              </a:buClr>
              <a:buSzPct val="100000"/>
              <a:buNone/>
            </a:pPr>
            <a:r>
              <a:rPr lang="en-US" sz="900">
                <a:solidFill>
                  <a:srgbClr val="0000FF"/>
                </a:solidFill>
                <a:latin typeface="Consolas"/>
                <a:ea typeface="Consolas"/>
                <a:cs typeface="Consolas"/>
                <a:sym typeface="Consolas"/>
              </a:rPr>
              <a:t>WITH</a:t>
            </a:r>
            <a:r>
              <a:rPr lang="en-US" sz="900">
                <a:solidFill>
                  <a:srgbClr val="000000"/>
                </a:solidFill>
                <a:latin typeface="Consolas"/>
                <a:ea typeface="Consolas"/>
                <a:cs typeface="Consolas"/>
                <a:sym typeface="Consolas"/>
              </a:rPr>
              <a:t> CTE_VOCAB_MAP </a:t>
            </a:r>
            <a:r>
              <a:rPr lang="en-US" sz="900">
                <a:solidFill>
                  <a:srgbClr val="0000FF"/>
                </a:solidFill>
                <a:latin typeface="Consolas"/>
                <a:ea typeface="Consolas"/>
                <a:cs typeface="Consolas"/>
                <a:sym typeface="Consolas"/>
              </a:rPr>
              <a:t>AS </a:t>
            </a: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concept_code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TARGET_VOCABUALRY_ID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CONCEPT C</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CONCEPT_RELATIONSHIP CR</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relationship_id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'Maps to'</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CONCEPT_ID_2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UNION</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20425A"/>
              </a:buClr>
              <a:buSzPct val="100000"/>
              <a:buNone/>
            </a:pPr>
            <a:r>
              <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source_to_concept_map stcm</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source_concept_id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c2</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endParaRPr/>
          </a:p>
          <a:p>
            <a:pPr indent="0" lvl="0" marL="0" rtl="0" algn="l">
              <a:spcBef>
                <a:spcPts val="166"/>
              </a:spcBef>
              <a:spcAft>
                <a:spcPts val="0"/>
              </a:spcAft>
              <a:buClr>
                <a:srgbClr val="000000"/>
              </a:buClr>
              <a:buSzPct val="1000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TARGET_DOMAIN_ID</a:t>
            </a:r>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CTE_VOCAB_MAP</a:t>
            </a:r>
            <a:endParaRPr/>
          </a:p>
          <a:p>
            <a:pPr indent="0" lvl="0" marL="0" rtl="0" algn="l">
              <a:spcBef>
                <a:spcPts val="166"/>
              </a:spcBef>
              <a:spcAft>
                <a:spcPts val="0"/>
              </a:spcAft>
              <a:buClr>
                <a:srgbClr val="0000FF"/>
              </a:buClr>
              <a:buSzPct val="100000"/>
              <a:buNone/>
            </a:pP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SOURCE_CODE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'N94.6'</a:t>
            </a:r>
            <a:endParaRPr sz="900">
              <a:solidFill>
                <a:srgbClr val="000000"/>
              </a:solidFill>
              <a:highlight>
                <a:srgbClr val="FFFF00"/>
              </a:highlight>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SOURCE_VOCABULARY_ID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'ICD10CM'</a:t>
            </a:r>
            <a:endParaRPr sz="900">
              <a:solidFill>
                <a:srgbClr val="000000"/>
              </a:solidFill>
              <a:highlight>
                <a:srgbClr val="FFFF00"/>
              </a:highlight>
              <a:latin typeface="Consolas"/>
              <a:ea typeface="Consolas"/>
              <a:cs typeface="Consolas"/>
              <a:sym typeface="Consolas"/>
            </a:endParaRPr>
          </a:p>
          <a:p>
            <a:pPr indent="0" lvl="0" marL="0" rtl="0" algn="l">
              <a:spcBef>
                <a:spcPts val="166"/>
              </a:spcBef>
              <a:spcAft>
                <a:spcPts val="0"/>
              </a:spcAft>
              <a:buClr>
                <a:srgbClr val="808080"/>
              </a:buClr>
              <a:buSzPct val="100000"/>
              <a:buNone/>
            </a:pP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TARGET_STANDARD_CONCEPT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'S'</a:t>
            </a:r>
            <a:endParaRPr sz="900"/>
          </a:p>
        </p:txBody>
      </p:sp>
      <p:sp>
        <p:nvSpPr>
          <p:cNvPr id="858" name="Google Shape;858;p72"/>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Related image" id="859" name="Google Shape;859;p72"/>
          <p:cNvPicPr preferRelativeResize="0"/>
          <p:nvPr/>
        </p:nvPicPr>
        <p:blipFill rotWithShape="1">
          <a:blip r:embed="rId3">
            <a:alphaModFix/>
          </a:blip>
          <a:srcRect b="0" l="0" r="0" t="0"/>
          <a:stretch/>
        </p:blipFill>
        <p:spPr>
          <a:xfrm>
            <a:off x="9601200" y="42614"/>
            <a:ext cx="1022192" cy="993230"/>
          </a:xfrm>
          <a:prstGeom prst="rect">
            <a:avLst/>
          </a:prstGeom>
          <a:noFill/>
          <a:ln>
            <a:noFill/>
          </a:ln>
        </p:spPr>
      </p:pic>
      <p:sp>
        <p:nvSpPr>
          <p:cNvPr id="860" name="Google Shape;860;p72"/>
          <p:cNvSpPr/>
          <p:nvPr/>
        </p:nvSpPr>
        <p:spPr>
          <a:xfrm>
            <a:off x="1698172" y="5255228"/>
            <a:ext cx="4778829" cy="1050923"/>
          </a:xfrm>
          <a:prstGeom prst="frame">
            <a:avLst>
              <a:gd fmla="val 3094" name="adj1"/>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72"/>
          <p:cNvSpPr/>
          <p:nvPr/>
        </p:nvSpPr>
        <p:spPr>
          <a:xfrm>
            <a:off x="2253345" y="3673478"/>
            <a:ext cx="3145971" cy="1404257"/>
          </a:xfrm>
          <a:prstGeom prst="roundRect">
            <a:avLst>
              <a:gd fmla="val 16667" name="adj"/>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Look up your source Code here</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73"/>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CONDITION_OCCURRENCE</a:t>
            </a:r>
            <a:endParaRPr/>
          </a:p>
        </p:txBody>
      </p:sp>
      <p:sp>
        <p:nvSpPr>
          <p:cNvPr id="867" name="Google Shape;867;p73"/>
          <p:cNvSpPr txBox="1"/>
          <p:nvPr>
            <p:ph idx="1" type="body"/>
          </p:nvPr>
        </p:nvSpPr>
        <p:spPr>
          <a:xfrm>
            <a:off x="600364" y="1219204"/>
            <a:ext cx="3749964"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2800"/>
              <a:buChar char="•"/>
            </a:pPr>
            <a:r>
              <a:rPr lang="en-US" sz="2800"/>
              <a:t>Check the raw data to understand domain movement of codes.</a:t>
            </a:r>
            <a:endParaRPr/>
          </a:p>
          <a:p>
            <a:pPr indent="-342900" lvl="0" marL="342900" rtl="0" algn="l">
              <a:spcBef>
                <a:spcPts val="560"/>
              </a:spcBef>
              <a:spcAft>
                <a:spcPts val="0"/>
              </a:spcAft>
              <a:buClr>
                <a:srgbClr val="20425A"/>
              </a:buClr>
              <a:buSzPts val="2800"/>
              <a:buChar char="•"/>
            </a:pPr>
            <a:r>
              <a:rPr lang="en-US" sz="2800"/>
              <a:t>Data in the native “conditions” table will go to the table based on the domain of the mapped standard concept</a:t>
            </a:r>
            <a:endParaRPr/>
          </a:p>
        </p:txBody>
      </p:sp>
      <p:sp>
        <p:nvSpPr>
          <p:cNvPr id="868" name="Google Shape;868;p73"/>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69" name="Google Shape;869;p73"/>
          <p:cNvSpPr txBox="1"/>
          <p:nvPr/>
        </p:nvSpPr>
        <p:spPr>
          <a:xfrm>
            <a:off x="0" y="6520934"/>
            <a:ext cx="82203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3">
                  <a:extLst>
                    <a:ext uri="{A12FA001-AC4F-418D-AE19-62706E023703}">
                      <ahyp:hlinkClr val="tx"/>
                    </a:ext>
                  </a:extLst>
                </a:hlinkClick>
              </a:rPr>
              <a:t>https://ohdsi.github.io/ETL-Synthea/articles/condition_occurrence.html</a:t>
            </a:r>
            <a:endParaRPr sz="1800">
              <a:solidFill>
                <a:schemeClr val="dk1"/>
              </a:solidFill>
              <a:latin typeface="Calibri"/>
              <a:ea typeface="Calibri"/>
              <a:cs typeface="Calibri"/>
              <a:sym typeface="Calibri"/>
            </a:endParaRPr>
          </a:p>
        </p:txBody>
      </p:sp>
      <p:pic>
        <p:nvPicPr>
          <p:cNvPr id="870" name="Google Shape;870;p73"/>
          <p:cNvPicPr preferRelativeResize="0"/>
          <p:nvPr/>
        </p:nvPicPr>
        <p:blipFill rotWithShape="1">
          <a:blip r:embed="rId4">
            <a:alphaModFix/>
          </a:blip>
          <a:srcRect b="0" l="0" r="0" t="0"/>
          <a:stretch/>
        </p:blipFill>
        <p:spPr>
          <a:xfrm>
            <a:off x="4531014" y="1107286"/>
            <a:ext cx="7378700" cy="513080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74"/>
          <p:cNvSpPr txBox="1"/>
          <p:nvPr>
            <p:ph type="title"/>
          </p:nvPr>
        </p:nvSpPr>
        <p:spPr>
          <a:xfrm>
            <a:off x="1832663" y="28185"/>
            <a:ext cx="981323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Synthea Tables</a:t>
            </a:r>
            <a:endParaRPr/>
          </a:p>
        </p:txBody>
      </p:sp>
      <p:graphicFrame>
        <p:nvGraphicFramePr>
          <p:cNvPr id="877" name="Google Shape;877;p74"/>
          <p:cNvGraphicFramePr/>
          <p:nvPr/>
        </p:nvGraphicFramePr>
        <p:xfrm>
          <a:off x="1832662" y="866385"/>
          <a:ext cx="3000000" cy="3000000"/>
        </p:xfrm>
        <a:graphic>
          <a:graphicData uri="http://schemas.openxmlformats.org/drawingml/2006/table">
            <a:tbl>
              <a:tblPr>
                <a:noFill/>
                <a:tableStyleId>{5000C0AC-F8AF-484B-93E4-D2C59BA90F7C}</a:tableStyleId>
              </a:tblPr>
              <a:tblGrid>
                <a:gridCol w="3946700"/>
                <a:gridCol w="6002750"/>
              </a:tblGrid>
              <a:tr h="260825">
                <a:tc>
                  <a:txBody>
                    <a:bodyPr/>
                    <a:lstStyle/>
                    <a:p>
                      <a:pPr indent="0" lvl="0" marL="0" marR="0" rtl="0" algn="l">
                        <a:spcBef>
                          <a:spcPts val="0"/>
                        </a:spcBef>
                        <a:spcAft>
                          <a:spcPts val="0"/>
                        </a:spcAft>
                        <a:buNone/>
                      </a:pPr>
                      <a:r>
                        <a:rPr b="1" lang="en-US" sz="1400" u="none">
                          <a:latin typeface="Calibri"/>
                          <a:ea typeface="Calibri"/>
                          <a:cs typeface="Calibri"/>
                          <a:sym typeface="Calibri"/>
                        </a:rPr>
                        <a:t>File</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l">
                        <a:spcBef>
                          <a:spcPts val="0"/>
                        </a:spcBef>
                        <a:spcAft>
                          <a:spcPts val="0"/>
                        </a:spcAft>
                        <a:buNone/>
                      </a:pPr>
                      <a:r>
                        <a:rPr b="1" lang="en-US" sz="1400">
                          <a:latin typeface="Calibri"/>
                          <a:ea typeface="Calibri"/>
                          <a:cs typeface="Calibri"/>
                          <a:sym typeface="Calibri"/>
                        </a:rPr>
                        <a:t>Description</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3">
                            <a:extLst>
                              <a:ext uri="{A12FA001-AC4F-418D-AE19-62706E023703}">
                                <ahyp:hlinkClr val="tx"/>
                              </a:ext>
                            </a:extLst>
                          </a:hlinkClick>
                        </a:rPr>
                        <a:t>allergies.csv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allergy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4">
                            <a:extLst>
                              <a:ext uri="{A12FA001-AC4F-418D-AE19-62706E023703}">
                                <ahyp:hlinkClr val="tx"/>
                              </a:ext>
                            </a:extLst>
                          </a:hlinkClick>
                        </a:rPr>
                        <a:t>careplans.csv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care plan data, including goals.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spcBef>
                          <a:spcPts val="0"/>
                        </a:spcBef>
                        <a:spcAft>
                          <a:spcPts val="0"/>
                        </a:spcAft>
                        <a:buClr>
                          <a:schemeClr val="dk1"/>
                        </a:buClr>
                        <a:buSzPts val="1400"/>
                        <a:buFont typeface="Calibri"/>
                        <a:buNone/>
                      </a:pPr>
                      <a:r>
                        <a:rPr b="0" i="0" lang="en-US" sz="1400" u="sng">
                          <a:solidFill>
                            <a:schemeClr val="dk1"/>
                          </a:solidFill>
                          <a:latin typeface="Calibri"/>
                          <a:ea typeface="Calibri"/>
                          <a:cs typeface="Calibri"/>
                          <a:sym typeface="Calibri"/>
                          <a:hlinkClick r:id="rId5">
                            <a:extLst>
                              <a:ext uri="{A12FA001-AC4F-418D-AE19-62706E023703}">
                                <ahyp:hlinkClr val="tx"/>
                              </a:ext>
                            </a:extLst>
                          </a:hlinkClick>
                        </a:rPr>
                        <a:t>claims.csv</a:t>
                      </a:r>
                      <a:endParaRPr sz="1400" u="none" strike="noStrike">
                        <a:solidFill>
                          <a:srgbClr val="0366D6"/>
                        </a:solidFill>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Clr>
                          <a:schemeClr val="dk1"/>
                        </a:buClr>
                        <a:buSzPts val="1400"/>
                        <a:buFont typeface="Calibri"/>
                        <a:buNone/>
                      </a:pPr>
                      <a:r>
                        <a:rPr b="0" i="0" lang="en-US" sz="1400">
                          <a:solidFill>
                            <a:schemeClr val="dk1"/>
                          </a:solidFill>
                          <a:latin typeface="Calibri"/>
                          <a:ea typeface="Calibri"/>
                          <a:cs typeface="Calibri"/>
                          <a:sym typeface="Calibri"/>
                        </a:rPr>
                        <a:t>Patient claim data.</a:t>
                      </a:r>
                      <a:endParaRPr sz="1400">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6"/>
                        </a:rPr>
                        <a:t>claims_transactions.csv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Clr>
                          <a:schemeClr val="dk1"/>
                        </a:buClr>
                        <a:buSzPts val="1400"/>
                        <a:buFont typeface="Calibri"/>
                        <a:buNone/>
                      </a:pPr>
                      <a:r>
                        <a:rPr b="0" i="0" lang="en-US" sz="1400">
                          <a:solidFill>
                            <a:schemeClr val="dk1"/>
                          </a:solidFill>
                          <a:latin typeface="Calibri"/>
                          <a:ea typeface="Calibri"/>
                          <a:cs typeface="Calibri"/>
                          <a:sym typeface="Calibri"/>
                        </a:rPr>
                        <a:t>Transactions per line item per claim</a:t>
                      </a:r>
                      <a:endParaRPr sz="1400">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7">
                            <a:extLst>
                              <a:ext uri="{A12FA001-AC4F-418D-AE19-62706E023703}">
                                <ahyp:hlinkClr val="tx"/>
                              </a:ext>
                            </a:extLst>
                          </a:hlinkClick>
                        </a:rPr>
                        <a:t>conditions.csv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conditions or diagnoses.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6082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8"/>
                        </a:rPr>
                        <a:t>devices.csv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Patient-affixed permanent and semi-permanent devices.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9">
                            <a:extLst>
                              <a:ext uri="{A12FA001-AC4F-418D-AE19-62706E023703}">
                                <ahyp:hlinkClr val="tx"/>
                              </a:ext>
                            </a:extLst>
                          </a:hlinkClick>
                        </a:rPr>
                        <a:t>encounters.csv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encounter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0">
                            <a:extLst>
                              <a:ext uri="{A12FA001-AC4F-418D-AE19-62706E023703}">
                                <ahyp:hlinkClr val="tx"/>
                              </a:ext>
                            </a:extLst>
                          </a:hlinkClick>
                        </a:rPr>
                        <a:t>imaging_studies.csv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imaging metadata.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1">
                            <a:extLst>
                              <a:ext uri="{A12FA001-AC4F-418D-AE19-62706E023703}">
                                <ahyp:hlinkClr val="tx"/>
                              </a:ext>
                            </a:extLst>
                          </a:hlinkClick>
                        </a:rPr>
                        <a:t>immunizations.csv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immunization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2">
                            <a:extLst>
                              <a:ext uri="{A12FA001-AC4F-418D-AE19-62706E023703}">
                                <ahyp:hlinkClr val="tx"/>
                              </a:ext>
                            </a:extLst>
                          </a:hlinkClick>
                        </a:rPr>
                        <a:t>medications.csv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medication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3">
                            <a:extLst>
                              <a:ext uri="{A12FA001-AC4F-418D-AE19-62706E023703}">
                                <ahyp:hlinkClr val="tx"/>
                              </a:ext>
                            </a:extLst>
                          </a:hlinkClick>
                        </a:rPr>
                        <a:t>observations.csv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observations including vital signs and lab reports.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4">
                            <a:extLst>
                              <a:ext uri="{A12FA001-AC4F-418D-AE19-62706E023703}">
                                <ahyp:hlinkClr val="tx"/>
                              </a:ext>
                            </a:extLst>
                          </a:hlinkClick>
                        </a:rPr>
                        <a:t>organizations.csv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Provider organizations including hospitals.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6082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5">
                            <a:extLst>
                              <a:ext uri="{A12FA001-AC4F-418D-AE19-62706E023703}">
                                <ahyp:hlinkClr val="tx"/>
                              </a:ext>
                            </a:extLst>
                          </a:hlinkClick>
                        </a:rPr>
                        <a:t>patients.csv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demographic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16"/>
                        </a:rPr>
                        <a:t>payer_transitions.csv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Payer Transition data (i.e. changes in health insurance).</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6082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17"/>
                        </a:rPr>
                        <a:t>payers.csv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lang="en-US" sz="1400">
                          <a:latin typeface="Calibri"/>
                          <a:ea typeface="Calibri"/>
                          <a:cs typeface="Calibri"/>
                          <a:sym typeface="Calibri"/>
                        </a:rPr>
                        <a:t>Payer organization data.</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8">
                            <a:extLst>
                              <a:ext uri="{A12FA001-AC4F-418D-AE19-62706E023703}">
                                <ahyp:hlinkClr val="tx"/>
                              </a:ext>
                            </a:extLst>
                          </a:hlinkClick>
                        </a:rPr>
                        <a:t>procedures.csv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Patient procedure data including surgeries.</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22675">
                <a:tc>
                  <a:txBody>
                    <a:bodyPr/>
                    <a:lstStyle/>
                    <a:p>
                      <a:pPr indent="0" lvl="0" marL="0" marR="0" rtl="0" algn="l">
                        <a:spcBef>
                          <a:spcPts val="0"/>
                        </a:spcBef>
                        <a:spcAft>
                          <a:spcPts val="0"/>
                        </a:spcAft>
                        <a:buNone/>
                      </a:pPr>
                      <a:r>
                        <a:rPr lang="en-US" sz="1400" u="sng" strike="noStrike">
                          <a:solidFill>
                            <a:srgbClr val="0366D6"/>
                          </a:solidFill>
                          <a:latin typeface="Calibri"/>
                          <a:ea typeface="Calibri"/>
                          <a:cs typeface="Calibri"/>
                          <a:sym typeface="Calibri"/>
                          <a:hlinkClick r:id="rId19">
                            <a:extLst>
                              <a:ext uri="{A12FA001-AC4F-418D-AE19-62706E023703}">
                                <ahyp:hlinkClr val="tx"/>
                              </a:ext>
                            </a:extLst>
                          </a:hlinkClick>
                        </a:rPr>
                        <a:t>providers.csv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spcBef>
                          <a:spcPts val="0"/>
                        </a:spcBef>
                        <a:spcAft>
                          <a:spcPts val="0"/>
                        </a:spcAft>
                        <a:buNone/>
                      </a:pPr>
                      <a:r>
                        <a:rPr lang="en-US" sz="1400">
                          <a:latin typeface="Calibri"/>
                          <a:ea typeface="Calibri"/>
                          <a:cs typeface="Calibri"/>
                          <a:sym typeface="Calibri"/>
                        </a:rPr>
                        <a:t>Clinicians that provide patient care.</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322675">
                <a:tc>
                  <a:txBody>
                    <a:bodyPr/>
                    <a:lstStyle/>
                    <a:p>
                      <a:pPr indent="0" lvl="0" marL="0" marR="0" rtl="0" algn="l">
                        <a:lnSpc>
                          <a:spcPct val="100000"/>
                        </a:lnSpc>
                        <a:spcBef>
                          <a:spcPts val="0"/>
                        </a:spcBef>
                        <a:spcAft>
                          <a:spcPts val="0"/>
                        </a:spcAft>
                        <a:buClr>
                          <a:schemeClr val="dk1"/>
                        </a:buClr>
                        <a:buSzPts val="1400"/>
                        <a:buFont typeface="Calibri"/>
                        <a:buNone/>
                      </a:pPr>
                      <a:r>
                        <a:rPr lang="en-US" sz="1400" u="sng">
                          <a:solidFill>
                            <a:schemeClr val="hlink"/>
                          </a:solidFill>
                          <a:latin typeface="Calibri"/>
                          <a:ea typeface="Calibri"/>
                          <a:cs typeface="Calibri"/>
                          <a:sym typeface="Calibri"/>
                          <a:hlinkClick r:id="rId20"/>
                        </a:rPr>
                        <a:t>supplies.csv</a:t>
                      </a:r>
                      <a:endParaRPr sz="1400" u="none">
                        <a:latin typeface="Calibri"/>
                        <a:ea typeface="Calibri"/>
                        <a:cs typeface="Calibri"/>
                        <a:sym typeface="Calibri"/>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l">
                        <a:lnSpc>
                          <a:spcPct val="100000"/>
                        </a:lnSpc>
                        <a:spcBef>
                          <a:spcPts val="0"/>
                        </a:spcBef>
                        <a:spcAft>
                          <a:spcPts val="0"/>
                        </a:spcAft>
                        <a:buClr>
                          <a:schemeClr val="dk1"/>
                        </a:buClr>
                        <a:buSzPts val="1400"/>
                        <a:buFont typeface="Calibri"/>
                        <a:buNone/>
                      </a:pPr>
                      <a:r>
                        <a:rPr lang="en-US" sz="1400">
                          <a:latin typeface="Calibri"/>
                          <a:ea typeface="Calibri"/>
                          <a:cs typeface="Calibri"/>
                          <a:sym typeface="Calibri"/>
                        </a:rPr>
                        <a:t>Supplies used in the provision of care.</a:t>
                      </a:r>
                      <a:endParaRPr/>
                    </a:p>
                  </a:txBody>
                  <a:tcPr marT="34125" marB="34125" marR="73950" marL="739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bl>
          </a:graphicData>
        </a:graphic>
      </p:graphicFrame>
      <p:sp>
        <p:nvSpPr>
          <p:cNvPr id="878" name="Google Shape;878;p74"/>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75"/>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DRUG_EXPOSURE</a:t>
            </a:r>
            <a:endParaRPr/>
          </a:p>
        </p:txBody>
      </p:sp>
      <p:sp>
        <p:nvSpPr>
          <p:cNvPr id="884" name="Google Shape;884;p75"/>
          <p:cNvSpPr txBox="1"/>
          <p:nvPr>
            <p:ph idx="1" type="body"/>
          </p:nvPr>
        </p:nvSpPr>
        <p:spPr>
          <a:xfrm>
            <a:off x="609600" y="1219205"/>
            <a:ext cx="3629891"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Use type concepts to denote between ordered, administered, dispensed drugs</a:t>
            </a:r>
            <a:endParaRPr/>
          </a:p>
        </p:txBody>
      </p:sp>
      <p:sp>
        <p:nvSpPr>
          <p:cNvPr id="885" name="Google Shape;885;p75"/>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86" name="Google Shape;886;p75"/>
          <p:cNvPicPr preferRelativeResize="0"/>
          <p:nvPr/>
        </p:nvPicPr>
        <p:blipFill rotWithShape="1">
          <a:blip r:embed="rId3">
            <a:alphaModFix/>
          </a:blip>
          <a:srcRect b="0" l="0" r="0" t="0"/>
          <a:stretch/>
        </p:blipFill>
        <p:spPr>
          <a:xfrm>
            <a:off x="4484832" y="1107286"/>
            <a:ext cx="7378700" cy="5130800"/>
          </a:xfrm>
          <a:prstGeom prst="rect">
            <a:avLst/>
          </a:prstGeom>
          <a:noFill/>
          <a:ln cap="flat" cmpd="sng" w="28575">
            <a:solidFill>
              <a:schemeClr val="dk1"/>
            </a:solidFill>
            <a:prstDash val="solid"/>
            <a:round/>
            <a:headEnd len="sm" w="sm" type="none"/>
            <a:tailEnd len="sm" w="sm" type="none"/>
          </a:ln>
        </p:spPr>
      </p:pic>
      <p:sp>
        <p:nvSpPr>
          <p:cNvPr id="887" name="Google Shape;887;p75"/>
          <p:cNvSpPr txBox="1"/>
          <p:nvPr/>
        </p:nvSpPr>
        <p:spPr>
          <a:xfrm>
            <a:off x="0" y="6495189"/>
            <a:ext cx="81741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4">
                  <a:extLst>
                    <a:ext uri="{A12FA001-AC4F-418D-AE19-62706E023703}">
                      <ahyp:hlinkClr val="tx"/>
                    </a:ext>
                  </a:extLst>
                </a:hlinkClick>
              </a:rPr>
              <a:t>https://ohdsi.github.io/ETL-Synthea/articles/drug_exposure.html</a:t>
            </a:r>
            <a:endParaRPr sz="18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76"/>
          <p:cNvSpPr txBox="1"/>
          <p:nvPr>
            <p:ph type="ctrTitle"/>
          </p:nvPr>
        </p:nvSpPr>
        <p:spPr>
          <a:xfrm>
            <a:off x="3149600" y="3023353"/>
            <a:ext cx="8321200" cy="811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0425A"/>
              </a:buClr>
              <a:buSzPts val="3000"/>
              <a:buFont typeface="Calibri"/>
              <a:buNone/>
            </a:pPr>
            <a:r>
              <a:rPr b="1" lang="en-US"/>
              <a:t>Generating a CDM</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77"/>
          <p:cNvSpPr txBox="1"/>
          <p:nvPr>
            <p:ph type="title"/>
          </p:nvPr>
        </p:nvSpPr>
        <p:spPr>
          <a:xfrm>
            <a:off x="2667000" y="152400"/>
            <a:ext cx="68580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Implementation</a:t>
            </a:r>
            <a:endParaRPr/>
          </a:p>
        </p:txBody>
      </p:sp>
      <p:sp>
        <p:nvSpPr>
          <p:cNvPr id="900" name="Google Shape;900;p77"/>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Image result for pusheen transparent background" id="901" name="Google Shape;901;p77"/>
          <p:cNvPicPr preferRelativeResize="0"/>
          <p:nvPr/>
        </p:nvPicPr>
        <p:blipFill rotWithShape="1">
          <a:blip r:embed="rId3">
            <a:alphaModFix/>
          </a:blip>
          <a:srcRect b="0" l="0" r="0" t="0"/>
          <a:stretch/>
        </p:blipFill>
        <p:spPr>
          <a:xfrm>
            <a:off x="9525000" y="58686"/>
            <a:ext cx="1110180" cy="1110180"/>
          </a:xfrm>
          <a:prstGeom prst="rect">
            <a:avLst/>
          </a:prstGeom>
          <a:noFill/>
          <a:ln>
            <a:noFill/>
          </a:ln>
        </p:spPr>
      </p:pic>
      <p:sp>
        <p:nvSpPr>
          <p:cNvPr id="902" name="Google Shape;902;p77"/>
          <p:cNvSpPr txBox="1"/>
          <p:nvPr/>
        </p:nvSpPr>
        <p:spPr>
          <a:xfrm>
            <a:off x="1981200" y="1006891"/>
            <a:ext cx="8229600" cy="588963"/>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20425A"/>
              </a:buClr>
              <a:buSzPts val="3200"/>
              <a:buFont typeface="Arial"/>
              <a:buNone/>
            </a:pPr>
            <a:r>
              <a:rPr b="1" lang="en-US" sz="3200">
                <a:solidFill>
                  <a:srgbClr val="20425A"/>
                </a:solidFill>
                <a:latin typeface="Calibri"/>
                <a:ea typeface="Calibri"/>
                <a:cs typeface="Calibri"/>
                <a:sym typeface="Calibri"/>
              </a:rPr>
              <a:t>General Flow of Implementation</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600"/>
              </a:spcBef>
              <a:spcAft>
                <a:spcPts val="0"/>
              </a:spcAft>
              <a:buClr>
                <a:srgbClr val="20425A"/>
              </a:buClr>
              <a:buSzPts val="3000"/>
              <a:buFont typeface="Arial"/>
              <a:buNone/>
            </a:pPr>
            <a:r>
              <a:t/>
            </a:r>
            <a:endParaRPr b="1" sz="3000">
              <a:solidFill>
                <a:srgbClr val="20425A"/>
              </a:solidFill>
              <a:latin typeface="Calibri"/>
              <a:ea typeface="Calibri"/>
              <a:cs typeface="Calibri"/>
              <a:sym typeface="Calibri"/>
            </a:endParaRPr>
          </a:p>
        </p:txBody>
      </p:sp>
      <p:pic>
        <p:nvPicPr>
          <p:cNvPr id="903" name="Google Shape;903;p77"/>
          <p:cNvPicPr preferRelativeResize="0"/>
          <p:nvPr/>
        </p:nvPicPr>
        <p:blipFill rotWithShape="1">
          <a:blip r:embed="rId4">
            <a:alphaModFix/>
          </a:blip>
          <a:srcRect b="0" l="0" r="0" t="0"/>
          <a:stretch/>
        </p:blipFill>
        <p:spPr>
          <a:xfrm>
            <a:off x="2897662" y="1590708"/>
            <a:ext cx="2028825" cy="600075"/>
          </a:xfrm>
          <a:prstGeom prst="rect">
            <a:avLst/>
          </a:prstGeom>
          <a:noFill/>
          <a:ln>
            <a:noFill/>
          </a:ln>
        </p:spPr>
      </p:pic>
      <p:cxnSp>
        <p:nvCxnSpPr>
          <p:cNvPr id="904" name="Google Shape;904;p77"/>
          <p:cNvCxnSpPr>
            <a:stCxn id="903" idx="2"/>
          </p:cNvCxnSpPr>
          <p:nvPr/>
        </p:nvCxnSpPr>
        <p:spPr>
          <a:xfrm flipH="1">
            <a:off x="3187575" y="2190783"/>
            <a:ext cx="724500" cy="608700"/>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cxnSp>
        <p:nvCxnSpPr>
          <p:cNvPr id="905" name="Google Shape;905;p77"/>
          <p:cNvCxnSpPr/>
          <p:nvPr/>
        </p:nvCxnSpPr>
        <p:spPr>
          <a:xfrm flipH="1" rot="-6000000">
            <a:off x="3912422" y="2190782"/>
            <a:ext cx="724644" cy="608756"/>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pic>
        <p:nvPicPr>
          <p:cNvPr id="906" name="Google Shape;906;p77"/>
          <p:cNvPicPr preferRelativeResize="0"/>
          <p:nvPr/>
        </p:nvPicPr>
        <p:blipFill rotWithShape="1">
          <a:blip r:embed="rId5">
            <a:alphaModFix/>
          </a:blip>
          <a:srcRect b="0" l="0" r="0" t="0"/>
          <a:stretch/>
        </p:blipFill>
        <p:spPr>
          <a:xfrm>
            <a:off x="4358882" y="2838450"/>
            <a:ext cx="2009775" cy="590550"/>
          </a:xfrm>
          <a:prstGeom prst="rect">
            <a:avLst/>
          </a:prstGeom>
          <a:noFill/>
          <a:ln>
            <a:noFill/>
          </a:ln>
        </p:spPr>
      </p:pic>
      <p:pic>
        <p:nvPicPr>
          <p:cNvPr id="907" name="Google Shape;907;p77"/>
          <p:cNvPicPr preferRelativeResize="0"/>
          <p:nvPr/>
        </p:nvPicPr>
        <p:blipFill rotWithShape="1">
          <a:blip r:embed="rId6">
            <a:alphaModFix/>
          </a:blip>
          <a:srcRect b="0" l="0" r="0" t="0"/>
          <a:stretch/>
        </p:blipFill>
        <p:spPr>
          <a:xfrm>
            <a:off x="1727674" y="2809875"/>
            <a:ext cx="2038350" cy="647700"/>
          </a:xfrm>
          <a:prstGeom prst="rect">
            <a:avLst/>
          </a:prstGeom>
          <a:noFill/>
          <a:ln>
            <a:noFill/>
          </a:ln>
        </p:spPr>
      </p:pic>
      <p:cxnSp>
        <p:nvCxnSpPr>
          <p:cNvPr id="908" name="Google Shape;908;p77"/>
          <p:cNvCxnSpPr/>
          <p:nvPr/>
        </p:nvCxnSpPr>
        <p:spPr>
          <a:xfrm>
            <a:off x="5363206" y="3405745"/>
            <a:ext cx="563" cy="366139"/>
          </a:xfrm>
          <a:prstGeom prst="straightConnector1">
            <a:avLst/>
          </a:prstGeom>
          <a:noFill/>
          <a:ln cap="flat" cmpd="sng" w="38100">
            <a:solidFill>
              <a:schemeClr val="dk1"/>
            </a:solidFill>
            <a:prstDash val="solid"/>
            <a:round/>
            <a:headEnd len="sm" w="sm" type="none"/>
            <a:tailEnd len="med" w="med" type="triangle"/>
          </a:ln>
          <a:effectLst>
            <a:outerShdw blurRad="40000" rotWithShape="0" dir="5400000" dist="23000">
              <a:srgbClr val="000000">
                <a:alpha val="34901"/>
              </a:srgbClr>
            </a:outerShdw>
          </a:effectLst>
        </p:spPr>
      </p:cxnSp>
      <p:pic>
        <p:nvPicPr>
          <p:cNvPr id="909" name="Google Shape;909;p77"/>
          <p:cNvPicPr preferRelativeResize="0"/>
          <p:nvPr/>
        </p:nvPicPr>
        <p:blipFill rotWithShape="1">
          <a:blip r:embed="rId7">
            <a:alphaModFix/>
          </a:blip>
          <a:srcRect b="0" l="0" r="0" t="0"/>
          <a:stretch/>
        </p:blipFill>
        <p:spPr>
          <a:xfrm>
            <a:off x="3351555" y="4532879"/>
            <a:ext cx="2019300" cy="600075"/>
          </a:xfrm>
          <a:prstGeom prst="rect">
            <a:avLst/>
          </a:prstGeom>
          <a:noFill/>
          <a:ln>
            <a:noFill/>
          </a:ln>
        </p:spPr>
      </p:pic>
      <p:pic>
        <p:nvPicPr>
          <p:cNvPr id="910" name="Google Shape;910;p77"/>
          <p:cNvPicPr preferRelativeResize="0"/>
          <p:nvPr/>
        </p:nvPicPr>
        <p:blipFill rotWithShape="1">
          <a:blip r:embed="rId8">
            <a:alphaModFix/>
          </a:blip>
          <a:srcRect b="0" l="0" r="0" t="0"/>
          <a:stretch/>
        </p:blipFill>
        <p:spPr>
          <a:xfrm>
            <a:off x="3324856" y="3920187"/>
            <a:ext cx="2028825" cy="581025"/>
          </a:xfrm>
          <a:prstGeom prst="rect">
            <a:avLst/>
          </a:prstGeom>
          <a:noFill/>
          <a:ln>
            <a:noFill/>
          </a:ln>
        </p:spPr>
      </p:pic>
      <p:pic>
        <p:nvPicPr>
          <p:cNvPr id="911" name="Google Shape;911;p77"/>
          <p:cNvPicPr preferRelativeResize="0"/>
          <p:nvPr/>
        </p:nvPicPr>
        <p:blipFill rotWithShape="1">
          <a:blip r:embed="rId9">
            <a:alphaModFix/>
          </a:blip>
          <a:srcRect b="0" l="0" r="0" t="0"/>
          <a:stretch/>
        </p:blipFill>
        <p:spPr>
          <a:xfrm>
            <a:off x="5353681" y="3909407"/>
            <a:ext cx="2047875" cy="600075"/>
          </a:xfrm>
          <a:prstGeom prst="rect">
            <a:avLst/>
          </a:prstGeom>
          <a:noFill/>
          <a:ln>
            <a:noFill/>
          </a:ln>
        </p:spPr>
      </p:pic>
      <p:pic>
        <p:nvPicPr>
          <p:cNvPr id="912" name="Google Shape;912;p77"/>
          <p:cNvPicPr preferRelativeResize="0"/>
          <p:nvPr/>
        </p:nvPicPr>
        <p:blipFill rotWithShape="1">
          <a:blip r:embed="rId10">
            <a:alphaModFix/>
          </a:blip>
          <a:srcRect b="0" l="0" r="0" t="0"/>
          <a:stretch/>
        </p:blipFill>
        <p:spPr>
          <a:xfrm>
            <a:off x="5370855" y="4509482"/>
            <a:ext cx="2038350" cy="600075"/>
          </a:xfrm>
          <a:prstGeom prst="rect">
            <a:avLst/>
          </a:prstGeom>
          <a:noFill/>
          <a:ln>
            <a:noFill/>
          </a:ln>
        </p:spPr>
      </p:pic>
      <p:pic>
        <p:nvPicPr>
          <p:cNvPr id="913" name="Google Shape;913;p77"/>
          <p:cNvPicPr preferRelativeResize="0"/>
          <p:nvPr/>
        </p:nvPicPr>
        <p:blipFill rotWithShape="1">
          <a:blip r:embed="rId11">
            <a:alphaModFix/>
          </a:blip>
          <a:srcRect b="0" l="0" r="0" t="0"/>
          <a:stretch/>
        </p:blipFill>
        <p:spPr>
          <a:xfrm>
            <a:off x="3358756" y="5101826"/>
            <a:ext cx="2000250" cy="609600"/>
          </a:xfrm>
          <a:prstGeom prst="rect">
            <a:avLst/>
          </a:prstGeom>
          <a:noFill/>
          <a:ln>
            <a:noFill/>
          </a:ln>
        </p:spPr>
      </p:pic>
      <p:sp>
        <p:nvSpPr>
          <p:cNvPr id="914" name="Google Shape;914;p77"/>
          <p:cNvSpPr/>
          <p:nvPr/>
        </p:nvSpPr>
        <p:spPr>
          <a:xfrm>
            <a:off x="3324855" y="3849705"/>
            <a:ext cx="4076700" cy="1892849"/>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915" name="Google Shape;915;p77"/>
          <p:cNvPicPr preferRelativeResize="0"/>
          <p:nvPr/>
        </p:nvPicPr>
        <p:blipFill rotWithShape="1">
          <a:blip r:embed="rId11">
            <a:alphaModFix/>
          </a:blip>
          <a:srcRect b="0" l="0" r="0" t="0"/>
          <a:stretch/>
        </p:blipFill>
        <p:spPr>
          <a:xfrm>
            <a:off x="5389905" y="5095090"/>
            <a:ext cx="2000250" cy="609600"/>
          </a:xfrm>
          <a:prstGeom prst="rect">
            <a:avLst/>
          </a:prstGeom>
          <a:noFill/>
          <a:ln>
            <a:noFill/>
          </a:ln>
        </p:spPr>
      </p:pic>
      <p:sp>
        <p:nvSpPr>
          <p:cNvPr id="916" name="Google Shape;916;p77"/>
          <p:cNvSpPr txBox="1"/>
          <p:nvPr/>
        </p:nvSpPr>
        <p:spPr>
          <a:xfrm>
            <a:off x="5463702" y="5215642"/>
            <a:ext cx="1848255" cy="369332"/>
          </a:xfrm>
          <a:prstGeom prst="rect">
            <a:avLst/>
          </a:prstGeom>
          <a:solidFill>
            <a:srgbClr val="BDBDFF"/>
          </a:solidFill>
          <a:ln>
            <a:noFill/>
          </a:ln>
        </p:spPr>
        <p:txBody>
          <a:bodyPr anchorCtr="0" anchor="t" bIns="0" lIns="91425" spcFirstLastPara="1" rIns="91425" wrap="square" tIns="0">
            <a:spAutoFit/>
          </a:bodyPr>
          <a:lstStyle/>
          <a:p>
            <a:pPr indent="0" lvl="0" marL="0" marR="0" rtl="0" algn="ctr">
              <a:spcBef>
                <a:spcPts val="0"/>
              </a:spcBef>
              <a:spcAft>
                <a:spcPts val="0"/>
              </a:spcAft>
              <a:buNone/>
            </a:pPr>
            <a:r>
              <a:rPr b="1" lang="en-US" sz="1200">
                <a:solidFill>
                  <a:schemeClr val="dk1"/>
                </a:solidFill>
                <a:latin typeface="Calibri"/>
                <a:ea typeface="Calibri"/>
                <a:cs typeface="Calibri"/>
                <a:sym typeface="Calibri"/>
              </a:rPr>
              <a:t>Additional clinical data tables…</a:t>
            </a:r>
            <a:endParaRPr b="1" sz="1400">
              <a:solidFill>
                <a:schemeClr val="dk1"/>
              </a:solidFill>
              <a:latin typeface="Calibri"/>
              <a:ea typeface="Calibri"/>
              <a:cs typeface="Calibri"/>
              <a:sym typeface="Calibri"/>
            </a:endParaRPr>
          </a:p>
        </p:txBody>
      </p:sp>
      <p:sp>
        <p:nvSpPr>
          <p:cNvPr id="917" name="Google Shape;917;p77"/>
          <p:cNvSpPr txBox="1"/>
          <p:nvPr/>
        </p:nvSpPr>
        <p:spPr>
          <a:xfrm>
            <a:off x="5273878" y="1751505"/>
            <a:ext cx="3730693" cy="651541"/>
          </a:xfrm>
          <a:prstGeom prst="rect">
            <a:avLst/>
          </a:prstGeom>
          <a:noFill/>
          <a:ln>
            <a:noFill/>
          </a:ln>
        </p:spPr>
        <p:txBody>
          <a:bodyPr anchorCtr="0" anchor="b" bIns="45700" lIns="91425" spcFirstLastPara="1" rIns="91425" wrap="square" tIns="45700">
            <a:normAutofit/>
          </a:bodyPr>
          <a:lstStyle/>
          <a:p>
            <a:pPr indent="0" lvl="0" marL="0" marR="0" rtl="0" algn="l">
              <a:spcBef>
                <a:spcPts val="0"/>
              </a:spcBef>
              <a:spcAft>
                <a:spcPts val="0"/>
              </a:spcAft>
              <a:buClr>
                <a:srgbClr val="20425A"/>
              </a:buClr>
              <a:buSzPts val="1800"/>
              <a:buFont typeface="Arial"/>
              <a:buNone/>
            </a:pPr>
            <a:r>
              <a:rPr b="0" lang="en-US" sz="1800">
                <a:solidFill>
                  <a:srgbClr val="20425A"/>
                </a:solidFill>
                <a:latin typeface="Calibri"/>
                <a:ea typeface="Calibri"/>
                <a:cs typeface="Calibri"/>
                <a:sym typeface="Calibri"/>
              </a:rPr>
              <a:t>A good rule of thumb is to always create the PERSON table first</a:t>
            </a:r>
            <a:endParaRPr/>
          </a:p>
        </p:txBody>
      </p:sp>
      <p:sp>
        <p:nvSpPr>
          <p:cNvPr id="918" name="Google Shape;918;p77"/>
          <p:cNvSpPr txBox="1"/>
          <p:nvPr/>
        </p:nvSpPr>
        <p:spPr>
          <a:xfrm>
            <a:off x="6489396" y="2614528"/>
            <a:ext cx="4145784" cy="1110180"/>
          </a:xfrm>
          <a:prstGeom prst="rect">
            <a:avLst/>
          </a:prstGeom>
          <a:noFill/>
          <a:ln>
            <a:noFill/>
          </a:ln>
        </p:spPr>
        <p:txBody>
          <a:bodyPr anchorCtr="0" anchor="b" bIns="45700" lIns="91425" spcFirstLastPara="1" rIns="91425" wrap="square" tIns="45700">
            <a:normAutofit lnSpcReduction="10000"/>
          </a:bodyPr>
          <a:lstStyle/>
          <a:p>
            <a:pPr indent="0" lvl="0" marL="0" marR="0" rtl="0" algn="l">
              <a:spcBef>
                <a:spcPts val="0"/>
              </a:spcBef>
              <a:spcAft>
                <a:spcPts val="0"/>
              </a:spcAft>
              <a:buClr>
                <a:srgbClr val="20425A"/>
              </a:buClr>
              <a:buSzPts val="1800"/>
              <a:buFont typeface="Arial"/>
              <a:buNone/>
            </a:pPr>
            <a:r>
              <a:rPr b="0" lang="en-US" sz="1800">
                <a:solidFill>
                  <a:srgbClr val="20425A"/>
                </a:solidFill>
                <a:latin typeface="Calibri"/>
                <a:ea typeface="Calibri"/>
                <a:cs typeface="Calibri"/>
                <a:sym typeface="Calibri"/>
              </a:rPr>
              <a:t>The VISIT_OCCURRENCE table must be created before the standardized clinical data tables as they all refer to the VISIT_OCCURRENCE_ID</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pic>
        <p:nvPicPr>
          <p:cNvPr descr="Image result for pusheen transparent background" id="924" name="Google Shape;924;p78"/>
          <p:cNvPicPr preferRelativeResize="0"/>
          <p:nvPr/>
        </p:nvPicPr>
        <p:blipFill rotWithShape="1">
          <a:blip r:embed="rId3">
            <a:alphaModFix/>
          </a:blip>
          <a:srcRect b="0" l="0" r="0" t="0"/>
          <a:stretch/>
        </p:blipFill>
        <p:spPr>
          <a:xfrm>
            <a:off x="9525000" y="58686"/>
            <a:ext cx="1110180" cy="1110180"/>
          </a:xfrm>
          <a:prstGeom prst="rect">
            <a:avLst/>
          </a:prstGeom>
          <a:noFill/>
          <a:ln>
            <a:noFill/>
          </a:ln>
        </p:spPr>
      </p:pic>
      <p:sp>
        <p:nvSpPr>
          <p:cNvPr id="925" name="Google Shape;925;p7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Implementation</a:t>
            </a:r>
            <a:endParaRPr/>
          </a:p>
        </p:txBody>
      </p:sp>
      <p:sp>
        <p:nvSpPr>
          <p:cNvPr id="926" name="Google Shape;926;p7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Image result for R" id="927" name="Google Shape;927;p78"/>
          <p:cNvPicPr preferRelativeResize="0"/>
          <p:nvPr/>
        </p:nvPicPr>
        <p:blipFill rotWithShape="1">
          <a:blip r:embed="rId4">
            <a:alphaModFix/>
          </a:blip>
          <a:srcRect b="0" l="0" r="0" t="0"/>
          <a:stretch/>
        </p:blipFill>
        <p:spPr>
          <a:xfrm>
            <a:off x="841752" y="2190736"/>
            <a:ext cx="1266177" cy="983149"/>
          </a:xfrm>
          <a:prstGeom prst="rect">
            <a:avLst/>
          </a:prstGeom>
          <a:noFill/>
          <a:ln>
            <a:noFill/>
          </a:ln>
        </p:spPr>
      </p:pic>
      <p:pic>
        <p:nvPicPr>
          <p:cNvPr descr="Image result for postgresql" id="928" name="Google Shape;928;p78"/>
          <p:cNvPicPr preferRelativeResize="0"/>
          <p:nvPr/>
        </p:nvPicPr>
        <p:blipFill rotWithShape="1">
          <a:blip r:embed="rId5">
            <a:alphaModFix/>
          </a:blip>
          <a:srcRect b="0" l="0" r="0" t="0"/>
          <a:stretch/>
        </p:blipFill>
        <p:spPr>
          <a:xfrm>
            <a:off x="9996614" y="1999073"/>
            <a:ext cx="1353634" cy="1245343"/>
          </a:xfrm>
          <a:prstGeom prst="rect">
            <a:avLst/>
          </a:prstGeom>
          <a:noFill/>
          <a:ln>
            <a:noFill/>
          </a:ln>
        </p:spPr>
      </p:pic>
      <p:pic>
        <p:nvPicPr>
          <p:cNvPr descr="Image result for python coding language" id="929" name="Google Shape;929;p78"/>
          <p:cNvPicPr preferRelativeResize="0"/>
          <p:nvPr/>
        </p:nvPicPr>
        <p:blipFill rotWithShape="1">
          <a:blip r:embed="rId6">
            <a:alphaModFix/>
          </a:blip>
          <a:srcRect b="0" l="0" r="0" t="0"/>
          <a:stretch/>
        </p:blipFill>
        <p:spPr>
          <a:xfrm>
            <a:off x="4228973" y="3572500"/>
            <a:ext cx="2124204" cy="1062102"/>
          </a:xfrm>
          <a:prstGeom prst="rect">
            <a:avLst/>
          </a:prstGeom>
          <a:noFill/>
          <a:ln>
            <a:noFill/>
          </a:ln>
        </p:spPr>
      </p:pic>
      <p:pic>
        <p:nvPicPr>
          <p:cNvPr descr="A black and orange logo&#10;&#10;Description automatically generated" id="930" name="Google Shape;930;p78"/>
          <p:cNvPicPr preferRelativeResize="0"/>
          <p:nvPr/>
        </p:nvPicPr>
        <p:blipFill rotWithShape="1">
          <a:blip r:embed="rId7">
            <a:alphaModFix/>
          </a:blip>
          <a:srcRect b="0" l="0" r="0" t="0"/>
          <a:stretch/>
        </p:blipFill>
        <p:spPr>
          <a:xfrm>
            <a:off x="1613194" y="3871230"/>
            <a:ext cx="1820136" cy="602045"/>
          </a:xfrm>
          <a:prstGeom prst="rect">
            <a:avLst/>
          </a:prstGeom>
          <a:noFill/>
          <a:ln>
            <a:noFill/>
          </a:ln>
        </p:spPr>
      </p:pic>
      <p:pic>
        <p:nvPicPr>
          <p:cNvPr descr="A logo with a blue and green logo&#10;&#10;Description automatically generated with medium confidence" id="931" name="Google Shape;931;p78"/>
          <p:cNvPicPr preferRelativeResize="0"/>
          <p:nvPr/>
        </p:nvPicPr>
        <p:blipFill rotWithShape="1">
          <a:blip r:embed="rId8">
            <a:alphaModFix/>
          </a:blip>
          <a:srcRect b="0" l="0" r="0" t="0"/>
          <a:stretch/>
        </p:blipFill>
        <p:spPr>
          <a:xfrm>
            <a:off x="5756903" y="1999073"/>
            <a:ext cx="2893022" cy="1113934"/>
          </a:xfrm>
          <a:prstGeom prst="rect">
            <a:avLst/>
          </a:prstGeom>
          <a:noFill/>
          <a:ln>
            <a:noFill/>
          </a:ln>
        </p:spPr>
      </p:pic>
      <p:pic>
        <p:nvPicPr>
          <p:cNvPr descr="A blue octopus logo with black text&#10;&#10;Description automatically generated" id="932" name="Google Shape;932;p78"/>
          <p:cNvPicPr preferRelativeResize="0"/>
          <p:nvPr/>
        </p:nvPicPr>
        <p:blipFill rotWithShape="1">
          <a:blip r:embed="rId9">
            <a:alphaModFix/>
          </a:blip>
          <a:srcRect b="0" l="0" r="0" t="0"/>
          <a:stretch/>
        </p:blipFill>
        <p:spPr>
          <a:xfrm>
            <a:off x="2523262" y="1825438"/>
            <a:ext cx="2081366" cy="1460063"/>
          </a:xfrm>
          <a:prstGeom prst="rect">
            <a:avLst/>
          </a:prstGeom>
          <a:noFill/>
          <a:ln>
            <a:noFill/>
          </a:ln>
        </p:spPr>
      </p:pic>
      <p:pic>
        <p:nvPicPr>
          <p:cNvPr descr="A close-up of a logo&#10;&#10;Description automatically generated" id="933" name="Google Shape;933;p78"/>
          <p:cNvPicPr preferRelativeResize="0"/>
          <p:nvPr/>
        </p:nvPicPr>
        <p:blipFill rotWithShape="1">
          <a:blip r:embed="rId10">
            <a:alphaModFix/>
          </a:blip>
          <a:srcRect b="0" l="0" r="0" t="0"/>
          <a:stretch/>
        </p:blipFill>
        <p:spPr>
          <a:xfrm>
            <a:off x="7651531" y="3474464"/>
            <a:ext cx="3241467" cy="1105813"/>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9"/>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Implementation - Considerations</a:t>
            </a:r>
            <a:endParaRPr/>
          </a:p>
        </p:txBody>
      </p:sp>
      <p:sp>
        <p:nvSpPr>
          <p:cNvPr id="940" name="Google Shape;940;p79"/>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What is the size of my data?</a:t>
            </a:r>
            <a:endParaRPr/>
          </a:p>
          <a:p>
            <a:pPr indent="-342900" lvl="0" marL="342900" rtl="0" algn="l">
              <a:spcBef>
                <a:spcPts val="640"/>
              </a:spcBef>
              <a:spcAft>
                <a:spcPts val="0"/>
              </a:spcAft>
              <a:buClr>
                <a:srgbClr val="20425A"/>
              </a:buClr>
              <a:buSzPts val="3200"/>
              <a:buChar char="•"/>
            </a:pPr>
            <a:r>
              <a:rPr lang="en-US"/>
              <a:t>How complex is my data?</a:t>
            </a:r>
            <a:endParaRPr/>
          </a:p>
          <a:p>
            <a:pPr indent="-228600" lvl="2" marL="1143000" rtl="0" algn="l">
              <a:spcBef>
                <a:spcPts val="480"/>
              </a:spcBef>
              <a:spcAft>
                <a:spcPts val="0"/>
              </a:spcAft>
              <a:buClr>
                <a:srgbClr val="20425A"/>
              </a:buClr>
              <a:buSzPts val="2400"/>
              <a:buChar char="•"/>
            </a:pPr>
            <a:r>
              <a:rPr lang="en-US"/>
              <a:t>What systems do I need access to?</a:t>
            </a:r>
            <a:endParaRPr/>
          </a:p>
          <a:p>
            <a:pPr indent="-228600" lvl="2" marL="1143000" rtl="0" algn="l">
              <a:spcBef>
                <a:spcPts val="480"/>
              </a:spcBef>
              <a:spcAft>
                <a:spcPts val="0"/>
              </a:spcAft>
              <a:buClr>
                <a:srgbClr val="20425A"/>
              </a:buClr>
              <a:buSzPts val="2400"/>
              <a:buChar char="•"/>
            </a:pPr>
            <a:r>
              <a:rPr lang="en-US"/>
              <a:t>Do I need to access multiple systems?</a:t>
            </a:r>
            <a:endParaRPr/>
          </a:p>
          <a:p>
            <a:pPr indent="-228600" lvl="2" marL="1143000" rtl="0" algn="l">
              <a:spcBef>
                <a:spcPts val="480"/>
              </a:spcBef>
              <a:spcAft>
                <a:spcPts val="0"/>
              </a:spcAft>
              <a:buClr>
                <a:srgbClr val="20425A"/>
              </a:buClr>
              <a:buSzPts val="2400"/>
              <a:buChar char="•"/>
            </a:pPr>
            <a:r>
              <a:rPr lang="en-US"/>
              <a:t>Are standard vocabularies represented in my data already?</a:t>
            </a:r>
            <a:endParaRPr/>
          </a:p>
          <a:p>
            <a:pPr indent="-228600" lvl="2" marL="1143000" rtl="0" algn="l">
              <a:spcBef>
                <a:spcPts val="480"/>
              </a:spcBef>
              <a:spcAft>
                <a:spcPts val="0"/>
              </a:spcAft>
              <a:buClr>
                <a:srgbClr val="20425A"/>
              </a:buClr>
              <a:buSzPts val="2400"/>
              <a:buChar char="•"/>
            </a:pPr>
            <a:r>
              <a:rPr lang="en-US"/>
              <a:t>Do I need to consult someone with clinical expertise?</a:t>
            </a:r>
            <a:endParaRPr/>
          </a:p>
          <a:p>
            <a:pPr indent="-342900" lvl="0" marL="342900" rtl="0" algn="l">
              <a:spcBef>
                <a:spcPts val="640"/>
              </a:spcBef>
              <a:spcAft>
                <a:spcPts val="0"/>
              </a:spcAft>
              <a:buClr>
                <a:srgbClr val="20425A"/>
              </a:buClr>
              <a:buSzPts val="3200"/>
              <a:buChar char="•"/>
            </a:pPr>
            <a:r>
              <a:rPr lang="en-US"/>
              <a:t>How often do I need to refresh my CDM?</a:t>
            </a:r>
            <a:endParaRPr/>
          </a:p>
          <a:p>
            <a:pPr indent="-342900" lvl="0" marL="342900" rtl="0" algn="l">
              <a:spcBef>
                <a:spcPts val="640"/>
              </a:spcBef>
              <a:spcAft>
                <a:spcPts val="0"/>
              </a:spcAft>
              <a:buClr>
                <a:srgbClr val="20425A"/>
              </a:buClr>
              <a:buSzPts val="3200"/>
              <a:buChar char="•"/>
            </a:pPr>
            <a:r>
              <a:rPr lang="en-US"/>
              <a:t>What tools do I have access to? </a:t>
            </a:r>
            <a:endParaRPr/>
          </a:p>
          <a:p>
            <a:pPr indent="-342900" lvl="0" marL="342900" rtl="0" algn="l">
              <a:spcBef>
                <a:spcPts val="640"/>
              </a:spcBef>
              <a:spcAft>
                <a:spcPts val="0"/>
              </a:spcAft>
              <a:buClr>
                <a:srgbClr val="20425A"/>
              </a:buClr>
              <a:buSzPts val="3200"/>
              <a:buChar char="•"/>
            </a:pPr>
            <a:r>
              <a:rPr lang="en-US"/>
              <a:t>What tools do I need access to?</a:t>
            </a:r>
            <a:endParaRPr/>
          </a:p>
          <a:p>
            <a:pPr indent="-76200" lvl="2" marL="1143000" rtl="0" algn="l">
              <a:spcBef>
                <a:spcPts val="480"/>
              </a:spcBef>
              <a:spcAft>
                <a:spcPts val="0"/>
              </a:spcAft>
              <a:buClr>
                <a:srgbClr val="20425A"/>
              </a:buClr>
              <a:buSzPts val="2400"/>
              <a:buNone/>
            </a:pPr>
            <a:r>
              <a:t/>
            </a:r>
            <a:endParaRPr/>
          </a:p>
          <a:p>
            <a:pPr indent="-76200" lvl="2" marL="1143000" rtl="0" algn="l">
              <a:spcBef>
                <a:spcPts val="480"/>
              </a:spcBef>
              <a:spcAft>
                <a:spcPts val="0"/>
              </a:spcAft>
              <a:buClr>
                <a:srgbClr val="20425A"/>
              </a:buClr>
              <a:buSzPts val="2400"/>
              <a:buNone/>
            </a:pPr>
            <a:r>
              <a:t/>
            </a:r>
            <a:endParaRPr/>
          </a:p>
        </p:txBody>
      </p:sp>
      <p:sp>
        <p:nvSpPr>
          <p:cNvPr id="941" name="Google Shape;941;p79"/>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pic>
        <p:nvPicPr>
          <p:cNvPr descr="Image result for pusheen transparent background" id="946" name="Google Shape;946;p80"/>
          <p:cNvPicPr preferRelativeResize="0"/>
          <p:nvPr/>
        </p:nvPicPr>
        <p:blipFill rotWithShape="1">
          <a:blip r:embed="rId3">
            <a:alphaModFix/>
          </a:blip>
          <a:srcRect b="0" l="0" r="0" t="0"/>
          <a:stretch/>
        </p:blipFill>
        <p:spPr>
          <a:xfrm>
            <a:off x="9525000" y="58686"/>
            <a:ext cx="1110180" cy="1110180"/>
          </a:xfrm>
          <a:prstGeom prst="rect">
            <a:avLst/>
          </a:prstGeom>
          <a:noFill/>
          <a:ln>
            <a:noFill/>
          </a:ln>
        </p:spPr>
      </p:pic>
      <p:sp>
        <p:nvSpPr>
          <p:cNvPr id="947" name="Google Shape;947;p80"/>
          <p:cNvSpPr txBox="1"/>
          <p:nvPr>
            <p:ph type="title"/>
          </p:nvPr>
        </p:nvSpPr>
        <p:spPr>
          <a:xfrm>
            <a:off x="1342766" y="81072"/>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OHDSI/ETL-Synthea</a:t>
            </a:r>
            <a:endParaRPr/>
          </a:p>
        </p:txBody>
      </p:sp>
      <p:pic>
        <p:nvPicPr>
          <p:cNvPr descr="A screenshot of a computer&#10;&#10;Description automatically generated" id="948" name="Google Shape;948;p80"/>
          <p:cNvPicPr preferRelativeResize="0"/>
          <p:nvPr>
            <p:ph idx="1" type="body"/>
          </p:nvPr>
        </p:nvPicPr>
        <p:blipFill rotWithShape="1">
          <a:blip r:embed="rId4">
            <a:alphaModFix/>
          </a:blip>
          <a:srcRect b="0" l="0" r="0" t="0"/>
          <a:stretch/>
        </p:blipFill>
        <p:spPr>
          <a:xfrm>
            <a:off x="5589373" y="1064077"/>
            <a:ext cx="5972433" cy="4878506"/>
          </a:xfrm>
          <a:prstGeom prst="rect">
            <a:avLst/>
          </a:prstGeom>
          <a:noFill/>
          <a:ln>
            <a:noFill/>
          </a:ln>
        </p:spPr>
      </p:pic>
      <p:sp>
        <p:nvSpPr>
          <p:cNvPr id="949" name="Google Shape;949;p8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50" name="Google Shape;950;p80"/>
          <p:cNvSpPr txBox="1"/>
          <p:nvPr/>
        </p:nvSpPr>
        <p:spPr>
          <a:xfrm>
            <a:off x="790834" y="1334779"/>
            <a:ext cx="4798539" cy="4278333"/>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rgbClr val="20425A"/>
              </a:buClr>
              <a:buSzPts val="3200"/>
              <a:buFont typeface="Arial"/>
              <a:buChar char="•"/>
            </a:pPr>
            <a:r>
              <a:rPr lang="en-US" sz="3200">
                <a:solidFill>
                  <a:srgbClr val="20425A"/>
                </a:solidFill>
                <a:latin typeface="Calibri"/>
                <a:ea typeface="Calibri"/>
                <a:cs typeface="Calibri"/>
                <a:sym typeface="Calibri"/>
              </a:rPr>
              <a:t>R based ETL Tool</a:t>
            </a:r>
            <a:endParaRPr/>
          </a:p>
          <a:p>
            <a:pPr indent="0" lvl="0" marL="0" marR="0" rtl="0" algn="l">
              <a:spcBef>
                <a:spcPts val="640"/>
              </a:spcBef>
              <a:spcAft>
                <a:spcPts val="0"/>
              </a:spcAft>
              <a:buClr>
                <a:srgbClr val="20425A"/>
              </a:buClr>
              <a:buSzPts val="3200"/>
              <a:buFont typeface="Arial"/>
              <a:buNone/>
            </a:pPr>
            <a:r>
              <a:t/>
            </a:r>
            <a:endParaRPr sz="3200">
              <a:solidFill>
                <a:srgbClr val="20425A"/>
              </a:solidFill>
              <a:latin typeface="Calibri"/>
              <a:ea typeface="Calibri"/>
              <a:cs typeface="Calibri"/>
              <a:sym typeface="Calibri"/>
            </a:endParaRPr>
          </a:p>
          <a:p>
            <a:pPr indent="-342900" lvl="0" marL="342900" marR="0" rtl="0" algn="l">
              <a:spcBef>
                <a:spcPts val="60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Converts Synthea &gt; OMOP</a:t>
            </a:r>
            <a:endParaRPr/>
          </a:p>
          <a:p>
            <a:pPr indent="-285750" lvl="1" marL="742950" marR="0" rtl="0" algn="l">
              <a:spcBef>
                <a:spcPts val="520"/>
              </a:spcBef>
              <a:spcAft>
                <a:spcPts val="0"/>
              </a:spcAft>
              <a:buClr>
                <a:srgbClr val="20425A"/>
              </a:buClr>
              <a:buSzPts val="2600"/>
              <a:buFont typeface="Arial"/>
              <a:buChar char="–"/>
            </a:pPr>
            <a:r>
              <a:rPr b="0" i="0" lang="en-US" sz="2600" u="none" cap="none" strike="noStrike">
                <a:solidFill>
                  <a:srgbClr val="20425A"/>
                </a:solidFill>
                <a:latin typeface="Calibri"/>
                <a:ea typeface="Calibri"/>
                <a:cs typeface="Calibri"/>
                <a:sym typeface="Calibri"/>
              </a:rPr>
              <a:t>Synthea v2.7 – v3.3</a:t>
            </a:r>
            <a:endParaRPr/>
          </a:p>
          <a:p>
            <a:pPr indent="-285750" lvl="1" marL="742950" marR="0" rtl="0" algn="l">
              <a:spcBef>
                <a:spcPts val="520"/>
              </a:spcBef>
              <a:spcAft>
                <a:spcPts val="0"/>
              </a:spcAft>
              <a:buClr>
                <a:srgbClr val="20425A"/>
              </a:buClr>
              <a:buSzPts val="2600"/>
              <a:buFont typeface="Arial"/>
              <a:buChar char="–"/>
            </a:pPr>
            <a:r>
              <a:rPr b="0" i="0" lang="en-US" sz="2600" u="none" cap="none" strike="noStrike">
                <a:solidFill>
                  <a:srgbClr val="20425A"/>
                </a:solidFill>
                <a:latin typeface="Calibri"/>
                <a:ea typeface="Calibri"/>
                <a:cs typeface="Calibri"/>
                <a:sym typeface="Calibri"/>
              </a:rPr>
              <a:t>OMOP v5.3 and v5.4</a:t>
            </a:r>
            <a:endParaRPr/>
          </a:p>
          <a:p>
            <a:pPr indent="0" lvl="1" marL="457200" marR="0" rtl="0" algn="l">
              <a:spcBef>
                <a:spcPts val="520"/>
              </a:spcBef>
              <a:spcAft>
                <a:spcPts val="0"/>
              </a:spcAft>
              <a:buClr>
                <a:srgbClr val="20425A"/>
              </a:buClr>
              <a:buSzPts val="2600"/>
              <a:buFont typeface="Arial"/>
              <a:buNone/>
            </a:pPr>
            <a:r>
              <a:t/>
            </a:r>
            <a:endParaRPr b="0" i="0" sz="2600" u="none" cap="none" strike="noStrike">
              <a:solidFill>
                <a:srgbClr val="20425A"/>
              </a:solidFill>
              <a:latin typeface="Calibri"/>
              <a:ea typeface="Calibri"/>
              <a:cs typeface="Calibri"/>
              <a:sym typeface="Calibri"/>
            </a:endParaRPr>
          </a:p>
          <a:p>
            <a:pPr indent="-342900" lvl="0" marL="342900" marR="0" rtl="0" algn="l">
              <a:spcBef>
                <a:spcPts val="60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OHDSI Databases Supported</a:t>
            </a:r>
            <a:endParaRPr/>
          </a:p>
        </p:txBody>
      </p:sp>
      <p:sp>
        <p:nvSpPr>
          <p:cNvPr id="951" name="Google Shape;951;p80"/>
          <p:cNvSpPr txBox="1"/>
          <p:nvPr/>
        </p:nvSpPr>
        <p:spPr>
          <a:xfrm>
            <a:off x="2568146" y="6028619"/>
            <a:ext cx="79701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5">
                  <a:extLst>
                    <a:ext uri="{A12FA001-AC4F-418D-AE19-62706E023703}">
                      <ahyp:hlinkClr val="tx"/>
                    </a:ext>
                  </a:extLst>
                </a:hlinkClick>
              </a:rPr>
              <a:t>https://github.com/OHDSI/ETL-Synthea/releases/tag/v2.1.0</a:t>
            </a:r>
            <a:endParaRPr sz="18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81"/>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What do I need to get started?</a:t>
            </a:r>
            <a:endParaRPr/>
          </a:p>
        </p:txBody>
      </p:sp>
      <p:sp>
        <p:nvSpPr>
          <p:cNvPr id="957" name="Google Shape;957;p81"/>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958" name="Google Shape;958;p81"/>
          <p:cNvGrpSpPr/>
          <p:nvPr/>
        </p:nvGrpSpPr>
        <p:grpSpPr>
          <a:xfrm>
            <a:off x="726408" y="2363366"/>
            <a:ext cx="10739183" cy="2618640"/>
            <a:chOff x="116808" y="1144161"/>
            <a:chExt cx="10739183" cy="2618640"/>
          </a:xfrm>
        </p:grpSpPr>
        <p:sp>
          <p:nvSpPr>
            <p:cNvPr id="959" name="Google Shape;959;p81"/>
            <p:cNvSpPr/>
            <p:nvPr/>
          </p:nvSpPr>
          <p:spPr>
            <a:xfrm>
              <a:off x="579602" y="1144161"/>
              <a:ext cx="1447713" cy="1447713"/>
            </a:xfrm>
            <a:prstGeom prst="ellipse">
              <a:avLst/>
            </a:prstGeom>
            <a:solidFill>
              <a:srgbClr val="E7CF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81"/>
            <p:cNvSpPr/>
            <p:nvPr/>
          </p:nvSpPr>
          <p:spPr>
            <a:xfrm>
              <a:off x="888131" y="1452690"/>
              <a:ext cx="830654" cy="830654"/>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81"/>
            <p:cNvSpPr/>
            <p:nvPr/>
          </p:nvSpPr>
          <p:spPr>
            <a:xfrm>
              <a:off x="116808" y="3042801"/>
              <a:ext cx="23733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81"/>
            <p:cNvSpPr txBox="1"/>
            <p:nvPr/>
          </p:nvSpPr>
          <p:spPr>
            <a:xfrm>
              <a:off x="116808" y="3042801"/>
              <a:ext cx="23733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300"/>
                <a:buFont typeface="Calibri"/>
                <a:buNone/>
              </a:pPr>
              <a:r>
                <a:rPr lang="en-US" sz="2300" cap="none">
                  <a:solidFill>
                    <a:schemeClr val="dk1"/>
                  </a:solidFill>
                  <a:latin typeface="Calibri"/>
                  <a:ea typeface="Calibri"/>
                  <a:cs typeface="Calibri"/>
                  <a:sym typeface="Calibri"/>
                </a:rPr>
                <a:t>R &amp; R STUDIO</a:t>
              </a:r>
              <a:endParaRPr/>
            </a:p>
          </p:txBody>
        </p:sp>
        <p:sp>
          <p:nvSpPr>
            <p:cNvPr id="963" name="Google Shape;963;p81"/>
            <p:cNvSpPr/>
            <p:nvPr/>
          </p:nvSpPr>
          <p:spPr>
            <a:xfrm>
              <a:off x="3368229" y="1144161"/>
              <a:ext cx="1447713" cy="1447713"/>
            </a:xfrm>
            <a:prstGeom prst="ellipse">
              <a:avLst/>
            </a:prstGeom>
            <a:solidFill>
              <a:srgbClr val="E7CF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81"/>
            <p:cNvSpPr/>
            <p:nvPr/>
          </p:nvSpPr>
          <p:spPr>
            <a:xfrm>
              <a:off x="3676758" y="1452690"/>
              <a:ext cx="830654" cy="830654"/>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81"/>
            <p:cNvSpPr/>
            <p:nvPr/>
          </p:nvSpPr>
          <p:spPr>
            <a:xfrm>
              <a:off x="2905436" y="3042801"/>
              <a:ext cx="23733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81"/>
            <p:cNvSpPr txBox="1"/>
            <p:nvPr/>
          </p:nvSpPr>
          <p:spPr>
            <a:xfrm>
              <a:off x="2905436" y="3042801"/>
              <a:ext cx="23733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300"/>
                <a:buFont typeface="Calibri"/>
                <a:buNone/>
              </a:pPr>
              <a:r>
                <a:rPr lang="en-US" sz="2300" cap="none">
                  <a:solidFill>
                    <a:schemeClr val="dk1"/>
                  </a:solidFill>
                  <a:latin typeface="Calibri"/>
                  <a:ea typeface="Calibri"/>
                  <a:cs typeface="Calibri"/>
                  <a:sym typeface="Calibri"/>
                </a:rPr>
                <a:t>OMOP VOCABULARY FILES</a:t>
              </a:r>
              <a:endParaRPr/>
            </a:p>
          </p:txBody>
        </p:sp>
        <p:sp>
          <p:nvSpPr>
            <p:cNvPr id="967" name="Google Shape;967;p81"/>
            <p:cNvSpPr/>
            <p:nvPr/>
          </p:nvSpPr>
          <p:spPr>
            <a:xfrm>
              <a:off x="6156857" y="1144161"/>
              <a:ext cx="1447713" cy="1447713"/>
            </a:xfrm>
            <a:prstGeom prst="ellipse">
              <a:avLst/>
            </a:prstGeom>
            <a:solidFill>
              <a:srgbClr val="E7CF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1"/>
            <p:cNvSpPr/>
            <p:nvPr/>
          </p:nvSpPr>
          <p:spPr>
            <a:xfrm>
              <a:off x="6465386" y="1452690"/>
              <a:ext cx="830654" cy="830654"/>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81"/>
            <p:cNvSpPr/>
            <p:nvPr/>
          </p:nvSpPr>
          <p:spPr>
            <a:xfrm>
              <a:off x="5694063" y="3042801"/>
              <a:ext cx="23733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81"/>
            <p:cNvSpPr txBox="1"/>
            <p:nvPr/>
          </p:nvSpPr>
          <p:spPr>
            <a:xfrm>
              <a:off x="5694063" y="3042801"/>
              <a:ext cx="23733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300"/>
                <a:buFont typeface="Calibri"/>
                <a:buNone/>
              </a:pPr>
              <a:r>
                <a:rPr lang="en-US" sz="2300" cap="none">
                  <a:solidFill>
                    <a:schemeClr val="dk1"/>
                  </a:solidFill>
                  <a:latin typeface="Calibri"/>
                  <a:ea typeface="Calibri"/>
                  <a:cs typeface="Calibri"/>
                  <a:sym typeface="Calibri"/>
                </a:rPr>
                <a:t>SYNTHEA DATA</a:t>
              </a:r>
              <a:endParaRPr/>
            </a:p>
          </p:txBody>
        </p:sp>
        <p:sp>
          <p:nvSpPr>
            <p:cNvPr id="971" name="Google Shape;971;p81"/>
            <p:cNvSpPr/>
            <p:nvPr/>
          </p:nvSpPr>
          <p:spPr>
            <a:xfrm>
              <a:off x="8945484" y="1144161"/>
              <a:ext cx="1447713" cy="1447713"/>
            </a:xfrm>
            <a:prstGeom prst="ellipse">
              <a:avLst/>
            </a:prstGeom>
            <a:solidFill>
              <a:srgbClr val="E7CF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81"/>
            <p:cNvSpPr/>
            <p:nvPr/>
          </p:nvSpPr>
          <p:spPr>
            <a:xfrm>
              <a:off x="9254013" y="1452690"/>
              <a:ext cx="830654" cy="830654"/>
            </a:xfrm>
            <a:prstGeom prst="rect">
              <a:avLst/>
            </a:prstGeom>
            <a:blipFill rotWithShape="1">
              <a:blip r:embed="rId6">
                <a:alphaModFix/>
              </a:blip>
              <a:stretch>
                <a:fillRect b="0" l="0" r="0" t="0"/>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81"/>
            <p:cNvSpPr/>
            <p:nvPr/>
          </p:nvSpPr>
          <p:spPr>
            <a:xfrm>
              <a:off x="8482691" y="3042801"/>
              <a:ext cx="23733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81"/>
            <p:cNvSpPr txBox="1"/>
            <p:nvPr/>
          </p:nvSpPr>
          <p:spPr>
            <a:xfrm>
              <a:off x="8482691" y="3042801"/>
              <a:ext cx="23733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300"/>
                <a:buFont typeface="Calibri"/>
                <a:buNone/>
              </a:pPr>
              <a:r>
                <a:rPr lang="en-US" sz="2300" cap="none">
                  <a:solidFill>
                    <a:schemeClr val="dk1"/>
                  </a:solidFill>
                  <a:latin typeface="Calibri"/>
                  <a:ea typeface="Calibri"/>
                  <a:cs typeface="Calibri"/>
                  <a:sym typeface="Calibri"/>
                </a:rPr>
                <a:t>YOUR DATABASE</a:t>
              </a:r>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82"/>
          <p:cNvSpPr txBox="1"/>
          <p:nvPr>
            <p:ph type="title"/>
          </p:nvPr>
        </p:nvSpPr>
        <p:spPr>
          <a:xfrm>
            <a:off x="1832664" y="190500"/>
            <a:ext cx="981323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Running ETL- Synthea</a:t>
            </a:r>
            <a:endParaRPr/>
          </a:p>
        </p:txBody>
      </p:sp>
      <p:sp>
        <p:nvSpPr>
          <p:cNvPr id="980" name="Google Shape;980;p82"/>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981" name="Google Shape;981;p82"/>
          <p:cNvGrpSpPr/>
          <p:nvPr/>
        </p:nvGrpSpPr>
        <p:grpSpPr>
          <a:xfrm>
            <a:off x="1840186" y="1686016"/>
            <a:ext cx="9798189" cy="4049539"/>
            <a:chOff x="7522" y="428711"/>
            <a:chExt cx="9798189" cy="4049539"/>
          </a:xfrm>
        </p:grpSpPr>
        <p:sp>
          <p:nvSpPr>
            <p:cNvPr id="982" name="Google Shape;982;p82"/>
            <p:cNvSpPr/>
            <p:nvPr/>
          </p:nvSpPr>
          <p:spPr>
            <a:xfrm>
              <a:off x="2837569" y="1232545"/>
              <a:ext cx="620724" cy="91440"/>
            </a:xfrm>
            <a:custGeom>
              <a:rect b="b" l="l" r="r" t="t"/>
              <a:pathLst>
                <a:path extrusionOk="0" h="120000" w="120000">
                  <a:moveTo>
                    <a:pt x="0" y="60000"/>
                  </a:moveTo>
                  <a:lnTo>
                    <a:pt x="120000" y="60000"/>
                  </a:lnTo>
                </a:path>
              </a:pathLst>
            </a:custGeom>
            <a:noFill/>
            <a:ln cap="flat" cmpd="sng" w="9525">
              <a:solidFill>
                <a:srgbClr val="BF504D"/>
              </a:solidFill>
              <a:prstDash val="solid"/>
              <a:round/>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82"/>
            <p:cNvSpPr txBox="1"/>
            <p:nvPr/>
          </p:nvSpPr>
          <p:spPr>
            <a:xfrm>
              <a:off x="3131648" y="1275008"/>
              <a:ext cx="32566" cy="651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sz="500">
                <a:solidFill>
                  <a:schemeClr val="dk1"/>
                </a:solidFill>
                <a:latin typeface="Calibri"/>
                <a:ea typeface="Calibri"/>
                <a:cs typeface="Calibri"/>
                <a:sym typeface="Calibri"/>
              </a:endParaRPr>
            </a:p>
          </p:txBody>
        </p:sp>
        <p:sp>
          <p:nvSpPr>
            <p:cNvPr id="984" name="Google Shape;984;p82"/>
            <p:cNvSpPr/>
            <p:nvPr/>
          </p:nvSpPr>
          <p:spPr>
            <a:xfrm>
              <a:off x="7522" y="428711"/>
              <a:ext cx="2831846" cy="1699107"/>
            </a:xfrm>
            <a:prstGeom prst="rect">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2"/>
            <p:cNvSpPr txBox="1"/>
            <p:nvPr/>
          </p:nvSpPr>
          <p:spPr>
            <a:xfrm>
              <a:off x="7522" y="428711"/>
              <a:ext cx="2831846" cy="1699107"/>
            </a:xfrm>
            <a:prstGeom prst="rect">
              <a:avLst/>
            </a:prstGeom>
            <a:noFill/>
            <a:ln>
              <a:noFill/>
            </a:ln>
          </p:spPr>
          <p:txBody>
            <a:bodyPr anchorCtr="0" anchor="ctr" bIns="145650" lIns="138750" spcFirstLastPara="1" rIns="138750" wrap="square" tIns="145650">
              <a:noAutofit/>
            </a:bodyPr>
            <a:lstStyle/>
            <a:p>
              <a:pPr indent="0" lvl="0" marL="0" marR="0" rtl="0" algn="ctr">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Download and install the package</a:t>
              </a:r>
              <a:endParaRPr/>
            </a:p>
          </p:txBody>
        </p:sp>
        <p:sp>
          <p:nvSpPr>
            <p:cNvPr id="986" name="Google Shape;986;p82"/>
            <p:cNvSpPr/>
            <p:nvPr/>
          </p:nvSpPr>
          <p:spPr>
            <a:xfrm>
              <a:off x="6320740" y="1232545"/>
              <a:ext cx="620724" cy="91440"/>
            </a:xfrm>
            <a:custGeom>
              <a:rect b="b" l="l" r="r" t="t"/>
              <a:pathLst>
                <a:path extrusionOk="0" h="120000" w="120000">
                  <a:moveTo>
                    <a:pt x="0" y="60000"/>
                  </a:moveTo>
                  <a:lnTo>
                    <a:pt x="120000" y="60000"/>
                  </a:lnTo>
                </a:path>
              </a:pathLst>
            </a:custGeom>
            <a:noFill/>
            <a:ln cap="flat" cmpd="sng" w="9525">
              <a:solidFill>
                <a:srgbClr val="BF504D"/>
              </a:solidFill>
              <a:prstDash val="solid"/>
              <a:round/>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82"/>
            <p:cNvSpPr txBox="1"/>
            <p:nvPr/>
          </p:nvSpPr>
          <p:spPr>
            <a:xfrm>
              <a:off x="6614820" y="1275008"/>
              <a:ext cx="32566" cy="651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sz="500">
                <a:solidFill>
                  <a:schemeClr val="dk1"/>
                </a:solidFill>
                <a:latin typeface="Calibri"/>
                <a:ea typeface="Calibri"/>
                <a:cs typeface="Calibri"/>
                <a:sym typeface="Calibri"/>
              </a:endParaRPr>
            </a:p>
          </p:txBody>
        </p:sp>
        <p:sp>
          <p:nvSpPr>
            <p:cNvPr id="988" name="Google Shape;988;p82"/>
            <p:cNvSpPr/>
            <p:nvPr/>
          </p:nvSpPr>
          <p:spPr>
            <a:xfrm>
              <a:off x="3490694" y="428711"/>
              <a:ext cx="2831846" cy="1699107"/>
            </a:xfrm>
            <a:prstGeom prst="rect">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82"/>
            <p:cNvSpPr txBox="1"/>
            <p:nvPr/>
          </p:nvSpPr>
          <p:spPr>
            <a:xfrm>
              <a:off x="3490694" y="428711"/>
              <a:ext cx="2831846" cy="1699107"/>
            </a:xfrm>
            <a:prstGeom prst="rect">
              <a:avLst/>
            </a:prstGeom>
            <a:noFill/>
            <a:ln>
              <a:noFill/>
            </a:ln>
          </p:spPr>
          <p:txBody>
            <a:bodyPr anchorCtr="0" anchor="ctr" bIns="145650" lIns="138750" spcFirstLastPara="1" rIns="138750" wrap="square" tIns="145650">
              <a:noAutofit/>
            </a:bodyPr>
            <a:lstStyle/>
            <a:p>
              <a:pPr indent="0" lvl="0" marL="0" marR="0" rtl="0" algn="ctr">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Define your parameters and create your connection to your database</a:t>
              </a:r>
              <a:endParaRPr/>
            </a:p>
          </p:txBody>
        </p:sp>
        <p:sp>
          <p:nvSpPr>
            <p:cNvPr id="990" name="Google Shape;990;p82"/>
            <p:cNvSpPr/>
            <p:nvPr/>
          </p:nvSpPr>
          <p:spPr>
            <a:xfrm>
              <a:off x="1423446" y="2126019"/>
              <a:ext cx="6966342" cy="620724"/>
            </a:xfrm>
            <a:custGeom>
              <a:rect b="b" l="l" r="r" t="t"/>
              <a:pathLst>
                <a:path extrusionOk="0" h="120000" w="120000">
                  <a:moveTo>
                    <a:pt x="120000" y="0"/>
                  </a:moveTo>
                  <a:lnTo>
                    <a:pt x="120000" y="63306"/>
                  </a:lnTo>
                  <a:lnTo>
                    <a:pt x="0" y="63306"/>
                  </a:lnTo>
                  <a:lnTo>
                    <a:pt x="0" y="120000"/>
                  </a:lnTo>
                </a:path>
              </a:pathLst>
            </a:custGeom>
            <a:noFill/>
            <a:ln cap="flat" cmpd="sng" w="9525">
              <a:solidFill>
                <a:srgbClr val="BF504D"/>
              </a:solidFill>
              <a:prstDash val="solid"/>
              <a:round/>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82"/>
            <p:cNvSpPr txBox="1"/>
            <p:nvPr/>
          </p:nvSpPr>
          <p:spPr>
            <a:xfrm>
              <a:off x="4731699" y="2433124"/>
              <a:ext cx="349836" cy="651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sz="500">
                <a:solidFill>
                  <a:schemeClr val="dk1"/>
                </a:solidFill>
                <a:latin typeface="Calibri"/>
                <a:ea typeface="Calibri"/>
                <a:cs typeface="Calibri"/>
                <a:sym typeface="Calibri"/>
              </a:endParaRPr>
            </a:p>
          </p:txBody>
        </p:sp>
        <p:sp>
          <p:nvSpPr>
            <p:cNvPr id="992" name="Google Shape;992;p82"/>
            <p:cNvSpPr/>
            <p:nvPr/>
          </p:nvSpPr>
          <p:spPr>
            <a:xfrm>
              <a:off x="6973865" y="428711"/>
              <a:ext cx="2831846" cy="1699107"/>
            </a:xfrm>
            <a:prstGeom prst="rect">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82"/>
            <p:cNvSpPr txBox="1"/>
            <p:nvPr/>
          </p:nvSpPr>
          <p:spPr>
            <a:xfrm>
              <a:off x="6973865" y="428711"/>
              <a:ext cx="2831846" cy="1699107"/>
            </a:xfrm>
            <a:prstGeom prst="rect">
              <a:avLst/>
            </a:prstGeom>
            <a:noFill/>
            <a:ln>
              <a:noFill/>
            </a:ln>
          </p:spPr>
          <p:txBody>
            <a:bodyPr anchorCtr="0" anchor="ctr" bIns="145650" lIns="138750" spcFirstLastPara="1" rIns="138750" wrap="square" tIns="145650">
              <a:noAutofit/>
            </a:bodyPr>
            <a:lstStyle/>
            <a:p>
              <a:pPr indent="0" lvl="0" marL="0" marR="0" rtl="0" algn="ctr">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Create table shells for your Synthea data and OMOP CDM</a:t>
              </a:r>
              <a:endParaRPr/>
            </a:p>
          </p:txBody>
        </p:sp>
        <p:sp>
          <p:nvSpPr>
            <p:cNvPr id="994" name="Google Shape;994;p82"/>
            <p:cNvSpPr/>
            <p:nvPr/>
          </p:nvSpPr>
          <p:spPr>
            <a:xfrm>
              <a:off x="2837569" y="3582977"/>
              <a:ext cx="620724" cy="91440"/>
            </a:xfrm>
            <a:custGeom>
              <a:rect b="b" l="l" r="r" t="t"/>
              <a:pathLst>
                <a:path extrusionOk="0" h="120000" w="120000">
                  <a:moveTo>
                    <a:pt x="0" y="60000"/>
                  </a:moveTo>
                  <a:lnTo>
                    <a:pt x="120000" y="60000"/>
                  </a:lnTo>
                </a:path>
              </a:pathLst>
            </a:custGeom>
            <a:noFill/>
            <a:ln cap="flat" cmpd="sng" w="9525">
              <a:solidFill>
                <a:srgbClr val="BF504D"/>
              </a:solidFill>
              <a:prstDash val="solid"/>
              <a:round/>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82"/>
            <p:cNvSpPr txBox="1"/>
            <p:nvPr/>
          </p:nvSpPr>
          <p:spPr>
            <a:xfrm>
              <a:off x="3131648" y="3625441"/>
              <a:ext cx="32566" cy="651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sz="500">
                <a:solidFill>
                  <a:schemeClr val="dk1"/>
                </a:solidFill>
                <a:latin typeface="Calibri"/>
                <a:ea typeface="Calibri"/>
                <a:cs typeface="Calibri"/>
                <a:sym typeface="Calibri"/>
              </a:endParaRPr>
            </a:p>
          </p:txBody>
        </p:sp>
        <p:sp>
          <p:nvSpPr>
            <p:cNvPr id="996" name="Google Shape;996;p82"/>
            <p:cNvSpPr/>
            <p:nvPr/>
          </p:nvSpPr>
          <p:spPr>
            <a:xfrm>
              <a:off x="7522" y="2779143"/>
              <a:ext cx="2831846" cy="1699107"/>
            </a:xfrm>
            <a:prstGeom prst="rect">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82"/>
            <p:cNvSpPr txBox="1"/>
            <p:nvPr/>
          </p:nvSpPr>
          <p:spPr>
            <a:xfrm>
              <a:off x="7522" y="2779143"/>
              <a:ext cx="2831846" cy="1699107"/>
            </a:xfrm>
            <a:prstGeom prst="rect">
              <a:avLst/>
            </a:prstGeom>
            <a:noFill/>
            <a:ln>
              <a:noFill/>
            </a:ln>
          </p:spPr>
          <p:txBody>
            <a:bodyPr anchorCtr="0" anchor="ctr" bIns="145650" lIns="138750" spcFirstLastPara="1" rIns="138750" wrap="square" tIns="145650">
              <a:noAutofit/>
            </a:bodyPr>
            <a:lstStyle/>
            <a:p>
              <a:pPr indent="0" lvl="0" marL="0" marR="0" rtl="0" algn="ctr">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Load your Synthea data files into the database</a:t>
              </a:r>
              <a:endParaRPr/>
            </a:p>
          </p:txBody>
        </p:sp>
        <p:sp>
          <p:nvSpPr>
            <p:cNvPr id="998" name="Google Shape;998;p82"/>
            <p:cNvSpPr/>
            <p:nvPr/>
          </p:nvSpPr>
          <p:spPr>
            <a:xfrm>
              <a:off x="6320740" y="3582977"/>
              <a:ext cx="620724" cy="91440"/>
            </a:xfrm>
            <a:custGeom>
              <a:rect b="b" l="l" r="r" t="t"/>
              <a:pathLst>
                <a:path extrusionOk="0" h="120000" w="120000">
                  <a:moveTo>
                    <a:pt x="0" y="60000"/>
                  </a:moveTo>
                  <a:lnTo>
                    <a:pt x="120000" y="60000"/>
                  </a:lnTo>
                </a:path>
              </a:pathLst>
            </a:custGeom>
            <a:noFill/>
            <a:ln cap="flat" cmpd="sng" w="9525">
              <a:solidFill>
                <a:srgbClr val="BF504D"/>
              </a:solidFill>
              <a:prstDash val="solid"/>
              <a:round/>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82"/>
            <p:cNvSpPr txBox="1"/>
            <p:nvPr/>
          </p:nvSpPr>
          <p:spPr>
            <a:xfrm>
              <a:off x="6614820" y="3625441"/>
              <a:ext cx="32566" cy="651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sz="500">
                <a:solidFill>
                  <a:schemeClr val="dk1"/>
                </a:solidFill>
                <a:latin typeface="Calibri"/>
                <a:ea typeface="Calibri"/>
                <a:cs typeface="Calibri"/>
                <a:sym typeface="Calibri"/>
              </a:endParaRPr>
            </a:p>
          </p:txBody>
        </p:sp>
        <p:sp>
          <p:nvSpPr>
            <p:cNvPr id="1000" name="Google Shape;1000;p82"/>
            <p:cNvSpPr/>
            <p:nvPr/>
          </p:nvSpPr>
          <p:spPr>
            <a:xfrm>
              <a:off x="3490694" y="2779143"/>
              <a:ext cx="2831846" cy="1699107"/>
            </a:xfrm>
            <a:prstGeom prst="rect">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82"/>
            <p:cNvSpPr txBox="1"/>
            <p:nvPr/>
          </p:nvSpPr>
          <p:spPr>
            <a:xfrm>
              <a:off x="3490694" y="2779143"/>
              <a:ext cx="2831846" cy="1699107"/>
            </a:xfrm>
            <a:prstGeom prst="rect">
              <a:avLst/>
            </a:prstGeom>
            <a:noFill/>
            <a:ln>
              <a:noFill/>
            </a:ln>
          </p:spPr>
          <p:txBody>
            <a:bodyPr anchorCtr="0" anchor="ctr" bIns="145650" lIns="138750" spcFirstLastPara="1" rIns="138750" wrap="square" tIns="145650">
              <a:noAutofit/>
            </a:bodyPr>
            <a:lstStyle/>
            <a:p>
              <a:pPr indent="0" lvl="0" marL="0" marR="0" rtl="0" algn="ctr">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Load your Vocabulary data files into the database</a:t>
              </a:r>
              <a:endParaRPr/>
            </a:p>
          </p:txBody>
        </p:sp>
        <p:sp>
          <p:nvSpPr>
            <p:cNvPr id="1002" name="Google Shape;1002;p82"/>
            <p:cNvSpPr/>
            <p:nvPr/>
          </p:nvSpPr>
          <p:spPr>
            <a:xfrm>
              <a:off x="6973865" y="2779143"/>
              <a:ext cx="2831846" cy="1699107"/>
            </a:xfrm>
            <a:prstGeom prst="rect">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82"/>
            <p:cNvSpPr txBox="1"/>
            <p:nvPr/>
          </p:nvSpPr>
          <p:spPr>
            <a:xfrm>
              <a:off x="6973865" y="2779143"/>
              <a:ext cx="2831846" cy="1699107"/>
            </a:xfrm>
            <a:prstGeom prst="rect">
              <a:avLst/>
            </a:prstGeom>
            <a:noFill/>
            <a:ln>
              <a:noFill/>
            </a:ln>
          </p:spPr>
          <p:txBody>
            <a:bodyPr anchorCtr="0" anchor="ctr" bIns="145650" lIns="138750" spcFirstLastPara="1" rIns="138750" wrap="square" tIns="145650">
              <a:noAutofit/>
            </a:bodyPr>
            <a:lstStyle/>
            <a:p>
              <a:pPr indent="0" lvl="0" marL="0" marR="0" rtl="0" algn="ctr">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Execute your ETL!</a:t>
              </a:r>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83"/>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Give it a try!</a:t>
            </a:r>
            <a:endParaRPr/>
          </a:p>
        </p:txBody>
      </p:sp>
      <p:sp>
        <p:nvSpPr>
          <p:cNvPr id="1009" name="Google Shape;1009;p83"/>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descr="Image result for pusheen working" id="1010" name="Google Shape;1010;p83"/>
          <p:cNvPicPr preferRelativeResize="0"/>
          <p:nvPr/>
        </p:nvPicPr>
        <p:blipFill rotWithShape="1">
          <a:blip r:embed="rId3">
            <a:alphaModFix/>
          </a:blip>
          <a:srcRect b="0" l="0" r="0" t="0"/>
          <a:stretch/>
        </p:blipFill>
        <p:spPr>
          <a:xfrm>
            <a:off x="4857255" y="1617270"/>
            <a:ext cx="2951114" cy="2951114"/>
          </a:xfrm>
          <a:prstGeom prst="rect">
            <a:avLst/>
          </a:prstGeom>
          <a:noFill/>
          <a:ln>
            <a:noFill/>
          </a:ln>
        </p:spPr>
      </p:pic>
      <p:sp>
        <p:nvSpPr>
          <p:cNvPr id="1011" name="Google Shape;1011;p83"/>
          <p:cNvSpPr txBox="1"/>
          <p:nvPr/>
        </p:nvSpPr>
        <p:spPr>
          <a:xfrm>
            <a:off x="3527151" y="5482542"/>
            <a:ext cx="79701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4">
                  <a:extLst>
                    <a:ext uri="{A12FA001-AC4F-418D-AE19-62706E023703}">
                      <ahyp:hlinkClr val="tx"/>
                    </a:ext>
                  </a:extLst>
                </a:hlinkClick>
              </a:rPr>
              <a:t>https://github.com/OHDSI/ETL-Synthea/blob/main/README.md</a:t>
            </a:r>
            <a:endParaRPr sz="1800">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15" name="Shape 1015"/>
        <p:cNvGrpSpPr/>
        <p:nvPr/>
      </p:nvGrpSpPr>
      <p:grpSpPr>
        <a:xfrm>
          <a:off x="0" y="0"/>
          <a:ext cx="0" cy="0"/>
          <a:chOff x="0" y="0"/>
          <a:chExt cx="0" cy="0"/>
        </a:xfrm>
      </p:grpSpPr>
      <p:sp>
        <p:nvSpPr>
          <p:cNvPr id="1016" name="Google Shape;1016;p84"/>
          <p:cNvSpPr txBox="1"/>
          <p:nvPr>
            <p:ph type="title"/>
          </p:nvPr>
        </p:nvSpPr>
        <p:spPr>
          <a:xfrm>
            <a:off x="2667000" y="152400"/>
            <a:ext cx="485896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Implementation</a:t>
            </a:r>
            <a:endParaRPr/>
          </a:p>
        </p:txBody>
      </p:sp>
      <p:sp>
        <p:nvSpPr>
          <p:cNvPr id="1017" name="Google Shape;1017;p84"/>
          <p:cNvSpPr txBox="1"/>
          <p:nvPr>
            <p:ph idx="4" type="body"/>
          </p:nvPr>
        </p:nvSpPr>
        <p:spPr>
          <a:xfrm>
            <a:off x="6193370" y="2174875"/>
            <a:ext cx="5389033" cy="3951288"/>
          </a:xfrm>
          <a:prstGeom prst="rect">
            <a:avLst/>
          </a:prstGeom>
          <a:noFill/>
          <a:ln>
            <a:noFill/>
          </a:ln>
        </p:spPr>
        <p:txBody>
          <a:bodyPr anchorCtr="0" anchor="t" bIns="45700" lIns="91425" spcFirstLastPara="1" rIns="91425" wrap="square" tIns="45700">
            <a:normAutofit/>
          </a:bodyPr>
          <a:lstStyle/>
          <a:p>
            <a:pPr indent="0" lvl="1" marL="457200" rtl="0" algn="l">
              <a:spcBef>
                <a:spcPts val="0"/>
              </a:spcBef>
              <a:spcAft>
                <a:spcPts val="0"/>
              </a:spcAft>
              <a:buClr>
                <a:srgbClr val="20425A"/>
              </a:buClr>
              <a:buSzPts val="2000"/>
              <a:buNone/>
            </a:pPr>
            <a:r>
              <a:t/>
            </a:r>
            <a:endParaRPr/>
          </a:p>
          <a:p>
            <a:pPr indent="0" lvl="1" marL="457200" rtl="0" algn="l">
              <a:spcBef>
                <a:spcPts val="400"/>
              </a:spcBef>
              <a:spcAft>
                <a:spcPts val="0"/>
              </a:spcAft>
              <a:buClr>
                <a:srgbClr val="20425A"/>
              </a:buClr>
              <a:buSzPts val="2000"/>
              <a:buNone/>
            </a:pPr>
            <a:r>
              <a:t/>
            </a:r>
            <a:endParaRPr/>
          </a:p>
        </p:txBody>
      </p:sp>
      <p:sp>
        <p:nvSpPr>
          <p:cNvPr id="1018" name="Google Shape;1018;p84"/>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19" name="Google Shape;1019;p84"/>
          <p:cNvPicPr preferRelativeResize="0"/>
          <p:nvPr/>
        </p:nvPicPr>
        <p:blipFill rotWithShape="1">
          <a:blip r:embed="rId3">
            <a:alphaModFix/>
          </a:blip>
          <a:srcRect b="0" l="0" r="0" t="0"/>
          <a:stretch/>
        </p:blipFill>
        <p:spPr>
          <a:xfrm>
            <a:off x="7355228" y="313739"/>
            <a:ext cx="2028825" cy="600075"/>
          </a:xfrm>
          <a:prstGeom prst="rect">
            <a:avLst/>
          </a:prstGeom>
          <a:noFill/>
          <a:ln>
            <a:noFill/>
          </a:ln>
        </p:spPr>
      </p:pic>
      <p:pic>
        <p:nvPicPr>
          <p:cNvPr descr="Image result for pusheen transparent background" id="1020" name="Google Shape;1020;p84"/>
          <p:cNvPicPr preferRelativeResize="0"/>
          <p:nvPr/>
        </p:nvPicPr>
        <p:blipFill rotWithShape="1">
          <a:blip r:embed="rId4">
            <a:alphaModFix/>
          </a:blip>
          <a:srcRect b="0" l="0" r="0" t="0"/>
          <a:stretch/>
        </p:blipFill>
        <p:spPr>
          <a:xfrm>
            <a:off x="9525000" y="58686"/>
            <a:ext cx="1110180" cy="1110180"/>
          </a:xfrm>
          <a:prstGeom prst="rect">
            <a:avLst/>
          </a:prstGeom>
          <a:noFill/>
          <a:ln>
            <a:noFill/>
          </a:ln>
        </p:spPr>
      </p:pic>
      <p:sp>
        <p:nvSpPr>
          <p:cNvPr id="1021" name="Google Shape;1021;p84"/>
          <p:cNvSpPr txBox="1"/>
          <p:nvPr/>
        </p:nvSpPr>
        <p:spPr>
          <a:xfrm>
            <a:off x="1981200" y="1086035"/>
            <a:ext cx="8229600" cy="9556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0425A"/>
              </a:buClr>
              <a:buSzPts val="2400"/>
              <a:buFont typeface="Arial"/>
              <a:buNone/>
            </a:pPr>
            <a:r>
              <a:rPr b="0" lang="en-US" sz="2400">
                <a:solidFill>
                  <a:srgbClr val="20425A"/>
                </a:solidFill>
                <a:latin typeface="Calibri"/>
                <a:ea typeface="Calibri"/>
                <a:cs typeface="Calibri"/>
                <a:sym typeface="Calibri"/>
              </a:rPr>
              <a:t>First, let us review the logic we decided on for how the PERSON table should be created.</a:t>
            </a:r>
            <a:endParaRPr/>
          </a:p>
          <a:p>
            <a:pPr indent="0" lvl="0" marL="0" marR="0" rtl="0" algn="l">
              <a:spcBef>
                <a:spcPts val="480"/>
              </a:spcBef>
              <a:spcAft>
                <a:spcPts val="0"/>
              </a:spcAft>
              <a:buClr>
                <a:srgbClr val="20425A"/>
              </a:buClr>
              <a:buSzPts val="2400"/>
              <a:buFont typeface="Arial"/>
              <a:buNone/>
            </a:pPr>
            <a:r>
              <a:t/>
            </a:r>
            <a:endParaRPr b="0"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600"/>
              </a:spcBef>
              <a:spcAft>
                <a:spcPts val="0"/>
              </a:spcAft>
              <a:buClr>
                <a:srgbClr val="20425A"/>
              </a:buClr>
              <a:buSzPts val="3000"/>
              <a:buFont typeface="Arial"/>
              <a:buNone/>
            </a:pPr>
            <a:r>
              <a:t/>
            </a:r>
            <a:endParaRPr b="1" sz="3000">
              <a:solidFill>
                <a:srgbClr val="20425A"/>
              </a:solidFill>
              <a:latin typeface="Calibri"/>
              <a:ea typeface="Calibri"/>
              <a:cs typeface="Calibri"/>
              <a:sym typeface="Calibri"/>
            </a:endParaRPr>
          </a:p>
        </p:txBody>
      </p:sp>
      <p:sp>
        <p:nvSpPr>
          <p:cNvPr id="1022" name="Google Shape;1022;p84"/>
          <p:cNvSpPr txBox="1"/>
          <p:nvPr/>
        </p:nvSpPr>
        <p:spPr>
          <a:xfrm>
            <a:off x="1648657" y="2667624"/>
            <a:ext cx="3750079" cy="1230284"/>
          </a:xfrm>
          <a:prstGeom prst="rect">
            <a:avLst/>
          </a:prstGeom>
          <a:noFill/>
          <a:ln>
            <a:noFill/>
          </a:ln>
        </p:spPr>
        <p:txBody>
          <a:bodyPr anchorCtr="0" anchor="t" bIns="45700" lIns="91425" spcFirstLastPara="1" rIns="91425" wrap="square" tIns="45700">
            <a:normAutofit fontScale="92500"/>
          </a:bodyPr>
          <a:lstStyle/>
          <a:p>
            <a:pPr indent="0" lvl="0" marL="0" marR="0" rtl="0" algn="l">
              <a:spcBef>
                <a:spcPts val="0"/>
              </a:spcBef>
              <a:spcAft>
                <a:spcPts val="0"/>
              </a:spcAft>
              <a:buClr>
                <a:srgbClr val="20425A"/>
              </a:buClr>
              <a:buSzPct val="100000"/>
              <a:buFont typeface="Arial"/>
              <a:buNone/>
            </a:pPr>
            <a:r>
              <a:rPr b="0" lang="en-US" sz="2400">
                <a:solidFill>
                  <a:srgbClr val="20425A"/>
                </a:solidFill>
                <a:latin typeface="Calibri"/>
                <a:ea typeface="Calibri"/>
                <a:cs typeface="Calibri"/>
                <a:sym typeface="Calibri"/>
              </a:rPr>
              <a:t>Navigate in your browser to: </a:t>
            </a:r>
            <a:r>
              <a:rPr b="0" lang="en-US" sz="2400" u="sng">
                <a:solidFill>
                  <a:srgbClr val="20425A"/>
                </a:solidFill>
                <a:latin typeface="Calibri"/>
                <a:ea typeface="Calibri"/>
                <a:cs typeface="Calibri"/>
                <a:sym typeface="Calibri"/>
                <a:hlinkClick r:id="rId5">
                  <a:extLst>
                    <a:ext uri="{A12FA001-AC4F-418D-AE19-62706E023703}">
                      <ahyp:hlinkClr val="tx"/>
                    </a:ext>
                  </a:extLst>
                </a:hlinkClick>
              </a:rPr>
              <a:t>https://ohdsi.github.io/ETL-Synthea/articles/person.html</a:t>
            </a:r>
            <a:endParaRPr b="0" sz="2400">
              <a:solidFill>
                <a:srgbClr val="20425A"/>
              </a:solidFill>
              <a:latin typeface="Calibri"/>
              <a:ea typeface="Calibri"/>
              <a:cs typeface="Calibri"/>
              <a:sym typeface="Calibri"/>
            </a:endParaRPr>
          </a:p>
          <a:p>
            <a:pPr indent="0" lvl="0" marL="0" marR="0" rtl="0" algn="l">
              <a:spcBef>
                <a:spcPts val="444"/>
              </a:spcBef>
              <a:spcAft>
                <a:spcPts val="0"/>
              </a:spcAft>
              <a:buClr>
                <a:srgbClr val="20425A"/>
              </a:buClr>
              <a:buSzPct val="100000"/>
              <a:buFont typeface="Arial"/>
              <a:buNone/>
            </a:pPr>
            <a:r>
              <a:t/>
            </a:r>
            <a:endParaRPr b="1" sz="2400">
              <a:solidFill>
                <a:srgbClr val="20425A"/>
              </a:solidFill>
              <a:latin typeface="Calibri"/>
              <a:ea typeface="Calibri"/>
              <a:cs typeface="Calibri"/>
              <a:sym typeface="Calibri"/>
            </a:endParaRPr>
          </a:p>
          <a:p>
            <a:pPr indent="0" lvl="0" marL="0" marR="0" rtl="0" algn="l">
              <a:spcBef>
                <a:spcPts val="444"/>
              </a:spcBef>
              <a:spcAft>
                <a:spcPts val="0"/>
              </a:spcAft>
              <a:buClr>
                <a:srgbClr val="20425A"/>
              </a:buClr>
              <a:buSzPct val="100000"/>
              <a:buFont typeface="Arial"/>
              <a:buNone/>
            </a:pPr>
            <a:r>
              <a:t/>
            </a:r>
            <a:endParaRPr b="1" sz="2400">
              <a:solidFill>
                <a:srgbClr val="20425A"/>
              </a:solidFill>
              <a:latin typeface="Calibri"/>
              <a:ea typeface="Calibri"/>
              <a:cs typeface="Calibri"/>
              <a:sym typeface="Calibri"/>
            </a:endParaRPr>
          </a:p>
          <a:p>
            <a:pPr indent="0" lvl="0" marL="0" marR="0" rtl="0" algn="l">
              <a:spcBef>
                <a:spcPts val="444"/>
              </a:spcBef>
              <a:spcAft>
                <a:spcPts val="0"/>
              </a:spcAft>
              <a:buClr>
                <a:srgbClr val="20425A"/>
              </a:buClr>
              <a:buSzPct val="100000"/>
              <a:buFont typeface="Arial"/>
              <a:buNone/>
            </a:pPr>
            <a:r>
              <a:t/>
            </a:r>
            <a:endParaRPr b="1" sz="2400">
              <a:solidFill>
                <a:srgbClr val="20425A"/>
              </a:solidFill>
              <a:latin typeface="Calibri"/>
              <a:ea typeface="Calibri"/>
              <a:cs typeface="Calibri"/>
              <a:sym typeface="Calibri"/>
            </a:endParaRPr>
          </a:p>
          <a:p>
            <a:pPr indent="0" lvl="0" marL="0" marR="0" rtl="0" algn="l">
              <a:spcBef>
                <a:spcPts val="444"/>
              </a:spcBef>
              <a:spcAft>
                <a:spcPts val="0"/>
              </a:spcAft>
              <a:buClr>
                <a:srgbClr val="20425A"/>
              </a:buClr>
              <a:buSzPct val="100000"/>
              <a:buFont typeface="Arial"/>
              <a:buNone/>
            </a:pPr>
            <a:r>
              <a:t/>
            </a:r>
            <a:endParaRPr b="1" sz="2400">
              <a:solidFill>
                <a:srgbClr val="20425A"/>
              </a:solidFill>
              <a:latin typeface="Calibri"/>
              <a:ea typeface="Calibri"/>
              <a:cs typeface="Calibri"/>
              <a:sym typeface="Calibri"/>
            </a:endParaRPr>
          </a:p>
          <a:p>
            <a:pPr indent="0" lvl="0" marL="0" marR="0" rtl="0" algn="l">
              <a:spcBef>
                <a:spcPts val="444"/>
              </a:spcBef>
              <a:spcAft>
                <a:spcPts val="0"/>
              </a:spcAft>
              <a:buClr>
                <a:srgbClr val="20425A"/>
              </a:buClr>
              <a:buSzPct val="100000"/>
              <a:buFont typeface="Arial"/>
              <a:buNone/>
            </a:pPr>
            <a:r>
              <a:t/>
            </a:r>
            <a:endParaRPr b="1" sz="2400">
              <a:solidFill>
                <a:srgbClr val="20425A"/>
              </a:solidFill>
              <a:latin typeface="Calibri"/>
              <a:ea typeface="Calibri"/>
              <a:cs typeface="Calibri"/>
              <a:sym typeface="Calibri"/>
            </a:endParaRPr>
          </a:p>
          <a:p>
            <a:pPr indent="0" lvl="0" marL="0" marR="0" rtl="0" algn="l">
              <a:spcBef>
                <a:spcPts val="555"/>
              </a:spcBef>
              <a:spcAft>
                <a:spcPts val="0"/>
              </a:spcAft>
              <a:buClr>
                <a:srgbClr val="20425A"/>
              </a:buClr>
              <a:buSzPct val="100000"/>
              <a:buFont typeface="Arial"/>
              <a:buNone/>
            </a:pPr>
            <a:r>
              <a:t/>
            </a:r>
            <a:endParaRPr b="1" sz="3000">
              <a:solidFill>
                <a:srgbClr val="20425A"/>
              </a:solidFill>
              <a:latin typeface="Calibri"/>
              <a:ea typeface="Calibri"/>
              <a:cs typeface="Calibri"/>
              <a:sym typeface="Calibri"/>
            </a:endParaRPr>
          </a:p>
        </p:txBody>
      </p:sp>
      <p:pic>
        <p:nvPicPr>
          <p:cNvPr id="1023" name="Google Shape;1023;p84"/>
          <p:cNvPicPr preferRelativeResize="0"/>
          <p:nvPr/>
        </p:nvPicPr>
        <p:blipFill rotWithShape="1">
          <a:blip r:embed="rId6">
            <a:alphaModFix/>
          </a:blip>
          <a:srcRect b="0" l="0" r="0" t="0"/>
          <a:stretch/>
        </p:blipFill>
        <p:spPr>
          <a:xfrm>
            <a:off x="5398736" y="1908544"/>
            <a:ext cx="4812065" cy="485066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7" name="Shape 1027"/>
        <p:cNvGrpSpPr/>
        <p:nvPr/>
      </p:nvGrpSpPr>
      <p:grpSpPr>
        <a:xfrm>
          <a:off x="0" y="0"/>
          <a:ext cx="0" cy="0"/>
          <a:chOff x="0" y="0"/>
          <a:chExt cx="0" cy="0"/>
        </a:xfrm>
      </p:grpSpPr>
      <p:sp>
        <p:nvSpPr>
          <p:cNvPr id="1028" name="Google Shape;1028;p85"/>
          <p:cNvSpPr txBox="1"/>
          <p:nvPr>
            <p:ph type="title"/>
          </p:nvPr>
        </p:nvSpPr>
        <p:spPr>
          <a:xfrm>
            <a:off x="2667000" y="152400"/>
            <a:ext cx="485896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Implementation</a:t>
            </a:r>
            <a:endParaRPr/>
          </a:p>
        </p:txBody>
      </p:sp>
      <p:sp>
        <p:nvSpPr>
          <p:cNvPr id="1029" name="Google Shape;1029;p85"/>
          <p:cNvSpPr txBox="1"/>
          <p:nvPr>
            <p:ph idx="4" type="body"/>
          </p:nvPr>
        </p:nvSpPr>
        <p:spPr>
          <a:xfrm>
            <a:off x="6193370" y="2174875"/>
            <a:ext cx="5389033" cy="3951288"/>
          </a:xfrm>
          <a:prstGeom prst="rect">
            <a:avLst/>
          </a:prstGeom>
          <a:noFill/>
          <a:ln>
            <a:noFill/>
          </a:ln>
        </p:spPr>
        <p:txBody>
          <a:bodyPr anchorCtr="0" anchor="t" bIns="45700" lIns="91425" spcFirstLastPara="1" rIns="91425" wrap="square" tIns="45700">
            <a:normAutofit/>
          </a:bodyPr>
          <a:lstStyle/>
          <a:p>
            <a:pPr indent="0" lvl="1" marL="457200" rtl="0" algn="l">
              <a:spcBef>
                <a:spcPts val="0"/>
              </a:spcBef>
              <a:spcAft>
                <a:spcPts val="0"/>
              </a:spcAft>
              <a:buClr>
                <a:srgbClr val="20425A"/>
              </a:buClr>
              <a:buSzPts val="2000"/>
              <a:buNone/>
            </a:pPr>
            <a:r>
              <a:t/>
            </a:r>
            <a:endParaRPr/>
          </a:p>
          <a:p>
            <a:pPr indent="0" lvl="1" marL="457200" rtl="0" algn="l">
              <a:spcBef>
                <a:spcPts val="400"/>
              </a:spcBef>
              <a:spcAft>
                <a:spcPts val="0"/>
              </a:spcAft>
              <a:buClr>
                <a:srgbClr val="20425A"/>
              </a:buClr>
              <a:buSzPts val="2000"/>
              <a:buNone/>
            </a:pPr>
            <a:r>
              <a:t/>
            </a:r>
            <a:endParaRPr/>
          </a:p>
        </p:txBody>
      </p:sp>
      <p:sp>
        <p:nvSpPr>
          <p:cNvPr id="1030" name="Google Shape;1030;p85"/>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31" name="Google Shape;1031;p85"/>
          <p:cNvPicPr preferRelativeResize="0"/>
          <p:nvPr/>
        </p:nvPicPr>
        <p:blipFill rotWithShape="1">
          <a:blip r:embed="rId3">
            <a:alphaModFix/>
          </a:blip>
          <a:srcRect b="0" l="0" r="0" t="0"/>
          <a:stretch/>
        </p:blipFill>
        <p:spPr>
          <a:xfrm>
            <a:off x="7355228" y="313739"/>
            <a:ext cx="2028825" cy="600075"/>
          </a:xfrm>
          <a:prstGeom prst="rect">
            <a:avLst/>
          </a:prstGeom>
          <a:noFill/>
          <a:ln>
            <a:noFill/>
          </a:ln>
        </p:spPr>
      </p:pic>
      <p:pic>
        <p:nvPicPr>
          <p:cNvPr descr="Image result for pusheen transparent background" id="1032" name="Google Shape;1032;p85"/>
          <p:cNvPicPr preferRelativeResize="0"/>
          <p:nvPr/>
        </p:nvPicPr>
        <p:blipFill rotWithShape="1">
          <a:blip r:embed="rId4">
            <a:alphaModFix/>
          </a:blip>
          <a:srcRect b="0" l="0" r="0" t="0"/>
          <a:stretch/>
        </p:blipFill>
        <p:spPr>
          <a:xfrm>
            <a:off x="9525000" y="58686"/>
            <a:ext cx="1110180" cy="1110180"/>
          </a:xfrm>
          <a:prstGeom prst="rect">
            <a:avLst/>
          </a:prstGeom>
          <a:noFill/>
          <a:ln>
            <a:noFill/>
          </a:ln>
        </p:spPr>
      </p:pic>
      <p:sp>
        <p:nvSpPr>
          <p:cNvPr id="1033" name="Google Shape;1033;p85"/>
          <p:cNvSpPr txBox="1"/>
          <p:nvPr/>
        </p:nvSpPr>
        <p:spPr>
          <a:xfrm>
            <a:off x="1981200" y="1085850"/>
            <a:ext cx="8229600" cy="9556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0425A"/>
              </a:buClr>
              <a:buSzPts val="2400"/>
              <a:buFont typeface="Arial"/>
              <a:buNone/>
            </a:pPr>
            <a:r>
              <a:rPr b="0" lang="en-US" sz="2400">
                <a:solidFill>
                  <a:srgbClr val="20425A"/>
                </a:solidFill>
                <a:latin typeface="Calibri"/>
                <a:ea typeface="Calibri"/>
                <a:cs typeface="Calibri"/>
                <a:sym typeface="Calibri"/>
              </a:rPr>
              <a:t>First, let’s review the logic we decided on for how the PERSON table should be created.</a:t>
            </a:r>
            <a:endParaRPr/>
          </a:p>
          <a:p>
            <a:pPr indent="0" lvl="0" marL="0" marR="0" rtl="0" algn="l">
              <a:spcBef>
                <a:spcPts val="480"/>
              </a:spcBef>
              <a:spcAft>
                <a:spcPts val="0"/>
              </a:spcAft>
              <a:buClr>
                <a:srgbClr val="20425A"/>
              </a:buClr>
              <a:buSzPts val="2400"/>
              <a:buFont typeface="Arial"/>
              <a:buNone/>
            </a:pPr>
            <a:r>
              <a:t/>
            </a:r>
            <a:endParaRPr b="0"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600"/>
              </a:spcBef>
              <a:spcAft>
                <a:spcPts val="0"/>
              </a:spcAft>
              <a:buClr>
                <a:srgbClr val="20425A"/>
              </a:buClr>
              <a:buSzPts val="3000"/>
              <a:buFont typeface="Arial"/>
              <a:buNone/>
            </a:pPr>
            <a:r>
              <a:t/>
            </a:r>
            <a:endParaRPr b="1" sz="3000">
              <a:solidFill>
                <a:srgbClr val="20425A"/>
              </a:solidFill>
              <a:latin typeface="Calibri"/>
              <a:ea typeface="Calibri"/>
              <a:cs typeface="Calibri"/>
              <a:sym typeface="Calibri"/>
            </a:endParaRPr>
          </a:p>
        </p:txBody>
      </p:sp>
      <p:sp>
        <p:nvSpPr>
          <p:cNvPr id="1034" name="Google Shape;1034;p85"/>
          <p:cNvSpPr txBox="1"/>
          <p:nvPr/>
        </p:nvSpPr>
        <p:spPr>
          <a:xfrm>
            <a:off x="1609726" y="2225209"/>
            <a:ext cx="8601075" cy="390095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0425A"/>
              </a:buClr>
              <a:buSzPts val="2400"/>
              <a:buFont typeface="Arial"/>
              <a:buNone/>
            </a:pPr>
            <a:r>
              <a:rPr b="0" lang="en-US" sz="2400">
                <a:solidFill>
                  <a:srgbClr val="20425A"/>
                </a:solidFill>
                <a:latin typeface="Calibri"/>
                <a:ea typeface="Calibri"/>
                <a:cs typeface="Calibri"/>
                <a:sym typeface="Calibri"/>
              </a:rPr>
              <a:t>Gender: </a:t>
            </a:r>
            <a:endParaRPr/>
          </a:p>
          <a:p>
            <a:pPr indent="0" lvl="0" marL="0" marR="0" rtl="0" algn="l">
              <a:spcBef>
                <a:spcPts val="480"/>
              </a:spcBef>
              <a:spcAft>
                <a:spcPts val="0"/>
              </a:spcAft>
              <a:buClr>
                <a:srgbClr val="20425A"/>
              </a:buClr>
              <a:buSzPts val="2400"/>
              <a:buFont typeface="Arial"/>
              <a:buNone/>
            </a:pPr>
            <a:r>
              <a:t/>
            </a:r>
            <a:endParaRPr b="0" sz="2400">
              <a:solidFill>
                <a:srgbClr val="20425A"/>
              </a:solidFill>
              <a:latin typeface="Calibri"/>
              <a:ea typeface="Calibri"/>
              <a:cs typeface="Calibri"/>
              <a:sym typeface="Calibri"/>
            </a:endParaRPr>
          </a:p>
          <a:p>
            <a:pPr indent="0" lvl="0" marL="0" marR="0" rtl="0" algn="l">
              <a:spcBef>
                <a:spcPts val="360"/>
              </a:spcBef>
              <a:spcAft>
                <a:spcPts val="0"/>
              </a:spcAft>
              <a:buClr>
                <a:srgbClr val="20425A"/>
              </a:buClr>
              <a:buSzPts val="1800"/>
              <a:buFont typeface="Arial"/>
              <a:buNone/>
            </a:pPr>
            <a:r>
              <a:t/>
            </a:r>
            <a:endParaRPr b="0" sz="18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rPr b="0" lang="en-US" sz="2400">
                <a:solidFill>
                  <a:srgbClr val="20425A"/>
                </a:solidFill>
                <a:latin typeface="Calibri"/>
                <a:ea typeface="Calibri"/>
                <a:cs typeface="Calibri"/>
                <a:sym typeface="Calibri"/>
              </a:rPr>
              <a:t>Birthdate:</a:t>
            </a:r>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360"/>
              </a:spcBef>
              <a:spcAft>
                <a:spcPts val="0"/>
              </a:spcAft>
              <a:buClr>
                <a:srgbClr val="20425A"/>
              </a:buClr>
              <a:buSzPts val="1800"/>
              <a:buFont typeface="Arial"/>
              <a:buNone/>
            </a:pPr>
            <a:r>
              <a:t/>
            </a:r>
            <a:endParaRPr b="1" sz="18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rPr b="0" lang="en-US" sz="2400">
                <a:solidFill>
                  <a:srgbClr val="20425A"/>
                </a:solidFill>
                <a:latin typeface="Calibri"/>
                <a:ea typeface="Calibri"/>
                <a:cs typeface="Calibri"/>
                <a:sym typeface="Calibri"/>
              </a:rPr>
              <a:t>Race:</a:t>
            </a:r>
            <a:r>
              <a:rPr b="1" lang="en-US" sz="2400">
                <a:solidFill>
                  <a:srgbClr val="20425A"/>
                </a:solidFill>
                <a:latin typeface="Calibri"/>
                <a:ea typeface="Calibri"/>
                <a:cs typeface="Calibri"/>
                <a:sym typeface="Calibri"/>
              </a:rPr>
              <a:t> </a:t>
            </a:r>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rPr b="0" lang="en-US" sz="2400">
                <a:solidFill>
                  <a:srgbClr val="20425A"/>
                </a:solidFill>
                <a:latin typeface="Calibri"/>
                <a:ea typeface="Calibri"/>
                <a:cs typeface="Calibri"/>
                <a:sym typeface="Calibri"/>
              </a:rPr>
              <a:t>Ethnicity:</a:t>
            </a:r>
            <a:endParaRPr/>
          </a:p>
          <a:p>
            <a:pPr indent="0" lvl="0" marL="0" marR="0" rtl="0" algn="l">
              <a:spcBef>
                <a:spcPts val="600"/>
              </a:spcBef>
              <a:spcAft>
                <a:spcPts val="0"/>
              </a:spcAft>
              <a:buClr>
                <a:srgbClr val="20425A"/>
              </a:buClr>
              <a:buSzPts val="3000"/>
              <a:buFont typeface="Arial"/>
              <a:buNone/>
            </a:pPr>
            <a:r>
              <a:t/>
            </a:r>
            <a:endParaRPr b="1" sz="3000">
              <a:solidFill>
                <a:srgbClr val="20425A"/>
              </a:solidFill>
              <a:latin typeface="Calibri"/>
              <a:ea typeface="Calibri"/>
              <a:cs typeface="Calibri"/>
              <a:sym typeface="Calibri"/>
            </a:endParaRPr>
          </a:p>
        </p:txBody>
      </p:sp>
      <p:pic>
        <p:nvPicPr>
          <p:cNvPr id="1035" name="Google Shape;1035;p85"/>
          <p:cNvPicPr preferRelativeResize="0"/>
          <p:nvPr/>
        </p:nvPicPr>
        <p:blipFill rotWithShape="1">
          <a:blip r:embed="rId5">
            <a:alphaModFix/>
          </a:blip>
          <a:srcRect b="0" l="0" r="0" t="0"/>
          <a:stretch/>
        </p:blipFill>
        <p:spPr>
          <a:xfrm>
            <a:off x="3124201" y="1883342"/>
            <a:ext cx="6600825" cy="925349"/>
          </a:xfrm>
          <a:prstGeom prst="rect">
            <a:avLst/>
          </a:prstGeom>
          <a:noFill/>
          <a:ln cap="flat" cmpd="sng" w="15875">
            <a:solidFill>
              <a:srgbClr val="20425A"/>
            </a:solidFill>
            <a:prstDash val="solid"/>
            <a:round/>
            <a:headEnd len="sm" w="sm" type="none"/>
            <a:tailEnd len="sm" w="sm" type="none"/>
          </a:ln>
        </p:spPr>
      </p:pic>
      <p:pic>
        <p:nvPicPr>
          <p:cNvPr id="1036" name="Google Shape;1036;p85"/>
          <p:cNvPicPr preferRelativeResize="0"/>
          <p:nvPr/>
        </p:nvPicPr>
        <p:blipFill rotWithShape="1">
          <a:blip r:embed="rId6">
            <a:alphaModFix/>
          </a:blip>
          <a:srcRect b="0" l="0" r="0" t="0"/>
          <a:stretch/>
        </p:blipFill>
        <p:spPr>
          <a:xfrm>
            <a:off x="3124203" y="2859025"/>
            <a:ext cx="6596063" cy="1361371"/>
          </a:xfrm>
          <a:prstGeom prst="rect">
            <a:avLst/>
          </a:prstGeom>
          <a:noFill/>
          <a:ln cap="flat" cmpd="sng" w="15875">
            <a:solidFill>
              <a:srgbClr val="20425A"/>
            </a:solidFill>
            <a:prstDash val="solid"/>
            <a:round/>
            <a:headEnd len="sm" w="sm" type="none"/>
            <a:tailEnd len="sm" w="sm" type="none"/>
          </a:ln>
        </p:spPr>
      </p:pic>
      <p:pic>
        <p:nvPicPr>
          <p:cNvPr id="1037" name="Google Shape;1037;p85"/>
          <p:cNvPicPr preferRelativeResize="0"/>
          <p:nvPr/>
        </p:nvPicPr>
        <p:blipFill rotWithShape="1">
          <a:blip r:embed="rId7">
            <a:alphaModFix/>
          </a:blip>
          <a:srcRect b="0" l="0" r="0" t="0"/>
          <a:stretch/>
        </p:blipFill>
        <p:spPr>
          <a:xfrm>
            <a:off x="3124201" y="4278012"/>
            <a:ext cx="6596064" cy="913436"/>
          </a:xfrm>
          <a:prstGeom prst="rect">
            <a:avLst/>
          </a:prstGeom>
          <a:noFill/>
          <a:ln cap="flat" cmpd="sng" w="15875">
            <a:solidFill>
              <a:srgbClr val="20425A"/>
            </a:solidFill>
            <a:prstDash val="solid"/>
            <a:round/>
            <a:headEnd len="sm" w="sm" type="none"/>
            <a:tailEnd len="sm" w="sm" type="none"/>
          </a:ln>
        </p:spPr>
      </p:pic>
      <p:pic>
        <p:nvPicPr>
          <p:cNvPr id="1038" name="Google Shape;1038;p85"/>
          <p:cNvPicPr preferRelativeResize="0"/>
          <p:nvPr/>
        </p:nvPicPr>
        <p:blipFill rotWithShape="1">
          <a:blip r:embed="rId8">
            <a:alphaModFix/>
          </a:blip>
          <a:srcRect b="0" l="0" r="0" t="0"/>
          <a:stretch/>
        </p:blipFill>
        <p:spPr>
          <a:xfrm>
            <a:off x="3124201" y="5263851"/>
            <a:ext cx="6596063" cy="1229025"/>
          </a:xfrm>
          <a:prstGeom prst="rect">
            <a:avLst/>
          </a:prstGeom>
          <a:noFill/>
          <a:ln cap="flat" cmpd="sng" w="15875">
            <a:solidFill>
              <a:srgbClr val="20425A"/>
            </a:solidFill>
            <a:prstDash val="solid"/>
            <a:round/>
            <a:headEnd len="sm" w="sm" type="none"/>
            <a:tailEnd len="sm" w="sm" type="none"/>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2" name="Shape 1042"/>
        <p:cNvGrpSpPr/>
        <p:nvPr/>
      </p:nvGrpSpPr>
      <p:grpSpPr>
        <a:xfrm>
          <a:off x="0" y="0"/>
          <a:ext cx="0" cy="0"/>
          <a:chOff x="0" y="0"/>
          <a:chExt cx="0" cy="0"/>
        </a:xfrm>
      </p:grpSpPr>
      <p:sp>
        <p:nvSpPr>
          <p:cNvPr id="1043" name="Google Shape;1043;p86"/>
          <p:cNvSpPr txBox="1"/>
          <p:nvPr>
            <p:ph type="title"/>
          </p:nvPr>
        </p:nvSpPr>
        <p:spPr>
          <a:xfrm>
            <a:off x="2667000" y="152400"/>
            <a:ext cx="4858966"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Implementation</a:t>
            </a:r>
            <a:endParaRPr/>
          </a:p>
        </p:txBody>
      </p:sp>
      <p:sp>
        <p:nvSpPr>
          <p:cNvPr id="1044" name="Google Shape;1044;p86"/>
          <p:cNvSpPr txBox="1"/>
          <p:nvPr>
            <p:ph idx="4" type="body"/>
          </p:nvPr>
        </p:nvSpPr>
        <p:spPr>
          <a:xfrm>
            <a:off x="6193370" y="2174875"/>
            <a:ext cx="5389033" cy="3951288"/>
          </a:xfrm>
          <a:prstGeom prst="rect">
            <a:avLst/>
          </a:prstGeom>
          <a:noFill/>
          <a:ln>
            <a:noFill/>
          </a:ln>
        </p:spPr>
        <p:txBody>
          <a:bodyPr anchorCtr="0" anchor="t" bIns="45700" lIns="91425" spcFirstLastPara="1" rIns="91425" wrap="square" tIns="45700">
            <a:normAutofit/>
          </a:bodyPr>
          <a:lstStyle/>
          <a:p>
            <a:pPr indent="0" lvl="1" marL="457200" rtl="0" algn="l">
              <a:spcBef>
                <a:spcPts val="0"/>
              </a:spcBef>
              <a:spcAft>
                <a:spcPts val="0"/>
              </a:spcAft>
              <a:buClr>
                <a:srgbClr val="20425A"/>
              </a:buClr>
              <a:buSzPts val="2000"/>
              <a:buNone/>
            </a:pPr>
            <a:r>
              <a:t/>
            </a:r>
            <a:endParaRPr/>
          </a:p>
          <a:p>
            <a:pPr indent="0" lvl="1" marL="457200" rtl="0" algn="l">
              <a:spcBef>
                <a:spcPts val="400"/>
              </a:spcBef>
              <a:spcAft>
                <a:spcPts val="0"/>
              </a:spcAft>
              <a:buClr>
                <a:srgbClr val="20425A"/>
              </a:buClr>
              <a:buSzPts val="2000"/>
              <a:buNone/>
            </a:pPr>
            <a:r>
              <a:t/>
            </a:r>
            <a:endParaRPr/>
          </a:p>
        </p:txBody>
      </p:sp>
      <p:sp>
        <p:nvSpPr>
          <p:cNvPr id="1045" name="Google Shape;1045;p86"/>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46" name="Google Shape;1046;p86"/>
          <p:cNvPicPr preferRelativeResize="0"/>
          <p:nvPr/>
        </p:nvPicPr>
        <p:blipFill rotWithShape="1">
          <a:blip r:embed="rId3">
            <a:alphaModFix/>
          </a:blip>
          <a:srcRect b="0" l="0" r="0" t="0"/>
          <a:stretch/>
        </p:blipFill>
        <p:spPr>
          <a:xfrm>
            <a:off x="7355228" y="313739"/>
            <a:ext cx="2028825" cy="600075"/>
          </a:xfrm>
          <a:prstGeom prst="rect">
            <a:avLst/>
          </a:prstGeom>
          <a:noFill/>
          <a:ln>
            <a:noFill/>
          </a:ln>
        </p:spPr>
      </p:pic>
      <p:pic>
        <p:nvPicPr>
          <p:cNvPr descr="Image result for pusheen transparent background" id="1047" name="Google Shape;1047;p86"/>
          <p:cNvPicPr preferRelativeResize="0"/>
          <p:nvPr/>
        </p:nvPicPr>
        <p:blipFill rotWithShape="1">
          <a:blip r:embed="rId4">
            <a:alphaModFix/>
          </a:blip>
          <a:srcRect b="0" l="0" r="0" t="0"/>
          <a:stretch/>
        </p:blipFill>
        <p:spPr>
          <a:xfrm>
            <a:off x="9525000" y="58686"/>
            <a:ext cx="1110180" cy="1110180"/>
          </a:xfrm>
          <a:prstGeom prst="rect">
            <a:avLst/>
          </a:prstGeom>
          <a:noFill/>
          <a:ln>
            <a:noFill/>
          </a:ln>
        </p:spPr>
      </p:pic>
      <p:sp>
        <p:nvSpPr>
          <p:cNvPr id="1048" name="Google Shape;1048;p86"/>
          <p:cNvSpPr txBox="1"/>
          <p:nvPr/>
        </p:nvSpPr>
        <p:spPr>
          <a:xfrm>
            <a:off x="2405580" y="1085850"/>
            <a:ext cx="8229600" cy="449729"/>
          </a:xfrm>
          <a:prstGeom prst="rect">
            <a:avLst/>
          </a:prstGeom>
          <a:noFill/>
          <a:ln>
            <a:noFill/>
          </a:ln>
        </p:spPr>
        <p:txBody>
          <a:bodyPr anchorCtr="0" anchor="t" bIns="45700" lIns="91425" spcFirstLastPara="1" rIns="91425" wrap="square" tIns="45700">
            <a:normAutofit lnSpcReduction="10000"/>
          </a:bodyPr>
          <a:lstStyle/>
          <a:p>
            <a:pPr indent="0" lvl="0" marL="0" marR="0" rtl="0" algn="l">
              <a:spcBef>
                <a:spcPts val="0"/>
              </a:spcBef>
              <a:spcAft>
                <a:spcPts val="0"/>
              </a:spcAft>
              <a:buClr>
                <a:srgbClr val="20425A"/>
              </a:buClr>
              <a:buSzPts val="2400"/>
              <a:buFont typeface="Arial"/>
              <a:buNone/>
            </a:pPr>
            <a:r>
              <a:rPr b="0" lang="en-US" sz="2400">
                <a:solidFill>
                  <a:srgbClr val="20425A"/>
                </a:solidFill>
                <a:latin typeface="Calibri"/>
                <a:ea typeface="Calibri"/>
                <a:cs typeface="Calibri"/>
                <a:sym typeface="Calibri"/>
              </a:rPr>
              <a:t>How should the PERSON table logic be implemented in SQL? </a:t>
            </a:r>
            <a:endParaRPr/>
          </a:p>
          <a:p>
            <a:pPr indent="0" lvl="0" marL="0" marR="0" rtl="0" algn="l">
              <a:spcBef>
                <a:spcPts val="480"/>
              </a:spcBef>
              <a:spcAft>
                <a:spcPts val="0"/>
              </a:spcAft>
              <a:buClr>
                <a:srgbClr val="20425A"/>
              </a:buClr>
              <a:buSzPts val="2400"/>
              <a:buFont typeface="Arial"/>
              <a:buNone/>
            </a:pPr>
            <a:r>
              <a:t/>
            </a:r>
            <a:endParaRPr b="0"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480"/>
              </a:spcBef>
              <a:spcAft>
                <a:spcPts val="0"/>
              </a:spcAft>
              <a:buClr>
                <a:srgbClr val="20425A"/>
              </a:buClr>
              <a:buSzPts val="2400"/>
              <a:buFont typeface="Arial"/>
              <a:buNone/>
            </a:pPr>
            <a:r>
              <a:t/>
            </a:r>
            <a:endParaRPr b="1" sz="2400">
              <a:solidFill>
                <a:srgbClr val="20425A"/>
              </a:solidFill>
              <a:latin typeface="Calibri"/>
              <a:ea typeface="Calibri"/>
              <a:cs typeface="Calibri"/>
              <a:sym typeface="Calibri"/>
            </a:endParaRPr>
          </a:p>
          <a:p>
            <a:pPr indent="0" lvl="0" marL="0" marR="0" rtl="0" algn="l">
              <a:spcBef>
                <a:spcPts val="600"/>
              </a:spcBef>
              <a:spcAft>
                <a:spcPts val="0"/>
              </a:spcAft>
              <a:buClr>
                <a:srgbClr val="20425A"/>
              </a:buClr>
              <a:buSzPts val="3000"/>
              <a:buFont typeface="Arial"/>
              <a:buNone/>
            </a:pPr>
            <a:r>
              <a:t/>
            </a:r>
            <a:endParaRPr b="1" sz="3000">
              <a:solidFill>
                <a:srgbClr val="20425A"/>
              </a:solidFill>
              <a:latin typeface="Calibri"/>
              <a:ea typeface="Calibri"/>
              <a:cs typeface="Calibri"/>
              <a:sym typeface="Calibri"/>
            </a:endParaRPr>
          </a:p>
        </p:txBody>
      </p:sp>
      <p:sp>
        <p:nvSpPr>
          <p:cNvPr id="1049" name="Google Shape;1049;p86"/>
          <p:cNvSpPr txBox="1"/>
          <p:nvPr/>
        </p:nvSpPr>
        <p:spPr>
          <a:xfrm>
            <a:off x="2577030" y="1629897"/>
            <a:ext cx="7386120" cy="2963296"/>
          </a:xfrm>
          <a:prstGeom prst="rect">
            <a:avLst/>
          </a:prstGeom>
          <a:noFill/>
          <a:ln>
            <a:noFill/>
          </a:ln>
        </p:spPr>
        <p:txBody>
          <a:bodyPr anchorCtr="0" anchor="b" bIns="45700" lIns="91425" spcFirstLastPara="1" rIns="91425" wrap="square" tIns="45700">
            <a:normAutofit lnSpcReduction="10000"/>
          </a:bodyPr>
          <a:lstStyle/>
          <a:p>
            <a:pPr indent="0" lvl="0" marL="0" marR="0" rtl="0" algn="l">
              <a:spcBef>
                <a:spcPts val="0"/>
              </a:spcBef>
              <a:spcAft>
                <a:spcPts val="0"/>
              </a:spcAft>
              <a:buClr>
                <a:srgbClr val="20425A"/>
              </a:buClr>
              <a:buSzPts val="2800"/>
              <a:buFont typeface="Arial"/>
              <a:buNone/>
            </a:pPr>
            <a:r>
              <a:rPr b="0" lang="en-US" sz="2800">
                <a:solidFill>
                  <a:srgbClr val="20425A"/>
                </a:solidFill>
                <a:latin typeface="Calibri"/>
                <a:ea typeface="Calibri"/>
                <a:cs typeface="Calibri"/>
                <a:sym typeface="Calibri"/>
              </a:rPr>
              <a:t>To open the query while we review:</a:t>
            </a:r>
            <a:endParaRPr/>
          </a:p>
          <a:p>
            <a:pPr indent="0" lvl="1" marL="457200" marR="0" rtl="0" algn="l">
              <a:spcBef>
                <a:spcPts val="480"/>
              </a:spcBef>
              <a:spcAft>
                <a:spcPts val="0"/>
              </a:spcAft>
              <a:buClr>
                <a:srgbClr val="20425A"/>
              </a:buClr>
              <a:buSzPts val="2400"/>
              <a:buFont typeface="Arial"/>
              <a:buNone/>
            </a:pPr>
            <a:r>
              <a:rPr b="0" i="0" lang="en-US" sz="2400" u="sng" cap="none" strike="noStrike">
                <a:solidFill>
                  <a:srgbClr val="20425A"/>
                </a:solidFill>
                <a:latin typeface="Calibri"/>
                <a:ea typeface="Calibri"/>
                <a:cs typeface="Calibri"/>
                <a:sym typeface="Calibri"/>
                <a:hlinkClick r:id="rId5">
                  <a:extLst>
                    <a:ext uri="{A12FA001-AC4F-418D-AE19-62706E023703}">
                      <ahyp:hlinkClr val="tx"/>
                    </a:ext>
                  </a:extLst>
                </a:hlinkClick>
              </a:rPr>
              <a:t>https://github.com/OHDSI/Tutorial-ETL</a:t>
            </a:r>
            <a:endParaRPr b="0" i="0" sz="2400" u="none" cap="none" strike="noStrike">
              <a:solidFill>
                <a:srgbClr val="20425A"/>
              </a:solidFill>
              <a:latin typeface="Calibri"/>
              <a:ea typeface="Calibri"/>
              <a:cs typeface="Calibri"/>
              <a:sym typeface="Calibri"/>
            </a:endParaRPr>
          </a:p>
          <a:p>
            <a:pPr indent="0" lvl="1" marL="457200" marR="0" rtl="0" algn="l">
              <a:spcBef>
                <a:spcPts val="480"/>
              </a:spcBef>
              <a:spcAft>
                <a:spcPts val="0"/>
              </a:spcAft>
              <a:buClr>
                <a:srgbClr val="20425A"/>
              </a:buClr>
              <a:buSzPts val="2400"/>
              <a:buFont typeface="Arial"/>
              <a:buNone/>
            </a:pPr>
            <a:r>
              <a:rPr b="0" i="0" lang="en-US" sz="2400" u="none" cap="none" strike="noStrike">
                <a:solidFill>
                  <a:srgbClr val="20425A"/>
                </a:solidFill>
                <a:latin typeface="Calibri"/>
                <a:ea typeface="Calibri"/>
                <a:cs typeface="Calibri"/>
                <a:sym typeface="Calibri"/>
              </a:rPr>
              <a:t>Materials 🡪 Implementation🡪 Insert_Person_Lauren.sql</a:t>
            </a:r>
            <a:endParaRPr/>
          </a:p>
          <a:p>
            <a:pPr indent="0" lvl="1" marL="0" marR="0" rtl="0" algn="l">
              <a:spcBef>
                <a:spcPts val="480"/>
              </a:spcBef>
              <a:spcAft>
                <a:spcPts val="0"/>
              </a:spcAft>
              <a:buClr>
                <a:srgbClr val="20425A"/>
              </a:buClr>
              <a:buSzPts val="2400"/>
              <a:buFont typeface="Arial"/>
              <a:buNone/>
            </a:pPr>
            <a:r>
              <a:t/>
            </a:r>
            <a:endParaRPr b="0" i="0" sz="2400" u="none" cap="none" strike="noStrike">
              <a:solidFill>
                <a:srgbClr val="20425A"/>
              </a:solidFill>
              <a:latin typeface="Calibri"/>
              <a:ea typeface="Calibri"/>
              <a:cs typeface="Calibri"/>
              <a:sym typeface="Calibri"/>
            </a:endParaRPr>
          </a:p>
          <a:p>
            <a:pPr indent="0" lvl="1" marL="0" marR="0" rtl="0" algn="l">
              <a:spcBef>
                <a:spcPts val="480"/>
              </a:spcBef>
              <a:spcAft>
                <a:spcPts val="0"/>
              </a:spcAft>
              <a:buClr>
                <a:srgbClr val="20425A"/>
              </a:buClr>
              <a:buSzPts val="2400"/>
              <a:buFont typeface="Arial"/>
              <a:buNone/>
            </a:pPr>
            <a:r>
              <a:rPr b="0" i="0" lang="en-US" sz="2400" u="none" cap="none" strike="noStrike">
                <a:solidFill>
                  <a:srgbClr val="20425A"/>
                </a:solidFill>
                <a:latin typeface="Calibri"/>
                <a:ea typeface="Calibri"/>
                <a:cs typeface="Calibri"/>
                <a:sym typeface="Calibri"/>
              </a:rPr>
              <a:t>You can either view it directly in GitHub or download it and open it in pgAdmin4</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3" name="Shape 1053"/>
        <p:cNvGrpSpPr/>
        <p:nvPr/>
      </p:nvGrpSpPr>
      <p:grpSpPr>
        <a:xfrm>
          <a:off x="0" y="0"/>
          <a:ext cx="0" cy="0"/>
          <a:chOff x="0" y="0"/>
          <a:chExt cx="0" cy="0"/>
        </a:xfrm>
      </p:grpSpPr>
      <p:sp>
        <p:nvSpPr>
          <p:cNvPr id="1054" name="Google Shape;1054;p87"/>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55" name="Google Shape;1055;p87"/>
          <p:cNvSpPr txBox="1"/>
          <p:nvPr/>
        </p:nvSpPr>
        <p:spPr>
          <a:xfrm>
            <a:off x="2667000" y="152400"/>
            <a:ext cx="6781800" cy="8382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20425A"/>
              </a:buClr>
              <a:buSzPts val="4000"/>
              <a:buFont typeface="Calibri"/>
              <a:buNone/>
            </a:pPr>
            <a:r>
              <a:rPr lang="en-US" sz="4000">
                <a:solidFill>
                  <a:srgbClr val="20425A"/>
                </a:solidFill>
                <a:latin typeface="Calibri"/>
                <a:ea typeface="Calibri"/>
                <a:cs typeface="Calibri"/>
                <a:sym typeface="Calibri"/>
              </a:rPr>
              <a:t>Resources</a:t>
            </a:r>
            <a:endParaRPr/>
          </a:p>
        </p:txBody>
      </p:sp>
      <p:sp>
        <p:nvSpPr>
          <p:cNvPr id="1056" name="Google Shape;1056;p87"/>
          <p:cNvSpPr/>
          <p:nvPr/>
        </p:nvSpPr>
        <p:spPr>
          <a:xfrm>
            <a:off x="1972843" y="1364755"/>
            <a:ext cx="8437983" cy="5262979"/>
          </a:xfrm>
          <a:prstGeom prst="rect">
            <a:avLst/>
          </a:prstGeom>
          <a:noFill/>
          <a:ln>
            <a:noFill/>
          </a:ln>
        </p:spPr>
        <p:txBody>
          <a:bodyPr anchorCtr="0" anchor="t" bIns="45700" lIns="91425" spcFirstLastPara="1" rIns="91425" wrap="square" tIns="45700">
            <a:spAutoFit/>
          </a:bodyPr>
          <a:lstStyle/>
          <a:p>
            <a:pPr indent="-457200" lvl="1" marL="457200" marR="0" rtl="0" algn="l">
              <a:spcBef>
                <a:spcPts val="0"/>
              </a:spcBef>
              <a:spcAft>
                <a:spcPts val="0"/>
              </a:spcAft>
              <a:buClr>
                <a:srgbClr val="20425A"/>
              </a:buClr>
              <a:buSzPts val="2800"/>
              <a:buFont typeface="Arial"/>
              <a:buChar char="•"/>
            </a:pPr>
            <a:r>
              <a:rPr b="0" i="0" lang="en-US" sz="2800" u="none" cap="none" strike="noStrike">
                <a:solidFill>
                  <a:srgbClr val="20425A"/>
                </a:solidFill>
                <a:latin typeface="Calibri"/>
                <a:ea typeface="Calibri"/>
                <a:cs typeface="Calibri"/>
                <a:sym typeface="Calibri"/>
              </a:rPr>
              <a:t>The full Synthea builder can be found here:</a:t>
            </a:r>
            <a:endParaRPr b="0" i="0" sz="2800" u="none" cap="none" strike="noStrike">
              <a:solidFill>
                <a:schemeClr val="dk1"/>
              </a:solidFill>
              <a:latin typeface="Calibri"/>
              <a:ea typeface="Calibri"/>
              <a:cs typeface="Calibri"/>
              <a:sym typeface="Calibri"/>
            </a:endParaRPr>
          </a:p>
          <a:p>
            <a:pPr indent="0" lvl="1" marL="0" marR="0" rtl="0" algn="l">
              <a:spcBef>
                <a:spcPts val="0"/>
              </a:spcBef>
              <a:spcAft>
                <a:spcPts val="0"/>
              </a:spcAft>
              <a:buNone/>
            </a:pPr>
            <a:r>
              <a:rPr b="0" i="0" lang="en-US" sz="2800" u="none" cap="none" strike="noStrike">
                <a:solidFill>
                  <a:schemeClr val="dk1"/>
                </a:solidFill>
                <a:latin typeface="Calibri"/>
                <a:ea typeface="Calibri"/>
                <a:cs typeface="Calibri"/>
                <a:sym typeface="Calibri"/>
              </a:rPr>
              <a:t>	</a:t>
            </a:r>
            <a:r>
              <a:rPr b="0" i="0" lang="en-US" sz="2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https://github.com/OHDSI/ETL-Synthea</a:t>
            </a:r>
            <a:endParaRPr b="0" i="0" sz="2800" u="none" cap="none" strike="noStrike">
              <a:solidFill>
                <a:schemeClr val="dk1"/>
              </a:solidFill>
              <a:latin typeface="Calibri"/>
              <a:ea typeface="Calibri"/>
              <a:cs typeface="Calibri"/>
              <a:sym typeface="Calibri"/>
            </a:endParaRPr>
          </a:p>
          <a:p>
            <a:pPr indent="0" lvl="1"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457200" lvl="1" marL="457200" marR="0" rtl="0" algn="l">
              <a:spcBef>
                <a:spcPts val="0"/>
              </a:spcBef>
              <a:spcAft>
                <a:spcPts val="0"/>
              </a:spcAft>
              <a:buClr>
                <a:srgbClr val="20425A"/>
              </a:buClr>
              <a:buSzPts val="2800"/>
              <a:buFont typeface="Arial"/>
              <a:buChar char="•"/>
            </a:pPr>
            <a:r>
              <a:rPr b="0" i="0" lang="en-US" sz="2800" u="none" cap="none" strike="noStrike">
                <a:solidFill>
                  <a:srgbClr val="20425A"/>
                </a:solidFill>
                <a:latin typeface="Calibri"/>
                <a:ea typeface="Calibri"/>
                <a:cs typeface="Calibri"/>
                <a:sym typeface="Calibri"/>
              </a:rPr>
              <a:t>Another example of a R/SQL builder for a much larger database:</a:t>
            </a:r>
            <a:endParaRPr/>
          </a:p>
          <a:p>
            <a:pPr indent="0" lvl="2" marL="457200" marR="0" rtl="0" algn="l">
              <a:spcBef>
                <a:spcPts val="0"/>
              </a:spcBef>
              <a:spcAft>
                <a:spcPts val="0"/>
              </a:spcAft>
              <a:buNone/>
            </a:pPr>
            <a:r>
              <a:rPr b="0" i="0" lang="en-US" sz="2800" u="none" cap="none" strike="noStrike">
                <a:solidFill>
                  <a:srgbClr val="20425A"/>
                </a:solidFill>
                <a:latin typeface="Calibri"/>
                <a:ea typeface="Calibri"/>
                <a:cs typeface="Calibri"/>
                <a:sym typeface="Calibri"/>
              </a:rPr>
              <a:t>	</a:t>
            </a:r>
            <a:r>
              <a:rPr b="0" i="0" lang="en-US" sz="2400" u="sng" cap="none" strike="noStrike">
                <a:solidFill>
                  <a:srgbClr val="20425A"/>
                </a:solidFill>
                <a:latin typeface="Calibri"/>
                <a:ea typeface="Calibri"/>
                <a:cs typeface="Calibri"/>
                <a:sym typeface="Calibri"/>
                <a:hlinkClick r:id="rId4">
                  <a:extLst>
                    <a:ext uri="{A12FA001-AC4F-418D-AE19-62706E023703}">
                      <ahyp:hlinkClr val="tx"/>
                    </a:ext>
                  </a:extLst>
                </a:hlinkClick>
              </a:rPr>
              <a:t>https://github.com/OHDSI/ETL-HealthVerityBuilder</a:t>
            </a:r>
            <a:r>
              <a:rPr b="0" i="0" lang="en-US" sz="2400" u="none" cap="none" strike="noStrike">
                <a:solidFill>
                  <a:srgbClr val="20425A"/>
                </a:solidFill>
                <a:latin typeface="Calibri"/>
                <a:ea typeface="Calibri"/>
                <a:cs typeface="Calibri"/>
                <a:sym typeface="Calibri"/>
              </a:rPr>
              <a:t> </a:t>
            </a:r>
            <a:endParaRPr/>
          </a:p>
          <a:p>
            <a:pPr indent="0" lvl="2" marL="457200" marR="0" rtl="0" algn="l">
              <a:spcBef>
                <a:spcPts val="0"/>
              </a:spcBef>
              <a:spcAft>
                <a:spcPts val="0"/>
              </a:spcAft>
              <a:buNone/>
            </a:pPr>
            <a:r>
              <a:t/>
            </a:r>
            <a:endParaRPr b="0" i="0" sz="1800" u="none" cap="none" strike="noStrike">
              <a:solidFill>
                <a:srgbClr val="20425A"/>
              </a:solidFill>
              <a:latin typeface="Calibri"/>
              <a:ea typeface="Calibri"/>
              <a:cs typeface="Calibri"/>
              <a:sym typeface="Calibri"/>
            </a:endParaRPr>
          </a:p>
          <a:p>
            <a:pPr indent="-457200" lvl="2" marL="457200" marR="0" rtl="0" algn="l">
              <a:spcBef>
                <a:spcPts val="0"/>
              </a:spcBef>
              <a:spcAft>
                <a:spcPts val="0"/>
              </a:spcAft>
              <a:buClr>
                <a:srgbClr val="20425A"/>
              </a:buClr>
              <a:buSzPts val="2800"/>
              <a:buFont typeface="Arial"/>
              <a:buChar char="•"/>
            </a:pPr>
            <a:r>
              <a:rPr b="0" i="0" lang="en-US" sz="2800" u="none" cap="none" strike="noStrike">
                <a:solidFill>
                  <a:srgbClr val="20425A"/>
                </a:solidFill>
                <a:latin typeface="Calibri"/>
                <a:ea typeface="Calibri"/>
                <a:cs typeface="Calibri"/>
                <a:sym typeface="Calibri"/>
              </a:rPr>
              <a:t>A builder created using .NET:</a:t>
            </a:r>
            <a:endParaRPr/>
          </a:p>
          <a:p>
            <a:pPr indent="0" lvl="3" marL="457200" marR="0" rtl="0" algn="l">
              <a:spcBef>
                <a:spcPts val="0"/>
              </a:spcBef>
              <a:spcAft>
                <a:spcPts val="0"/>
              </a:spcAft>
              <a:buNone/>
            </a:pPr>
            <a:r>
              <a:rPr b="0" i="0" lang="en-US" sz="2800" u="none" cap="none" strike="noStrike">
                <a:solidFill>
                  <a:srgbClr val="20425A"/>
                </a:solidFill>
                <a:latin typeface="Calibri"/>
                <a:ea typeface="Calibri"/>
                <a:cs typeface="Calibri"/>
                <a:sym typeface="Calibri"/>
              </a:rPr>
              <a:t>	</a:t>
            </a:r>
            <a:r>
              <a:rPr b="0" i="0" lang="en-US" sz="2800" u="sng" cap="none" strike="noStrike">
                <a:solidFill>
                  <a:srgbClr val="20425A"/>
                </a:solidFill>
                <a:latin typeface="Calibri"/>
                <a:ea typeface="Calibri"/>
                <a:cs typeface="Calibri"/>
                <a:sym typeface="Calibri"/>
                <a:hlinkClick r:id="rId5">
                  <a:extLst>
                    <a:ext uri="{A12FA001-AC4F-418D-AE19-62706E023703}">
                      <ahyp:hlinkClr val="tx"/>
                    </a:ext>
                  </a:extLst>
                </a:hlinkClick>
              </a:rPr>
              <a:t>https://github.com/OHDSI/ETL-CDMBuilder</a:t>
            </a:r>
            <a:r>
              <a:rPr b="0" i="0" lang="en-US" sz="2800" u="none" cap="none" strike="noStrike">
                <a:solidFill>
                  <a:srgbClr val="20425A"/>
                </a:solidFill>
                <a:latin typeface="Calibri"/>
                <a:ea typeface="Calibri"/>
                <a:cs typeface="Calibri"/>
                <a:sym typeface="Calibri"/>
              </a:rPr>
              <a:t> </a:t>
            </a:r>
            <a:endParaRPr/>
          </a:p>
          <a:p>
            <a:pPr indent="0" lvl="3" marL="457200" marR="0" rtl="0" algn="l">
              <a:spcBef>
                <a:spcPts val="0"/>
              </a:spcBef>
              <a:spcAft>
                <a:spcPts val="0"/>
              </a:spcAft>
              <a:buNone/>
            </a:pPr>
            <a:r>
              <a:t/>
            </a:r>
            <a:endParaRPr b="0" i="0" sz="1800" u="none" cap="none" strike="noStrike">
              <a:solidFill>
                <a:srgbClr val="20425A"/>
              </a:solidFill>
              <a:latin typeface="Calibri"/>
              <a:ea typeface="Calibri"/>
              <a:cs typeface="Calibri"/>
              <a:sym typeface="Calibri"/>
            </a:endParaRPr>
          </a:p>
          <a:p>
            <a:pPr indent="-457200" lvl="3" marL="457200" marR="0" rtl="0" algn="l">
              <a:spcBef>
                <a:spcPts val="0"/>
              </a:spcBef>
              <a:spcAft>
                <a:spcPts val="0"/>
              </a:spcAft>
              <a:buClr>
                <a:srgbClr val="20425A"/>
              </a:buClr>
              <a:buSzPts val="2800"/>
              <a:buFont typeface="Arial"/>
              <a:buChar char="•"/>
            </a:pPr>
            <a:r>
              <a:rPr b="0" i="0" lang="en-US" sz="2800" u="none" cap="none" strike="noStrike">
                <a:solidFill>
                  <a:srgbClr val="20425A"/>
                </a:solidFill>
                <a:latin typeface="Calibri"/>
                <a:ea typeface="Calibri"/>
                <a:cs typeface="Calibri"/>
                <a:sym typeface="Calibri"/>
              </a:rPr>
              <a:t>A builder created using the AWS lambda functionality:</a:t>
            </a:r>
            <a:endParaRPr/>
          </a:p>
          <a:p>
            <a:pPr indent="0" lvl="4" marL="457200" marR="0" rtl="0" algn="l">
              <a:spcBef>
                <a:spcPts val="0"/>
              </a:spcBef>
              <a:spcAft>
                <a:spcPts val="0"/>
              </a:spcAft>
              <a:buNone/>
            </a:pPr>
            <a:r>
              <a:rPr b="0" i="0" lang="en-US" sz="2800" u="none" cap="none" strike="noStrike">
                <a:solidFill>
                  <a:srgbClr val="20425A"/>
                </a:solidFill>
                <a:latin typeface="Calibri"/>
                <a:ea typeface="Calibri"/>
                <a:cs typeface="Calibri"/>
                <a:sym typeface="Calibri"/>
              </a:rPr>
              <a:t>	</a:t>
            </a:r>
            <a:r>
              <a:rPr b="0" i="0" lang="en-US" sz="2800" u="sng" cap="none" strike="noStrike">
                <a:solidFill>
                  <a:srgbClr val="20425A"/>
                </a:solidFill>
                <a:latin typeface="Calibri"/>
                <a:ea typeface="Calibri"/>
                <a:cs typeface="Calibri"/>
                <a:sym typeface="Calibri"/>
                <a:hlinkClick r:id="rId6">
                  <a:extLst>
                    <a:ext uri="{A12FA001-AC4F-418D-AE19-62706E023703}">
                      <ahyp:hlinkClr val="tx"/>
                    </a:ext>
                  </a:extLst>
                </a:hlinkClick>
              </a:rPr>
              <a:t>https://github.com/OHDSI/ETL-lambdabuilder</a:t>
            </a:r>
            <a:r>
              <a:rPr b="0" i="0" lang="en-US" sz="2800" u="none" cap="none" strike="noStrike">
                <a:solidFill>
                  <a:srgbClr val="20425A"/>
                </a:solidFill>
                <a:latin typeface="Calibri"/>
                <a:ea typeface="Calibri"/>
                <a:cs typeface="Calibri"/>
                <a:sym typeface="Calibri"/>
              </a:rPr>
              <a:t> </a:t>
            </a:r>
            <a:endParaRPr/>
          </a:p>
          <a:p>
            <a:pPr indent="0" lvl="1" marL="0" marR="0" rtl="0" algn="l">
              <a:spcBef>
                <a:spcPts val="0"/>
              </a:spcBef>
              <a:spcAft>
                <a:spcPts val="0"/>
              </a:spcAft>
              <a:buNone/>
            </a:pPr>
            <a:r>
              <a:rPr b="0" i="0" lang="en-US" sz="2000" u="none" cap="none" strike="noStrike">
                <a:solidFill>
                  <a:srgbClr val="20425A"/>
                </a:solidFill>
                <a:latin typeface="Calibri"/>
                <a:ea typeface="Calibri"/>
                <a:cs typeface="Calibri"/>
                <a:sym typeface="Calibri"/>
              </a:rPr>
              <a:t>	(in development)</a:t>
            </a:r>
            <a:endParaRPr/>
          </a:p>
        </p:txBody>
      </p:sp>
      <p:pic>
        <p:nvPicPr>
          <p:cNvPr descr="Image result for pusheen transparent background" id="1057" name="Google Shape;1057;p87"/>
          <p:cNvPicPr preferRelativeResize="0"/>
          <p:nvPr/>
        </p:nvPicPr>
        <p:blipFill rotWithShape="1">
          <a:blip r:embed="rId7">
            <a:alphaModFix/>
          </a:blip>
          <a:srcRect b="0" l="0" r="0" t="0"/>
          <a:stretch/>
        </p:blipFill>
        <p:spPr>
          <a:xfrm>
            <a:off x="9525000" y="58686"/>
            <a:ext cx="1110180" cy="111018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1" name="Shape 1061"/>
        <p:cNvGrpSpPr/>
        <p:nvPr/>
      </p:nvGrpSpPr>
      <p:grpSpPr>
        <a:xfrm>
          <a:off x="0" y="0"/>
          <a:ext cx="0" cy="0"/>
          <a:chOff x="0" y="0"/>
          <a:chExt cx="0" cy="0"/>
        </a:xfrm>
      </p:grpSpPr>
      <p:sp>
        <p:nvSpPr>
          <p:cNvPr id="1062" name="Google Shape;1062;p8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0425A"/>
              </a:buClr>
              <a:buSzPct val="100000"/>
              <a:buFont typeface="Calibri"/>
              <a:buNone/>
            </a:pPr>
            <a:r>
              <a:rPr lang="en-US"/>
              <a:t>Example Builder 1:</a:t>
            </a:r>
            <a:br>
              <a:rPr lang="en-US"/>
            </a:br>
            <a:r>
              <a:rPr lang="en-US"/>
              <a:t>Janssen CDM Builder Over Time</a:t>
            </a:r>
            <a:endParaRPr/>
          </a:p>
        </p:txBody>
      </p:sp>
      <p:sp>
        <p:nvSpPr>
          <p:cNvPr id="1063" name="Google Shape;1063;p88"/>
          <p:cNvSpPr txBox="1"/>
          <p:nvPr>
            <p:ph idx="1" type="body"/>
          </p:nvPr>
        </p:nvSpPr>
        <p:spPr>
          <a:xfrm>
            <a:off x="1981200" y="5287963"/>
            <a:ext cx="8229600" cy="838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20425A"/>
              </a:buClr>
              <a:buSzPts val="3200"/>
              <a:buNone/>
            </a:pPr>
            <a:r>
              <a:rPr lang="en-US" u="sng">
                <a:solidFill>
                  <a:schemeClr val="hlink"/>
                </a:solidFill>
                <a:hlinkClick r:id="rId3"/>
              </a:rPr>
              <a:t>https://github.com/OHDSI/ETL-CDMBuilder</a:t>
            </a:r>
            <a:endParaRPr/>
          </a:p>
          <a:p>
            <a:pPr indent="-139700" lvl="0" marL="342900" rtl="0" algn="l">
              <a:spcBef>
                <a:spcPts val="640"/>
              </a:spcBef>
              <a:spcAft>
                <a:spcPts val="0"/>
              </a:spcAft>
              <a:buClr>
                <a:srgbClr val="20425A"/>
              </a:buClr>
              <a:buSzPts val="3200"/>
              <a:buNone/>
            </a:pPr>
            <a:r>
              <a:t/>
            </a:r>
            <a:endParaRPr/>
          </a:p>
        </p:txBody>
      </p:sp>
      <p:sp>
        <p:nvSpPr>
          <p:cNvPr id="1064" name="Google Shape;1064;p8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065" name="Google Shape;1065;p88"/>
          <p:cNvGrpSpPr/>
          <p:nvPr/>
        </p:nvGrpSpPr>
        <p:grpSpPr>
          <a:xfrm>
            <a:off x="2143226" y="1224424"/>
            <a:ext cx="6095999" cy="4063077"/>
            <a:chOff x="0" y="461"/>
            <a:chExt cx="6095999" cy="4063077"/>
          </a:xfrm>
        </p:grpSpPr>
        <p:sp>
          <p:nvSpPr>
            <p:cNvPr id="1066" name="Google Shape;1066;p88"/>
            <p:cNvSpPr/>
            <p:nvPr/>
          </p:nvSpPr>
          <p:spPr>
            <a:xfrm rot="5400000">
              <a:off x="-326231" y="326692"/>
              <a:ext cx="2174874" cy="1522412"/>
            </a:xfrm>
            <a:prstGeom prst="chevron">
              <a:avLst>
                <a:gd fmla="val 50000" name="adj"/>
              </a:avLst>
            </a:prstGeom>
            <a:solidFill>
              <a:srgbClr val="EB6521"/>
            </a:solidFill>
            <a:ln cap="flat" cmpd="sng" w="25400">
              <a:solidFill>
                <a:srgbClr val="EB65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88"/>
            <p:cNvSpPr txBox="1"/>
            <p:nvPr/>
          </p:nvSpPr>
          <p:spPr>
            <a:xfrm>
              <a:off x="0" y="761667"/>
              <a:ext cx="1522412" cy="652462"/>
            </a:xfrm>
            <a:prstGeom prst="rect">
              <a:avLst/>
            </a:prstGeom>
            <a:noFill/>
            <a:ln>
              <a:noFill/>
            </a:ln>
          </p:spPr>
          <p:txBody>
            <a:bodyPr anchorCtr="0" anchor="ctr" bIns="13325" lIns="13325" spcFirstLastPara="1" rIns="13325" wrap="square" tIns="13325">
              <a:noAutofit/>
            </a:bodyPr>
            <a:lstStyle/>
            <a:p>
              <a:pPr indent="0" lvl="0" marL="0" marR="0" rtl="0" algn="ctr">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Simple</a:t>
              </a:r>
              <a:endParaRPr/>
            </a:p>
          </p:txBody>
        </p:sp>
        <p:sp>
          <p:nvSpPr>
            <p:cNvPr id="1068" name="Google Shape;1068;p88"/>
            <p:cNvSpPr/>
            <p:nvPr/>
          </p:nvSpPr>
          <p:spPr>
            <a:xfrm rot="5400000">
              <a:off x="3102371" y="-1579498"/>
              <a:ext cx="1413668" cy="4573587"/>
            </a:xfrm>
            <a:prstGeom prst="round2SameRect">
              <a:avLst>
                <a:gd fmla="val 16667" name="adj1"/>
                <a:gd fmla="val 0" name="adj2"/>
              </a:avLst>
            </a:prstGeom>
            <a:solidFill>
              <a:schemeClr val="lt1">
                <a:alpha val="89803"/>
              </a:schemeClr>
            </a:solidFill>
            <a:ln cap="flat" cmpd="sng" w="25400">
              <a:solidFill>
                <a:srgbClr val="EB65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88"/>
            <p:cNvSpPr txBox="1"/>
            <p:nvPr/>
          </p:nvSpPr>
          <p:spPr>
            <a:xfrm>
              <a:off x="1522412" y="69471"/>
              <a:ext cx="4504577" cy="1275648"/>
            </a:xfrm>
            <a:prstGeom prst="rect">
              <a:avLst/>
            </a:prstGeom>
            <a:noFill/>
            <a:ln>
              <a:noFill/>
            </a:ln>
          </p:spPr>
          <p:txBody>
            <a:bodyPr anchorCtr="0" anchor="ctr" bIns="14600" lIns="163575" spcFirstLastPara="1" rIns="14600" wrap="square" tIns="14600">
              <a:noAutofit/>
            </a:bodyPr>
            <a:lstStyle/>
            <a:p>
              <a:pPr indent="-228600" lvl="1" marL="228600" marR="0" rtl="0" algn="l">
                <a:lnSpc>
                  <a:spcPct val="90000"/>
                </a:lnSpc>
                <a:spcBef>
                  <a:spcPts val="0"/>
                </a:spcBef>
                <a:spcAft>
                  <a:spcPts val="0"/>
                </a:spcAft>
                <a:buClr>
                  <a:schemeClr val="dk1"/>
                </a:buClr>
                <a:buSzPts val="2300"/>
                <a:buFont typeface="Calibri"/>
                <a:buChar char="•"/>
              </a:pPr>
              <a:r>
                <a:rPr b="0" i="0" lang="en-US" sz="2300" u="none" cap="none" strike="noStrike">
                  <a:solidFill>
                    <a:schemeClr val="dk1"/>
                  </a:solidFill>
                  <a:latin typeface="Calibri"/>
                  <a:ea typeface="Calibri"/>
                  <a:cs typeface="Calibri"/>
                  <a:sym typeface="Calibri"/>
                </a:rPr>
                <a:t>Simple SQL Queries</a:t>
              </a:r>
              <a:endParaRPr/>
            </a:p>
            <a:p>
              <a:pPr indent="-228600" lvl="1" marL="228600" marR="0" rtl="0" algn="l">
                <a:lnSpc>
                  <a:spcPct val="90000"/>
                </a:lnSpc>
                <a:spcBef>
                  <a:spcPts val="345"/>
                </a:spcBef>
                <a:spcAft>
                  <a:spcPts val="0"/>
                </a:spcAft>
                <a:buClr>
                  <a:schemeClr val="dk1"/>
                </a:buClr>
                <a:buSzPts val="2300"/>
                <a:buFont typeface="Calibri"/>
                <a:buChar char="•"/>
              </a:pPr>
              <a:r>
                <a:rPr b="0" i="0" lang="en-US" sz="2300" u="none" cap="none" strike="noStrike">
                  <a:solidFill>
                    <a:schemeClr val="dk1"/>
                  </a:solidFill>
                  <a:latin typeface="Calibri"/>
                  <a:ea typeface="Calibri"/>
                  <a:cs typeface="Calibri"/>
                  <a:sym typeface="Calibri"/>
                </a:rPr>
                <a:t>Simple SQL Queries + Cursors</a:t>
              </a:r>
              <a:endParaRPr/>
            </a:p>
            <a:p>
              <a:pPr indent="-228600" lvl="1" marL="228600" marR="0" rtl="0" algn="l">
                <a:lnSpc>
                  <a:spcPct val="90000"/>
                </a:lnSpc>
                <a:spcBef>
                  <a:spcPts val="345"/>
                </a:spcBef>
                <a:spcAft>
                  <a:spcPts val="0"/>
                </a:spcAft>
                <a:buClr>
                  <a:schemeClr val="dk1"/>
                </a:buClr>
                <a:buSzPts val="2300"/>
                <a:buFont typeface="Calibri"/>
                <a:buChar char="•"/>
              </a:pPr>
              <a:r>
                <a:rPr b="0" i="0" lang="en-US" sz="2300" u="none" cap="none" strike="noStrike">
                  <a:solidFill>
                    <a:schemeClr val="dk1"/>
                  </a:solidFill>
                  <a:latin typeface="Calibri"/>
                  <a:ea typeface="Calibri"/>
                  <a:cs typeface="Calibri"/>
                  <a:sym typeface="Calibri"/>
                </a:rPr>
                <a:t>SAS Builder</a:t>
              </a:r>
              <a:endParaRPr/>
            </a:p>
          </p:txBody>
        </p:sp>
        <p:sp>
          <p:nvSpPr>
            <p:cNvPr id="1070" name="Google Shape;1070;p88"/>
            <p:cNvSpPr/>
            <p:nvPr/>
          </p:nvSpPr>
          <p:spPr>
            <a:xfrm rot="5400000">
              <a:off x="-326231" y="2214895"/>
              <a:ext cx="2174874" cy="1522412"/>
            </a:xfrm>
            <a:prstGeom prst="chevron">
              <a:avLst>
                <a:gd fmla="val 50000" name="adj"/>
              </a:avLst>
            </a:prstGeom>
            <a:solidFill>
              <a:srgbClr val="EB6521"/>
            </a:solidFill>
            <a:ln cap="flat" cmpd="sng" w="25400">
              <a:solidFill>
                <a:srgbClr val="EB65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88"/>
            <p:cNvSpPr txBox="1"/>
            <p:nvPr/>
          </p:nvSpPr>
          <p:spPr>
            <a:xfrm>
              <a:off x="0" y="2649870"/>
              <a:ext cx="1522412" cy="652462"/>
            </a:xfrm>
            <a:prstGeom prst="rect">
              <a:avLst/>
            </a:prstGeom>
            <a:noFill/>
            <a:ln>
              <a:noFill/>
            </a:ln>
          </p:spPr>
          <p:txBody>
            <a:bodyPr anchorCtr="0" anchor="ctr" bIns="13325" lIns="13325" spcFirstLastPara="1" rIns="13325" wrap="square" tIns="13325">
              <a:noAutofit/>
            </a:bodyPr>
            <a:lstStyle/>
            <a:p>
              <a:pPr indent="0" lvl="0" marL="0" marR="0" rtl="0" algn="ctr">
                <a:lnSpc>
                  <a:spcPct val="90000"/>
                </a:lnSpc>
                <a:spcBef>
                  <a:spcPts val="0"/>
                </a:spcBef>
                <a:spcAft>
                  <a:spcPts val="0"/>
                </a:spcAft>
                <a:buClr>
                  <a:schemeClr val="lt1"/>
                </a:buClr>
                <a:buSzPts val="2100"/>
                <a:buFont typeface="Calibri"/>
                <a:buNone/>
              </a:pPr>
              <a:r>
                <a:rPr lang="en-US" sz="2100">
                  <a:solidFill>
                    <a:schemeClr val="lt1"/>
                  </a:solidFill>
                  <a:latin typeface="Calibri"/>
                  <a:ea typeface="Calibri"/>
                  <a:cs typeface="Calibri"/>
                  <a:sym typeface="Calibri"/>
                </a:rPr>
                <a:t>Sophisticated</a:t>
              </a:r>
              <a:endParaRPr/>
            </a:p>
          </p:txBody>
        </p:sp>
        <p:sp>
          <p:nvSpPr>
            <p:cNvPr id="1072" name="Google Shape;1072;p88"/>
            <p:cNvSpPr/>
            <p:nvPr/>
          </p:nvSpPr>
          <p:spPr>
            <a:xfrm rot="5400000">
              <a:off x="3102371" y="308704"/>
              <a:ext cx="1413668" cy="4573587"/>
            </a:xfrm>
            <a:prstGeom prst="round2SameRect">
              <a:avLst>
                <a:gd fmla="val 16667" name="adj1"/>
                <a:gd fmla="val 0" name="adj2"/>
              </a:avLst>
            </a:prstGeom>
            <a:solidFill>
              <a:schemeClr val="lt1">
                <a:alpha val="89803"/>
              </a:schemeClr>
            </a:solidFill>
            <a:ln cap="flat" cmpd="sng" w="25400">
              <a:solidFill>
                <a:srgbClr val="EB65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88"/>
            <p:cNvSpPr txBox="1"/>
            <p:nvPr/>
          </p:nvSpPr>
          <p:spPr>
            <a:xfrm>
              <a:off x="1522412" y="1957673"/>
              <a:ext cx="4504577" cy="1275648"/>
            </a:xfrm>
            <a:prstGeom prst="rect">
              <a:avLst/>
            </a:prstGeom>
            <a:noFill/>
            <a:ln>
              <a:noFill/>
            </a:ln>
          </p:spPr>
          <p:txBody>
            <a:bodyPr anchorCtr="0" anchor="ctr" bIns="14600" lIns="163575" spcFirstLastPara="1" rIns="14600" wrap="square" tIns="14600">
              <a:noAutofit/>
            </a:bodyPr>
            <a:lstStyle/>
            <a:p>
              <a:pPr indent="-228600" lvl="1" marL="228600" marR="0" rtl="0" algn="l">
                <a:lnSpc>
                  <a:spcPct val="90000"/>
                </a:lnSpc>
                <a:spcBef>
                  <a:spcPts val="0"/>
                </a:spcBef>
                <a:spcAft>
                  <a:spcPts val="0"/>
                </a:spcAft>
                <a:buClr>
                  <a:schemeClr val="dk1"/>
                </a:buClr>
                <a:buSzPts val="2300"/>
                <a:buFont typeface="Calibri"/>
                <a:buChar char="•"/>
              </a:pPr>
              <a:r>
                <a:rPr b="0" i="0" lang="en-US" sz="2300" u="none" cap="none" strike="noStrike">
                  <a:solidFill>
                    <a:schemeClr val="dk1"/>
                  </a:solidFill>
                  <a:latin typeface="Calibri"/>
                  <a:ea typeface="Calibri"/>
                  <a:cs typeface="Calibri"/>
                  <a:sym typeface="Calibri"/>
                </a:rPr>
                <a:t>C# Single Machine</a:t>
              </a:r>
              <a:endParaRPr/>
            </a:p>
            <a:p>
              <a:pPr indent="-228600" lvl="1" marL="228600" marR="0" rtl="0" algn="l">
                <a:lnSpc>
                  <a:spcPct val="90000"/>
                </a:lnSpc>
                <a:spcBef>
                  <a:spcPts val="345"/>
                </a:spcBef>
                <a:spcAft>
                  <a:spcPts val="0"/>
                </a:spcAft>
                <a:buClr>
                  <a:schemeClr val="dk1"/>
                </a:buClr>
                <a:buSzPts val="2300"/>
                <a:buFont typeface="Calibri"/>
                <a:buChar char="•"/>
              </a:pPr>
              <a:r>
                <a:rPr b="0" i="0" lang="en-US" sz="2300" u="none" cap="none" strike="noStrike">
                  <a:solidFill>
                    <a:schemeClr val="dk1"/>
                  </a:solidFill>
                  <a:latin typeface="Calibri"/>
                  <a:ea typeface="Calibri"/>
                  <a:cs typeface="Calibri"/>
                  <a:sym typeface="Calibri"/>
                </a:rPr>
                <a:t>C# Multiple Machine</a:t>
              </a:r>
              <a:endParaRPr/>
            </a:p>
            <a:p>
              <a:pPr indent="-228600" lvl="1" marL="228600" marR="0" rtl="0" algn="l">
                <a:lnSpc>
                  <a:spcPct val="90000"/>
                </a:lnSpc>
                <a:spcBef>
                  <a:spcPts val="345"/>
                </a:spcBef>
                <a:spcAft>
                  <a:spcPts val="0"/>
                </a:spcAft>
                <a:buClr>
                  <a:schemeClr val="dk1"/>
                </a:buClr>
                <a:buSzPts val="2300"/>
                <a:buFont typeface="Calibri"/>
                <a:buChar char="•"/>
              </a:pPr>
              <a:r>
                <a:rPr b="0" i="0" lang="en-US" sz="2300" u="none" cap="none" strike="noStrike">
                  <a:solidFill>
                    <a:schemeClr val="dk1"/>
                  </a:solidFill>
                  <a:latin typeface="Calibri"/>
                  <a:ea typeface="Calibri"/>
                  <a:cs typeface="Calibri"/>
                  <a:sym typeface="Calibri"/>
                </a:rPr>
                <a:t>C# in Cloud Enabled Environment</a:t>
              </a:r>
              <a:endParaRPr/>
            </a:p>
          </p:txBody>
        </p:sp>
      </p:grpSp>
      <p:pic>
        <p:nvPicPr>
          <p:cNvPr descr="Image result for pusheen transparent background" id="1074" name="Google Shape;1074;p88"/>
          <p:cNvPicPr preferRelativeResize="0"/>
          <p:nvPr/>
        </p:nvPicPr>
        <p:blipFill rotWithShape="1">
          <a:blip r:embed="rId4">
            <a:alphaModFix/>
          </a:blip>
          <a:srcRect b="0" l="0" r="0" t="0"/>
          <a:stretch/>
        </p:blipFill>
        <p:spPr>
          <a:xfrm>
            <a:off x="8401252" y="1471061"/>
            <a:ext cx="838200" cy="838200"/>
          </a:xfrm>
          <a:prstGeom prst="rect">
            <a:avLst/>
          </a:prstGeom>
          <a:noFill/>
          <a:ln>
            <a:noFill/>
          </a:ln>
        </p:spPr>
      </p:pic>
      <p:pic>
        <p:nvPicPr>
          <p:cNvPr descr="Image result for pusheen transparent background" id="1075" name="Google Shape;1075;p88"/>
          <p:cNvPicPr preferRelativeResize="0"/>
          <p:nvPr/>
        </p:nvPicPr>
        <p:blipFill rotWithShape="1">
          <a:blip r:embed="rId4">
            <a:alphaModFix/>
          </a:blip>
          <a:srcRect b="0" l="0" r="0" t="0"/>
          <a:stretch/>
        </p:blipFill>
        <p:spPr>
          <a:xfrm>
            <a:off x="8401252" y="3317098"/>
            <a:ext cx="838200" cy="838200"/>
          </a:xfrm>
          <a:prstGeom prst="rect">
            <a:avLst/>
          </a:prstGeom>
          <a:noFill/>
          <a:ln>
            <a:noFill/>
          </a:ln>
        </p:spPr>
      </p:pic>
      <p:pic>
        <p:nvPicPr>
          <p:cNvPr descr="Image result for pusheen transparent background" id="1076" name="Google Shape;1076;p88"/>
          <p:cNvPicPr preferRelativeResize="0"/>
          <p:nvPr/>
        </p:nvPicPr>
        <p:blipFill rotWithShape="1">
          <a:blip r:embed="rId5">
            <a:alphaModFix/>
          </a:blip>
          <a:srcRect b="0" l="0" r="0" t="0"/>
          <a:stretch/>
        </p:blipFill>
        <p:spPr>
          <a:xfrm>
            <a:off x="9401478" y="3243522"/>
            <a:ext cx="1110180" cy="1110180"/>
          </a:xfrm>
          <a:prstGeom prst="rect">
            <a:avLst/>
          </a:prstGeom>
          <a:noFill/>
          <a:ln>
            <a:noFill/>
          </a:ln>
        </p:spPr>
      </p:pic>
      <p:sp>
        <p:nvSpPr>
          <p:cNvPr id="1077" name="Google Shape;1077;p88"/>
          <p:cNvSpPr/>
          <p:nvPr/>
        </p:nvSpPr>
        <p:spPr>
          <a:xfrm>
            <a:off x="7930598" y="2286467"/>
            <a:ext cx="177950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Data Experts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&amp; CDM Experts</a:t>
            </a:r>
            <a:endParaRPr/>
          </a:p>
        </p:txBody>
      </p:sp>
      <p:sp>
        <p:nvSpPr>
          <p:cNvPr id="1078" name="Google Shape;1078;p88"/>
          <p:cNvSpPr/>
          <p:nvPr/>
        </p:nvSpPr>
        <p:spPr>
          <a:xfrm>
            <a:off x="7930598" y="4135204"/>
            <a:ext cx="177950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Data Experts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&amp; CDM Experts</a:t>
            </a:r>
            <a:endParaRPr/>
          </a:p>
        </p:txBody>
      </p:sp>
      <p:sp>
        <p:nvSpPr>
          <p:cNvPr id="1079" name="Google Shape;1079;p88"/>
          <p:cNvSpPr/>
          <p:nvPr/>
        </p:nvSpPr>
        <p:spPr>
          <a:xfrm>
            <a:off x="9159020" y="4155298"/>
            <a:ext cx="177950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Technical </a:t>
            </a:r>
            <a:br>
              <a:rPr lang="en-US" sz="1400">
                <a:solidFill>
                  <a:schemeClr val="dk1"/>
                </a:solidFill>
                <a:latin typeface="Calibri"/>
                <a:ea typeface="Calibri"/>
                <a:cs typeface="Calibri"/>
                <a:sym typeface="Calibri"/>
              </a:rPr>
            </a:br>
            <a:r>
              <a:rPr lang="en-US" sz="1400">
                <a:solidFill>
                  <a:schemeClr val="dk1"/>
                </a:solidFill>
                <a:latin typeface="Calibri"/>
                <a:ea typeface="Calibri"/>
                <a:cs typeface="Calibri"/>
                <a:sym typeface="Calibri"/>
              </a:rPr>
              <a:t>Experts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89"/>
          <p:cNvSpPr txBox="1"/>
          <p:nvPr>
            <p:ph type="ctrTitle"/>
          </p:nvPr>
        </p:nvSpPr>
        <p:spPr>
          <a:xfrm>
            <a:off x="3149600" y="3023353"/>
            <a:ext cx="8321200" cy="145050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20425A"/>
              </a:buClr>
              <a:buSzPts val="4000"/>
              <a:buFont typeface="Calibri"/>
              <a:buNone/>
            </a:pPr>
            <a:r>
              <a:rPr b="1" lang="en-US"/>
              <a:t>Evaluating a CDM</a:t>
            </a:r>
            <a:br>
              <a:rPr b="1" lang="en-US"/>
            </a:br>
            <a:r>
              <a:rPr lang="en-US" sz="2800"/>
              <a:t>ETL &amp; Data Quality</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90"/>
          <p:cNvSpPr/>
          <p:nvPr/>
        </p:nvSpPr>
        <p:spPr>
          <a:xfrm>
            <a:off x="4280024" y="2468452"/>
            <a:ext cx="3632100" cy="3632100"/>
          </a:xfrm>
          <a:custGeom>
            <a:rect b="b" l="l" r="r" t="t"/>
            <a:pathLst>
              <a:path extrusionOk="0" h="120000" w="120000">
                <a:moveTo>
                  <a:pt x="78121" y="6571"/>
                </a:moveTo>
                <a:cubicBezTo>
                  <a:pt x="102554" y="14858"/>
                  <a:pt x="118253" y="38663"/>
                  <a:pt x="116247" y="64385"/>
                </a:cubicBezTo>
                <a:cubicBezTo>
                  <a:pt x="114242" y="90107"/>
                  <a:pt x="95043" y="111192"/>
                  <a:pt x="69621" y="115592"/>
                </a:cubicBezTo>
                <a:cubicBezTo>
                  <a:pt x="44199" y="119991"/>
                  <a:pt x="19031" y="106585"/>
                  <a:pt x="8498" y="83034"/>
                </a:cubicBezTo>
                <a:cubicBezTo>
                  <a:pt x="-2035" y="59482"/>
                  <a:pt x="4750" y="31785"/>
                  <a:pt x="24977" y="15769"/>
                </a:cubicBezTo>
                <a:lnTo>
                  <a:pt x="23024" y="12784"/>
                </a:lnTo>
                <a:lnTo>
                  <a:pt x="30939" y="15569"/>
                </a:lnTo>
                <a:lnTo>
                  <a:pt x="30587" y="24347"/>
                </a:lnTo>
                <a:lnTo>
                  <a:pt x="28635" y="21363"/>
                </a:lnTo>
                <a:cubicBezTo>
                  <a:pt x="11010" y="35670"/>
                  <a:pt x="5302" y="60092"/>
                  <a:pt x="14758" y="80730"/>
                </a:cubicBezTo>
                <a:cubicBezTo>
                  <a:pt x="24215" y="101368"/>
                  <a:pt x="46439" y="112991"/>
                  <a:pt x="68784" y="108984"/>
                </a:cubicBezTo>
                <a:cubicBezTo>
                  <a:pt x="91129" y="104977"/>
                  <a:pt x="107930" y="86356"/>
                  <a:pt x="109626" y="63718"/>
                </a:cubicBezTo>
                <a:cubicBezTo>
                  <a:pt x="111322" y="41080"/>
                  <a:pt x="97483" y="20163"/>
                  <a:pt x="75984" y="12872"/>
                </a:cubicBezTo>
                <a:close/>
              </a:path>
            </a:pathLst>
          </a:custGeom>
          <a:solidFill>
            <a:srgbClr val="F7D2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90"/>
          <p:cNvSpPr/>
          <p:nvPr/>
        </p:nvSpPr>
        <p:spPr>
          <a:xfrm>
            <a:off x="3810395" y="3769287"/>
            <a:ext cx="1625100" cy="812700"/>
          </a:xfrm>
          <a:prstGeom prst="roundRect">
            <a:avLst>
              <a:gd fmla="val 16667" name="adj"/>
            </a:avLst>
          </a:prstGeom>
          <a:solidFill>
            <a:srgbClr val="EB652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90"/>
          <p:cNvSpPr txBox="1"/>
          <p:nvPr>
            <p:ph type="title"/>
          </p:nvPr>
        </p:nvSpPr>
        <p:spPr>
          <a:xfrm>
            <a:off x="2667001" y="152400"/>
            <a:ext cx="7222787"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Evaluation Tools &amp; Processes</a:t>
            </a:r>
            <a:endParaRPr/>
          </a:p>
        </p:txBody>
      </p:sp>
      <p:pic>
        <p:nvPicPr>
          <p:cNvPr id="1094" name="Google Shape;1094;p90"/>
          <p:cNvPicPr preferRelativeResize="0"/>
          <p:nvPr/>
        </p:nvPicPr>
        <p:blipFill rotWithShape="1">
          <a:blip r:embed="rId3">
            <a:alphaModFix/>
          </a:blip>
          <a:srcRect b="0" l="0" r="0" t="0"/>
          <a:stretch/>
        </p:blipFill>
        <p:spPr>
          <a:xfrm>
            <a:off x="9680362" y="-17576"/>
            <a:ext cx="987638" cy="987638"/>
          </a:xfrm>
          <a:prstGeom prst="rect">
            <a:avLst/>
          </a:prstGeom>
          <a:noFill/>
          <a:ln>
            <a:noFill/>
          </a:ln>
        </p:spPr>
      </p:pic>
      <p:sp>
        <p:nvSpPr>
          <p:cNvPr id="1095" name="Google Shape;1095;p9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96" name="Google Shape;1096;p90"/>
          <p:cNvSpPr txBox="1"/>
          <p:nvPr>
            <p:ph idx="1" type="body"/>
          </p:nvPr>
        </p:nvSpPr>
        <p:spPr>
          <a:xfrm>
            <a:off x="708734" y="1219201"/>
            <a:ext cx="11026200" cy="1652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0425A"/>
              </a:buClr>
              <a:buSzPts val="3200"/>
              <a:buNone/>
            </a:pPr>
            <a:r>
              <a:rPr lang="en-US"/>
              <a:t>Goal: Make sure an OMOP ETL functions as expected and produces a specification-compliant OMOP CDM.</a:t>
            </a:r>
            <a:endParaRPr/>
          </a:p>
          <a:p>
            <a:pPr indent="0" lvl="0" marL="0" rtl="0" algn="l">
              <a:spcBef>
                <a:spcPts val="640"/>
              </a:spcBef>
              <a:spcAft>
                <a:spcPts val="0"/>
              </a:spcAft>
              <a:buClr>
                <a:srgbClr val="20425A"/>
              </a:buClr>
              <a:buSzPts val="3200"/>
              <a:buNone/>
            </a:pPr>
            <a:r>
              <a:t/>
            </a:r>
            <a:endParaRPr/>
          </a:p>
        </p:txBody>
      </p:sp>
      <p:sp>
        <p:nvSpPr>
          <p:cNvPr id="1097" name="Google Shape;1097;p90"/>
          <p:cNvSpPr/>
          <p:nvPr/>
        </p:nvSpPr>
        <p:spPr>
          <a:xfrm>
            <a:off x="5283398" y="2487363"/>
            <a:ext cx="1625100" cy="812700"/>
          </a:xfrm>
          <a:prstGeom prst="roundRect">
            <a:avLst>
              <a:gd fmla="val 16667" name="adj"/>
            </a:avLst>
          </a:prstGeom>
          <a:solidFill>
            <a:srgbClr val="EB652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90"/>
          <p:cNvSpPr txBox="1"/>
          <p:nvPr/>
        </p:nvSpPr>
        <p:spPr>
          <a:xfrm>
            <a:off x="5323066" y="2527031"/>
            <a:ext cx="1545900" cy="7332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SDLC best practices</a:t>
            </a:r>
            <a:endParaRPr sz="1200">
              <a:solidFill>
                <a:schemeClr val="lt1"/>
              </a:solidFill>
              <a:latin typeface="Calibri"/>
              <a:ea typeface="Calibri"/>
              <a:cs typeface="Calibri"/>
              <a:sym typeface="Calibri"/>
            </a:endParaRPr>
          </a:p>
        </p:txBody>
      </p:sp>
      <p:sp>
        <p:nvSpPr>
          <p:cNvPr id="1099" name="Google Shape;1099;p90"/>
          <p:cNvSpPr/>
          <p:nvPr/>
        </p:nvSpPr>
        <p:spPr>
          <a:xfrm>
            <a:off x="6756400" y="3769287"/>
            <a:ext cx="1625100" cy="812700"/>
          </a:xfrm>
          <a:prstGeom prst="roundRect">
            <a:avLst>
              <a:gd fmla="val 16667" name="adj"/>
            </a:avLst>
          </a:prstGeom>
          <a:solidFill>
            <a:srgbClr val="EB652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90"/>
          <p:cNvSpPr txBox="1"/>
          <p:nvPr/>
        </p:nvSpPr>
        <p:spPr>
          <a:xfrm>
            <a:off x="6796068" y="3808955"/>
            <a:ext cx="1545900" cy="7332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Unit tests</a:t>
            </a:r>
            <a:endParaRPr sz="1200">
              <a:solidFill>
                <a:schemeClr val="lt1"/>
              </a:solidFill>
              <a:latin typeface="Calibri"/>
              <a:ea typeface="Calibri"/>
              <a:cs typeface="Calibri"/>
              <a:sym typeface="Calibri"/>
            </a:endParaRPr>
          </a:p>
        </p:txBody>
      </p:sp>
      <p:sp>
        <p:nvSpPr>
          <p:cNvPr id="1101" name="Google Shape;1101;p90"/>
          <p:cNvSpPr/>
          <p:nvPr/>
        </p:nvSpPr>
        <p:spPr>
          <a:xfrm>
            <a:off x="5283514" y="5287855"/>
            <a:ext cx="1625100" cy="812700"/>
          </a:xfrm>
          <a:prstGeom prst="roundRect">
            <a:avLst>
              <a:gd fmla="val 16667" name="adj"/>
            </a:avLst>
          </a:prstGeom>
          <a:solidFill>
            <a:srgbClr val="EB652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90"/>
          <p:cNvSpPr txBox="1"/>
          <p:nvPr/>
        </p:nvSpPr>
        <p:spPr>
          <a:xfrm>
            <a:off x="5323182" y="5327523"/>
            <a:ext cx="1545900" cy="7332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DataQualityDashboard</a:t>
            </a:r>
            <a:endParaRPr sz="1200">
              <a:solidFill>
                <a:schemeClr val="lt1"/>
              </a:solidFill>
              <a:latin typeface="Calibri"/>
              <a:ea typeface="Calibri"/>
              <a:cs typeface="Calibri"/>
              <a:sym typeface="Calibri"/>
            </a:endParaRPr>
          </a:p>
        </p:txBody>
      </p:sp>
      <p:sp>
        <p:nvSpPr>
          <p:cNvPr id="1103" name="Google Shape;1103;p90"/>
          <p:cNvSpPr txBox="1"/>
          <p:nvPr/>
        </p:nvSpPr>
        <p:spPr>
          <a:xfrm>
            <a:off x="3850000" y="3769273"/>
            <a:ext cx="1545900" cy="7332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ACHILLES</a:t>
            </a:r>
            <a:endParaRPr sz="1200">
              <a:solidFill>
                <a:schemeClr val="lt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07" name="Shape 1107"/>
        <p:cNvGrpSpPr/>
        <p:nvPr/>
      </p:nvGrpSpPr>
      <p:grpSpPr>
        <a:xfrm>
          <a:off x="0" y="0"/>
          <a:ext cx="0" cy="0"/>
          <a:chOff x="0" y="0"/>
          <a:chExt cx="0" cy="0"/>
        </a:xfrm>
      </p:grpSpPr>
      <p:sp>
        <p:nvSpPr>
          <p:cNvPr id="1108" name="Google Shape;1108;p91"/>
          <p:cNvSpPr txBox="1"/>
          <p:nvPr>
            <p:ph type="title"/>
          </p:nvPr>
        </p:nvSpPr>
        <p:spPr>
          <a:xfrm>
            <a:off x="2667001" y="152400"/>
            <a:ext cx="7222787"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Unit Test Cases</a:t>
            </a:r>
            <a:endParaRPr/>
          </a:p>
        </p:txBody>
      </p:sp>
      <p:pic>
        <p:nvPicPr>
          <p:cNvPr id="1109" name="Google Shape;1109;p91"/>
          <p:cNvPicPr preferRelativeResize="0"/>
          <p:nvPr/>
        </p:nvPicPr>
        <p:blipFill rotWithShape="1">
          <a:blip r:embed="rId3">
            <a:alphaModFix/>
          </a:blip>
          <a:srcRect b="0" l="0" r="0" t="0"/>
          <a:stretch/>
        </p:blipFill>
        <p:spPr>
          <a:xfrm>
            <a:off x="9680362" y="-17576"/>
            <a:ext cx="987638" cy="987638"/>
          </a:xfrm>
          <a:prstGeom prst="rect">
            <a:avLst/>
          </a:prstGeom>
          <a:noFill/>
          <a:ln>
            <a:noFill/>
          </a:ln>
        </p:spPr>
      </p:pic>
      <p:sp>
        <p:nvSpPr>
          <p:cNvPr id="1110" name="Google Shape;1110;p91"/>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11" name="Google Shape;1111;p91"/>
          <p:cNvPicPr preferRelativeResize="0"/>
          <p:nvPr/>
        </p:nvPicPr>
        <p:blipFill rotWithShape="1">
          <a:blip r:embed="rId4">
            <a:alphaModFix/>
          </a:blip>
          <a:srcRect b="0" l="0" r="0" t="0"/>
          <a:stretch/>
        </p:blipFill>
        <p:spPr>
          <a:xfrm>
            <a:off x="8957881" y="145552"/>
            <a:ext cx="666750" cy="66138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112" name="Google Shape;1112;p91"/>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Testing your CDM builder is important:</a:t>
            </a:r>
            <a:endParaRPr/>
          </a:p>
          <a:p>
            <a:pPr indent="-285750" lvl="1" marL="742950" rtl="0" algn="l">
              <a:spcBef>
                <a:spcPts val="560"/>
              </a:spcBef>
              <a:spcAft>
                <a:spcPts val="0"/>
              </a:spcAft>
              <a:buClr>
                <a:srgbClr val="20425A"/>
              </a:buClr>
              <a:buSzPts val="2800"/>
              <a:buChar char="–"/>
            </a:pPr>
            <a:r>
              <a:rPr lang="en-US"/>
              <a:t>ETL often complex, increasing the danger of making mistakes that go unnoticed</a:t>
            </a:r>
            <a:endParaRPr/>
          </a:p>
          <a:p>
            <a:pPr indent="0" lvl="1" marL="457200" rtl="0" algn="l">
              <a:spcBef>
                <a:spcPts val="220"/>
              </a:spcBef>
              <a:spcAft>
                <a:spcPts val="0"/>
              </a:spcAft>
              <a:buClr>
                <a:srgbClr val="20425A"/>
              </a:buClr>
              <a:buSzPts val="1100"/>
              <a:buNone/>
            </a:pPr>
            <a:r>
              <a:t/>
            </a:r>
            <a:endParaRPr sz="1100"/>
          </a:p>
          <a:p>
            <a:pPr indent="-285750" lvl="1" marL="742950" rtl="0" algn="l">
              <a:spcBef>
                <a:spcPts val="560"/>
              </a:spcBef>
              <a:spcAft>
                <a:spcPts val="0"/>
              </a:spcAft>
              <a:buClr>
                <a:srgbClr val="20425A"/>
              </a:buClr>
              <a:buSzPts val="2800"/>
              <a:buChar char="–"/>
            </a:pPr>
            <a:r>
              <a:rPr lang="en-US"/>
              <a:t>CDM can update</a:t>
            </a:r>
            <a:endParaRPr/>
          </a:p>
          <a:p>
            <a:pPr indent="0" lvl="1" marL="457200" rtl="0" algn="l">
              <a:spcBef>
                <a:spcPts val="220"/>
              </a:spcBef>
              <a:spcAft>
                <a:spcPts val="0"/>
              </a:spcAft>
              <a:buClr>
                <a:srgbClr val="20425A"/>
              </a:buClr>
              <a:buSzPts val="1100"/>
              <a:buNone/>
            </a:pPr>
            <a:r>
              <a:t/>
            </a:r>
            <a:endParaRPr sz="1100"/>
          </a:p>
          <a:p>
            <a:pPr indent="-285750" lvl="1" marL="742950" rtl="0" algn="l">
              <a:spcBef>
                <a:spcPts val="560"/>
              </a:spcBef>
              <a:spcAft>
                <a:spcPts val="0"/>
              </a:spcAft>
              <a:buClr>
                <a:srgbClr val="20425A"/>
              </a:buClr>
              <a:buSzPts val="2800"/>
              <a:buChar char="–"/>
            </a:pPr>
            <a:r>
              <a:rPr lang="en-US"/>
              <a:t>Source data structure/contents can change over time</a:t>
            </a:r>
            <a:endParaRPr/>
          </a:p>
          <a:p>
            <a:pPr indent="-107950" lvl="1" marL="742950" rtl="0" algn="l">
              <a:spcBef>
                <a:spcPts val="560"/>
              </a:spcBef>
              <a:spcAft>
                <a:spcPts val="0"/>
              </a:spcAft>
              <a:buClr>
                <a:srgbClr val="20425A"/>
              </a:buClr>
              <a:buSzPts val="2800"/>
              <a:buNone/>
            </a:pPr>
            <a:r>
              <a:t/>
            </a:r>
            <a:endParaRPr/>
          </a:p>
          <a:p>
            <a:pPr indent="-342900" lvl="0" marL="342900" rtl="0" algn="l">
              <a:spcBef>
                <a:spcPts val="640"/>
              </a:spcBef>
              <a:spcAft>
                <a:spcPts val="0"/>
              </a:spcAft>
              <a:buClr>
                <a:srgbClr val="20425A"/>
              </a:buClr>
              <a:buSzPts val="3200"/>
              <a:buChar char="•"/>
            </a:pPr>
            <a:r>
              <a:rPr lang="en-US"/>
              <a:t>Rabbit-In-a-Hat can construct unit test, or small pieces of code that can automatically check single aspects of the ETL design</a:t>
            </a:r>
            <a:endParaRPr/>
          </a:p>
          <a:p>
            <a:pPr indent="-139700" lvl="0" marL="342900" rtl="0" algn="l">
              <a:spcBef>
                <a:spcPts val="640"/>
              </a:spcBef>
              <a:spcAft>
                <a:spcPts val="0"/>
              </a:spcAft>
              <a:buClr>
                <a:srgbClr val="20425A"/>
              </a:buClr>
              <a:buSzPts val="3200"/>
              <a:buNone/>
            </a:pPr>
            <a:r>
              <a:t/>
            </a:r>
            <a:endParaRPr/>
          </a:p>
          <a:p>
            <a:pPr indent="-139700" lvl="0" marL="342900" rtl="0" algn="l">
              <a:spcBef>
                <a:spcPts val="640"/>
              </a:spcBef>
              <a:spcAft>
                <a:spcPts val="0"/>
              </a:spcAft>
              <a:buClr>
                <a:srgbClr val="20425A"/>
              </a:buClr>
              <a:buSzPts val="3200"/>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92"/>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DataQualityDashboard</a:t>
            </a:r>
            <a:endParaRPr/>
          </a:p>
        </p:txBody>
      </p:sp>
      <p:sp>
        <p:nvSpPr>
          <p:cNvPr id="1119" name="Google Shape;1119;p92"/>
          <p:cNvSpPr/>
          <p:nvPr/>
        </p:nvSpPr>
        <p:spPr>
          <a:xfrm>
            <a:off x="284252" y="1219201"/>
            <a:ext cx="5815700" cy="4906963"/>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R package</a:t>
            </a:r>
            <a:endParaRPr/>
          </a:p>
          <a:p>
            <a:pPr indent="-285750" lvl="1" marL="742950" marR="0" rtl="0" algn="l">
              <a:spcBef>
                <a:spcPts val="520"/>
              </a:spcBef>
              <a:spcAft>
                <a:spcPts val="0"/>
              </a:spcAft>
              <a:buClr>
                <a:schemeClr val="lt2"/>
              </a:buClr>
              <a:buSzPts val="2600"/>
              <a:buFont typeface="Courier New"/>
              <a:buChar char="o"/>
            </a:pPr>
            <a:r>
              <a:rPr b="0" i="0" lang="en-US" sz="2600" u="none" cap="none" strike="noStrike">
                <a:solidFill>
                  <a:schemeClr val="lt2"/>
                </a:solidFill>
                <a:latin typeface="Calibri"/>
                <a:ea typeface="Calibri"/>
                <a:cs typeface="Calibri"/>
                <a:sym typeface="Calibri"/>
              </a:rPr>
              <a:t>https://github.com/OHDSI/DataQualityDashboard</a:t>
            </a:r>
            <a:endParaRPr/>
          </a:p>
          <a:p>
            <a:pPr indent="-342900" lvl="0" marL="342900" marR="0" rtl="0" algn="l">
              <a:spcBef>
                <a:spcPts val="60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Part of the HADES suite</a:t>
            </a:r>
            <a:endParaRPr/>
          </a:p>
          <a:p>
            <a:pPr indent="-342900" lvl="0" marL="342900" marR="0" rtl="0" algn="l">
              <a:spcBef>
                <a:spcPts val="60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26 data quality check types --&gt; over 4,000 individual data quality checks</a:t>
            </a:r>
            <a:endParaRPr/>
          </a:p>
          <a:p>
            <a:pPr indent="-342900" lvl="0" marL="342900" marR="0" rtl="0" algn="l">
              <a:spcBef>
                <a:spcPts val="60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Results exported to json, csv, or database table, and can be explored in an R Shiny application</a:t>
            </a:r>
            <a:endParaRPr/>
          </a:p>
        </p:txBody>
      </p:sp>
      <p:pic>
        <p:nvPicPr>
          <p:cNvPr descr="A cartoon of a cat&#10;&#10;Description automatically generated" id="1120" name="Google Shape;1120;p92"/>
          <p:cNvPicPr preferRelativeResize="0"/>
          <p:nvPr/>
        </p:nvPicPr>
        <p:blipFill rotWithShape="1">
          <a:blip r:embed="rId3">
            <a:alphaModFix/>
          </a:blip>
          <a:srcRect b="0" l="0" r="0" t="0"/>
          <a:stretch/>
        </p:blipFill>
        <p:spPr>
          <a:xfrm>
            <a:off x="10519853" y="201984"/>
            <a:ext cx="768079" cy="768079"/>
          </a:xfrm>
          <a:prstGeom prst="rect">
            <a:avLst/>
          </a:prstGeom>
          <a:noFill/>
          <a:ln>
            <a:noFill/>
          </a:ln>
        </p:spPr>
      </p:pic>
      <p:pic>
        <p:nvPicPr>
          <p:cNvPr descr="A white and blue logo&#10;&#10;Description automatically generated" id="1121" name="Google Shape;1121;p92"/>
          <p:cNvPicPr preferRelativeResize="0"/>
          <p:nvPr/>
        </p:nvPicPr>
        <p:blipFill rotWithShape="1">
          <a:blip r:embed="rId4">
            <a:alphaModFix/>
          </a:blip>
          <a:srcRect b="0" l="0" r="0" t="0"/>
          <a:stretch/>
        </p:blipFill>
        <p:spPr>
          <a:xfrm>
            <a:off x="9701782" y="294468"/>
            <a:ext cx="598512" cy="58612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A screenshot of a data sheet&#10;&#10;Description automatically generated" id="1122" name="Google Shape;1122;p92"/>
          <p:cNvPicPr preferRelativeResize="0"/>
          <p:nvPr/>
        </p:nvPicPr>
        <p:blipFill rotWithShape="1">
          <a:blip r:embed="rId5">
            <a:alphaModFix/>
          </a:blip>
          <a:srcRect b="0" l="0" r="0" t="0"/>
          <a:stretch/>
        </p:blipFill>
        <p:spPr>
          <a:xfrm>
            <a:off x="6216515" y="2548128"/>
            <a:ext cx="5842722" cy="2253669"/>
          </a:xfrm>
          <a:prstGeom prst="rect">
            <a:avLst/>
          </a:prstGeom>
          <a:noFill/>
          <a:ln cap="flat" cmpd="sng" w="9525">
            <a:solidFill>
              <a:srgbClr val="4472C4"/>
            </a:solidFill>
            <a:prstDash val="solid"/>
            <a:round/>
            <a:headEnd len="sm" w="sm" type="none"/>
            <a:tailEnd len="sm" w="sm" type="none"/>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93"/>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DataQualityDashboard</a:t>
            </a:r>
            <a:endParaRPr/>
          </a:p>
        </p:txBody>
      </p:sp>
      <p:pic>
        <p:nvPicPr>
          <p:cNvPr descr="A cartoon of a cat&#10;&#10;Description automatically generated" id="1129" name="Google Shape;1129;p93"/>
          <p:cNvPicPr preferRelativeResize="0"/>
          <p:nvPr/>
        </p:nvPicPr>
        <p:blipFill rotWithShape="1">
          <a:blip r:embed="rId3">
            <a:alphaModFix/>
          </a:blip>
          <a:srcRect b="0" l="0" r="0" t="0"/>
          <a:stretch/>
        </p:blipFill>
        <p:spPr>
          <a:xfrm>
            <a:off x="10519853" y="201984"/>
            <a:ext cx="768079" cy="768079"/>
          </a:xfrm>
          <a:prstGeom prst="rect">
            <a:avLst/>
          </a:prstGeom>
          <a:noFill/>
          <a:ln>
            <a:noFill/>
          </a:ln>
        </p:spPr>
      </p:pic>
      <p:pic>
        <p:nvPicPr>
          <p:cNvPr descr="A white and blue logo&#10;&#10;Description automatically generated" id="1130" name="Google Shape;1130;p93"/>
          <p:cNvPicPr preferRelativeResize="0"/>
          <p:nvPr/>
        </p:nvPicPr>
        <p:blipFill rotWithShape="1">
          <a:blip r:embed="rId4">
            <a:alphaModFix/>
          </a:blip>
          <a:srcRect b="0" l="0" r="0" t="0"/>
          <a:stretch/>
        </p:blipFill>
        <p:spPr>
          <a:xfrm>
            <a:off x="9701782" y="294468"/>
            <a:ext cx="598512" cy="58612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A screenshot of a computer&#10;&#10;Description automatically generated" id="1131" name="Google Shape;1131;p93"/>
          <p:cNvPicPr preferRelativeResize="0"/>
          <p:nvPr/>
        </p:nvPicPr>
        <p:blipFill rotWithShape="1">
          <a:blip r:embed="rId5">
            <a:alphaModFix/>
          </a:blip>
          <a:srcRect b="0" l="0" r="0" t="0"/>
          <a:stretch/>
        </p:blipFill>
        <p:spPr>
          <a:xfrm>
            <a:off x="1060800" y="1332383"/>
            <a:ext cx="10068673" cy="4758383"/>
          </a:xfrm>
          <a:prstGeom prst="rect">
            <a:avLst/>
          </a:prstGeom>
          <a:noFill/>
          <a:ln cap="flat" cmpd="sng" w="9525">
            <a:solidFill>
              <a:srgbClr val="4472C4"/>
            </a:solidFill>
            <a:prstDash val="solid"/>
            <a:round/>
            <a:headEnd len="sm" w="sm" type="none"/>
            <a:tailEnd len="sm" w="sm" type="none"/>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94"/>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Data quality check definition</a:t>
            </a:r>
            <a:endParaRPr/>
          </a:p>
        </p:txBody>
      </p:sp>
      <p:sp>
        <p:nvSpPr>
          <p:cNvPr id="1138" name="Google Shape;1138;p94"/>
          <p:cNvSpPr txBox="1"/>
          <p:nvPr>
            <p:ph idx="1" type="body"/>
          </p:nvPr>
        </p:nvSpPr>
        <p:spPr>
          <a:xfrm>
            <a:off x="609600" y="1219205"/>
            <a:ext cx="10972800" cy="490696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83143"/>
              </a:buClr>
              <a:buSzPts val="3200"/>
              <a:buNone/>
            </a:pPr>
            <a:r>
              <a:rPr lang="en-US">
                <a:solidFill>
                  <a:srgbClr val="183143"/>
                </a:solidFill>
              </a:rPr>
              <a:t>An aggregated summary statistic that can be computed against a dataset and to which a decision threshold can be applied to determine if the statistic meets expectations. </a:t>
            </a:r>
            <a:endParaRPr>
              <a:solidFill>
                <a:srgbClr val="183143"/>
              </a:solidFill>
            </a:endParaRPr>
          </a:p>
        </p:txBody>
      </p:sp>
      <p:sp>
        <p:nvSpPr>
          <p:cNvPr id="1139" name="Google Shape;1139;p94"/>
          <p:cNvSpPr txBox="1"/>
          <p:nvPr/>
        </p:nvSpPr>
        <p:spPr>
          <a:xfrm>
            <a:off x="137248" y="6568721"/>
            <a:ext cx="12087210" cy="43858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50">
                <a:solidFill>
                  <a:srgbClr val="183143"/>
                </a:solidFill>
                <a:latin typeface="Helvetica Neue"/>
                <a:ea typeface="Helvetica Neue"/>
                <a:cs typeface="Helvetica Neue"/>
                <a:sym typeface="Helvetica Neue"/>
              </a:rPr>
              <a:t>Blacketer, Clair and Williams, Andrew. 2019. </a:t>
            </a:r>
            <a:r>
              <a:rPr i="1" lang="en-US" sz="1050">
                <a:solidFill>
                  <a:srgbClr val="183143"/>
                </a:solidFill>
                <a:latin typeface="Helvetica Neue"/>
                <a:ea typeface="Helvetica Neue"/>
                <a:cs typeface="Helvetica Neue"/>
                <a:sym typeface="Helvetica Neue"/>
              </a:rPr>
              <a:t>Data Quality</a:t>
            </a:r>
            <a:r>
              <a:rPr lang="en-US" sz="1050">
                <a:solidFill>
                  <a:srgbClr val="183143"/>
                </a:solidFill>
                <a:latin typeface="Helvetica Neue"/>
                <a:ea typeface="Helvetica Neue"/>
                <a:cs typeface="Helvetica Neue"/>
                <a:sym typeface="Helvetica Neue"/>
              </a:rPr>
              <a:t>. </a:t>
            </a:r>
            <a:r>
              <a:rPr lang="en-US" sz="1050">
                <a:solidFill>
                  <a:srgbClr val="183143"/>
                </a:solidFill>
                <a:latin typeface="Calibri"/>
                <a:ea typeface="Calibri"/>
                <a:cs typeface="Calibri"/>
                <a:sym typeface="Calibri"/>
              </a:rPr>
              <a:t>https://www.ohdsi.org/wp-content/uploads/2019/09/2-Plenary-1-OMOP-DQ-Clair-Andrew.pdf</a:t>
            </a:r>
            <a:endParaRPr sz="1050">
              <a:solidFill>
                <a:srgbClr val="183143"/>
              </a:solidFill>
              <a:latin typeface="Helvetica Neue"/>
              <a:ea typeface="Helvetica Neue"/>
              <a:cs typeface="Helvetica Neue"/>
              <a:sym typeface="Helvetica Neue"/>
            </a:endParaRPr>
          </a:p>
          <a:p>
            <a:pPr indent="0" lvl="0" marL="0" marR="0" rtl="0" algn="l">
              <a:spcBef>
                <a:spcPts val="0"/>
              </a:spcBef>
              <a:spcAft>
                <a:spcPts val="0"/>
              </a:spcAft>
              <a:buNone/>
            </a:pPr>
            <a:r>
              <a:t/>
            </a:r>
            <a:endParaRPr sz="1200">
              <a:solidFill>
                <a:srgbClr val="153153"/>
              </a:solidFill>
              <a:latin typeface="Calibri"/>
              <a:ea typeface="Calibri"/>
              <a:cs typeface="Calibri"/>
              <a:sym typeface="Calibri"/>
            </a:endParaRPr>
          </a:p>
        </p:txBody>
      </p:sp>
      <p:pic>
        <p:nvPicPr>
          <p:cNvPr descr="A cartoon of a cat&#10;&#10;Description automatically generated" id="1140" name="Google Shape;1140;p94"/>
          <p:cNvPicPr preferRelativeResize="0"/>
          <p:nvPr/>
        </p:nvPicPr>
        <p:blipFill rotWithShape="1">
          <a:blip r:embed="rId3">
            <a:alphaModFix/>
          </a:blip>
          <a:srcRect b="0" l="0" r="0" t="0"/>
          <a:stretch/>
        </p:blipFill>
        <p:spPr>
          <a:xfrm>
            <a:off x="11037717" y="187188"/>
            <a:ext cx="768079" cy="768079"/>
          </a:xfrm>
          <a:prstGeom prst="rect">
            <a:avLst/>
          </a:prstGeom>
          <a:noFill/>
          <a:ln>
            <a:noFill/>
          </a:ln>
        </p:spPr>
      </p:pic>
      <p:pic>
        <p:nvPicPr>
          <p:cNvPr descr="A white and blue logo&#10;&#10;Description automatically generated" id="1141" name="Google Shape;1141;p94"/>
          <p:cNvPicPr preferRelativeResize="0"/>
          <p:nvPr/>
        </p:nvPicPr>
        <p:blipFill rotWithShape="1">
          <a:blip r:embed="rId4">
            <a:alphaModFix/>
          </a:blip>
          <a:srcRect b="0" l="0" r="0" t="0"/>
          <a:stretch/>
        </p:blipFill>
        <p:spPr>
          <a:xfrm>
            <a:off x="10219646" y="279672"/>
            <a:ext cx="598512" cy="58612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95"/>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Data quality check types</a:t>
            </a:r>
            <a:endParaRPr/>
          </a:p>
        </p:txBody>
      </p:sp>
      <p:sp>
        <p:nvSpPr>
          <p:cNvPr id="1148" name="Google Shape;1148;p95"/>
          <p:cNvSpPr txBox="1"/>
          <p:nvPr/>
        </p:nvSpPr>
        <p:spPr>
          <a:xfrm>
            <a:off x="137248" y="6568721"/>
            <a:ext cx="12087210" cy="43858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50">
                <a:solidFill>
                  <a:srgbClr val="183143"/>
                </a:solidFill>
                <a:latin typeface="Helvetica Neue"/>
                <a:ea typeface="Helvetica Neue"/>
                <a:cs typeface="Helvetica Neue"/>
                <a:sym typeface="Helvetica Neue"/>
              </a:rPr>
              <a:t>Blacketer, Clair and Williams, Andrew. 2019. </a:t>
            </a:r>
            <a:r>
              <a:rPr i="1" lang="en-US" sz="1050">
                <a:solidFill>
                  <a:srgbClr val="183143"/>
                </a:solidFill>
                <a:latin typeface="Helvetica Neue"/>
                <a:ea typeface="Helvetica Neue"/>
                <a:cs typeface="Helvetica Neue"/>
                <a:sym typeface="Helvetica Neue"/>
              </a:rPr>
              <a:t>Data Quality</a:t>
            </a:r>
            <a:r>
              <a:rPr lang="en-US" sz="1050">
                <a:solidFill>
                  <a:srgbClr val="183143"/>
                </a:solidFill>
                <a:latin typeface="Helvetica Neue"/>
                <a:ea typeface="Helvetica Neue"/>
                <a:cs typeface="Helvetica Neue"/>
                <a:sym typeface="Helvetica Neue"/>
              </a:rPr>
              <a:t>. </a:t>
            </a:r>
            <a:r>
              <a:rPr lang="en-US" sz="1050">
                <a:solidFill>
                  <a:srgbClr val="183143"/>
                </a:solidFill>
                <a:latin typeface="Calibri"/>
                <a:ea typeface="Calibri"/>
                <a:cs typeface="Calibri"/>
                <a:sym typeface="Calibri"/>
              </a:rPr>
              <a:t>https://www.ohdsi.org/wp-content/uploads/2019/09/2-Plenary-1-OMOP-DQ-Clair-Andrew.pdf</a:t>
            </a:r>
            <a:endParaRPr sz="1050">
              <a:solidFill>
                <a:srgbClr val="183143"/>
              </a:solidFill>
              <a:latin typeface="Helvetica Neue"/>
              <a:ea typeface="Helvetica Neue"/>
              <a:cs typeface="Helvetica Neue"/>
              <a:sym typeface="Helvetica Neue"/>
            </a:endParaRPr>
          </a:p>
          <a:p>
            <a:pPr indent="0" lvl="0" marL="0" marR="0" rtl="0" algn="l">
              <a:spcBef>
                <a:spcPts val="0"/>
              </a:spcBef>
              <a:spcAft>
                <a:spcPts val="0"/>
              </a:spcAft>
              <a:buNone/>
            </a:pPr>
            <a:r>
              <a:t/>
            </a:r>
            <a:endParaRPr sz="1200">
              <a:solidFill>
                <a:srgbClr val="153153"/>
              </a:solidFill>
              <a:latin typeface="Calibri"/>
              <a:ea typeface="Calibri"/>
              <a:cs typeface="Calibri"/>
              <a:sym typeface="Calibri"/>
            </a:endParaRPr>
          </a:p>
        </p:txBody>
      </p:sp>
      <p:pic>
        <p:nvPicPr>
          <p:cNvPr id="1149" name="Google Shape;1149;p95"/>
          <p:cNvPicPr preferRelativeResize="0"/>
          <p:nvPr/>
        </p:nvPicPr>
        <p:blipFill rotWithShape="1">
          <a:blip r:embed="rId3">
            <a:alphaModFix/>
          </a:blip>
          <a:srcRect b="0" l="0" r="0" t="0"/>
          <a:stretch/>
        </p:blipFill>
        <p:spPr>
          <a:xfrm>
            <a:off x="1565560" y="994700"/>
            <a:ext cx="9689910" cy="5385278"/>
          </a:xfrm>
          <a:prstGeom prst="rect">
            <a:avLst/>
          </a:prstGeom>
          <a:noFill/>
          <a:ln>
            <a:noFill/>
          </a:ln>
        </p:spPr>
      </p:pic>
      <p:pic>
        <p:nvPicPr>
          <p:cNvPr descr="A cartoon of a cat&#10;&#10;Description automatically generated" id="1150" name="Google Shape;1150;p95"/>
          <p:cNvPicPr preferRelativeResize="0"/>
          <p:nvPr/>
        </p:nvPicPr>
        <p:blipFill rotWithShape="1">
          <a:blip r:embed="rId4">
            <a:alphaModFix/>
          </a:blip>
          <a:srcRect b="0" l="0" r="0" t="0"/>
          <a:stretch/>
        </p:blipFill>
        <p:spPr>
          <a:xfrm>
            <a:off x="10519853" y="201984"/>
            <a:ext cx="768079" cy="768079"/>
          </a:xfrm>
          <a:prstGeom prst="rect">
            <a:avLst/>
          </a:prstGeom>
          <a:noFill/>
          <a:ln>
            <a:noFill/>
          </a:ln>
        </p:spPr>
      </p:pic>
      <p:pic>
        <p:nvPicPr>
          <p:cNvPr descr="A white and blue logo&#10;&#10;Description automatically generated" id="1151" name="Google Shape;1151;p95"/>
          <p:cNvPicPr preferRelativeResize="0"/>
          <p:nvPr/>
        </p:nvPicPr>
        <p:blipFill rotWithShape="1">
          <a:blip r:embed="rId5">
            <a:alphaModFix/>
          </a:blip>
          <a:srcRect b="0" l="0" r="0" t="0"/>
          <a:stretch/>
        </p:blipFill>
        <p:spPr>
          <a:xfrm>
            <a:off x="9701782" y="294468"/>
            <a:ext cx="598512" cy="58612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96"/>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Data quality check thresholds</a:t>
            </a:r>
            <a:endParaRPr/>
          </a:p>
        </p:txBody>
      </p:sp>
      <p:sp>
        <p:nvSpPr>
          <p:cNvPr id="1158" name="Google Shape;1158;p96"/>
          <p:cNvSpPr txBox="1"/>
          <p:nvPr>
            <p:ph idx="1" type="body"/>
          </p:nvPr>
        </p:nvSpPr>
        <p:spPr>
          <a:xfrm>
            <a:off x="609600" y="1219201"/>
            <a:ext cx="10972800" cy="17022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83143"/>
              </a:buClr>
              <a:buSzPts val="3200"/>
              <a:buNone/>
            </a:pPr>
            <a:r>
              <a:rPr lang="en-US">
                <a:solidFill>
                  <a:srgbClr val="183143"/>
                </a:solidFill>
              </a:rPr>
              <a:t>An aggregated summary statistic that can be computed against a dataset and to which a </a:t>
            </a:r>
            <a:r>
              <a:rPr b="1" lang="en-US">
                <a:solidFill>
                  <a:srgbClr val="E46C0A"/>
                </a:solidFill>
              </a:rPr>
              <a:t>decision threshold</a:t>
            </a:r>
            <a:r>
              <a:rPr lang="en-US">
                <a:solidFill>
                  <a:srgbClr val="183143"/>
                </a:solidFill>
              </a:rPr>
              <a:t> can be applied to </a:t>
            </a:r>
            <a:r>
              <a:rPr b="1" lang="en-US">
                <a:solidFill>
                  <a:srgbClr val="E46C0A"/>
                </a:solidFill>
              </a:rPr>
              <a:t>determine if the statistic meets expectations</a:t>
            </a:r>
            <a:r>
              <a:rPr lang="en-US">
                <a:solidFill>
                  <a:srgbClr val="183143"/>
                </a:solidFill>
              </a:rPr>
              <a:t>. </a:t>
            </a:r>
            <a:endParaRPr>
              <a:solidFill>
                <a:srgbClr val="183143"/>
              </a:solidFill>
            </a:endParaRPr>
          </a:p>
        </p:txBody>
      </p:sp>
      <p:cxnSp>
        <p:nvCxnSpPr>
          <p:cNvPr id="1159" name="Google Shape;1159;p96"/>
          <p:cNvCxnSpPr/>
          <p:nvPr/>
        </p:nvCxnSpPr>
        <p:spPr>
          <a:xfrm>
            <a:off x="2911269" y="4018658"/>
            <a:ext cx="5935050" cy="9971"/>
          </a:xfrm>
          <a:prstGeom prst="straightConnector1">
            <a:avLst/>
          </a:prstGeom>
          <a:noFill/>
          <a:ln cap="flat" cmpd="sng" w="57150">
            <a:solidFill>
              <a:srgbClr val="E9611C"/>
            </a:solidFill>
            <a:prstDash val="solid"/>
            <a:round/>
            <a:headEnd len="sm" w="sm" type="none"/>
            <a:tailEnd len="sm" w="sm" type="none"/>
          </a:ln>
        </p:spPr>
      </p:cxnSp>
      <p:pic>
        <p:nvPicPr>
          <p:cNvPr descr="Arrow Right with solid fill" id="1160" name="Google Shape;1160;p96"/>
          <p:cNvPicPr preferRelativeResize="0"/>
          <p:nvPr/>
        </p:nvPicPr>
        <p:blipFill rotWithShape="1">
          <a:blip r:embed="rId3">
            <a:alphaModFix/>
          </a:blip>
          <a:srcRect b="0" l="0" r="0" t="0"/>
          <a:stretch/>
        </p:blipFill>
        <p:spPr>
          <a:xfrm rot="-5400000">
            <a:off x="2580117" y="3922520"/>
            <a:ext cx="643784" cy="935764"/>
          </a:xfrm>
          <a:prstGeom prst="rect">
            <a:avLst/>
          </a:prstGeom>
          <a:noFill/>
          <a:ln>
            <a:noFill/>
          </a:ln>
        </p:spPr>
      </p:pic>
      <p:pic>
        <p:nvPicPr>
          <p:cNvPr descr="Arrow Right with solid fill" id="1161" name="Google Shape;1161;p96"/>
          <p:cNvPicPr preferRelativeResize="0"/>
          <p:nvPr/>
        </p:nvPicPr>
        <p:blipFill rotWithShape="1">
          <a:blip r:embed="rId3">
            <a:alphaModFix/>
          </a:blip>
          <a:srcRect b="0" l="0" r="0" t="0"/>
          <a:stretch/>
        </p:blipFill>
        <p:spPr>
          <a:xfrm rot="-5400000">
            <a:off x="8519443" y="3922519"/>
            <a:ext cx="643784" cy="935764"/>
          </a:xfrm>
          <a:prstGeom prst="rect">
            <a:avLst/>
          </a:prstGeom>
          <a:noFill/>
          <a:ln>
            <a:noFill/>
          </a:ln>
        </p:spPr>
      </p:pic>
      <p:pic>
        <p:nvPicPr>
          <p:cNvPr descr="Arrow Right with solid fill" id="1162" name="Google Shape;1162;p96"/>
          <p:cNvPicPr preferRelativeResize="0"/>
          <p:nvPr/>
        </p:nvPicPr>
        <p:blipFill rotWithShape="1">
          <a:blip r:embed="rId4">
            <a:alphaModFix/>
          </a:blip>
          <a:srcRect b="0" l="0" r="0" t="0"/>
          <a:stretch/>
        </p:blipFill>
        <p:spPr>
          <a:xfrm rot="-5400000">
            <a:off x="3911836" y="3922519"/>
            <a:ext cx="643784" cy="935764"/>
          </a:xfrm>
          <a:prstGeom prst="rect">
            <a:avLst/>
          </a:prstGeom>
          <a:noFill/>
          <a:ln>
            <a:noFill/>
          </a:ln>
        </p:spPr>
      </p:pic>
      <p:sp>
        <p:nvSpPr>
          <p:cNvPr id="1163" name="Google Shape;1163;p96"/>
          <p:cNvSpPr txBox="1"/>
          <p:nvPr/>
        </p:nvSpPr>
        <p:spPr>
          <a:xfrm>
            <a:off x="2332554" y="4713110"/>
            <a:ext cx="11611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7365D"/>
                </a:solidFill>
                <a:latin typeface="Calibri"/>
                <a:ea typeface="Calibri"/>
                <a:cs typeface="Calibri"/>
                <a:sym typeface="Calibri"/>
              </a:rPr>
              <a:t>0% of records failed the DQ check</a:t>
            </a:r>
            <a:endParaRPr/>
          </a:p>
        </p:txBody>
      </p:sp>
      <p:sp>
        <p:nvSpPr>
          <p:cNvPr id="1164" name="Google Shape;1164;p96"/>
          <p:cNvSpPr txBox="1"/>
          <p:nvPr/>
        </p:nvSpPr>
        <p:spPr>
          <a:xfrm>
            <a:off x="8264759" y="4713109"/>
            <a:ext cx="11611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7365D"/>
                </a:solidFill>
                <a:latin typeface="Calibri"/>
                <a:ea typeface="Calibri"/>
                <a:cs typeface="Calibri"/>
                <a:sym typeface="Calibri"/>
              </a:rPr>
              <a:t>100% of records failed the DQ check</a:t>
            </a:r>
            <a:endParaRPr/>
          </a:p>
        </p:txBody>
      </p:sp>
      <p:sp>
        <p:nvSpPr>
          <p:cNvPr id="1165" name="Google Shape;1165;p96"/>
          <p:cNvSpPr txBox="1"/>
          <p:nvPr/>
        </p:nvSpPr>
        <p:spPr>
          <a:xfrm>
            <a:off x="3771095" y="4713109"/>
            <a:ext cx="116119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E46C0A"/>
                </a:solidFill>
                <a:latin typeface="Calibri"/>
                <a:ea typeface="Calibri"/>
                <a:cs typeface="Calibri"/>
                <a:sym typeface="Calibri"/>
              </a:rPr>
              <a:t>THRESHOLD</a:t>
            </a:r>
            <a:endParaRPr sz="1800">
              <a:solidFill>
                <a:srgbClr val="E46C0A"/>
              </a:solidFill>
              <a:latin typeface="Calibri"/>
              <a:ea typeface="Calibri"/>
              <a:cs typeface="Calibri"/>
              <a:sym typeface="Calibri"/>
            </a:endParaRPr>
          </a:p>
        </p:txBody>
      </p:sp>
      <p:sp>
        <p:nvSpPr>
          <p:cNvPr id="1166" name="Google Shape;1166;p96"/>
          <p:cNvSpPr/>
          <p:nvPr/>
        </p:nvSpPr>
        <p:spPr>
          <a:xfrm rot="-5400000">
            <a:off x="3343014" y="3147308"/>
            <a:ext cx="455775" cy="1331716"/>
          </a:xfrm>
          <a:prstGeom prst="rightBrace">
            <a:avLst>
              <a:gd fmla="val 8333" name="adj1"/>
              <a:gd fmla="val 50000" name="adj2"/>
            </a:avLst>
          </a:prstGeom>
          <a:noFill/>
          <a:ln cap="flat" cmpd="sng" w="9525">
            <a:solidFill>
              <a:srgbClr val="E961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7" name="Google Shape;1167;p96"/>
          <p:cNvSpPr/>
          <p:nvPr/>
        </p:nvSpPr>
        <p:spPr>
          <a:xfrm rot="-5400000">
            <a:off x="6312679" y="1537849"/>
            <a:ext cx="455773" cy="4579116"/>
          </a:xfrm>
          <a:prstGeom prst="rightBrace">
            <a:avLst>
              <a:gd fmla="val 8333" name="adj1"/>
              <a:gd fmla="val 50000" name="adj2"/>
            </a:avLst>
          </a:prstGeom>
          <a:noFill/>
          <a:ln cap="flat" cmpd="sng" w="9525">
            <a:solidFill>
              <a:srgbClr val="E961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8" name="Google Shape;1168;p96"/>
          <p:cNvSpPr txBox="1"/>
          <p:nvPr/>
        </p:nvSpPr>
        <p:spPr>
          <a:xfrm>
            <a:off x="3044704" y="3246081"/>
            <a:ext cx="114695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7365D"/>
                </a:solidFill>
                <a:latin typeface="Calibri"/>
                <a:ea typeface="Calibri"/>
                <a:cs typeface="Calibri"/>
                <a:sym typeface="Calibri"/>
              </a:rPr>
              <a:t>DON'T ACT</a:t>
            </a:r>
            <a:endParaRPr sz="1600">
              <a:solidFill>
                <a:schemeClr val="dk1"/>
              </a:solidFill>
              <a:latin typeface="Calibri"/>
              <a:ea typeface="Calibri"/>
              <a:cs typeface="Calibri"/>
              <a:sym typeface="Calibri"/>
            </a:endParaRPr>
          </a:p>
        </p:txBody>
      </p:sp>
      <p:sp>
        <p:nvSpPr>
          <p:cNvPr id="1169" name="Google Shape;1169;p96"/>
          <p:cNvSpPr txBox="1"/>
          <p:nvPr/>
        </p:nvSpPr>
        <p:spPr>
          <a:xfrm>
            <a:off x="6270741" y="3246082"/>
            <a:ext cx="54162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7365D"/>
                </a:solidFill>
                <a:latin typeface="Calibri"/>
                <a:ea typeface="Calibri"/>
                <a:cs typeface="Calibri"/>
                <a:sym typeface="Calibri"/>
              </a:rPr>
              <a:t>ACT</a:t>
            </a:r>
            <a:endParaRPr/>
          </a:p>
        </p:txBody>
      </p:sp>
      <p:pic>
        <p:nvPicPr>
          <p:cNvPr descr="A cartoon of a cat&#10;&#10;Description automatically generated" id="1170" name="Google Shape;1170;p96"/>
          <p:cNvPicPr preferRelativeResize="0"/>
          <p:nvPr/>
        </p:nvPicPr>
        <p:blipFill rotWithShape="1">
          <a:blip r:embed="rId5">
            <a:alphaModFix/>
          </a:blip>
          <a:srcRect b="0" l="0" r="0" t="0"/>
          <a:stretch/>
        </p:blipFill>
        <p:spPr>
          <a:xfrm>
            <a:off x="11052513" y="187188"/>
            <a:ext cx="768079" cy="768079"/>
          </a:xfrm>
          <a:prstGeom prst="rect">
            <a:avLst/>
          </a:prstGeom>
          <a:noFill/>
          <a:ln>
            <a:noFill/>
          </a:ln>
        </p:spPr>
      </p:pic>
      <p:pic>
        <p:nvPicPr>
          <p:cNvPr descr="A white and blue logo&#10;&#10;Description automatically generated" id="1171" name="Google Shape;1171;p96"/>
          <p:cNvPicPr preferRelativeResize="0"/>
          <p:nvPr/>
        </p:nvPicPr>
        <p:blipFill rotWithShape="1">
          <a:blip r:embed="rId6">
            <a:alphaModFix/>
          </a:blip>
          <a:srcRect b="0" l="0" r="0" t="0"/>
          <a:stretch/>
        </p:blipFill>
        <p:spPr>
          <a:xfrm>
            <a:off x="10234442" y="279672"/>
            <a:ext cx="598512" cy="58612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97"/>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Data quality check thresholds</a:t>
            </a:r>
            <a:endParaRPr/>
          </a:p>
        </p:txBody>
      </p:sp>
      <p:pic>
        <p:nvPicPr>
          <p:cNvPr descr="Skull with solid fill" id="1178" name="Google Shape;1178;p97"/>
          <p:cNvPicPr preferRelativeResize="0"/>
          <p:nvPr/>
        </p:nvPicPr>
        <p:blipFill rotWithShape="1">
          <a:blip r:embed="rId3">
            <a:alphaModFix/>
          </a:blip>
          <a:srcRect b="0" l="0" r="0" t="0"/>
          <a:stretch/>
        </p:blipFill>
        <p:spPr>
          <a:xfrm>
            <a:off x="6799604" y="992025"/>
            <a:ext cx="914400" cy="914400"/>
          </a:xfrm>
          <a:prstGeom prst="rect">
            <a:avLst/>
          </a:prstGeom>
          <a:noFill/>
          <a:ln>
            <a:noFill/>
          </a:ln>
        </p:spPr>
      </p:pic>
      <p:sp>
        <p:nvSpPr>
          <p:cNvPr id="1179" name="Google Shape;1179;p97"/>
          <p:cNvSpPr txBox="1"/>
          <p:nvPr>
            <p:ph idx="1" type="body"/>
          </p:nvPr>
        </p:nvSpPr>
        <p:spPr>
          <a:xfrm>
            <a:off x="609600" y="1219201"/>
            <a:ext cx="10972800" cy="2969917"/>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Clr>
                <a:srgbClr val="183143"/>
              </a:buClr>
              <a:buSzPts val="3200"/>
              <a:buChar char="•"/>
            </a:pPr>
            <a:r>
              <a:rPr lang="en-US">
                <a:solidFill>
                  <a:srgbClr val="183143"/>
                </a:solidFill>
              </a:rPr>
              <a:t>Fatal checks: Threshold is always 0</a:t>
            </a:r>
            <a:endParaRPr/>
          </a:p>
          <a:p>
            <a:pPr indent="-457200" lvl="0" marL="457200" rtl="0" algn="l">
              <a:spcBef>
                <a:spcPts val="640"/>
              </a:spcBef>
              <a:spcAft>
                <a:spcPts val="0"/>
              </a:spcAft>
              <a:buClr>
                <a:srgbClr val="183143"/>
              </a:buClr>
              <a:buSzPts val="3200"/>
              <a:buChar char="•"/>
            </a:pPr>
            <a:r>
              <a:rPr lang="en-US">
                <a:solidFill>
                  <a:srgbClr val="183143"/>
                </a:solidFill>
              </a:rPr>
              <a:t>CDM convention checks: Threshold should be 0 in theory, but may need to be adjusted in practice</a:t>
            </a:r>
            <a:endParaRPr/>
          </a:p>
          <a:p>
            <a:pPr indent="-457200" lvl="0" marL="457200" rtl="0" algn="l">
              <a:spcBef>
                <a:spcPts val="640"/>
              </a:spcBef>
              <a:spcAft>
                <a:spcPts val="0"/>
              </a:spcAft>
              <a:buClr>
                <a:srgbClr val="183143"/>
              </a:buClr>
              <a:buSzPts val="3200"/>
              <a:buChar char="•"/>
            </a:pPr>
            <a:r>
              <a:rPr lang="en-US">
                <a:solidFill>
                  <a:srgbClr val="183143"/>
                </a:solidFill>
              </a:rPr>
              <a:t>Characterization checks: Threshold depends on expectations of the data source*</a:t>
            </a:r>
            <a:endParaRPr/>
          </a:p>
        </p:txBody>
      </p:sp>
      <p:cxnSp>
        <p:nvCxnSpPr>
          <p:cNvPr id="1180" name="Google Shape;1180;p97"/>
          <p:cNvCxnSpPr/>
          <p:nvPr/>
        </p:nvCxnSpPr>
        <p:spPr>
          <a:xfrm>
            <a:off x="2897026" y="5108247"/>
            <a:ext cx="5935050" cy="9971"/>
          </a:xfrm>
          <a:prstGeom prst="straightConnector1">
            <a:avLst/>
          </a:prstGeom>
          <a:noFill/>
          <a:ln cap="flat" cmpd="sng" w="57150">
            <a:solidFill>
              <a:srgbClr val="E9611C"/>
            </a:solidFill>
            <a:prstDash val="solid"/>
            <a:round/>
            <a:headEnd len="sm" w="sm" type="none"/>
            <a:tailEnd len="sm" w="sm" type="none"/>
          </a:ln>
        </p:spPr>
      </p:cxnSp>
      <p:pic>
        <p:nvPicPr>
          <p:cNvPr descr="Arrow Right with solid fill" id="1181" name="Google Shape;1181;p97"/>
          <p:cNvPicPr preferRelativeResize="0"/>
          <p:nvPr/>
        </p:nvPicPr>
        <p:blipFill rotWithShape="1">
          <a:blip r:embed="rId4">
            <a:alphaModFix/>
          </a:blip>
          <a:srcRect b="0" l="0" r="0" t="0"/>
          <a:stretch/>
        </p:blipFill>
        <p:spPr>
          <a:xfrm rot="-5400000">
            <a:off x="2565874" y="5012109"/>
            <a:ext cx="643784" cy="935764"/>
          </a:xfrm>
          <a:prstGeom prst="rect">
            <a:avLst/>
          </a:prstGeom>
          <a:noFill/>
          <a:ln>
            <a:noFill/>
          </a:ln>
        </p:spPr>
      </p:pic>
      <p:pic>
        <p:nvPicPr>
          <p:cNvPr descr="Arrow Right with solid fill" id="1182" name="Google Shape;1182;p97"/>
          <p:cNvPicPr preferRelativeResize="0"/>
          <p:nvPr/>
        </p:nvPicPr>
        <p:blipFill rotWithShape="1">
          <a:blip r:embed="rId4">
            <a:alphaModFix/>
          </a:blip>
          <a:srcRect b="0" l="0" r="0" t="0"/>
          <a:stretch/>
        </p:blipFill>
        <p:spPr>
          <a:xfrm rot="-5400000">
            <a:off x="8505200" y="5012108"/>
            <a:ext cx="643784" cy="935764"/>
          </a:xfrm>
          <a:prstGeom prst="rect">
            <a:avLst/>
          </a:prstGeom>
          <a:noFill/>
          <a:ln>
            <a:noFill/>
          </a:ln>
        </p:spPr>
      </p:pic>
      <p:pic>
        <p:nvPicPr>
          <p:cNvPr descr="Arrow Right with solid fill" id="1183" name="Google Shape;1183;p97"/>
          <p:cNvPicPr preferRelativeResize="0"/>
          <p:nvPr/>
        </p:nvPicPr>
        <p:blipFill rotWithShape="1">
          <a:blip r:embed="rId5">
            <a:alphaModFix/>
          </a:blip>
          <a:srcRect b="0" l="0" r="0" t="0"/>
          <a:stretch/>
        </p:blipFill>
        <p:spPr>
          <a:xfrm rot="-5400000">
            <a:off x="3897593" y="5012108"/>
            <a:ext cx="643784" cy="935764"/>
          </a:xfrm>
          <a:prstGeom prst="rect">
            <a:avLst/>
          </a:prstGeom>
          <a:noFill/>
          <a:ln>
            <a:noFill/>
          </a:ln>
        </p:spPr>
      </p:pic>
      <p:sp>
        <p:nvSpPr>
          <p:cNvPr id="1184" name="Google Shape;1184;p97"/>
          <p:cNvSpPr txBox="1"/>
          <p:nvPr/>
        </p:nvSpPr>
        <p:spPr>
          <a:xfrm>
            <a:off x="2318311" y="5802699"/>
            <a:ext cx="11611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7365D"/>
                </a:solidFill>
                <a:latin typeface="Calibri"/>
                <a:ea typeface="Calibri"/>
                <a:cs typeface="Calibri"/>
                <a:sym typeface="Calibri"/>
              </a:rPr>
              <a:t>0% of records failed the DQ check</a:t>
            </a:r>
            <a:endParaRPr/>
          </a:p>
        </p:txBody>
      </p:sp>
      <p:sp>
        <p:nvSpPr>
          <p:cNvPr id="1185" name="Google Shape;1185;p97"/>
          <p:cNvSpPr txBox="1"/>
          <p:nvPr/>
        </p:nvSpPr>
        <p:spPr>
          <a:xfrm>
            <a:off x="8250516" y="5802698"/>
            <a:ext cx="11611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7365D"/>
                </a:solidFill>
                <a:latin typeface="Calibri"/>
                <a:ea typeface="Calibri"/>
                <a:cs typeface="Calibri"/>
                <a:sym typeface="Calibri"/>
              </a:rPr>
              <a:t>100% of records failed the DQ check</a:t>
            </a:r>
            <a:endParaRPr/>
          </a:p>
        </p:txBody>
      </p:sp>
      <p:sp>
        <p:nvSpPr>
          <p:cNvPr id="1186" name="Google Shape;1186;p97"/>
          <p:cNvSpPr txBox="1"/>
          <p:nvPr/>
        </p:nvSpPr>
        <p:spPr>
          <a:xfrm>
            <a:off x="3756852" y="5802698"/>
            <a:ext cx="116119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E46C0A"/>
                </a:solidFill>
                <a:latin typeface="Calibri"/>
                <a:ea typeface="Calibri"/>
                <a:cs typeface="Calibri"/>
                <a:sym typeface="Calibri"/>
              </a:rPr>
              <a:t>THRESHOLD</a:t>
            </a:r>
            <a:endParaRPr sz="1800">
              <a:solidFill>
                <a:srgbClr val="E46C0A"/>
              </a:solidFill>
              <a:latin typeface="Calibri"/>
              <a:ea typeface="Calibri"/>
              <a:cs typeface="Calibri"/>
              <a:sym typeface="Calibri"/>
            </a:endParaRPr>
          </a:p>
        </p:txBody>
      </p:sp>
      <p:sp>
        <p:nvSpPr>
          <p:cNvPr id="1187" name="Google Shape;1187;p97"/>
          <p:cNvSpPr/>
          <p:nvPr/>
        </p:nvSpPr>
        <p:spPr>
          <a:xfrm rot="-5400000">
            <a:off x="3328771" y="4236897"/>
            <a:ext cx="455775" cy="1331716"/>
          </a:xfrm>
          <a:prstGeom prst="rightBrace">
            <a:avLst>
              <a:gd fmla="val 8333" name="adj1"/>
              <a:gd fmla="val 50000" name="adj2"/>
            </a:avLst>
          </a:prstGeom>
          <a:noFill/>
          <a:ln cap="flat" cmpd="sng" w="9525">
            <a:solidFill>
              <a:srgbClr val="E961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8" name="Google Shape;1188;p97"/>
          <p:cNvSpPr/>
          <p:nvPr/>
        </p:nvSpPr>
        <p:spPr>
          <a:xfrm rot="-5400000">
            <a:off x="6298436" y="2627438"/>
            <a:ext cx="455773" cy="4579116"/>
          </a:xfrm>
          <a:prstGeom prst="rightBrace">
            <a:avLst>
              <a:gd fmla="val 8333" name="adj1"/>
              <a:gd fmla="val 50000" name="adj2"/>
            </a:avLst>
          </a:prstGeom>
          <a:noFill/>
          <a:ln cap="flat" cmpd="sng" w="9525">
            <a:solidFill>
              <a:srgbClr val="E961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9" name="Google Shape;1189;p97"/>
          <p:cNvSpPr txBox="1"/>
          <p:nvPr/>
        </p:nvSpPr>
        <p:spPr>
          <a:xfrm>
            <a:off x="3030461" y="4335670"/>
            <a:ext cx="114695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7365D"/>
                </a:solidFill>
                <a:latin typeface="Calibri"/>
                <a:ea typeface="Calibri"/>
                <a:cs typeface="Calibri"/>
                <a:sym typeface="Calibri"/>
              </a:rPr>
              <a:t>DON'T ACT</a:t>
            </a:r>
            <a:endParaRPr sz="1600">
              <a:solidFill>
                <a:schemeClr val="dk1"/>
              </a:solidFill>
              <a:latin typeface="Calibri"/>
              <a:ea typeface="Calibri"/>
              <a:cs typeface="Calibri"/>
              <a:sym typeface="Calibri"/>
            </a:endParaRPr>
          </a:p>
        </p:txBody>
      </p:sp>
      <p:sp>
        <p:nvSpPr>
          <p:cNvPr id="1190" name="Google Shape;1190;p97"/>
          <p:cNvSpPr txBox="1"/>
          <p:nvPr/>
        </p:nvSpPr>
        <p:spPr>
          <a:xfrm>
            <a:off x="6256498" y="4335671"/>
            <a:ext cx="54162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17365D"/>
                </a:solidFill>
                <a:latin typeface="Calibri"/>
                <a:ea typeface="Calibri"/>
                <a:cs typeface="Calibri"/>
                <a:sym typeface="Calibri"/>
              </a:rPr>
              <a:t>ACT</a:t>
            </a:r>
            <a:endParaRPr/>
          </a:p>
        </p:txBody>
      </p:sp>
      <p:sp>
        <p:nvSpPr>
          <p:cNvPr id="1191" name="Google Shape;1191;p97"/>
          <p:cNvSpPr txBox="1"/>
          <p:nvPr/>
        </p:nvSpPr>
        <p:spPr>
          <a:xfrm>
            <a:off x="137248" y="6568721"/>
            <a:ext cx="12087210" cy="43858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50">
                <a:solidFill>
                  <a:srgbClr val="183143"/>
                </a:solidFill>
                <a:latin typeface="Helvetica Neue"/>
                <a:ea typeface="Helvetica Neue"/>
                <a:cs typeface="Helvetica Neue"/>
                <a:sym typeface="Helvetica Neue"/>
              </a:rPr>
              <a:t>*and the analytic use case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rgbClr val="153153"/>
              </a:solidFill>
              <a:latin typeface="Calibri"/>
              <a:ea typeface="Calibri"/>
              <a:cs typeface="Calibri"/>
              <a:sym typeface="Calibri"/>
            </a:endParaRPr>
          </a:p>
        </p:txBody>
      </p:sp>
      <p:pic>
        <p:nvPicPr>
          <p:cNvPr descr="A cartoon of a cat&#10;&#10;Description automatically generated" id="1192" name="Google Shape;1192;p97"/>
          <p:cNvPicPr preferRelativeResize="0"/>
          <p:nvPr/>
        </p:nvPicPr>
        <p:blipFill rotWithShape="1">
          <a:blip r:embed="rId6">
            <a:alphaModFix/>
          </a:blip>
          <a:srcRect b="0" l="0" r="0" t="0"/>
          <a:stretch/>
        </p:blipFill>
        <p:spPr>
          <a:xfrm>
            <a:off x="11082105" y="201984"/>
            <a:ext cx="768079" cy="768079"/>
          </a:xfrm>
          <a:prstGeom prst="rect">
            <a:avLst/>
          </a:prstGeom>
          <a:noFill/>
          <a:ln>
            <a:noFill/>
          </a:ln>
        </p:spPr>
      </p:pic>
      <p:pic>
        <p:nvPicPr>
          <p:cNvPr descr="A white and blue logo&#10;&#10;Description automatically generated" id="1193" name="Google Shape;1193;p97"/>
          <p:cNvPicPr preferRelativeResize="0"/>
          <p:nvPr/>
        </p:nvPicPr>
        <p:blipFill rotWithShape="1">
          <a:blip r:embed="rId7">
            <a:alphaModFix/>
          </a:blip>
          <a:srcRect b="0" l="0" r="0" t="0"/>
          <a:stretch/>
        </p:blipFill>
        <p:spPr>
          <a:xfrm>
            <a:off x="10264034" y="294468"/>
            <a:ext cx="598512" cy="58612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9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ACHILLES</a:t>
            </a:r>
            <a:endParaRPr/>
          </a:p>
        </p:txBody>
      </p:sp>
      <p:sp>
        <p:nvSpPr>
          <p:cNvPr id="1200" name="Google Shape;1200;p98"/>
          <p:cNvSpPr/>
          <p:nvPr/>
        </p:nvSpPr>
        <p:spPr>
          <a:xfrm>
            <a:off x="609600" y="1219201"/>
            <a:ext cx="5815700" cy="4906963"/>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R package</a:t>
            </a:r>
            <a:endParaRPr/>
          </a:p>
          <a:p>
            <a:pPr indent="-285750" lvl="1" marL="742950" marR="0" rtl="0" algn="l">
              <a:spcBef>
                <a:spcPts val="520"/>
              </a:spcBef>
              <a:spcAft>
                <a:spcPts val="0"/>
              </a:spcAft>
              <a:buClr>
                <a:schemeClr val="lt2"/>
              </a:buClr>
              <a:buSzPts val="2600"/>
              <a:buFont typeface="Courier New"/>
              <a:buChar char="o"/>
            </a:pPr>
            <a:r>
              <a:rPr b="0" i="0" lang="en-US" sz="2600" u="none" cap="none" strike="noStrike">
                <a:solidFill>
                  <a:schemeClr val="lt2"/>
                </a:solidFill>
                <a:latin typeface="Calibri"/>
                <a:ea typeface="Calibri"/>
                <a:cs typeface="Calibri"/>
                <a:sym typeface="Calibri"/>
              </a:rPr>
              <a:t>https://github.com/OHDSI/achilles </a:t>
            </a:r>
            <a:endParaRPr/>
          </a:p>
          <a:p>
            <a:pPr indent="-342900" lvl="0" marL="342900" marR="0" rtl="0" algn="l">
              <a:spcBef>
                <a:spcPts val="60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Part of the HADES suite</a:t>
            </a:r>
            <a:endParaRPr/>
          </a:p>
          <a:p>
            <a:pPr indent="-342900" lvl="0" marL="342900" marR="0" rtl="0" algn="l">
              <a:spcBef>
                <a:spcPts val="60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Provides descriptive statistics on an OMOP CDM</a:t>
            </a:r>
            <a:endParaRPr/>
          </a:p>
          <a:p>
            <a:pPr indent="-342900" lvl="0" marL="342900" marR="0" rtl="0" algn="l">
              <a:spcBef>
                <a:spcPts val="600"/>
              </a:spcBef>
              <a:spcAft>
                <a:spcPts val="0"/>
              </a:spcAft>
              <a:buClr>
                <a:srgbClr val="20425A"/>
              </a:buClr>
              <a:buSzPts val="3000"/>
              <a:buFont typeface="Arial"/>
              <a:buChar char="•"/>
            </a:pPr>
            <a:r>
              <a:rPr lang="en-US" sz="3000">
                <a:solidFill>
                  <a:srgbClr val="20425A"/>
                </a:solidFill>
                <a:latin typeface="Calibri"/>
                <a:ea typeface="Calibri"/>
                <a:cs typeface="Calibri"/>
                <a:sym typeface="Calibri"/>
              </a:rPr>
              <a:t>Results can be visualized in ARES or ATLAS</a:t>
            </a:r>
            <a:endParaRPr/>
          </a:p>
        </p:txBody>
      </p:sp>
      <p:pic>
        <p:nvPicPr>
          <p:cNvPr id="1201" name="Google Shape;1201;p98"/>
          <p:cNvPicPr preferRelativeResize="0"/>
          <p:nvPr/>
        </p:nvPicPr>
        <p:blipFill rotWithShape="1">
          <a:blip r:embed="rId3">
            <a:alphaModFix/>
          </a:blip>
          <a:srcRect b="0" l="0" r="0" t="0"/>
          <a:stretch/>
        </p:blipFill>
        <p:spPr>
          <a:xfrm>
            <a:off x="10565057" y="72831"/>
            <a:ext cx="987638" cy="987638"/>
          </a:xfrm>
          <a:prstGeom prst="rect">
            <a:avLst/>
          </a:prstGeom>
          <a:noFill/>
          <a:ln>
            <a:noFill/>
          </a:ln>
        </p:spPr>
      </p:pic>
      <p:pic>
        <p:nvPicPr>
          <p:cNvPr descr="A logo with a black background&#10;&#10;Description automatically generated" id="1202" name="Google Shape;1202;p98"/>
          <p:cNvPicPr preferRelativeResize="0"/>
          <p:nvPr/>
        </p:nvPicPr>
        <p:blipFill rotWithShape="1">
          <a:blip r:embed="rId4">
            <a:alphaModFix/>
          </a:blip>
          <a:srcRect b="0" l="0" r="0" t="0"/>
          <a:stretch/>
        </p:blipFill>
        <p:spPr>
          <a:xfrm>
            <a:off x="8952371" y="294609"/>
            <a:ext cx="1533525" cy="554428"/>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A screenshot of a graph&#10;&#10;Description automatically generated" id="1203" name="Google Shape;1203;p98"/>
          <p:cNvPicPr preferRelativeResize="0"/>
          <p:nvPr/>
        </p:nvPicPr>
        <p:blipFill rotWithShape="1">
          <a:blip r:embed="rId5">
            <a:alphaModFix/>
          </a:blip>
          <a:srcRect b="0" l="0" r="0" t="0"/>
          <a:stretch/>
        </p:blipFill>
        <p:spPr>
          <a:xfrm>
            <a:off x="7164197" y="1217179"/>
            <a:ext cx="4388056" cy="4915545"/>
          </a:xfrm>
          <a:prstGeom prst="rect">
            <a:avLst/>
          </a:prstGeom>
          <a:noFill/>
          <a:ln cap="flat" cmpd="sng" w="9525">
            <a:solidFill>
              <a:srgbClr val="4472C4"/>
            </a:solidFill>
            <a:prstDash val="solid"/>
            <a:round/>
            <a:headEnd len="sm" w="sm" type="none"/>
            <a:tailEnd len="sm" w="sm" type="none"/>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100"/>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Maintenance</a:t>
            </a:r>
            <a:endParaRPr/>
          </a:p>
        </p:txBody>
      </p:sp>
      <p:pic>
        <p:nvPicPr>
          <p:cNvPr id="1209" name="Google Shape;1209;p100"/>
          <p:cNvPicPr preferRelativeResize="0"/>
          <p:nvPr/>
        </p:nvPicPr>
        <p:blipFill rotWithShape="1">
          <a:blip r:embed="rId3">
            <a:alphaModFix/>
          </a:blip>
          <a:srcRect b="0" l="0" r="0" t="0"/>
          <a:stretch/>
        </p:blipFill>
        <p:spPr>
          <a:xfrm>
            <a:off x="1878013" y="3870712"/>
            <a:ext cx="1543050" cy="50482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210" name="Google Shape;1210;p100"/>
          <p:cNvSpPr/>
          <p:nvPr/>
        </p:nvSpPr>
        <p:spPr>
          <a:xfrm>
            <a:off x="1583608" y="4499379"/>
            <a:ext cx="2131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New Vocab?</a:t>
            </a:r>
            <a:endParaRPr/>
          </a:p>
        </p:txBody>
      </p:sp>
      <p:pic>
        <p:nvPicPr>
          <p:cNvPr id="1211" name="Google Shape;1211;p100"/>
          <p:cNvPicPr preferRelativeResize="0"/>
          <p:nvPr/>
        </p:nvPicPr>
        <p:blipFill rotWithShape="1">
          <a:blip r:embed="rId4">
            <a:alphaModFix/>
          </a:blip>
          <a:srcRect b="0" l="0" r="0" t="0"/>
          <a:stretch/>
        </p:blipFill>
        <p:spPr>
          <a:xfrm>
            <a:off x="2210871" y="2575561"/>
            <a:ext cx="822586" cy="822586"/>
          </a:xfrm>
          <a:prstGeom prst="rect">
            <a:avLst/>
          </a:prstGeom>
          <a:noFill/>
          <a:ln>
            <a:noFill/>
          </a:ln>
        </p:spPr>
      </p:pic>
      <p:sp>
        <p:nvSpPr>
          <p:cNvPr id="1212" name="Google Shape;1212;p100"/>
          <p:cNvSpPr/>
          <p:nvPr/>
        </p:nvSpPr>
        <p:spPr>
          <a:xfrm>
            <a:off x="1601070" y="3324675"/>
            <a:ext cx="2131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Bug Found?</a:t>
            </a:r>
            <a:endParaRPr/>
          </a:p>
        </p:txBody>
      </p:sp>
      <p:sp>
        <p:nvSpPr>
          <p:cNvPr id="1213" name="Google Shape;1213;p100"/>
          <p:cNvSpPr/>
          <p:nvPr/>
        </p:nvSpPr>
        <p:spPr>
          <a:xfrm>
            <a:off x="2333245" y="1331168"/>
            <a:ext cx="523647" cy="604898"/>
          </a:xfrm>
          <a:prstGeom prst="flowChartMagneticDisk">
            <a:avLst/>
          </a:prstGeom>
          <a:solidFill>
            <a:schemeClr val="accent3"/>
          </a:solidFill>
          <a:ln cap="flat" cmpd="sng" w="25400">
            <a:solidFill>
              <a:srgbClr val="7188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4" name="Google Shape;1214;p100"/>
          <p:cNvSpPr/>
          <p:nvPr/>
        </p:nvSpPr>
        <p:spPr>
          <a:xfrm>
            <a:off x="1576623" y="1929231"/>
            <a:ext cx="213186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Changed or Updated Raw Data?</a:t>
            </a:r>
            <a:endParaRPr/>
          </a:p>
        </p:txBody>
      </p:sp>
      <p:pic>
        <p:nvPicPr>
          <p:cNvPr descr="Image result for pusheen transparent background" id="1215" name="Google Shape;1215;p100"/>
          <p:cNvPicPr preferRelativeResize="0"/>
          <p:nvPr/>
        </p:nvPicPr>
        <p:blipFill rotWithShape="1">
          <a:blip r:embed="rId5">
            <a:alphaModFix/>
          </a:blip>
          <a:srcRect b="0" l="0" r="0" t="0"/>
          <a:stretch/>
        </p:blipFill>
        <p:spPr>
          <a:xfrm>
            <a:off x="7142113" y="3600749"/>
            <a:ext cx="1522917" cy="1522917"/>
          </a:xfrm>
          <a:prstGeom prst="rect">
            <a:avLst/>
          </a:prstGeom>
          <a:noFill/>
          <a:ln>
            <a:noFill/>
          </a:ln>
        </p:spPr>
      </p:pic>
      <p:pic>
        <p:nvPicPr>
          <p:cNvPr id="1216" name="Google Shape;1216;p100"/>
          <p:cNvPicPr preferRelativeResize="0"/>
          <p:nvPr/>
        </p:nvPicPr>
        <p:blipFill rotWithShape="1">
          <a:blip r:embed="rId6">
            <a:alphaModFix/>
          </a:blip>
          <a:srcRect b="0" l="0" r="0" t="0"/>
          <a:stretch/>
        </p:blipFill>
        <p:spPr>
          <a:xfrm>
            <a:off x="4758869" y="3657645"/>
            <a:ext cx="1466020" cy="1466020"/>
          </a:xfrm>
          <a:prstGeom prst="rect">
            <a:avLst/>
          </a:prstGeom>
          <a:noFill/>
          <a:ln>
            <a:noFill/>
          </a:ln>
        </p:spPr>
      </p:pic>
      <p:sp>
        <p:nvSpPr>
          <p:cNvPr id="1217" name="Google Shape;1217;p100"/>
          <p:cNvSpPr/>
          <p:nvPr/>
        </p:nvSpPr>
        <p:spPr>
          <a:xfrm>
            <a:off x="6224890" y="2321389"/>
            <a:ext cx="675609" cy="762162"/>
          </a:xfrm>
          <a:prstGeom prst="verticalScroll">
            <a:avLst>
              <a:gd fmla="val 12500" name="adj"/>
            </a:avLst>
          </a:prstGeom>
          <a:solidFill>
            <a:srgbClr val="C2D59B"/>
          </a:solidFill>
          <a:ln cap="flat" cmpd="sng" w="25400">
            <a:solidFill>
              <a:srgbClr val="4F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a:t>
            </a:r>
            <a:endParaRPr/>
          </a:p>
        </p:txBody>
      </p:sp>
      <p:sp>
        <p:nvSpPr>
          <p:cNvPr id="1218" name="Google Shape;1218;p100"/>
          <p:cNvSpPr/>
          <p:nvPr/>
        </p:nvSpPr>
        <p:spPr>
          <a:xfrm>
            <a:off x="6562693" y="4870637"/>
            <a:ext cx="213186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 technical person implements the ETL</a:t>
            </a:r>
            <a:endParaRPr/>
          </a:p>
        </p:txBody>
      </p:sp>
      <p:sp>
        <p:nvSpPr>
          <p:cNvPr id="1219" name="Google Shape;1219;p100"/>
          <p:cNvSpPr/>
          <p:nvPr/>
        </p:nvSpPr>
        <p:spPr>
          <a:xfrm>
            <a:off x="4493476" y="4879338"/>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All are involved in quality control</a:t>
            </a:r>
            <a:endParaRPr/>
          </a:p>
        </p:txBody>
      </p:sp>
      <p:sp>
        <p:nvSpPr>
          <p:cNvPr id="1220" name="Google Shape;1220;p100"/>
          <p:cNvSpPr/>
          <p:nvPr/>
        </p:nvSpPr>
        <p:spPr>
          <a:xfrm rot="2775711">
            <a:off x="6983165" y="3192862"/>
            <a:ext cx="669579" cy="664208"/>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1" name="Google Shape;1221;p100"/>
          <p:cNvSpPr/>
          <p:nvPr/>
        </p:nvSpPr>
        <p:spPr>
          <a:xfrm rot="10800000">
            <a:off x="6151090" y="4062862"/>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2" name="Google Shape;1222;p100"/>
          <p:cNvSpPr/>
          <p:nvPr/>
        </p:nvSpPr>
        <p:spPr>
          <a:xfrm rot="-2606331">
            <a:off x="5442380" y="3006685"/>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3" name="Google Shape;1223;p100"/>
          <p:cNvSpPr/>
          <p:nvPr/>
        </p:nvSpPr>
        <p:spPr>
          <a:xfrm>
            <a:off x="5682085" y="1606066"/>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 Documentation </a:t>
            </a:r>
            <a:endParaRPr/>
          </a:p>
        </p:txBody>
      </p:sp>
      <p:sp>
        <p:nvSpPr>
          <p:cNvPr id="1224" name="Google Shape;1224;p100"/>
          <p:cNvSpPr/>
          <p:nvPr/>
        </p:nvSpPr>
        <p:spPr>
          <a:xfrm>
            <a:off x="3667501" y="1329146"/>
            <a:ext cx="840143" cy="822586"/>
          </a:xfrm>
          <a:prstGeom prst="rightArrow">
            <a:avLst>
              <a:gd fmla="val 50000" name="adj1"/>
              <a:gd fmla="val 50000" name="adj2"/>
            </a:avLst>
          </a:prstGeom>
          <a:solidFill>
            <a:srgbClr val="D8D8D8"/>
          </a:solidFill>
          <a:ln cap="flat" cmpd="sng" w="25400">
            <a:solidFill>
              <a:srgbClr val="7F7F7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5" name="Google Shape;1225;p100"/>
          <p:cNvSpPr/>
          <p:nvPr/>
        </p:nvSpPr>
        <p:spPr>
          <a:xfrm>
            <a:off x="3667501" y="2627441"/>
            <a:ext cx="840143" cy="822586"/>
          </a:xfrm>
          <a:prstGeom prst="rightArrow">
            <a:avLst>
              <a:gd fmla="val 50000" name="adj1"/>
              <a:gd fmla="val 50000" name="adj2"/>
            </a:avLst>
          </a:prstGeom>
          <a:solidFill>
            <a:srgbClr val="D8D8D8"/>
          </a:solidFill>
          <a:ln cap="flat" cmpd="sng" w="25400">
            <a:solidFill>
              <a:srgbClr val="7F7F7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6" name="Google Shape;1226;p100"/>
          <p:cNvSpPr/>
          <p:nvPr/>
        </p:nvSpPr>
        <p:spPr>
          <a:xfrm>
            <a:off x="3667501" y="5114375"/>
            <a:ext cx="840143" cy="822586"/>
          </a:xfrm>
          <a:prstGeom prst="rightArrow">
            <a:avLst>
              <a:gd fmla="val 50000" name="adj1"/>
              <a:gd fmla="val 50000" name="adj2"/>
            </a:avLst>
          </a:prstGeom>
          <a:solidFill>
            <a:srgbClr val="D8D8D8"/>
          </a:solidFill>
          <a:ln cap="flat" cmpd="sng" w="25400">
            <a:solidFill>
              <a:srgbClr val="7F7F7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7" name="Google Shape;1227;p100"/>
          <p:cNvSpPr/>
          <p:nvPr/>
        </p:nvSpPr>
        <p:spPr>
          <a:xfrm>
            <a:off x="9394041" y="2972740"/>
            <a:ext cx="1012371" cy="912521"/>
          </a:xfrm>
          <a:prstGeom prst="flowChartMagneticDisk">
            <a:avLst/>
          </a:prstGeom>
          <a:solidFill>
            <a:schemeClr val="accent3"/>
          </a:solidFill>
          <a:ln cap="flat" cmpd="sng" w="25400">
            <a:solidFill>
              <a:srgbClr val="7188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8" name="Google Shape;1228;p100"/>
          <p:cNvSpPr/>
          <p:nvPr/>
        </p:nvSpPr>
        <p:spPr>
          <a:xfrm>
            <a:off x="8832008" y="3956008"/>
            <a:ext cx="2131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Updated CDM</a:t>
            </a:r>
            <a:endParaRPr/>
          </a:p>
        </p:txBody>
      </p:sp>
      <p:sp>
        <p:nvSpPr>
          <p:cNvPr id="1229" name="Google Shape;1229;p100"/>
          <p:cNvSpPr/>
          <p:nvPr/>
        </p:nvSpPr>
        <p:spPr>
          <a:xfrm>
            <a:off x="8452928" y="3098048"/>
            <a:ext cx="840143" cy="822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http://www.ohdsi.org/web/wiki/lib/exe/fetch.php?w=100&amp;tok=44f68f&amp;media=t-ohdsi-logo-only.png" id="1230" name="Google Shape;1230;p100"/>
          <p:cNvPicPr preferRelativeResize="0"/>
          <p:nvPr/>
        </p:nvPicPr>
        <p:blipFill rotWithShape="1">
          <a:blip r:embed="rId7">
            <a:alphaModFix/>
          </a:blip>
          <a:srcRect b="0" l="0" r="0" t="0"/>
          <a:stretch/>
        </p:blipFill>
        <p:spPr>
          <a:xfrm>
            <a:off x="2325196" y="5123665"/>
            <a:ext cx="667512" cy="66751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231" name="Google Shape;1231;p100"/>
          <p:cNvSpPr/>
          <p:nvPr/>
        </p:nvSpPr>
        <p:spPr>
          <a:xfrm>
            <a:off x="1604019" y="5930022"/>
            <a:ext cx="2131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CDM Update?</a:t>
            </a:r>
            <a:endParaRPr/>
          </a:p>
        </p:txBody>
      </p:sp>
      <p:sp>
        <p:nvSpPr>
          <p:cNvPr id="1232" name="Google Shape;1232;p100"/>
          <p:cNvSpPr/>
          <p:nvPr/>
        </p:nvSpPr>
        <p:spPr>
          <a:xfrm>
            <a:off x="3667501" y="3711830"/>
            <a:ext cx="840143" cy="822586"/>
          </a:xfrm>
          <a:prstGeom prst="rightArrow">
            <a:avLst>
              <a:gd fmla="val 50000" name="adj1"/>
              <a:gd fmla="val 50000" name="adj2"/>
            </a:avLst>
          </a:prstGeom>
          <a:solidFill>
            <a:srgbClr val="D8D8D8"/>
          </a:solidFill>
          <a:ln cap="flat" cmpd="sng" w="25400">
            <a:solidFill>
              <a:srgbClr val="7F7F7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3" name="Google Shape;1233;p10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101"/>
          <p:cNvSpPr txBox="1"/>
          <p:nvPr>
            <p:ph type="title"/>
          </p:nvPr>
        </p:nvSpPr>
        <p:spPr>
          <a:xfrm>
            <a:off x="2667000" y="152400"/>
            <a:ext cx="6096000" cy="838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20425A"/>
              </a:buClr>
              <a:buSzPct val="100000"/>
              <a:buFont typeface="Calibri"/>
              <a:buNone/>
            </a:pPr>
            <a:r>
              <a:rPr lang="en-US"/>
              <a:t>DataQualityDashboard (DQD)</a:t>
            </a:r>
            <a:endParaRPr/>
          </a:p>
        </p:txBody>
      </p:sp>
      <p:sp>
        <p:nvSpPr>
          <p:cNvPr id="1239" name="Google Shape;1239;p101"/>
          <p:cNvSpPr txBox="1"/>
          <p:nvPr>
            <p:ph idx="1" type="body"/>
          </p:nvPr>
        </p:nvSpPr>
        <p:spPr>
          <a:xfrm>
            <a:off x="1981200" y="1219201"/>
            <a:ext cx="8229600" cy="111973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Runs a prespecified set of data quality checks and thresholds on the CDM</a:t>
            </a:r>
            <a:endParaRPr/>
          </a:p>
        </p:txBody>
      </p:sp>
      <p:sp>
        <p:nvSpPr>
          <p:cNvPr id="1240" name="Google Shape;1240;p101"/>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https://raw.githubusercontent.com/OHDSI/DataQualityDashboard/master/extras/dqDashboardScreenshot.png" id="1241" name="Google Shape;1241;p101"/>
          <p:cNvPicPr preferRelativeResize="0"/>
          <p:nvPr/>
        </p:nvPicPr>
        <p:blipFill rotWithShape="1">
          <a:blip r:embed="rId3">
            <a:alphaModFix/>
          </a:blip>
          <a:srcRect b="0" l="0" r="0" t="0"/>
          <a:stretch/>
        </p:blipFill>
        <p:spPr>
          <a:xfrm>
            <a:off x="1524000" y="2782888"/>
            <a:ext cx="9144000" cy="3922713"/>
          </a:xfrm>
          <a:prstGeom prst="rect">
            <a:avLst/>
          </a:prstGeom>
          <a:noFill/>
          <a:ln>
            <a:noFill/>
          </a:ln>
        </p:spPr>
      </p:pic>
      <p:pic>
        <p:nvPicPr>
          <p:cNvPr id="1242" name="Google Shape;1242;p101"/>
          <p:cNvPicPr preferRelativeResize="0"/>
          <p:nvPr/>
        </p:nvPicPr>
        <p:blipFill rotWithShape="1">
          <a:blip r:embed="rId4">
            <a:alphaModFix/>
          </a:blip>
          <a:srcRect b="0" l="0" r="0" t="0"/>
          <a:stretch/>
        </p:blipFill>
        <p:spPr>
          <a:xfrm>
            <a:off x="9680362" y="-17576"/>
            <a:ext cx="987638" cy="987638"/>
          </a:xfrm>
          <a:prstGeom prst="rect">
            <a:avLst/>
          </a:prstGeom>
          <a:noFill/>
          <a:ln>
            <a:noFill/>
          </a:ln>
        </p:spPr>
      </p:pic>
      <p:pic>
        <p:nvPicPr>
          <p:cNvPr id="1243" name="Google Shape;1243;p101"/>
          <p:cNvPicPr preferRelativeResize="0"/>
          <p:nvPr/>
        </p:nvPicPr>
        <p:blipFill rotWithShape="1">
          <a:blip r:embed="rId5">
            <a:alphaModFix/>
          </a:blip>
          <a:srcRect b="0" l="0" r="0" t="0"/>
          <a:stretch/>
        </p:blipFill>
        <p:spPr>
          <a:xfrm>
            <a:off x="8913952" y="152400"/>
            <a:ext cx="766410" cy="74756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02"/>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DQD Example Rules</a:t>
            </a:r>
            <a:endParaRPr/>
          </a:p>
        </p:txBody>
      </p:sp>
      <p:sp>
        <p:nvSpPr>
          <p:cNvPr id="1249" name="Google Shape;1249;p102"/>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50" name="Google Shape;1250;p102"/>
          <p:cNvPicPr preferRelativeResize="0"/>
          <p:nvPr/>
        </p:nvPicPr>
        <p:blipFill rotWithShape="1">
          <a:blip r:embed="rId3">
            <a:alphaModFix/>
          </a:blip>
          <a:srcRect b="0" l="0" r="0" t="0"/>
          <a:stretch/>
        </p:blipFill>
        <p:spPr>
          <a:xfrm>
            <a:off x="2990367" y="1134269"/>
            <a:ext cx="6211266" cy="5076825"/>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1251" name="Google Shape;1251;p102"/>
          <p:cNvPicPr preferRelativeResize="0"/>
          <p:nvPr/>
        </p:nvPicPr>
        <p:blipFill rotWithShape="1">
          <a:blip r:embed="rId4">
            <a:alphaModFix/>
          </a:blip>
          <a:srcRect b="0" l="0" r="0" t="0"/>
          <a:stretch/>
        </p:blipFill>
        <p:spPr>
          <a:xfrm>
            <a:off x="9680362" y="-17576"/>
            <a:ext cx="987638" cy="987638"/>
          </a:xfrm>
          <a:prstGeom prst="rect">
            <a:avLst/>
          </a:prstGeom>
          <a:noFill/>
          <a:ln>
            <a:noFill/>
          </a:ln>
        </p:spPr>
      </p:pic>
      <p:pic>
        <p:nvPicPr>
          <p:cNvPr id="1252" name="Google Shape;1252;p102"/>
          <p:cNvPicPr preferRelativeResize="0"/>
          <p:nvPr/>
        </p:nvPicPr>
        <p:blipFill rotWithShape="1">
          <a:blip r:embed="rId5">
            <a:alphaModFix/>
          </a:blip>
          <a:srcRect b="0" l="0" r="0" t="0"/>
          <a:stretch/>
        </p:blipFill>
        <p:spPr>
          <a:xfrm>
            <a:off x="8913952" y="152400"/>
            <a:ext cx="766410" cy="74756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103"/>
          <p:cNvSpPr txBox="1"/>
          <p:nvPr>
            <p:ph type="title"/>
          </p:nvPr>
        </p:nvSpPr>
        <p:spPr>
          <a:xfrm>
            <a:off x="2667001" y="152400"/>
            <a:ext cx="7222787"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Achilles</a:t>
            </a:r>
            <a:endParaRPr/>
          </a:p>
        </p:txBody>
      </p:sp>
      <p:pic>
        <p:nvPicPr>
          <p:cNvPr id="1259" name="Google Shape;1259;p103"/>
          <p:cNvPicPr preferRelativeResize="0"/>
          <p:nvPr/>
        </p:nvPicPr>
        <p:blipFill rotWithShape="1">
          <a:blip r:embed="rId3">
            <a:alphaModFix/>
          </a:blip>
          <a:srcRect b="0" l="0" r="0" t="0"/>
          <a:stretch/>
        </p:blipFill>
        <p:spPr>
          <a:xfrm>
            <a:off x="9680362" y="-17576"/>
            <a:ext cx="987638" cy="987638"/>
          </a:xfrm>
          <a:prstGeom prst="rect">
            <a:avLst/>
          </a:prstGeom>
          <a:noFill/>
          <a:ln>
            <a:noFill/>
          </a:ln>
        </p:spPr>
      </p:pic>
      <p:sp>
        <p:nvSpPr>
          <p:cNvPr id="1260" name="Google Shape;1260;p103"/>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1" name="Google Shape;1261;p103"/>
          <p:cNvSpPr txBox="1"/>
          <p:nvPr>
            <p:ph idx="1" type="body"/>
          </p:nvPr>
        </p:nvSpPr>
        <p:spPr>
          <a:xfrm>
            <a:off x="1981200" y="1219201"/>
            <a:ext cx="8229600" cy="4906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0425A"/>
              </a:buClr>
              <a:buSzPts val="3200"/>
              <a:buNone/>
            </a:pPr>
            <a:r>
              <a:rPr lang="en-US"/>
              <a:t>Achilles is a data characterization and quality tool available for download here: </a:t>
            </a:r>
            <a:endParaRPr/>
          </a:p>
          <a:p>
            <a:pPr indent="0" lvl="0" marL="571500" rtl="0" algn="l">
              <a:spcBef>
                <a:spcPts val="640"/>
              </a:spcBef>
              <a:spcAft>
                <a:spcPts val="0"/>
              </a:spcAft>
              <a:buClr>
                <a:srgbClr val="20425A"/>
              </a:buClr>
              <a:buSzPts val="3200"/>
              <a:buNone/>
            </a:pPr>
            <a:r>
              <a:rPr lang="en-US" u="sng">
                <a:solidFill>
                  <a:schemeClr val="hlink"/>
                </a:solidFill>
                <a:hlinkClick r:id="rId4"/>
              </a:rPr>
              <a:t>https://github.com/OHDSI/Achilles</a:t>
            </a:r>
            <a:r>
              <a:rPr lang="en-US"/>
              <a:t> </a:t>
            </a:r>
            <a:endParaRPr/>
          </a:p>
          <a:p>
            <a:pPr indent="0" lvl="0" marL="0" rtl="0" algn="l">
              <a:spcBef>
                <a:spcPts val="360"/>
              </a:spcBef>
              <a:spcAft>
                <a:spcPts val="0"/>
              </a:spcAft>
              <a:buClr>
                <a:srgbClr val="20425A"/>
              </a:buClr>
              <a:buSzPts val="1800"/>
              <a:buNone/>
            </a:pPr>
            <a:r>
              <a:t/>
            </a:r>
            <a:endParaRPr sz="1800"/>
          </a:p>
          <a:p>
            <a:pPr indent="0" lvl="0" marL="0" rtl="0" algn="l">
              <a:spcBef>
                <a:spcPts val="640"/>
              </a:spcBef>
              <a:spcAft>
                <a:spcPts val="0"/>
              </a:spcAft>
              <a:buClr>
                <a:srgbClr val="20425A"/>
              </a:buClr>
              <a:buSzPts val="3200"/>
              <a:buNone/>
            </a:pPr>
            <a:r>
              <a:rPr lang="en-US"/>
              <a:t>For an example of how it was run for our sample data, that R script is located here: </a:t>
            </a:r>
            <a:endParaRPr/>
          </a:p>
          <a:p>
            <a:pPr indent="0" lvl="0" marL="574675" rtl="0" algn="l">
              <a:spcBef>
                <a:spcPts val="640"/>
              </a:spcBef>
              <a:spcAft>
                <a:spcPts val="0"/>
              </a:spcAft>
              <a:buClr>
                <a:srgbClr val="20425A"/>
              </a:buClr>
              <a:buSzPts val="3200"/>
              <a:buNone/>
            </a:pPr>
            <a:r>
              <a:rPr lang="en-US" u="sng">
                <a:solidFill>
                  <a:schemeClr val="hlink"/>
                </a:solidFill>
                <a:hlinkClick r:id="rId5"/>
              </a:rPr>
              <a:t>https://github.com/OHDSI/Tutorial-ETL/blob/master/materials/Achilles/achillesRun.R</a:t>
            </a:r>
            <a:r>
              <a:rPr lang="en-US"/>
              <a:t> </a:t>
            </a:r>
            <a:endParaRPr/>
          </a:p>
        </p:txBody>
      </p:sp>
      <p:pic>
        <p:nvPicPr>
          <p:cNvPr id="1262" name="Google Shape;1262;p103"/>
          <p:cNvPicPr preferRelativeResize="0"/>
          <p:nvPr/>
        </p:nvPicPr>
        <p:blipFill rotWithShape="1">
          <a:blip r:embed="rId6">
            <a:alphaModFix/>
          </a:blip>
          <a:srcRect b="0" l="0" r="0" t="0"/>
          <a:stretch/>
        </p:blipFill>
        <p:spPr>
          <a:xfrm>
            <a:off x="8067676" y="204202"/>
            <a:ext cx="1533525" cy="554428"/>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104"/>
          <p:cNvSpPr txBox="1"/>
          <p:nvPr>
            <p:ph type="title"/>
          </p:nvPr>
        </p:nvSpPr>
        <p:spPr>
          <a:xfrm>
            <a:off x="2667001" y="152400"/>
            <a:ext cx="7222787"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Achilles</a:t>
            </a:r>
            <a:endParaRPr/>
          </a:p>
        </p:txBody>
      </p:sp>
      <p:pic>
        <p:nvPicPr>
          <p:cNvPr id="1268" name="Google Shape;1268;p104"/>
          <p:cNvPicPr preferRelativeResize="0"/>
          <p:nvPr/>
        </p:nvPicPr>
        <p:blipFill rotWithShape="1">
          <a:blip r:embed="rId3">
            <a:alphaModFix/>
          </a:blip>
          <a:srcRect b="0" l="0" r="0" t="0"/>
          <a:stretch/>
        </p:blipFill>
        <p:spPr>
          <a:xfrm>
            <a:off x="9680362" y="-17576"/>
            <a:ext cx="987638" cy="987638"/>
          </a:xfrm>
          <a:prstGeom prst="rect">
            <a:avLst/>
          </a:prstGeom>
          <a:noFill/>
          <a:ln>
            <a:noFill/>
          </a:ln>
        </p:spPr>
      </p:pic>
      <p:sp>
        <p:nvSpPr>
          <p:cNvPr id="1269" name="Google Shape;1269;p104"/>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70" name="Google Shape;1270;p104"/>
          <p:cNvPicPr preferRelativeResize="0"/>
          <p:nvPr/>
        </p:nvPicPr>
        <p:blipFill rotWithShape="1">
          <a:blip r:embed="rId4">
            <a:alphaModFix/>
          </a:blip>
          <a:srcRect b="0" l="0" r="0" t="0"/>
          <a:stretch/>
        </p:blipFill>
        <p:spPr>
          <a:xfrm>
            <a:off x="2820210" y="990601"/>
            <a:ext cx="6916366" cy="5187275"/>
          </a:xfrm>
          <a:prstGeom prst="rect">
            <a:avLst/>
          </a:prstGeom>
          <a:noFill/>
          <a:ln>
            <a:noFill/>
          </a:ln>
        </p:spPr>
      </p:pic>
      <p:pic>
        <p:nvPicPr>
          <p:cNvPr id="1271" name="Google Shape;1271;p104"/>
          <p:cNvPicPr preferRelativeResize="0"/>
          <p:nvPr/>
        </p:nvPicPr>
        <p:blipFill rotWithShape="1">
          <a:blip r:embed="rId5">
            <a:alphaModFix/>
          </a:blip>
          <a:srcRect b="0" l="0" r="0" t="0"/>
          <a:stretch/>
        </p:blipFill>
        <p:spPr>
          <a:xfrm>
            <a:off x="8067676" y="204202"/>
            <a:ext cx="1533525" cy="554428"/>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05"/>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Achilles</a:t>
            </a:r>
            <a:endParaRPr/>
          </a:p>
        </p:txBody>
      </p:sp>
      <p:sp>
        <p:nvSpPr>
          <p:cNvPr id="1277" name="Google Shape;1277;p105"/>
          <p:cNvSpPr txBox="1"/>
          <p:nvPr>
            <p:ph idx="1" type="body"/>
          </p:nvPr>
        </p:nvSpPr>
        <p:spPr>
          <a:xfrm>
            <a:off x="1981200" y="5193633"/>
            <a:ext cx="8229600" cy="93253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rgbClr val="20425A"/>
              </a:buClr>
              <a:buSzPct val="100000"/>
              <a:buNone/>
            </a:pPr>
            <a:r>
              <a:rPr lang="en-US"/>
              <a:t>This plot shows that the bulk of the data starts in 2005. However, there also appear to be a few records from around 1961, which is likely an error in the data.</a:t>
            </a:r>
            <a:endParaRPr/>
          </a:p>
        </p:txBody>
      </p:sp>
      <p:sp>
        <p:nvSpPr>
          <p:cNvPr id="1278" name="Google Shape;1278;p105"/>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79" name="Google Shape;1279;p105"/>
          <p:cNvPicPr preferRelativeResize="0"/>
          <p:nvPr/>
        </p:nvPicPr>
        <p:blipFill rotWithShape="1">
          <a:blip r:embed="rId3">
            <a:alphaModFix/>
          </a:blip>
          <a:srcRect b="0" l="0" r="0" t="0"/>
          <a:stretch/>
        </p:blipFill>
        <p:spPr>
          <a:xfrm>
            <a:off x="9680362" y="-17576"/>
            <a:ext cx="987638" cy="987638"/>
          </a:xfrm>
          <a:prstGeom prst="rect">
            <a:avLst/>
          </a:prstGeom>
          <a:noFill/>
          <a:ln>
            <a:noFill/>
          </a:ln>
        </p:spPr>
      </p:pic>
      <p:pic>
        <p:nvPicPr>
          <p:cNvPr id="1280" name="Google Shape;1280;p105"/>
          <p:cNvPicPr preferRelativeResize="0"/>
          <p:nvPr/>
        </p:nvPicPr>
        <p:blipFill rotWithShape="1">
          <a:blip r:embed="rId4">
            <a:alphaModFix/>
          </a:blip>
          <a:srcRect b="0" l="0" r="0" t="0"/>
          <a:stretch/>
        </p:blipFill>
        <p:spPr>
          <a:xfrm>
            <a:off x="8067676" y="204202"/>
            <a:ext cx="1533525" cy="554428"/>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The data density plot in the ACHILLES web viewer." id="1281" name="Google Shape;1281;p105"/>
          <p:cNvPicPr preferRelativeResize="0"/>
          <p:nvPr/>
        </p:nvPicPr>
        <p:blipFill rotWithShape="1">
          <a:blip r:embed="rId5">
            <a:alphaModFix/>
          </a:blip>
          <a:srcRect b="0" l="0" r="0" t="0"/>
          <a:stretch/>
        </p:blipFill>
        <p:spPr>
          <a:xfrm>
            <a:off x="1524000" y="1258555"/>
            <a:ext cx="9144000" cy="366712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106"/>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Achilles</a:t>
            </a:r>
            <a:endParaRPr/>
          </a:p>
        </p:txBody>
      </p:sp>
      <p:sp>
        <p:nvSpPr>
          <p:cNvPr id="1287" name="Google Shape;1287;p106"/>
          <p:cNvSpPr txBox="1"/>
          <p:nvPr>
            <p:ph idx="1" type="body"/>
          </p:nvPr>
        </p:nvSpPr>
        <p:spPr>
          <a:xfrm>
            <a:off x="1981200" y="5193633"/>
            <a:ext cx="8229600" cy="93253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rgbClr val="20425A"/>
              </a:buClr>
              <a:buSzPct val="100000"/>
              <a:buNone/>
            </a:pPr>
            <a:r>
              <a:rPr lang="en-US"/>
              <a:t>This change coincides with changes in the reimbursement rules in this specific country, leading to more diagnoses but probably not a true increase in prevalence in the underlying population.</a:t>
            </a:r>
            <a:endParaRPr/>
          </a:p>
        </p:txBody>
      </p:sp>
      <p:sp>
        <p:nvSpPr>
          <p:cNvPr id="1288" name="Google Shape;1288;p106"/>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89" name="Google Shape;1289;p106"/>
          <p:cNvPicPr preferRelativeResize="0"/>
          <p:nvPr/>
        </p:nvPicPr>
        <p:blipFill rotWithShape="1">
          <a:blip r:embed="rId3">
            <a:alphaModFix/>
          </a:blip>
          <a:srcRect b="0" l="0" r="0" t="0"/>
          <a:stretch/>
        </p:blipFill>
        <p:spPr>
          <a:xfrm>
            <a:off x="9680362" y="-17576"/>
            <a:ext cx="987638" cy="987638"/>
          </a:xfrm>
          <a:prstGeom prst="rect">
            <a:avLst/>
          </a:prstGeom>
          <a:noFill/>
          <a:ln>
            <a:noFill/>
          </a:ln>
        </p:spPr>
      </p:pic>
      <p:pic>
        <p:nvPicPr>
          <p:cNvPr id="1290" name="Google Shape;1290;p106"/>
          <p:cNvPicPr preferRelativeResize="0"/>
          <p:nvPr/>
        </p:nvPicPr>
        <p:blipFill rotWithShape="1">
          <a:blip r:embed="rId4">
            <a:alphaModFix/>
          </a:blip>
          <a:srcRect b="0" l="0" r="0" t="0"/>
          <a:stretch/>
        </p:blipFill>
        <p:spPr>
          <a:xfrm>
            <a:off x="8067676" y="204202"/>
            <a:ext cx="1533525" cy="554428"/>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Monthly rate of diabetes coded in the ACHILLES web viewer." id="1291" name="Google Shape;1291;p106"/>
          <p:cNvPicPr preferRelativeResize="0"/>
          <p:nvPr/>
        </p:nvPicPr>
        <p:blipFill rotWithShape="1">
          <a:blip r:embed="rId5">
            <a:alphaModFix/>
          </a:blip>
          <a:srcRect b="0" l="0" r="0" t="0"/>
          <a:stretch/>
        </p:blipFill>
        <p:spPr>
          <a:xfrm>
            <a:off x="1626565" y="1655546"/>
            <a:ext cx="8737839" cy="3086301"/>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07"/>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Issues in our synthetic data?</a:t>
            </a:r>
            <a:endParaRPr/>
          </a:p>
        </p:txBody>
      </p:sp>
      <p:sp>
        <p:nvSpPr>
          <p:cNvPr id="1297" name="Google Shape;1297;p107"/>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Did our test cases run?</a:t>
            </a:r>
            <a:endParaRPr/>
          </a:p>
        </p:txBody>
      </p:sp>
      <p:sp>
        <p:nvSpPr>
          <p:cNvPr id="1298" name="Google Shape;1298;p107"/>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99" name="Google Shape;1299;p107"/>
          <p:cNvPicPr preferRelativeResize="0"/>
          <p:nvPr/>
        </p:nvPicPr>
        <p:blipFill rotWithShape="1">
          <a:blip r:embed="rId3">
            <a:alphaModFix/>
          </a:blip>
          <a:srcRect b="0" l="0" r="0" t="0"/>
          <a:stretch/>
        </p:blipFill>
        <p:spPr>
          <a:xfrm>
            <a:off x="1869331" y="2441832"/>
            <a:ext cx="7543801" cy="3849706"/>
          </a:xfrm>
          <a:prstGeom prst="rect">
            <a:avLst/>
          </a:prstGeom>
          <a:noFill/>
          <a:ln>
            <a:noFill/>
          </a:ln>
        </p:spPr>
      </p:pic>
      <p:sp>
        <p:nvSpPr>
          <p:cNvPr id="1300" name="Google Shape;1300;p107"/>
          <p:cNvSpPr/>
          <p:nvPr/>
        </p:nvSpPr>
        <p:spPr>
          <a:xfrm>
            <a:off x="8204848" y="1219200"/>
            <a:ext cx="1921330" cy="1979386"/>
          </a:xfrm>
          <a:prstGeom prst="flowChartMagneticDisk">
            <a:avLst/>
          </a:prstGeom>
          <a:solidFill>
            <a:schemeClr val="accent5"/>
          </a:solidFill>
          <a:ln cap="flat" cmpd="sng" w="25400">
            <a:solidFill>
              <a:srgbClr val="367D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cdm_synthea</a:t>
            </a:r>
            <a:endParaRPr/>
          </a:p>
        </p:txBody>
      </p:sp>
      <p:pic>
        <p:nvPicPr>
          <p:cNvPr id="1301" name="Google Shape;1301;p107"/>
          <p:cNvPicPr preferRelativeResize="0"/>
          <p:nvPr/>
        </p:nvPicPr>
        <p:blipFill rotWithShape="1">
          <a:blip r:embed="rId4">
            <a:alphaModFix/>
          </a:blip>
          <a:srcRect b="0" l="0" r="0" t="0"/>
          <a:stretch/>
        </p:blipFill>
        <p:spPr>
          <a:xfrm>
            <a:off x="9601200" y="181883"/>
            <a:ext cx="666750" cy="66138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pic>
        <p:nvPicPr>
          <p:cNvPr id="1306" name="Google Shape;1306;p108"/>
          <p:cNvPicPr preferRelativeResize="0"/>
          <p:nvPr/>
        </p:nvPicPr>
        <p:blipFill rotWithShape="1">
          <a:blip r:embed="rId3">
            <a:alphaModFix/>
          </a:blip>
          <a:srcRect b="0" l="0" r="0" t="0"/>
          <a:stretch/>
        </p:blipFill>
        <p:spPr>
          <a:xfrm>
            <a:off x="1524000" y="2292557"/>
            <a:ext cx="9144000" cy="4016963"/>
          </a:xfrm>
          <a:prstGeom prst="rect">
            <a:avLst/>
          </a:prstGeom>
          <a:noFill/>
          <a:ln>
            <a:noFill/>
          </a:ln>
        </p:spPr>
      </p:pic>
      <p:sp>
        <p:nvSpPr>
          <p:cNvPr id="1307" name="Google Shape;1307;p108"/>
          <p:cNvSpPr txBox="1"/>
          <p:nvPr>
            <p:ph type="title"/>
          </p:nvPr>
        </p:nvSpPr>
        <p:spPr>
          <a:xfrm>
            <a:off x="2667001" y="152400"/>
            <a:ext cx="6079067"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Issues in our synthetic data?</a:t>
            </a:r>
            <a:endParaRPr/>
          </a:p>
        </p:txBody>
      </p:sp>
      <p:sp>
        <p:nvSpPr>
          <p:cNvPr id="1308" name="Google Shape;1308;p108"/>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Did Achilles notice anything?</a:t>
            </a:r>
            <a:endParaRPr/>
          </a:p>
        </p:txBody>
      </p:sp>
      <p:sp>
        <p:nvSpPr>
          <p:cNvPr id="1309" name="Google Shape;1309;p10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10" name="Google Shape;1310;p108"/>
          <p:cNvSpPr/>
          <p:nvPr/>
        </p:nvSpPr>
        <p:spPr>
          <a:xfrm>
            <a:off x="8204848" y="1219200"/>
            <a:ext cx="1921330" cy="1979386"/>
          </a:xfrm>
          <a:prstGeom prst="flowChartMagneticDisk">
            <a:avLst/>
          </a:prstGeom>
          <a:solidFill>
            <a:schemeClr val="accent5"/>
          </a:solidFill>
          <a:ln cap="flat" cmpd="sng" w="25400">
            <a:solidFill>
              <a:srgbClr val="367D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cdm_synthea</a:t>
            </a:r>
            <a:endParaRPr/>
          </a:p>
        </p:txBody>
      </p:sp>
      <p:cxnSp>
        <p:nvCxnSpPr>
          <p:cNvPr id="1311" name="Google Shape;1311;p108"/>
          <p:cNvCxnSpPr/>
          <p:nvPr/>
        </p:nvCxnSpPr>
        <p:spPr>
          <a:xfrm>
            <a:off x="2243811" y="5332397"/>
            <a:ext cx="1639664" cy="900923"/>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647"/>
              </a:srgbClr>
            </a:outerShdw>
          </a:effectLst>
        </p:spPr>
      </p:cxnSp>
      <p:cxnSp>
        <p:nvCxnSpPr>
          <p:cNvPr id="1312" name="Google Shape;1312;p108"/>
          <p:cNvCxnSpPr/>
          <p:nvPr/>
        </p:nvCxnSpPr>
        <p:spPr>
          <a:xfrm flipH="1">
            <a:off x="7103766" y="5332397"/>
            <a:ext cx="3002523" cy="900923"/>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647"/>
              </a:srgbClr>
            </a:outerShdw>
          </a:effectLst>
        </p:spPr>
      </p:cxnSp>
      <p:pic>
        <p:nvPicPr>
          <p:cNvPr id="1313" name="Google Shape;1313;p108"/>
          <p:cNvPicPr preferRelativeResize="0"/>
          <p:nvPr/>
        </p:nvPicPr>
        <p:blipFill rotWithShape="1">
          <a:blip r:embed="rId4">
            <a:alphaModFix/>
          </a:blip>
          <a:srcRect b="0" l="0" r="0" t="0"/>
          <a:stretch/>
        </p:blipFill>
        <p:spPr>
          <a:xfrm>
            <a:off x="2243812" y="4734576"/>
            <a:ext cx="7882367" cy="59782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1314" name="Google Shape;1314;p108"/>
          <p:cNvPicPr preferRelativeResize="0"/>
          <p:nvPr/>
        </p:nvPicPr>
        <p:blipFill rotWithShape="1">
          <a:blip r:embed="rId5">
            <a:alphaModFix/>
          </a:blip>
          <a:srcRect b="0" l="0" r="0" t="0"/>
          <a:stretch/>
        </p:blipFill>
        <p:spPr>
          <a:xfrm>
            <a:off x="8922809" y="259103"/>
            <a:ext cx="1533525" cy="554428"/>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109"/>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Issues in our synthetic data?</a:t>
            </a:r>
            <a:endParaRPr/>
          </a:p>
        </p:txBody>
      </p:sp>
      <p:sp>
        <p:nvSpPr>
          <p:cNvPr id="1320" name="Google Shape;1320;p109"/>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Did DQD notice anything?</a:t>
            </a:r>
            <a:endParaRPr/>
          </a:p>
        </p:txBody>
      </p:sp>
      <p:sp>
        <p:nvSpPr>
          <p:cNvPr id="1321" name="Google Shape;1321;p109"/>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22" name="Google Shape;1322;p109"/>
          <p:cNvPicPr preferRelativeResize="0"/>
          <p:nvPr/>
        </p:nvPicPr>
        <p:blipFill rotWithShape="1">
          <a:blip r:embed="rId3">
            <a:alphaModFix/>
          </a:blip>
          <a:srcRect b="0" l="0" r="0" t="0"/>
          <a:stretch/>
        </p:blipFill>
        <p:spPr>
          <a:xfrm>
            <a:off x="1689370" y="2212440"/>
            <a:ext cx="8813260" cy="4493160"/>
          </a:xfrm>
          <a:prstGeom prst="rect">
            <a:avLst/>
          </a:prstGeom>
          <a:noFill/>
          <a:ln>
            <a:noFill/>
          </a:ln>
        </p:spPr>
      </p:pic>
      <p:sp>
        <p:nvSpPr>
          <p:cNvPr id="1323" name="Google Shape;1323;p109"/>
          <p:cNvSpPr/>
          <p:nvPr/>
        </p:nvSpPr>
        <p:spPr>
          <a:xfrm>
            <a:off x="8204848" y="1219200"/>
            <a:ext cx="1921330" cy="1979386"/>
          </a:xfrm>
          <a:prstGeom prst="flowChartMagneticDisk">
            <a:avLst/>
          </a:prstGeom>
          <a:solidFill>
            <a:schemeClr val="accent5"/>
          </a:solidFill>
          <a:ln cap="flat" cmpd="sng" w="25400">
            <a:solidFill>
              <a:srgbClr val="367D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cdm_synthea</a:t>
            </a:r>
            <a:endParaRPr/>
          </a:p>
        </p:txBody>
      </p:sp>
      <p:pic>
        <p:nvPicPr>
          <p:cNvPr id="1324" name="Google Shape;1324;p109"/>
          <p:cNvPicPr preferRelativeResize="0"/>
          <p:nvPr/>
        </p:nvPicPr>
        <p:blipFill rotWithShape="1">
          <a:blip r:embed="rId4">
            <a:alphaModFix/>
          </a:blip>
          <a:srcRect b="0" l="0" r="0" t="0"/>
          <a:stretch/>
        </p:blipFill>
        <p:spPr>
          <a:xfrm>
            <a:off x="1524000" y="4248081"/>
            <a:ext cx="9144000" cy="702129"/>
          </a:xfrm>
          <a:prstGeom prst="rect">
            <a:avLst/>
          </a:prstGeom>
          <a:noFill/>
          <a:ln cap="flat" cmpd="sng" w="28575">
            <a:solidFill>
              <a:schemeClr val="dk1"/>
            </a:solidFill>
            <a:prstDash val="solid"/>
            <a:round/>
            <a:headEnd len="sm" w="sm" type="none"/>
            <a:tailEnd len="sm" w="sm" type="none"/>
          </a:ln>
        </p:spPr>
      </p:pic>
      <p:cxnSp>
        <p:nvCxnSpPr>
          <p:cNvPr id="1325" name="Google Shape;1325;p109"/>
          <p:cNvCxnSpPr/>
          <p:nvPr/>
        </p:nvCxnSpPr>
        <p:spPr>
          <a:xfrm flipH="1" rot="10800000">
            <a:off x="1524000" y="4066163"/>
            <a:ext cx="1838528" cy="181919"/>
          </a:xfrm>
          <a:prstGeom prst="straightConnector1">
            <a:avLst/>
          </a:prstGeom>
          <a:noFill/>
          <a:ln cap="flat" cmpd="sng" w="19050">
            <a:solidFill>
              <a:schemeClr val="dk1"/>
            </a:solidFill>
            <a:prstDash val="solid"/>
            <a:round/>
            <a:headEnd len="sm" w="sm" type="none"/>
            <a:tailEnd len="sm" w="sm" type="none"/>
          </a:ln>
        </p:spPr>
      </p:cxnSp>
      <p:cxnSp>
        <p:nvCxnSpPr>
          <p:cNvPr id="1326" name="Google Shape;1326;p109"/>
          <p:cNvCxnSpPr/>
          <p:nvPr/>
        </p:nvCxnSpPr>
        <p:spPr>
          <a:xfrm>
            <a:off x="10444266" y="4076225"/>
            <a:ext cx="243191" cy="152399"/>
          </a:xfrm>
          <a:prstGeom prst="straightConnector1">
            <a:avLst/>
          </a:prstGeom>
          <a:noFill/>
          <a:ln cap="flat" cmpd="sng" w="19050">
            <a:solidFill>
              <a:schemeClr val="dk1"/>
            </a:solidFill>
            <a:prstDash val="solid"/>
            <a:round/>
            <a:headEnd len="sm" w="sm" type="none"/>
            <a:tailEnd len="sm" w="sm" type="none"/>
          </a:ln>
        </p:spPr>
      </p:cxnSp>
      <p:pic>
        <p:nvPicPr>
          <p:cNvPr id="1327" name="Google Shape;1327;p109"/>
          <p:cNvPicPr preferRelativeResize="0"/>
          <p:nvPr/>
        </p:nvPicPr>
        <p:blipFill rotWithShape="1">
          <a:blip r:embed="rId5">
            <a:alphaModFix/>
          </a:blip>
          <a:srcRect b="0" l="0" r="0" t="0"/>
          <a:stretch/>
        </p:blipFill>
        <p:spPr>
          <a:xfrm>
            <a:off x="9601200" y="234498"/>
            <a:ext cx="766410" cy="74756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10"/>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Maybe we have a bug?</a:t>
            </a:r>
            <a:endParaRPr/>
          </a:p>
        </p:txBody>
      </p:sp>
      <p:sp>
        <p:nvSpPr>
          <p:cNvPr id="1333" name="Google Shape;1333;p110"/>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In the CONDITION_OCCURRENCE, 61% rows are mapped to 0</a:t>
            </a:r>
            <a:endParaRPr/>
          </a:p>
          <a:p>
            <a:pPr indent="-139700" lvl="0" marL="342900" rtl="0" algn="l">
              <a:spcBef>
                <a:spcPts val="640"/>
              </a:spcBef>
              <a:spcAft>
                <a:spcPts val="0"/>
              </a:spcAft>
              <a:buClr>
                <a:srgbClr val="20425A"/>
              </a:buClr>
              <a:buSzPts val="3200"/>
              <a:buNone/>
            </a:pPr>
            <a:r>
              <a:t/>
            </a:r>
            <a:endParaRPr/>
          </a:p>
        </p:txBody>
      </p:sp>
      <p:sp>
        <p:nvSpPr>
          <p:cNvPr id="1334" name="Google Shape;1334;p11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35" name="Google Shape;1335;p110"/>
          <p:cNvPicPr preferRelativeResize="0"/>
          <p:nvPr/>
        </p:nvPicPr>
        <p:blipFill rotWithShape="1">
          <a:blip r:embed="rId3">
            <a:alphaModFix/>
          </a:blip>
          <a:srcRect b="0" l="0" r="0" t="0"/>
          <a:stretch/>
        </p:blipFill>
        <p:spPr>
          <a:xfrm>
            <a:off x="8900428" y="152400"/>
            <a:ext cx="822586" cy="822586"/>
          </a:xfrm>
          <a:prstGeom prst="rect">
            <a:avLst/>
          </a:prstGeom>
          <a:noFill/>
          <a:ln>
            <a:noFill/>
          </a:ln>
        </p:spPr>
      </p:pic>
      <p:pic>
        <p:nvPicPr>
          <p:cNvPr id="1336" name="Google Shape;1336;p110"/>
          <p:cNvPicPr preferRelativeResize="0"/>
          <p:nvPr/>
        </p:nvPicPr>
        <p:blipFill rotWithShape="1">
          <a:blip r:embed="rId4">
            <a:alphaModFix/>
          </a:blip>
          <a:srcRect b="0" l="0" r="0" t="0"/>
          <a:stretch/>
        </p:blipFill>
        <p:spPr>
          <a:xfrm>
            <a:off x="3148013" y="2452488"/>
            <a:ext cx="5895975" cy="3743325"/>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111"/>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Document the Bug</a:t>
            </a:r>
            <a:endParaRPr/>
          </a:p>
        </p:txBody>
      </p:sp>
      <p:pic>
        <p:nvPicPr>
          <p:cNvPr id="1342" name="Google Shape;1342;p111"/>
          <p:cNvPicPr preferRelativeResize="0"/>
          <p:nvPr>
            <p:ph idx="1" type="body"/>
          </p:nvPr>
        </p:nvPicPr>
        <p:blipFill rotWithShape="1">
          <a:blip r:embed="rId3">
            <a:alphaModFix/>
          </a:blip>
          <a:srcRect b="0" l="0" r="0" t="0"/>
          <a:stretch/>
        </p:blipFill>
        <p:spPr>
          <a:xfrm>
            <a:off x="3333550" y="1132574"/>
            <a:ext cx="6058976" cy="542884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343" name="Google Shape;1343;p111"/>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12"/>
          <p:cNvSpPr txBox="1"/>
          <p:nvPr>
            <p:ph type="title"/>
          </p:nvPr>
        </p:nvSpPr>
        <p:spPr>
          <a:xfrm>
            <a:off x="2667000" y="152400"/>
            <a:ext cx="68326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Vocabulary to fix the problem</a:t>
            </a:r>
            <a:endParaRPr/>
          </a:p>
        </p:txBody>
      </p:sp>
      <p:sp>
        <p:nvSpPr>
          <p:cNvPr id="1349" name="Google Shape;1349;p112"/>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50" name="Google Shape;1350;p112"/>
          <p:cNvPicPr preferRelativeResize="0"/>
          <p:nvPr/>
        </p:nvPicPr>
        <p:blipFill rotWithShape="1">
          <a:blip r:embed="rId3">
            <a:alphaModFix/>
          </a:blip>
          <a:srcRect b="0" l="0" r="0" t="0"/>
          <a:stretch/>
        </p:blipFill>
        <p:spPr>
          <a:xfrm>
            <a:off x="1981200" y="1377596"/>
            <a:ext cx="8362950" cy="4630520"/>
          </a:xfrm>
          <a:prstGeom prst="rect">
            <a:avLst/>
          </a:prstGeom>
          <a:noFill/>
          <a:ln>
            <a:noFill/>
          </a:ln>
        </p:spPr>
      </p:pic>
      <p:pic>
        <p:nvPicPr>
          <p:cNvPr descr="alt text" id="1351" name="Google Shape;1351;p112"/>
          <p:cNvPicPr preferRelativeResize="0"/>
          <p:nvPr/>
        </p:nvPicPr>
        <p:blipFill rotWithShape="1">
          <a:blip r:embed="rId4">
            <a:alphaModFix/>
          </a:blip>
          <a:srcRect b="0" l="0" r="0" t="0"/>
          <a:stretch/>
        </p:blipFill>
        <p:spPr>
          <a:xfrm>
            <a:off x="9601200" y="283237"/>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352" name="Google Shape;1352;p112"/>
          <p:cNvSpPr/>
          <p:nvPr/>
        </p:nvSpPr>
        <p:spPr>
          <a:xfrm>
            <a:off x="1981200" y="2000231"/>
            <a:ext cx="1752600" cy="4250265"/>
          </a:xfrm>
          <a:prstGeom prst="frame">
            <a:avLst>
              <a:gd fmla="val 8635" name="adj1"/>
            </a:avLst>
          </a:prstGeom>
          <a:solidFill>
            <a:schemeClr val="accent2"/>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3" name="Google Shape;1353;p112"/>
          <p:cNvSpPr/>
          <p:nvPr/>
        </p:nvSpPr>
        <p:spPr>
          <a:xfrm>
            <a:off x="7459133" y="2000230"/>
            <a:ext cx="1752600" cy="4250265"/>
          </a:xfrm>
          <a:prstGeom prst="frame">
            <a:avLst>
              <a:gd fmla="val 8635" name="adj1"/>
            </a:avLst>
          </a:prstGeom>
          <a:solidFill>
            <a:schemeClr val="accent2"/>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113"/>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Vocabulary to fix the problem</a:t>
            </a:r>
            <a:endParaRPr/>
          </a:p>
        </p:txBody>
      </p:sp>
      <p:sp>
        <p:nvSpPr>
          <p:cNvPr id="1359" name="Google Shape;1359;p113"/>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60" name="Google Shape;1360;p113"/>
          <p:cNvSpPr txBox="1"/>
          <p:nvPr>
            <p:ph idx="1" type="body"/>
          </p:nvPr>
        </p:nvSpPr>
        <p:spPr>
          <a:xfrm>
            <a:off x="1981200" y="1110343"/>
            <a:ext cx="8229600" cy="538253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rgbClr val="0000FF"/>
              </a:buClr>
              <a:buSzPts val="900"/>
              <a:buNone/>
            </a:pPr>
            <a:r>
              <a:rPr lang="en-US" sz="900">
                <a:solidFill>
                  <a:srgbClr val="0000FF"/>
                </a:solidFill>
                <a:latin typeface="Consolas"/>
                <a:ea typeface="Consolas"/>
                <a:cs typeface="Consolas"/>
                <a:sym typeface="Consolas"/>
              </a:rPr>
              <a:t>WITH</a:t>
            </a:r>
            <a:r>
              <a:rPr lang="en-US" sz="900">
                <a:solidFill>
                  <a:srgbClr val="000000"/>
                </a:solidFill>
                <a:latin typeface="Consolas"/>
                <a:ea typeface="Consolas"/>
                <a:cs typeface="Consolas"/>
                <a:sym typeface="Consolas"/>
              </a:rPr>
              <a:t> CTE_VOCAB_MAP </a:t>
            </a:r>
            <a:r>
              <a:rPr lang="en-US" sz="900">
                <a:solidFill>
                  <a:srgbClr val="0000FF"/>
                </a:solidFill>
                <a:latin typeface="Consolas"/>
                <a:ea typeface="Consolas"/>
                <a:cs typeface="Consolas"/>
                <a:sym typeface="Consolas"/>
              </a:rPr>
              <a:t>AS </a:t>
            </a: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concept_code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VOCABULARY_ID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TARGET_VOCABUALRY_ID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CONCEPT C</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CONCEPT_RELATIONSHIP CR</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CONCEPT_ID_1</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relationship_id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latin typeface="Consolas"/>
                <a:ea typeface="Consolas"/>
                <a:cs typeface="Consolas"/>
                <a:sym typeface="Consolas"/>
              </a:rPr>
              <a:t>'Maps to'</a:t>
            </a:r>
            <a:endParaRPr sz="900">
              <a:solidFill>
                <a:srgbClr val="000000"/>
              </a:solidFill>
              <a:latin typeface="Consolas"/>
              <a:ea typeface="Consolas"/>
              <a:cs typeface="Consolas"/>
              <a:sym typeface="Consolas"/>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CR</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CONCEPT_ID_2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AND</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UNION</a:t>
            </a:r>
            <a:endParaRPr sz="900">
              <a:solidFill>
                <a:srgbClr val="000000"/>
              </a:solidFill>
              <a:latin typeface="Consolas"/>
              <a:ea typeface="Consolas"/>
              <a:cs typeface="Consolas"/>
              <a:sym typeface="Consolas"/>
            </a:endParaRPr>
          </a:p>
          <a:p>
            <a:pPr indent="0" lvl="0" marL="0" rtl="0" algn="l">
              <a:spcBef>
                <a:spcPts val="180"/>
              </a:spcBef>
              <a:spcAft>
                <a:spcPts val="0"/>
              </a:spcAft>
              <a:buClr>
                <a:srgbClr val="20425A"/>
              </a:buClr>
              <a:buSzPts val="900"/>
              <a:buNone/>
            </a:pPr>
            <a:r>
              <a:t/>
            </a:r>
            <a:endParaRPr sz="900">
              <a:solidFill>
                <a:srgbClr val="000000"/>
              </a:solidFill>
              <a:latin typeface="Consolas"/>
              <a:ea typeface="Consolas"/>
              <a:cs typeface="Consolas"/>
              <a:sym typeface="Consolas"/>
            </a:endParaRPr>
          </a:p>
          <a:p>
            <a:pPr indent="0" lvl="0" marL="0" rtl="0" algn="l">
              <a:spcBef>
                <a:spcPts val="180"/>
              </a:spcBef>
              <a:spcAft>
                <a:spcPts val="0"/>
              </a:spcAft>
              <a:buClr>
                <a:srgbClr val="0000FF"/>
              </a:buClr>
              <a:buSzPts val="9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source_code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SOURCE_CODE_DESCRIPTION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source_vocabulary_id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VALID_START_DATE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SOURCE_VALID_START_DATE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VALID_END_DATE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SOURCE_VALID_END_DATE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SOURCE_INVALID_REASON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CONCEPT_NAME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target_vocabulary_id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domain_id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TARGET_DOMAIN_ID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concept_class_id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TARGET_CONCEPT_CLASS_ID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TARGET_INVALID_REASON</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standard_concept </a:t>
            </a:r>
            <a:r>
              <a:rPr lang="en-US" sz="900">
                <a:solidFill>
                  <a:srgbClr val="0000FF"/>
                </a:solidFill>
                <a:latin typeface="Consolas"/>
                <a:ea typeface="Consolas"/>
                <a:cs typeface="Consolas"/>
                <a:sym typeface="Consolas"/>
              </a:rPr>
              <a:t>AS</a:t>
            </a:r>
            <a:r>
              <a:rPr lang="en-US" sz="900">
                <a:solidFill>
                  <a:srgbClr val="000000"/>
                </a:solidFill>
                <a:latin typeface="Consolas"/>
                <a:ea typeface="Consolas"/>
                <a:cs typeface="Consolas"/>
                <a:sym typeface="Consolas"/>
              </a:rPr>
              <a:t> TARGET_STANDARD_CONCEPT</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source_to_concept_map stcm</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c1</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c1</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source_concept_id</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LEFT</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OUTER</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JOIN</a:t>
            </a:r>
            <a:r>
              <a:rPr lang="en-US" sz="900">
                <a:solidFill>
                  <a:srgbClr val="000000"/>
                </a:solidFill>
                <a:latin typeface="Consolas"/>
                <a:ea typeface="Consolas"/>
                <a:cs typeface="Consolas"/>
                <a:sym typeface="Consolas"/>
              </a:rPr>
              <a:t> CONCEPT c2</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ON</a:t>
            </a:r>
            <a:r>
              <a:rPr lang="en-US" sz="900">
                <a:solidFill>
                  <a:srgbClr val="000000"/>
                </a:solidFill>
                <a:latin typeface="Consolas"/>
                <a:ea typeface="Consolas"/>
                <a:cs typeface="Consolas"/>
                <a:sym typeface="Consolas"/>
              </a:rPr>
              <a:t> c2</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CONCEPT_ID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target_concept_id</a:t>
            </a:r>
            <a:endParaRPr/>
          </a:p>
          <a:p>
            <a:pPr indent="0" lvl="0" marL="0" rtl="0" algn="l">
              <a:spcBef>
                <a:spcPts val="180"/>
              </a:spcBef>
              <a:spcAft>
                <a:spcPts val="0"/>
              </a:spcAft>
              <a:buClr>
                <a:srgbClr val="000000"/>
              </a:buClr>
              <a:buSzPts val="900"/>
              <a:buNone/>
            </a:pPr>
            <a:r>
              <a:rPr lang="en-US" sz="900">
                <a:solidFill>
                  <a:srgbClr val="000000"/>
                </a:solidFill>
                <a:latin typeface="Consolas"/>
                <a:ea typeface="Consolas"/>
                <a:cs typeface="Consolas"/>
                <a:sym typeface="Consolas"/>
              </a:rPr>
              <a:t>       </a:t>
            </a: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stcm</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INVALID_REASON </a:t>
            </a:r>
            <a:r>
              <a:rPr lang="en-US" sz="900">
                <a:solidFill>
                  <a:srgbClr val="808080"/>
                </a:solidFill>
                <a:latin typeface="Consolas"/>
                <a:ea typeface="Consolas"/>
                <a:cs typeface="Consolas"/>
                <a:sym typeface="Consolas"/>
              </a:rPr>
              <a:t>IS</a:t>
            </a:r>
            <a:r>
              <a:rPr lang="en-US" sz="900">
                <a:solidFill>
                  <a:srgbClr val="000000"/>
                </a:solidFill>
                <a:latin typeface="Consolas"/>
                <a:ea typeface="Consolas"/>
                <a:cs typeface="Consolas"/>
                <a:sym typeface="Consolas"/>
              </a:rPr>
              <a:t> </a:t>
            </a:r>
            <a:r>
              <a:rPr lang="en-US" sz="900">
                <a:solidFill>
                  <a:srgbClr val="808080"/>
                </a:solidFill>
                <a:latin typeface="Consolas"/>
                <a:ea typeface="Consolas"/>
                <a:cs typeface="Consolas"/>
                <a:sym typeface="Consolas"/>
              </a:rPr>
              <a:t>NULL</a:t>
            </a:r>
            <a:endParaRPr sz="900">
              <a:solidFill>
                <a:srgbClr val="000000"/>
              </a:solidFill>
              <a:latin typeface="Consolas"/>
              <a:ea typeface="Consolas"/>
              <a:cs typeface="Consolas"/>
              <a:sym typeface="Consolas"/>
            </a:endParaRPr>
          </a:p>
          <a:p>
            <a:pPr indent="0" lvl="0" marL="0" rtl="0" algn="l">
              <a:spcBef>
                <a:spcPts val="180"/>
              </a:spcBef>
              <a:spcAft>
                <a:spcPts val="0"/>
              </a:spcAft>
              <a:buClr>
                <a:srgbClr val="808080"/>
              </a:buClr>
              <a:buSzPts val="900"/>
              <a:buNone/>
            </a:pPr>
            <a:r>
              <a:rPr lang="en-US" sz="900">
                <a:solidFill>
                  <a:srgbClr val="80808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indent="0" lvl="0" marL="0" rtl="0" algn="l">
              <a:spcBef>
                <a:spcPts val="180"/>
              </a:spcBef>
              <a:spcAft>
                <a:spcPts val="0"/>
              </a:spcAft>
              <a:buClr>
                <a:srgbClr val="0000FF"/>
              </a:buClr>
              <a:buSzPts val="900"/>
              <a:buNone/>
            </a:pPr>
            <a:r>
              <a:rPr lang="en-US" sz="900">
                <a:solidFill>
                  <a:srgbClr val="0000FF"/>
                </a:solidFill>
                <a:latin typeface="Consolas"/>
                <a:ea typeface="Consolas"/>
                <a:cs typeface="Consolas"/>
                <a:sym typeface="Consolas"/>
              </a:rPr>
              <a:t>SELECT</a:t>
            </a:r>
            <a:r>
              <a:rPr lang="en-US" sz="900">
                <a:solidFill>
                  <a:srgbClr val="000000"/>
                </a:solidFill>
                <a:latin typeface="Consolas"/>
                <a:ea typeface="Consolas"/>
                <a:cs typeface="Consolas"/>
                <a:sym typeface="Consolas"/>
              </a:rPr>
              <a:t> TARGET_CONCEPT_ID</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TARGET_CONCEPT_NAME</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TARGET_DOMAIN_ID</a:t>
            </a:r>
            <a:endParaRPr/>
          </a:p>
          <a:p>
            <a:pPr indent="0" lvl="0" marL="0" rtl="0" algn="l">
              <a:spcBef>
                <a:spcPts val="180"/>
              </a:spcBef>
              <a:spcAft>
                <a:spcPts val="0"/>
              </a:spcAft>
              <a:buClr>
                <a:srgbClr val="0000FF"/>
              </a:buClr>
              <a:buSzPts val="900"/>
              <a:buNone/>
            </a:pPr>
            <a:r>
              <a:rPr lang="en-US" sz="900">
                <a:solidFill>
                  <a:srgbClr val="0000FF"/>
                </a:solidFill>
                <a:latin typeface="Consolas"/>
                <a:ea typeface="Consolas"/>
                <a:cs typeface="Consolas"/>
                <a:sym typeface="Consolas"/>
              </a:rPr>
              <a:t>FROM</a:t>
            </a:r>
            <a:r>
              <a:rPr lang="en-US" sz="900">
                <a:solidFill>
                  <a:srgbClr val="000000"/>
                </a:solidFill>
                <a:latin typeface="Consolas"/>
                <a:ea typeface="Consolas"/>
                <a:cs typeface="Consolas"/>
                <a:sym typeface="Consolas"/>
              </a:rPr>
              <a:t> CTE_VOCAB_MAP</a:t>
            </a:r>
            <a:endParaRPr/>
          </a:p>
          <a:p>
            <a:pPr indent="0" lvl="0" marL="0" rtl="0" algn="l">
              <a:spcBef>
                <a:spcPts val="180"/>
              </a:spcBef>
              <a:spcAft>
                <a:spcPts val="0"/>
              </a:spcAft>
              <a:buClr>
                <a:srgbClr val="0000FF"/>
              </a:buClr>
              <a:buSzPts val="900"/>
              <a:buNone/>
            </a:pPr>
            <a:r>
              <a:rPr lang="en-US" sz="900">
                <a:solidFill>
                  <a:srgbClr val="0000FF"/>
                </a:solidFill>
                <a:latin typeface="Consolas"/>
                <a:ea typeface="Consolas"/>
                <a:cs typeface="Consolas"/>
                <a:sym typeface="Consolas"/>
              </a:rPr>
              <a:t>WHERE</a:t>
            </a:r>
            <a:r>
              <a:rPr lang="en-US" sz="900">
                <a:solidFill>
                  <a:srgbClr val="000000"/>
                </a:solidFill>
                <a:latin typeface="Consolas"/>
                <a:ea typeface="Consolas"/>
                <a:cs typeface="Consolas"/>
                <a:sym typeface="Consolas"/>
              </a:rPr>
              <a:t> SOURCE_VOCABULARY_ID </a:t>
            </a:r>
            <a:r>
              <a:rPr lang="en-US" sz="900">
                <a:solidFill>
                  <a:srgbClr val="808080"/>
                </a:solidFill>
                <a:latin typeface="Consolas"/>
                <a:ea typeface="Consolas"/>
                <a:cs typeface="Consolas"/>
                <a:sym typeface="Consolas"/>
              </a:rPr>
              <a:t>=</a:t>
            </a:r>
            <a:r>
              <a:rPr lang="en-US" sz="900">
                <a:solidFill>
                  <a:srgbClr val="000000"/>
                </a:solidFill>
                <a:latin typeface="Consolas"/>
                <a:ea typeface="Consolas"/>
                <a:cs typeface="Consolas"/>
                <a:sym typeface="Consolas"/>
              </a:rPr>
              <a:t> </a:t>
            </a:r>
            <a:r>
              <a:rPr lang="en-US" sz="900">
                <a:solidFill>
                  <a:srgbClr val="FF0000"/>
                </a:solidFill>
                <a:highlight>
                  <a:srgbClr val="FFFF00"/>
                </a:highlight>
                <a:latin typeface="Consolas"/>
                <a:ea typeface="Consolas"/>
                <a:cs typeface="Consolas"/>
                <a:sym typeface="Consolas"/>
              </a:rPr>
              <a:t>‘Synthea_conditions'</a:t>
            </a:r>
            <a:endParaRPr sz="900">
              <a:solidFill>
                <a:srgbClr val="000000"/>
              </a:solidFill>
              <a:highlight>
                <a:srgbClr val="FFFF00"/>
              </a:highlight>
              <a:latin typeface="Consolas"/>
              <a:ea typeface="Consolas"/>
              <a:cs typeface="Consolas"/>
              <a:sym typeface="Consolas"/>
            </a:endParaRPr>
          </a:p>
        </p:txBody>
      </p:sp>
      <p:sp>
        <p:nvSpPr>
          <p:cNvPr id="1361" name="Google Shape;1361;p113"/>
          <p:cNvSpPr/>
          <p:nvPr/>
        </p:nvSpPr>
        <p:spPr>
          <a:xfrm>
            <a:off x="1817916" y="3635829"/>
            <a:ext cx="8392885" cy="2011438"/>
          </a:xfrm>
          <a:prstGeom prst="frame">
            <a:avLst>
              <a:gd fmla="val 3094" name="adj1"/>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2" name="Google Shape;1362;p113"/>
          <p:cNvSpPr/>
          <p:nvPr/>
        </p:nvSpPr>
        <p:spPr>
          <a:xfrm>
            <a:off x="4615545" y="1817916"/>
            <a:ext cx="3145971" cy="1404257"/>
          </a:xfrm>
          <a:prstGeom prst="roundRect">
            <a:avLst>
              <a:gd fmla="val 16667" name="adj"/>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Look in the Source to Concept Map table for a map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114"/>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Update the ETL document</a:t>
            </a:r>
            <a:endParaRPr/>
          </a:p>
        </p:txBody>
      </p:sp>
      <p:sp>
        <p:nvSpPr>
          <p:cNvPr id="1368" name="Google Shape;1368;p114"/>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u="sng">
                <a:solidFill>
                  <a:schemeClr val="hlink"/>
                </a:solidFill>
                <a:hlinkClick r:id="rId3"/>
              </a:rPr>
              <a:t>https://ohdsi.github.io/Tutorial-ETL/docs/cdm_synthea_v2</a:t>
            </a:r>
            <a:endParaRPr/>
          </a:p>
        </p:txBody>
      </p:sp>
      <p:sp>
        <p:nvSpPr>
          <p:cNvPr id="1369" name="Google Shape;1369;p114"/>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70" name="Google Shape;1370;p114"/>
          <p:cNvPicPr preferRelativeResize="0"/>
          <p:nvPr/>
        </p:nvPicPr>
        <p:blipFill rotWithShape="1">
          <a:blip r:embed="rId4">
            <a:alphaModFix/>
          </a:blip>
          <a:srcRect b="0" l="0" r="0" t="0"/>
          <a:stretch/>
        </p:blipFill>
        <p:spPr>
          <a:xfrm>
            <a:off x="2409826" y="2789780"/>
            <a:ext cx="7191375" cy="2695575"/>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115"/>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Re-run the DQD</a:t>
            </a:r>
            <a:endParaRPr/>
          </a:p>
        </p:txBody>
      </p:sp>
      <p:sp>
        <p:nvSpPr>
          <p:cNvPr id="1376" name="Google Shape;1376;p115"/>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77" name="Google Shape;1377;p115"/>
          <p:cNvSpPr/>
          <p:nvPr/>
        </p:nvSpPr>
        <p:spPr>
          <a:xfrm>
            <a:off x="3286226" y="2500818"/>
            <a:ext cx="5248175" cy="2697163"/>
          </a:xfrm>
          <a:prstGeom prst="rect">
            <a:avLst/>
          </a:prstGeom>
          <a:solidFill>
            <a:schemeClr val="accent1"/>
          </a:solidFill>
          <a:ln cap="flat" cmpd="sng" w="25400">
            <a:solidFill>
              <a:srgbClr val="AB4A1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TBD</a:t>
            </a:r>
            <a:endParaRPr/>
          </a:p>
        </p:txBody>
      </p:sp>
      <p:pic>
        <p:nvPicPr>
          <p:cNvPr id="1378" name="Google Shape;1378;p115"/>
          <p:cNvPicPr preferRelativeResize="0"/>
          <p:nvPr/>
        </p:nvPicPr>
        <p:blipFill rotWithShape="1">
          <a:blip r:embed="rId3">
            <a:alphaModFix/>
          </a:blip>
          <a:srcRect b="0" l="0" r="0" t="0"/>
          <a:stretch/>
        </p:blipFill>
        <p:spPr>
          <a:xfrm>
            <a:off x="1524000" y="1407200"/>
            <a:ext cx="9144000" cy="4615101"/>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16"/>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Re-run Achilles</a:t>
            </a:r>
            <a:endParaRPr/>
          </a:p>
        </p:txBody>
      </p:sp>
      <p:sp>
        <p:nvSpPr>
          <p:cNvPr id="1384" name="Google Shape;1384;p116"/>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rgbClr val="20425A"/>
              </a:buClr>
              <a:buSzPts val="3200"/>
              <a:buNone/>
            </a:pPr>
            <a:r>
              <a:t/>
            </a:r>
            <a:endParaRPr/>
          </a:p>
        </p:txBody>
      </p:sp>
      <p:sp>
        <p:nvSpPr>
          <p:cNvPr id="1385" name="Google Shape;1385;p116"/>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86" name="Google Shape;1386;p116"/>
          <p:cNvPicPr preferRelativeResize="0"/>
          <p:nvPr/>
        </p:nvPicPr>
        <p:blipFill rotWithShape="1">
          <a:blip r:embed="rId3">
            <a:alphaModFix/>
          </a:blip>
          <a:srcRect b="0" l="0" r="0" t="0"/>
          <a:stretch/>
        </p:blipFill>
        <p:spPr>
          <a:xfrm>
            <a:off x="1524000" y="1220716"/>
            <a:ext cx="9144000" cy="2473469"/>
          </a:xfrm>
          <a:prstGeom prst="rect">
            <a:avLst/>
          </a:prstGeom>
          <a:noFill/>
          <a:ln>
            <a:noFill/>
          </a:ln>
        </p:spPr>
      </p:pic>
      <p:pic>
        <p:nvPicPr>
          <p:cNvPr id="1387" name="Google Shape;1387;p116"/>
          <p:cNvPicPr preferRelativeResize="0"/>
          <p:nvPr/>
        </p:nvPicPr>
        <p:blipFill rotWithShape="1">
          <a:blip r:embed="rId4">
            <a:alphaModFix/>
          </a:blip>
          <a:srcRect b="0" l="0" r="0" t="0"/>
          <a:stretch/>
        </p:blipFill>
        <p:spPr>
          <a:xfrm>
            <a:off x="1524000" y="3767397"/>
            <a:ext cx="9144000" cy="2465923"/>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17"/>
          <p:cNvSpPr txBox="1"/>
          <p:nvPr>
            <p:ph type="ctrTitle"/>
          </p:nvPr>
        </p:nvSpPr>
        <p:spPr>
          <a:xfrm>
            <a:off x="3149600" y="2130430"/>
            <a:ext cx="8128000" cy="175577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Final Hard Lessons Learned</a:t>
            </a:r>
            <a:endParaRPr/>
          </a:p>
        </p:txBody>
      </p:sp>
      <p:pic>
        <p:nvPicPr>
          <p:cNvPr descr="Image result for pusheen transparent background sad" id="1393" name="Google Shape;1393;p117"/>
          <p:cNvPicPr preferRelativeResize="0"/>
          <p:nvPr/>
        </p:nvPicPr>
        <p:blipFill rotWithShape="1">
          <a:blip r:embed="rId3">
            <a:alphaModFix/>
          </a:blip>
          <a:srcRect b="0" l="0" r="0" t="0"/>
          <a:stretch/>
        </p:blipFill>
        <p:spPr>
          <a:xfrm>
            <a:off x="5974890" y="3599916"/>
            <a:ext cx="1918620" cy="2181224"/>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118"/>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80/20 Rule</a:t>
            </a:r>
            <a:endParaRPr/>
          </a:p>
        </p:txBody>
      </p:sp>
      <p:pic>
        <p:nvPicPr>
          <p:cNvPr id="1399" name="Google Shape;1399;p118"/>
          <p:cNvPicPr preferRelativeResize="0"/>
          <p:nvPr/>
        </p:nvPicPr>
        <p:blipFill rotWithShape="1">
          <a:blip r:embed="rId3">
            <a:alphaModFix/>
          </a:blip>
          <a:srcRect b="0" l="0" r="0" t="0"/>
          <a:stretch/>
        </p:blipFill>
        <p:spPr>
          <a:xfrm>
            <a:off x="1843088" y="1111704"/>
            <a:ext cx="8505825" cy="1543050"/>
          </a:xfrm>
          <a:prstGeom prst="rect">
            <a:avLst/>
          </a:prstGeom>
          <a:noFill/>
          <a:ln>
            <a:noFill/>
          </a:ln>
        </p:spPr>
      </p:pic>
      <p:pic>
        <p:nvPicPr>
          <p:cNvPr descr="An external file that holds a picture, illustration, etc.&#10;Object name is 40264_2014_214_Fig1_HTML.jpg" id="1400" name="Google Shape;1400;p118"/>
          <p:cNvPicPr preferRelativeResize="0"/>
          <p:nvPr/>
        </p:nvPicPr>
        <p:blipFill rotWithShape="1">
          <a:blip r:embed="rId4">
            <a:alphaModFix/>
          </a:blip>
          <a:srcRect b="0" l="0" r="0" t="0"/>
          <a:stretch/>
        </p:blipFill>
        <p:spPr>
          <a:xfrm>
            <a:off x="2117272" y="2654755"/>
            <a:ext cx="5410200" cy="3648075"/>
          </a:xfrm>
          <a:prstGeom prst="rect">
            <a:avLst/>
          </a:prstGeom>
          <a:noFill/>
          <a:ln>
            <a:noFill/>
          </a:ln>
        </p:spPr>
      </p:pic>
      <p:sp>
        <p:nvSpPr>
          <p:cNvPr id="1401" name="Google Shape;1401;p118"/>
          <p:cNvSpPr txBox="1"/>
          <p:nvPr/>
        </p:nvSpPr>
        <p:spPr>
          <a:xfrm>
            <a:off x="7702664" y="3731844"/>
            <a:ext cx="2471057"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You don’t need to map all terms to get good data coverage!</a:t>
            </a:r>
            <a:endParaRPr/>
          </a:p>
        </p:txBody>
      </p:sp>
      <p:sp>
        <p:nvSpPr>
          <p:cNvPr id="1402" name="Google Shape;1402;p118"/>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119"/>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Comfort with Data Loss</a:t>
            </a:r>
            <a:endParaRPr/>
          </a:p>
        </p:txBody>
      </p:sp>
      <p:sp>
        <p:nvSpPr>
          <p:cNvPr id="1408" name="Google Shape;1408;p119"/>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9" name="Google Shape;1409;p119"/>
          <p:cNvSpPr txBox="1"/>
          <p:nvPr>
            <p:ph idx="1" type="body"/>
          </p:nvPr>
        </p:nvSpPr>
        <p:spPr>
          <a:xfrm>
            <a:off x="609600" y="1219205"/>
            <a:ext cx="10972800" cy="4906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20425A"/>
              </a:buClr>
              <a:buSzPts val="3200"/>
              <a:buChar char="•"/>
            </a:pPr>
            <a:r>
              <a:rPr lang="en-US"/>
              <a:t>If there is data that is not of research quality or there are methods to adjust, use the ETL to standardize that</a:t>
            </a:r>
            <a:endParaRPr/>
          </a:p>
        </p:txBody>
      </p:sp>
      <p:graphicFrame>
        <p:nvGraphicFramePr>
          <p:cNvPr id="1410" name="Google Shape;1410;p119"/>
          <p:cNvGraphicFramePr/>
          <p:nvPr/>
        </p:nvGraphicFramePr>
        <p:xfrm>
          <a:off x="2190204" y="2956560"/>
          <a:ext cx="3000000" cy="3000000"/>
        </p:xfrm>
        <a:graphic>
          <a:graphicData uri="http://schemas.openxmlformats.org/drawingml/2006/table">
            <a:tbl>
              <a:tblPr>
                <a:noFill/>
                <a:tableStyleId>{5000C0AC-F8AF-484B-93E4-D2C59BA90F7C}</a:tableStyleId>
              </a:tblPr>
              <a:tblGrid>
                <a:gridCol w="6148250"/>
                <a:gridCol w="1872350"/>
              </a:tblGrid>
              <a:tr h="232075">
                <a:tc gridSpan="2">
                  <a:txBody>
                    <a:bodyPr/>
                    <a:lstStyle/>
                    <a:p>
                      <a:pPr indent="0" lvl="0" marL="0" marR="0" rtl="0" algn="l">
                        <a:spcBef>
                          <a:spcPts val="0"/>
                        </a:spcBef>
                        <a:spcAft>
                          <a:spcPts val="0"/>
                        </a:spcAft>
                        <a:buNone/>
                      </a:pPr>
                      <a:r>
                        <a:rPr b="1" i="0" lang="en-US" sz="2000" u="none" strike="noStrike">
                          <a:solidFill>
                            <a:srgbClr val="000000"/>
                          </a:solidFill>
                          <a:latin typeface="Calibri"/>
                          <a:ea typeface="Calibri"/>
                          <a:cs typeface="Calibri"/>
                          <a:sym typeface="Calibri"/>
                        </a:rPr>
                        <a:t>Example Patient Drop Counts from a CDM Build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A5A5A5"/>
                    </a:solidFill>
                  </a:tcPr>
                </a:tc>
                <a:tc hMerge="1"/>
              </a:tr>
              <a:tr h="232075">
                <a:tc>
                  <a:txBody>
                    <a:bodyPr/>
                    <a:lstStyle/>
                    <a:p>
                      <a:pPr indent="0" lvl="0" marL="0" marR="0" rtl="0" algn="l">
                        <a:spcBef>
                          <a:spcPts val="0"/>
                        </a:spcBef>
                        <a:spcAft>
                          <a:spcPts val="0"/>
                        </a:spcAft>
                        <a:buNone/>
                      </a:pPr>
                      <a:r>
                        <a:rPr b="1" i="0" lang="en-US" sz="2000" u="none" strike="noStrike">
                          <a:solidFill>
                            <a:srgbClr val="000000"/>
                          </a:solidFill>
                          <a:latin typeface="Calibri"/>
                          <a:ea typeface="Calibri"/>
                          <a:cs typeface="Calibri"/>
                          <a:sym typeface="Calibri"/>
                        </a:rPr>
                        <a:t>Reason to Drop Someone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l">
                        <a:spcBef>
                          <a:spcPts val="0"/>
                        </a:spcBef>
                        <a:spcAft>
                          <a:spcPts val="0"/>
                        </a:spcAft>
                        <a:buNone/>
                      </a:pPr>
                      <a:r>
                        <a:rPr b="1" lang="en-US" sz="2000" u="none" strike="noStrike"/>
                        <a:t>Person Count</a:t>
                      </a:r>
                      <a:endParaRPr b="1"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r>
              <a:tr h="232075">
                <a:tc>
                  <a:txBody>
                    <a:bodyPr/>
                    <a:lstStyle/>
                    <a:p>
                      <a:pPr indent="0" lvl="0" marL="0" marR="0" rtl="0" algn="l">
                        <a:spcBef>
                          <a:spcPts val="0"/>
                        </a:spcBef>
                        <a:spcAft>
                          <a:spcPts val="0"/>
                        </a:spcAft>
                        <a:buNone/>
                      </a:pPr>
                      <a:r>
                        <a:rPr lang="en-US" sz="2000" u="none" strike="noStrike"/>
                        <a:t>Unknown gender</a:t>
                      </a:r>
                      <a:endParaRPr b="0"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lang="en-US" sz="2000" u="none" strike="noStrike"/>
                        <a:t>                 23,592 </a:t>
                      </a:r>
                      <a:endParaRPr b="0"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395900">
                <a:tc>
                  <a:txBody>
                    <a:bodyPr/>
                    <a:lstStyle/>
                    <a:p>
                      <a:pPr indent="0" lvl="0" marL="0" marR="0" rtl="0" algn="l">
                        <a:spcBef>
                          <a:spcPts val="0"/>
                        </a:spcBef>
                        <a:spcAft>
                          <a:spcPts val="0"/>
                        </a:spcAft>
                        <a:buNone/>
                      </a:pPr>
                      <a:r>
                        <a:rPr lang="en-US" sz="2000" u="none" strike="noStrike"/>
                        <a:t>Implausible year of birth - past</a:t>
                      </a:r>
                      <a:endParaRPr b="0"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r">
                        <a:spcBef>
                          <a:spcPts val="0"/>
                        </a:spcBef>
                        <a:spcAft>
                          <a:spcPts val="0"/>
                        </a:spcAft>
                        <a:buNone/>
                      </a:pPr>
                      <a:r>
                        <a:rPr lang="en-US" sz="2000" u="none" strike="noStrike"/>
                        <a:t>                      749 </a:t>
                      </a:r>
                      <a:endParaRPr b="0"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r h="232075">
                <a:tc>
                  <a:txBody>
                    <a:bodyPr/>
                    <a:lstStyle/>
                    <a:p>
                      <a:pPr indent="0" lvl="0" marL="0" marR="0" rtl="0" algn="l">
                        <a:spcBef>
                          <a:spcPts val="0"/>
                        </a:spcBef>
                        <a:spcAft>
                          <a:spcPts val="0"/>
                        </a:spcAft>
                        <a:buNone/>
                      </a:pPr>
                      <a:r>
                        <a:rPr lang="en-US" sz="2000" u="none" strike="noStrike"/>
                        <a:t>Implausible year of birth - post earliest observation period</a:t>
                      </a:r>
                      <a:endParaRPr b="0"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None/>
                      </a:pPr>
                      <a:r>
                        <a:rPr lang="en-US" sz="2000" u="none" strike="noStrike"/>
                        <a:t>3,836 </a:t>
                      </a:r>
                      <a:endParaRPr b="0"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FF"/>
                    </a:solidFill>
                  </a:tcPr>
                </a:tc>
              </a:tr>
              <a:tr h="232075">
                <a:tc>
                  <a:txBody>
                    <a:bodyPr/>
                    <a:lstStyle/>
                    <a:p>
                      <a:pPr indent="0" lvl="0" marL="0" marR="0" rtl="0" algn="l">
                        <a:spcBef>
                          <a:spcPts val="0"/>
                        </a:spcBef>
                        <a:spcAft>
                          <a:spcPts val="0"/>
                        </a:spcAft>
                        <a:buNone/>
                      </a:pPr>
                      <a:r>
                        <a:rPr lang="en-US" sz="2000" u="none" strike="noStrike"/>
                        <a:t>Gender changes</a:t>
                      </a:r>
                      <a:endParaRPr b="0"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c>
                  <a:txBody>
                    <a:bodyPr/>
                    <a:lstStyle/>
                    <a:p>
                      <a:pPr indent="0" lvl="0" marL="0" marR="0" rtl="0" algn="r">
                        <a:spcBef>
                          <a:spcPts val="0"/>
                        </a:spcBef>
                        <a:spcAft>
                          <a:spcPts val="0"/>
                        </a:spcAft>
                        <a:buNone/>
                      </a:pPr>
                      <a:r>
                        <a:rPr lang="en-US" sz="2000" u="none" strike="noStrike"/>
                        <a:t>                           2 </a:t>
                      </a:r>
                      <a:endParaRPr b="0" i="0" sz="2000" u="none" strike="noStrike">
                        <a:solidFill>
                          <a:srgbClr val="000000"/>
                        </a:solidFill>
                        <a:latin typeface="Calibri"/>
                        <a:ea typeface="Calibri"/>
                        <a:cs typeface="Calibri"/>
                        <a:sym typeface="Calibri"/>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6F8FA"/>
                    </a:solidFill>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20"/>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Process</a:t>
            </a:r>
            <a:endParaRPr/>
          </a:p>
        </p:txBody>
      </p:sp>
      <p:pic>
        <p:nvPicPr>
          <p:cNvPr descr="alt text" id="1416" name="Google Shape;1416;p120"/>
          <p:cNvPicPr preferRelativeResize="0"/>
          <p:nvPr/>
        </p:nvPicPr>
        <p:blipFill rotWithShape="1">
          <a:blip r:embed="rId3">
            <a:alphaModFix/>
          </a:blip>
          <a:srcRect b="0" l="0" r="0" t="0"/>
          <a:stretch/>
        </p:blipFill>
        <p:spPr>
          <a:xfrm>
            <a:off x="5015843" y="5176886"/>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alt text" id="1417" name="Google Shape;1417;p120"/>
          <p:cNvPicPr preferRelativeResize="0"/>
          <p:nvPr/>
        </p:nvPicPr>
        <p:blipFill rotWithShape="1">
          <a:blip r:embed="rId4">
            <a:alphaModFix/>
          </a:blip>
          <a:srcRect b="0" l="0" r="0" t="0"/>
          <a:stretch/>
        </p:blipFill>
        <p:spPr>
          <a:xfrm>
            <a:off x="2201660" y="5189299"/>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id="1418" name="Google Shape;1418;p120"/>
          <p:cNvPicPr preferRelativeResize="0"/>
          <p:nvPr/>
        </p:nvPicPr>
        <p:blipFill rotWithShape="1">
          <a:blip r:embed="rId5">
            <a:alphaModFix/>
          </a:blip>
          <a:srcRect b="0" l="0" r="0" t="0"/>
          <a:stretch/>
        </p:blipFill>
        <p:spPr>
          <a:xfrm>
            <a:off x="3197935" y="5165487"/>
            <a:ext cx="666750" cy="65722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pic>
        <p:nvPicPr>
          <p:cNvPr descr="http://www.ohdsi.org/web/wiki/lib/exe/fetch.php?w=100&amp;tok=44f68f&amp;media=t-ohdsi-logo-only.png" id="1419" name="Google Shape;1419;p120"/>
          <p:cNvPicPr preferRelativeResize="0"/>
          <p:nvPr/>
        </p:nvPicPr>
        <p:blipFill rotWithShape="1">
          <a:blip r:embed="rId6">
            <a:alphaModFix/>
          </a:blip>
          <a:srcRect b="0" l="0" r="0" t="0"/>
          <a:stretch/>
        </p:blipFill>
        <p:spPr>
          <a:xfrm>
            <a:off x="7382636" y="5118974"/>
            <a:ext cx="667512" cy="66751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420" name="Google Shape;1420;p120"/>
          <p:cNvSpPr txBox="1"/>
          <p:nvPr/>
        </p:nvSpPr>
        <p:spPr>
          <a:xfrm rot="-5400000">
            <a:off x="1046836" y="5411489"/>
            <a:ext cx="1466020" cy="369332"/>
          </a:xfrm>
          <a:prstGeom prst="rect">
            <a:avLst/>
          </a:prstGeom>
          <a:solidFill>
            <a:schemeClr val="accent6"/>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OHDSI Tools</a:t>
            </a:r>
            <a:endParaRPr/>
          </a:p>
        </p:txBody>
      </p:sp>
      <p:cxnSp>
        <p:nvCxnSpPr>
          <p:cNvPr id="1421" name="Google Shape;1421;p120"/>
          <p:cNvCxnSpPr/>
          <p:nvPr/>
        </p:nvCxnSpPr>
        <p:spPr>
          <a:xfrm>
            <a:off x="1964512" y="4863145"/>
            <a:ext cx="8540202" cy="0"/>
          </a:xfrm>
          <a:prstGeom prst="straightConnector1">
            <a:avLst/>
          </a:prstGeom>
          <a:noFill/>
          <a:ln cap="flat" cmpd="sng" w="25400">
            <a:solidFill>
              <a:schemeClr val="accent6"/>
            </a:solidFill>
            <a:prstDash val="dash"/>
            <a:round/>
            <a:headEnd len="sm" w="sm" type="none"/>
            <a:tailEnd len="sm" w="sm" type="none"/>
          </a:ln>
          <a:effectLst>
            <a:outerShdw blurRad="40000" rotWithShape="0" dir="5400000" dist="20000">
              <a:srgbClr val="000000">
                <a:alpha val="37647"/>
              </a:srgbClr>
            </a:outerShdw>
          </a:effectLst>
        </p:spPr>
      </p:cxnSp>
      <p:sp>
        <p:nvSpPr>
          <p:cNvPr id="1422" name="Google Shape;1422;p120"/>
          <p:cNvSpPr/>
          <p:nvPr/>
        </p:nvSpPr>
        <p:spPr>
          <a:xfrm>
            <a:off x="2025007" y="5822712"/>
            <a:ext cx="88754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White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Rabbit</a:t>
            </a:r>
            <a:endParaRPr/>
          </a:p>
        </p:txBody>
      </p:sp>
      <p:sp>
        <p:nvSpPr>
          <p:cNvPr id="1423" name="Google Shape;1423;p120"/>
          <p:cNvSpPr/>
          <p:nvPr/>
        </p:nvSpPr>
        <p:spPr>
          <a:xfrm>
            <a:off x="3017970" y="5857426"/>
            <a:ext cx="10266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Rabbit In a Hat</a:t>
            </a:r>
            <a:endParaRPr/>
          </a:p>
        </p:txBody>
      </p:sp>
      <p:pic>
        <p:nvPicPr>
          <p:cNvPr id="1424" name="Google Shape;1424;p120"/>
          <p:cNvPicPr preferRelativeResize="0"/>
          <p:nvPr/>
        </p:nvPicPr>
        <p:blipFill rotWithShape="1">
          <a:blip r:embed="rId5">
            <a:alphaModFix/>
          </a:blip>
          <a:srcRect b="0" l="0" r="0" t="0"/>
          <a:stretch/>
        </p:blipFill>
        <p:spPr>
          <a:xfrm>
            <a:off x="9458959" y="5118975"/>
            <a:ext cx="666750" cy="65722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425" name="Google Shape;1425;p120"/>
          <p:cNvSpPr/>
          <p:nvPr/>
        </p:nvSpPr>
        <p:spPr>
          <a:xfrm>
            <a:off x="9278994" y="5810914"/>
            <a:ext cx="10266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Rabbit In a Hat</a:t>
            </a:r>
            <a:endParaRPr/>
          </a:p>
        </p:txBody>
      </p:sp>
      <p:pic>
        <p:nvPicPr>
          <p:cNvPr descr="alt text" id="1426" name="Google Shape;1426;p120"/>
          <p:cNvPicPr preferRelativeResize="0"/>
          <p:nvPr/>
        </p:nvPicPr>
        <p:blipFill rotWithShape="1">
          <a:blip r:embed="rId4">
            <a:alphaModFix/>
          </a:blip>
          <a:srcRect b="0" l="0" r="0" t="0"/>
          <a:stretch/>
        </p:blipFill>
        <p:spPr>
          <a:xfrm>
            <a:off x="6496447" y="5156161"/>
            <a:ext cx="609600" cy="6096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427" name="Google Shape;1427;p120"/>
          <p:cNvSpPr/>
          <p:nvPr/>
        </p:nvSpPr>
        <p:spPr>
          <a:xfrm>
            <a:off x="6319794" y="5789574"/>
            <a:ext cx="88754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White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Rabbit</a:t>
            </a:r>
            <a:endParaRPr/>
          </a:p>
        </p:txBody>
      </p:sp>
      <p:sp>
        <p:nvSpPr>
          <p:cNvPr id="1428" name="Google Shape;1428;p120"/>
          <p:cNvSpPr/>
          <p:nvPr/>
        </p:nvSpPr>
        <p:spPr>
          <a:xfrm>
            <a:off x="7144181" y="5893393"/>
            <a:ext cx="11444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ACHILLES</a:t>
            </a:r>
            <a:endParaRPr/>
          </a:p>
        </p:txBody>
      </p:sp>
      <p:sp>
        <p:nvSpPr>
          <p:cNvPr id="1429" name="Google Shape;1429;p120"/>
          <p:cNvSpPr/>
          <p:nvPr/>
        </p:nvSpPr>
        <p:spPr>
          <a:xfrm>
            <a:off x="4885631" y="5810913"/>
            <a:ext cx="88754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Usagi</a:t>
            </a:r>
            <a:endParaRPr/>
          </a:p>
        </p:txBody>
      </p:sp>
      <p:grpSp>
        <p:nvGrpSpPr>
          <p:cNvPr id="1430" name="Google Shape;1430;p120"/>
          <p:cNvGrpSpPr/>
          <p:nvPr/>
        </p:nvGrpSpPr>
        <p:grpSpPr>
          <a:xfrm>
            <a:off x="1964512" y="720516"/>
            <a:ext cx="8733012" cy="3919603"/>
            <a:chOff x="440512" y="720515"/>
            <a:chExt cx="8733012" cy="3919603"/>
          </a:xfrm>
        </p:grpSpPr>
        <p:pic>
          <p:nvPicPr>
            <p:cNvPr descr="Image result for pusheen transparent background" id="1431" name="Google Shape;1431;p120"/>
            <p:cNvPicPr preferRelativeResize="0"/>
            <p:nvPr/>
          </p:nvPicPr>
          <p:blipFill rotWithShape="1">
            <a:blip r:embed="rId7">
              <a:alphaModFix/>
            </a:blip>
            <a:srcRect b="0" l="0" r="0" t="0"/>
            <a:stretch/>
          </p:blipFill>
          <p:spPr>
            <a:xfrm>
              <a:off x="677660" y="1058180"/>
              <a:ext cx="1319346" cy="1319346"/>
            </a:xfrm>
            <a:prstGeom prst="rect">
              <a:avLst/>
            </a:prstGeom>
            <a:noFill/>
            <a:ln>
              <a:noFill/>
            </a:ln>
          </p:spPr>
        </p:pic>
        <p:pic>
          <p:nvPicPr>
            <p:cNvPr descr="Related image" id="1432" name="Google Shape;1432;p120"/>
            <p:cNvPicPr preferRelativeResize="0"/>
            <p:nvPr/>
          </p:nvPicPr>
          <p:blipFill rotWithShape="1">
            <a:blip r:embed="rId8">
              <a:alphaModFix/>
            </a:blip>
            <a:srcRect b="0" l="0" r="0" t="0"/>
            <a:stretch/>
          </p:blipFill>
          <p:spPr>
            <a:xfrm>
              <a:off x="3176230" y="1005611"/>
              <a:ext cx="1466020" cy="1424483"/>
            </a:xfrm>
            <a:prstGeom prst="rect">
              <a:avLst/>
            </a:prstGeom>
            <a:noFill/>
            <a:ln>
              <a:noFill/>
            </a:ln>
          </p:spPr>
        </p:pic>
        <p:pic>
          <p:nvPicPr>
            <p:cNvPr descr="Image result for pusheen transparent background" id="1433" name="Google Shape;1433;p120"/>
            <p:cNvPicPr preferRelativeResize="0"/>
            <p:nvPr/>
          </p:nvPicPr>
          <p:blipFill rotWithShape="1">
            <a:blip r:embed="rId9">
              <a:alphaModFix/>
            </a:blip>
            <a:srcRect b="0" l="0" r="0" t="0"/>
            <a:stretch/>
          </p:blipFill>
          <p:spPr>
            <a:xfrm>
              <a:off x="7621083" y="2715198"/>
              <a:ext cx="1522917" cy="1522917"/>
            </a:xfrm>
            <a:prstGeom prst="rect">
              <a:avLst/>
            </a:prstGeom>
            <a:noFill/>
            <a:ln>
              <a:noFill/>
            </a:ln>
          </p:spPr>
        </p:pic>
        <p:pic>
          <p:nvPicPr>
            <p:cNvPr id="1434" name="Google Shape;1434;p120"/>
            <p:cNvPicPr preferRelativeResize="0"/>
            <p:nvPr/>
          </p:nvPicPr>
          <p:blipFill rotWithShape="1">
            <a:blip r:embed="rId10">
              <a:alphaModFix/>
            </a:blip>
            <a:srcRect b="0" l="0" r="0" t="0"/>
            <a:stretch/>
          </p:blipFill>
          <p:spPr>
            <a:xfrm>
              <a:off x="5237840" y="2772095"/>
              <a:ext cx="1466020" cy="1466020"/>
            </a:xfrm>
            <a:prstGeom prst="rect">
              <a:avLst/>
            </a:prstGeom>
            <a:noFill/>
            <a:ln>
              <a:noFill/>
            </a:ln>
          </p:spPr>
        </p:pic>
        <p:sp>
          <p:nvSpPr>
            <p:cNvPr id="1435" name="Google Shape;1435;p120"/>
            <p:cNvSpPr/>
            <p:nvPr/>
          </p:nvSpPr>
          <p:spPr>
            <a:xfrm>
              <a:off x="440512" y="2377526"/>
              <a:ext cx="1785258"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Data experts and CDM experts together design the ETL</a:t>
              </a:r>
              <a:endParaRPr/>
            </a:p>
          </p:txBody>
        </p:sp>
        <p:sp>
          <p:nvSpPr>
            <p:cNvPr id="1436" name="Google Shape;1436;p120"/>
            <p:cNvSpPr/>
            <p:nvPr/>
          </p:nvSpPr>
          <p:spPr>
            <a:xfrm>
              <a:off x="2234154" y="1190269"/>
              <a:ext cx="1077686" cy="1055165"/>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7" name="Google Shape;1437;p120"/>
            <p:cNvSpPr/>
            <p:nvPr/>
          </p:nvSpPr>
          <p:spPr>
            <a:xfrm>
              <a:off x="3031312" y="2390392"/>
              <a:ext cx="1872343"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People with medical knowledge create the code mappings</a:t>
              </a:r>
              <a:endParaRPr/>
            </a:p>
          </p:txBody>
        </p:sp>
        <p:sp>
          <p:nvSpPr>
            <p:cNvPr id="1438" name="Google Shape;1438;p120"/>
            <p:cNvSpPr/>
            <p:nvPr/>
          </p:nvSpPr>
          <p:spPr>
            <a:xfrm>
              <a:off x="4737308" y="1142836"/>
              <a:ext cx="1077686" cy="1055165"/>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9" name="Google Shape;1439;p120"/>
            <p:cNvSpPr/>
            <p:nvPr/>
          </p:nvSpPr>
          <p:spPr>
            <a:xfrm>
              <a:off x="6703860" y="1435839"/>
              <a:ext cx="675609" cy="762162"/>
            </a:xfrm>
            <a:prstGeom prst="verticalScroll">
              <a:avLst>
                <a:gd fmla="val 12500" name="adj"/>
              </a:avLst>
            </a:prstGeom>
            <a:solidFill>
              <a:srgbClr val="C2D59B"/>
            </a:solidFill>
            <a:ln cap="flat" cmpd="sng" w="25400">
              <a:solidFill>
                <a:srgbClr val="4F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a:t>
              </a:r>
              <a:endParaRPr/>
            </a:p>
          </p:txBody>
        </p:sp>
        <p:sp>
          <p:nvSpPr>
            <p:cNvPr id="1440" name="Google Shape;1440;p120"/>
            <p:cNvSpPr/>
            <p:nvPr/>
          </p:nvSpPr>
          <p:spPr>
            <a:xfrm>
              <a:off x="7041664" y="3985086"/>
              <a:ext cx="213186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 technical person implements the ETL</a:t>
              </a:r>
              <a:endParaRPr/>
            </a:p>
          </p:txBody>
        </p:sp>
        <p:sp>
          <p:nvSpPr>
            <p:cNvPr id="1441" name="Google Shape;1441;p120"/>
            <p:cNvSpPr/>
            <p:nvPr/>
          </p:nvSpPr>
          <p:spPr>
            <a:xfrm>
              <a:off x="4972447" y="3993787"/>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All are involved in quality control</a:t>
              </a:r>
              <a:endParaRPr/>
            </a:p>
          </p:txBody>
        </p:sp>
        <p:sp>
          <p:nvSpPr>
            <p:cNvPr id="1442" name="Google Shape;1442;p120"/>
            <p:cNvSpPr/>
            <p:nvPr/>
          </p:nvSpPr>
          <p:spPr>
            <a:xfrm rot="2775711">
              <a:off x="7462135" y="2307312"/>
              <a:ext cx="669579" cy="664208"/>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3" name="Google Shape;1443;p120"/>
            <p:cNvSpPr/>
            <p:nvPr/>
          </p:nvSpPr>
          <p:spPr>
            <a:xfrm rot="10800000">
              <a:off x="6630060" y="3177312"/>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4" name="Google Shape;1444;p120"/>
            <p:cNvSpPr/>
            <p:nvPr/>
          </p:nvSpPr>
          <p:spPr>
            <a:xfrm rot="-2606331">
              <a:off x="5921350" y="2121135"/>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5" name="Google Shape;1445;p120"/>
            <p:cNvSpPr/>
            <p:nvPr/>
          </p:nvSpPr>
          <p:spPr>
            <a:xfrm>
              <a:off x="6161056" y="720515"/>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 Documentation </a:t>
              </a:r>
              <a:endParaRPr/>
            </a:p>
          </p:txBody>
        </p:sp>
      </p:grpSp>
      <p:sp>
        <p:nvSpPr>
          <p:cNvPr id="1446" name="Google Shape;1446;p120"/>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47" name="Google Shape;1447;p120"/>
          <p:cNvPicPr preferRelativeResize="0"/>
          <p:nvPr/>
        </p:nvPicPr>
        <p:blipFill rotWithShape="1">
          <a:blip r:embed="rId11">
            <a:alphaModFix/>
          </a:blip>
          <a:srcRect b="0" l="0" r="0" t="0"/>
          <a:stretch/>
        </p:blipFill>
        <p:spPr>
          <a:xfrm>
            <a:off x="8332618" y="5087179"/>
            <a:ext cx="766410" cy="747564"/>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448" name="Google Shape;1448;p120"/>
          <p:cNvSpPr/>
          <p:nvPr/>
        </p:nvSpPr>
        <p:spPr>
          <a:xfrm>
            <a:off x="8163687" y="5872371"/>
            <a:ext cx="114442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DQD</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121"/>
          <p:cNvSpPr txBox="1"/>
          <p:nvPr>
            <p:ph type="title"/>
          </p:nvPr>
        </p:nvSpPr>
        <p:spPr>
          <a:xfrm>
            <a:off x="1524000" y="152400"/>
            <a:ext cx="10058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0425A"/>
              </a:buClr>
              <a:buSzPts val="4000"/>
              <a:buFont typeface="Calibri"/>
              <a:buNone/>
            </a:pPr>
            <a:r>
              <a:rPr lang="en-US"/>
              <a:t>ETL Maintenance</a:t>
            </a:r>
            <a:endParaRPr/>
          </a:p>
        </p:txBody>
      </p:sp>
      <p:pic>
        <p:nvPicPr>
          <p:cNvPr id="1454" name="Google Shape;1454;p121"/>
          <p:cNvPicPr preferRelativeResize="0"/>
          <p:nvPr/>
        </p:nvPicPr>
        <p:blipFill rotWithShape="1">
          <a:blip r:embed="rId3">
            <a:alphaModFix/>
          </a:blip>
          <a:srcRect b="0" l="0" r="0" t="0"/>
          <a:stretch/>
        </p:blipFill>
        <p:spPr>
          <a:xfrm>
            <a:off x="1878013" y="3870712"/>
            <a:ext cx="1543050" cy="50482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455" name="Google Shape;1455;p121"/>
          <p:cNvSpPr/>
          <p:nvPr/>
        </p:nvSpPr>
        <p:spPr>
          <a:xfrm>
            <a:off x="1583608" y="4499379"/>
            <a:ext cx="2131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New Vocab?</a:t>
            </a:r>
            <a:endParaRPr/>
          </a:p>
        </p:txBody>
      </p:sp>
      <p:pic>
        <p:nvPicPr>
          <p:cNvPr id="1456" name="Google Shape;1456;p121"/>
          <p:cNvPicPr preferRelativeResize="0"/>
          <p:nvPr/>
        </p:nvPicPr>
        <p:blipFill rotWithShape="1">
          <a:blip r:embed="rId4">
            <a:alphaModFix/>
          </a:blip>
          <a:srcRect b="0" l="0" r="0" t="0"/>
          <a:stretch/>
        </p:blipFill>
        <p:spPr>
          <a:xfrm>
            <a:off x="2210871" y="2575561"/>
            <a:ext cx="822586" cy="822586"/>
          </a:xfrm>
          <a:prstGeom prst="rect">
            <a:avLst/>
          </a:prstGeom>
          <a:noFill/>
          <a:ln>
            <a:noFill/>
          </a:ln>
        </p:spPr>
      </p:pic>
      <p:sp>
        <p:nvSpPr>
          <p:cNvPr id="1457" name="Google Shape;1457;p121"/>
          <p:cNvSpPr/>
          <p:nvPr/>
        </p:nvSpPr>
        <p:spPr>
          <a:xfrm>
            <a:off x="1601070" y="3324675"/>
            <a:ext cx="2131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Bug Found?</a:t>
            </a:r>
            <a:endParaRPr/>
          </a:p>
        </p:txBody>
      </p:sp>
      <p:sp>
        <p:nvSpPr>
          <p:cNvPr id="1458" name="Google Shape;1458;p121"/>
          <p:cNvSpPr/>
          <p:nvPr/>
        </p:nvSpPr>
        <p:spPr>
          <a:xfrm>
            <a:off x="2333245" y="1331168"/>
            <a:ext cx="523647" cy="604898"/>
          </a:xfrm>
          <a:prstGeom prst="flowChartMagneticDisk">
            <a:avLst/>
          </a:prstGeom>
          <a:solidFill>
            <a:schemeClr val="accent3"/>
          </a:solidFill>
          <a:ln cap="flat" cmpd="sng" w="25400">
            <a:solidFill>
              <a:srgbClr val="7188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9" name="Google Shape;1459;p121"/>
          <p:cNvSpPr/>
          <p:nvPr/>
        </p:nvSpPr>
        <p:spPr>
          <a:xfrm>
            <a:off x="1576623" y="1929231"/>
            <a:ext cx="213186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Changed or Updated Raw Data?</a:t>
            </a:r>
            <a:endParaRPr/>
          </a:p>
        </p:txBody>
      </p:sp>
      <p:pic>
        <p:nvPicPr>
          <p:cNvPr descr="Image result for pusheen transparent background" id="1460" name="Google Shape;1460;p121"/>
          <p:cNvPicPr preferRelativeResize="0"/>
          <p:nvPr/>
        </p:nvPicPr>
        <p:blipFill rotWithShape="1">
          <a:blip r:embed="rId5">
            <a:alphaModFix/>
          </a:blip>
          <a:srcRect b="0" l="0" r="0" t="0"/>
          <a:stretch/>
        </p:blipFill>
        <p:spPr>
          <a:xfrm>
            <a:off x="7142113" y="3600749"/>
            <a:ext cx="1522917" cy="1522917"/>
          </a:xfrm>
          <a:prstGeom prst="rect">
            <a:avLst/>
          </a:prstGeom>
          <a:noFill/>
          <a:ln>
            <a:noFill/>
          </a:ln>
        </p:spPr>
      </p:pic>
      <p:pic>
        <p:nvPicPr>
          <p:cNvPr id="1461" name="Google Shape;1461;p121"/>
          <p:cNvPicPr preferRelativeResize="0"/>
          <p:nvPr/>
        </p:nvPicPr>
        <p:blipFill rotWithShape="1">
          <a:blip r:embed="rId6">
            <a:alphaModFix/>
          </a:blip>
          <a:srcRect b="0" l="0" r="0" t="0"/>
          <a:stretch/>
        </p:blipFill>
        <p:spPr>
          <a:xfrm>
            <a:off x="4758869" y="3657645"/>
            <a:ext cx="1466020" cy="1466020"/>
          </a:xfrm>
          <a:prstGeom prst="rect">
            <a:avLst/>
          </a:prstGeom>
          <a:noFill/>
          <a:ln>
            <a:noFill/>
          </a:ln>
        </p:spPr>
      </p:pic>
      <p:sp>
        <p:nvSpPr>
          <p:cNvPr id="1462" name="Google Shape;1462;p121"/>
          <p:cNvSpPr/>
          <p:nvPr/>
        </p:nvSpPr>
        <p:spPr>
          <a:xfrm>
            <a:off x="6224890" y="2321389"/>
            <a:ext cx="675609" cy="762162"/>
          </a:xfrm>
          <a:prstGeom prst="verticalScroll">
            <a:avLst>
              <a:gd fmla="val 12500" name="adj"/>
            </a:avLst>
          </a:prstGeom>
          <a:solidFill>
            <a:srgbClr val="C2D59B"/>
          </a:solidFill>
          <a:ln cap="flat" cmpd="sng" w="25400">
            <a:solidFill>
              <a:srgbClr val="4F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a:t>
            </a:r>
            <a:endParaRPr/>
          </a:p>
        </p:txBody>
      </p:sp>
      <p:sp>
        <p:nvSpPr>
          <p:cNvPr id="1463" name="Google Shape;1463;p121"/>
          <p:cNvSpPr/>
          <p:nvPr/>
        </p:nvSpPr>
        <p:spPr>
          <a:xfrm>
            <a:off x="6562693" y="4870637"/>
            <a:ext cx="213186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 technical person implements the ETL</a:t>
            </a:r>
            <a:endParaRPr/>
          </a:p>
        </p:txBody>
      </p:sp>
      <p:sp>
        <p:nvSpPr>
          <p:cNvPr id="1464" name="Google Shape;1464;p121"/>
          <p:cNvSpPr/>
          <p:nvPr/>
        </p:nvSpPr>
        <p:spPr>
          <a:xfrm>
            <a:off x="4493476" y="4879338"/>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All are involved in quality control</a:t>
            </a:r>
            <a:endParaRPr/>
          </a:p>
        </p:txBody>
      </p:sp>
      <p:sp>
        <p:nvSpPr>
          <p:cNvPr id="1465" name="Google Shape;1465;p121"/>
          <p:cNvSpPr/>
          <p:nvPr/>
        </p:nvSpPr>
        <p:spPr>
          <a:xfrm rot="2775711">
            <a:off x="6983165" y="3192862"/>
            <a:ext cx="669579" cy="664208"/>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6" name="Google Shape;1466;p121"/>
          <p:cNvSpPr/>
          <p:nvPr/>
        </p:nvSpPr>
        <p:spPr>
          <a:xfrm rot="10800000">
            <a:off x="6151090" y="4062862"/>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7" name="Google Shape;1467;p121"/>
          <p:cNvSpPr/>
          <p:nvPr/>
        </p:nvSpPr>
        <p:spPr>
          <a:xfrm rot="-2606331">
            <a:off x="5442380" y="3006685"/>
            <a:ext cx="678385" cy="655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8" name="Google Shape;1468;p121"/>
          <p:cNvSpPr/>
          <p:nvPr/>
        </p:nvSpPr>
        <p:spPr>
          <a:xfrm>
            <a:off x="5682085" y="1606066"/>
            <a:ext cx="177950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ETL Documentation </a:t>
            </a:r>
            <a:endParaRPr/>
          </a:p>
        </p:txBody>
      </p:sp>
      <p:sp>
        <p:nvSpPr>
          <p:cNvPr id="1469" name="Google Shape;1469;p121"/>
          <p:cNvSpPr/>
          <p:nvPr/>
        </p:nvSpPr>
        <p:spPr>
          <a:xfrm>
            <a:off x="3667501" y="1329146"/>
            <a:ext cx="840143" cy="822586"/>
          </a:xfrm>
          <a:prstGeom prst="rightArrow">
            <a:avLst>
              <a:gd fmla="val 50000" name="adj1"/>
              <a:gd fmla="val 50000" name="adj2"/>
            </a:avLst>
          </a:prstGeom>
          <a:solidFill>
            <a:srgbClr val="D8D8D8"/>
          </a:solidFill>
          <a:ln cap="flat" cmpd="sng" w="25400">
            <a:solidFill>
              <a:srgbClr val="7F7F7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0" name="Google Shape;1470;p121"/>
          <p:cNvSpPr/>
          <p:nvPr/>
        </p:nvSpPr>
        <p:spPr>
          <a:xfrm>
            <a:off x="3667501" y="2627441"/>
            <a:ext cx="840143" cy="822586"/>
          </a:xfrm>
          <a:prstGeom prst="rightArrow">
            <a:avLst>
              <a:gd fmla="val 50000" name="adj1"/>
              <a:gd fmla="val 50000" name="adj2"/>
            </a:avLst>
          </a:prstGeom>
          <a:solidFill>
            <a:srgbClr val="D8D8D8"/>
          </a:solidFill>
          <a:ln cap="flat" cmpd="sng" w="25400">
            <a:solidFill>
              <a:srgbClr val="7F7F7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1" name="Google Shape;1471;p121"/>
          <p:cNvSpPr/>
          <p:nvPr/>
        </p:nvSpPr>
        <p:spPr>
          <a:xfrm>
            <a:off x="3667501" y="5114375"/>
            <a:ext cx="840143" cy="822586"/>
          </a:xfrm>
          <a:prstGeom prst="rightArrow">
            <a:avLst>
              <a:gd fmla="val 50000" name="adj1"/>
              <a:gd fmla="val 50000" name="adj2"/>
            </a:avLst>
          </a:prstGeom>
          <a:solidFill>
            <a:srgbClr val="D8D8D8"/>
          </a:solidFill>
          <a:ln cap="flat" cmpd="sng" w="25400">
            <a:solidFill>
              <a:srgbClr val="7F7F7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2" name="Google Shape;1472;p121"/>
          <p:cNvSpPr/>
          <p:nvPr/>
        </p:nvSpPr>
        <p:spPr>
          <a:xfrm>
            <a:off x="9394041" y="2972740"/>
            <a:ext cx="1012371" cy="912521"/>
          </a:xfrm>
          <a:prstGeom prst="flowChartMagneticDisk">
            <a:avLst/>
          </a:prstGeom>
          <a:solidFill>
            <a:schemeClr val="accent3"/>
          </a:solidFill>
          <a:ln cap="flat" cmpd="sng" w="25400">
            <a:solidFill>
              <a:srgbClr val="7188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3" name="Google Shape;1473;p121"/>
          <p:cNvSpPr/>
          <p:nvPr/>
        </p:nvSpPr>
        <p:spPr>
          <a:xfrm>
            <a:off x="8832008" y="3956008"/>
            <a:ext cx="2131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Updated CDM</a:t>
            </a:r>
            <a:endParaRPr/>
          </a:p>
        </p:txBody>
      </p:sp>
      <p:sp>
        <p:nvSpPr>
          <p:cNvPr id="1474" name="Google Shape;1474;p121"/>
          <p:cNvSpPr/>
          <p:nvPr/>
        </p:nvSpPr>
        <p:spPr>
          <a:xfrm>
            <a:off x="8452928" y="3098048"/>
            <a:ext cx="840143" cy="822586"/>
          </a:xfrm>
          <a:prstGeom prst="rightArrow">
            <a:avLst>
              <a:gd fmla="val 50000" name="adj1"/>
              <a:gd fmla="val 50000" name="adj2"/>
            </a:avLst>
          </a:prstGeom>
          <a:solidFill>
            <a:srgbClr val="BFBFBF"/>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http://www.ohdsi.org/web/wiki/lib/exe/fetch.php?w=100&amp;tok=44f68f&amp;media=t-ohdsi-logo-only.png" id="1475" name="Google Shape;1475;p121"/>
          <p:cNvPicPr preferRelativeResize="0"/>
          <p:nvPr/>
        </p:nvPicPr>
        <p:blipFill rotWithShape="1">
          <a:blip r:embed="rId7">
            <a:alphaModFix/>
          </a:blip>
          <a:srcRect b="0" l="0" r="0" t="0"/>
          <a:stretch/>
        </p:blipFill>
        <p:spPr>
          <a:xfrm>
            <a:off x="2325196" y="5123665"/>
            <a:ext cx="667512" cy="667512"/>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2745"/>
              </a:srgbClr>
            </a:outerShdw>
          </a:effectLst>
        </p:spPr>
      </p:pic>
      <p:sp>
        <p:nvSpPr>
          <p:cNvPr id="1476" name="Google Shape;1476;p121"/>
          <p:cNvSpPr/>
          <p:nvPr/>
        </p:nvSpPr>
        <p:spPr>
          <a:xfrm>
            <a:off x="1604019" y="5930022"/>
            <a:ext cx="21318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CDM Update?</a:t>
            </a:r>
            <a:endParaRPr/>
          </a:p>
        </p:txBody>
      </p:sp>
      <p:sp>
        <p:nvSpPr>
          <p:cNvPr id="1477" name="Google Shape;1477;p121"/>
          <p:cNvSpPr/>
          <p:nvPr/>
        </p:nvSpPr>
        <p:spPr>
          <a:xfrm>
            <a:off x="3667501" y="3711830"/>
            <a:ext cx="840143" cy="822586"/>
          </a:xfrm>
          <a:prstGeom prst="rightArrow">
            <a:avLst>
              <a:gd fmla="val 50000" name="adj1"/>
              <a:gd fmla="val 50000" name="adj2"/>
            </a:avLst>
          </a:prstGeom>
          <a:solidFill>
            <a:srgbClr val="D8D8D8"/>
          </a:solidFill>
          <a:ln cap="flat" cmpd="sng" w="25400">
            <a:solidFill>
              <a:srgbClr val="7F7F7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8" name="Google Shape;1478;p121"/>
          <p:cNvSpPr txBox="1"/>
          <p:nvPr>
            <p:ph idx="12" type="sldNum"/>
          </p:nvPr>
        </p:nvSpPr>
        <p:spPr>
          <a:xfrm>
            <a:off x="9347200" y="6492880"/>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heme1">
  <a:themeElements>
    <a:clrScheme name="Custom 1">
      <a:dk1>
        <a:srgbClr val="000000"/>
      </a:dk1>
      <a:lt1>
        <a:srgbClr val="FFFFFF"/>
      </a:lt1>
      <a:dk2>
        <a:srgbClr val="20425A"/>
      </a:dk2>
      <a:lt2>
        <a:srgbClr val="FCCB10"/>
      </a:lt2>
      <a:accent1>
        <a:srgbClr val="EB6622"/>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2024-09-25T15:08:20Z</dcterms:created>
  <dc:creator>Clair Blacketer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0x01010015E0E2D2CFA9A945826C14A7629E1765</vt:lpwstr>
  </property>
  <property fmtid="{D5CDD505-2E9C-101B-9397-08002B2CF9AE}" pid="3" name="MediaServiceImageTags">
    <vt:lpwstr/>
  </property>
</Properties>
</file>