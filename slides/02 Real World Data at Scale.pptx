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IBM Plex Sans"/>
      <p:regular r:id="rId35"/>
      <p:bold r:id="rId36"/>
      <p:italic r:id="rId37"/>
      <p:boldItalic r:id="rId38"/>
    </p:embeddedFont>
    <p:embeddedFont>
      <p:font typeface="IBM Plex Sans Light"/>
      <p:regular r:id="rId39"/>
      <p:bold r:id="rId40"/>
      <p:italic r:id="rId41"/>
      <p:boldItalic r:id="rId42"/>
    </p:embeddedFont>
    <p:embeddedFont>
      <p:font typeface="Plus Jakarta Sans"/>
      <p:regular r:id="rId43"/>
      <p:bold r:id="rId44"/>
      <p:italic r:id="rId45"/>
      <p:boldItalic r:id="rId46"/>
    </p:embeddedFont>
    <p:embeddedFont>
      <p:font typeface="IBM Plex Sans Thin"/>
      <p:regular r:id="rId47"/>
      <p:bold r:id="rId48"/>
      <p:italic r:id="rId49"/>
      <p:boldItalic r:id="rId50"/>
    </p:embeddedFont>
    <p:embeddedFont>
      <p:font typeface="IBM Plex Sans Medium"/>
      <p:regular r:id="rId51"/>
      <p:bold r:id="rId52"/>
      <p:italic r:id="rId53"/>
      <p:boldItalic r:id="rId54"/>
    </p:embeddedFont>
    <p:embeddedFont>
      <p:font typeface="IBM Plex Sans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19">
          <p15:clr>
            <a:srgbClr val="747775"/>
          </p15:clr>
        </p15:guide>
        <p15:guide id="2" orient="horz" pos="1157">
          <p15:clr>
            <a:srgbClr val="747775"/>
          </p15:clr>
        </p15:guide>
        <p15:guide id="3" pos="7617">
          <p15:clr>
            <a:srgbClr val="747775"/>
          </p15:clr>
        </p15:guide>
        <p15:guide id="4" pos="221">
          <p15:clr>
            <a:srgbClr val="747775"/>
          </p15:clr>
        </p15:guide>
        <p15:guide id="5" pos="216">
          <p15:clr>
            <a:srgbClr val="747775"/>
          </p15:clr>
        </p15:guide>
        <p15:guide id="6" orient="horz" pos="6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19" orient="horz"/>
        <p:guide pos="1157" orient="horz"/>
        <p:guide pos="7617"/>
        <p:guide pos="221"/>
        <p:guide pos="216"/>
        <p:guide pos="6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Light-bold.fntdata"/><Relationship Id="rId42" Type="http://schemas.openxmlformats.org/officeDocument/2006/relationships/font" Target="fonts/IBMPlexSansLight-boldItalic.fntdata"/><Relationship Id="rId41" Type="http://schemas.openxmlformats.org/officeDocument/2006/relationships/font" Target="fonts/IBMPlexSansLight-italic.fntdata"/><Relationship Id="rId44" Type="http://schemas.openxmlformats.org/officeDocument/2006/relationships/font" Target="fonts/PlusJakartaSans-bold.fntdata"/><Relationship Id="rId43" Type="http://schemas.openxmlformats.org/officeDocument/2006/relationships/font" Target="fonts/PlusJakartaSans-regular.fntdata"/><Relationship Id="rId46" Type="http://schemas.openxmlformats.org/officeDocument/2006/relationships/font" Target="fonts/PlusJakartaSans-boldItalic.fntdata"/><Relationship Id="rId45" Type="http://schemas.openxmlformats.org/officeDocument/2006/relationships/font" Target="fonts/PlusJakarta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IBMPlexSansThin-bold.fntdata"/><Relationship Id="rId47" Type="http://schemas.openxmlformats.org/officeDocument/2006/relationships/font" Target="fonts/IBMPlexSansThin-regular.fntdata"/><Relationship Id="rId49" Type="http://schemas.openxmlformats.org/officeDocument/2006/relationships/font" Target="fonts/IBMPlexSansThin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IBMPlexSans-regular.fntdata"/><Relationship Id="rId34" Type="http://schemas.openxmlformats.org/officeDocument/2006/relationships/slide" Target="slides/slide28.xml"/><Relationship Id="rId37" Type="http://schemas.openxmlformats.org/officeDocument/2006/relationships/font" Target="fonts/IBMPlexSans-italic.fntdata"/><Relationship Id="rId36" Type="http://schemas.openxmlformats.org/officeDocument/2006/relationships/font" Target="fonts/IBMPlexSans-bold.fntdata"/><Relationship Id="rId39" Type="http://schemas.openxmlformats.org/officeDocument/2006/relationships/font" Target="fonts/IBMPlexSansLight-regular.fntdata"/><Relationship Id="rId38" Type="http://schemas.openxmlformats.org/officeDocument/2006/relationships/font" Target="fonts/IBMPlex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BMPlexSansMedium-regular.fntdata"/><Relationship Id="rId50" Type="http://schemas.openxmlformats.org/officeDocument/2006/relationships/font" Target="fonts/IBMPlexSansThin-boldItalic.fntdata"/><Relationship Id="rId53" Type="http://schemas.openxmlformats.org/officeDocument/2006/relationships/font" Target="fonts/IBMPlexSansMedium-italic.fntdata"/><Relationship Id="rId52" Type="http://schemas.openxmlformats.org/officeDocument/2006/relationships/font" Target="fonts/IBMPlexSansMedium-bold.fntdata"/><Relationship Id="rId11" Type="http://schemas.openxmlformats.org/officeDocument/2006/relationships/slide" Target="slides/slide5.xml"/><Relationship Id="rId55" Type="http://schemas.openxmlformats.org/officeDocument/2006/relationships/font" Target="fonts/IBMPlexSansSemiBold-regular.fntdata"/><Relationship Id="rId10" Type="http://schemas.openxmlformats.org/officeDocument/2006/relationships/slide" Target="slides/slide4.xml"/><Relationship Id="rId54" Type="http://schemas.openxmlformats.org/officeDocument/2006/relationships/font" Target="fonts/IBMPlexSans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IBMPlexSansSemiBold-italic.fntdata"/><Relationship Id="rId12" Type="http://schemas.openxmlformats.org/officeDocument/2006/relationships/slide" Target="slides/slide6.xml"/><Relationship Id="rId56" Type="http://schemas.openxmlformats.org/officeDocument/2006/relationships/font" Target="fonts/IBMPlexSansSemi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IBMPlexSansSemi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0bbd4e5f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0bbd4e5f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292cd50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292cd50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292cd5045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292cd504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292cd5045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292cd5045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292cd5045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f292cd5045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292cd5045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292cd5045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292cd5045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292cd5045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f292cd5045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f292cd5045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292cd5045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292cd5045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292cd5045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292cd5045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292cd5045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292cd5045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292cd5045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292cd5045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292cd5045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f292cd5045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292cd5045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292cd5045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292cd5045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f292cd5045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292cd5045_0_10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292cd5045_0_1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292cd5045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292cd5045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292cd5045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292cd5045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292cd5045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f292cd5045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292cd5045_0_1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292cd5045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292cd5045_0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292cd5045_0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292cd5045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292cd5045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292cd5045_0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292cd5045_0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292cd5045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f292cd5045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292cd5045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f292cd5045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292cd5045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292cd5045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f292cd5045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f292cd504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08e5524d00_1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08e5524d00_1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>
            <a:hlinkClick r:id="rId2"/>
          </p:cNvPr>
          <p:cNvSpPr txBox="1"/>
          <p:nvPr/>
        </p:nvSpPr>
        <p:spPr>
          <a:xfrm>
            <a:off x="10354674" y="6542424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874" y="65820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173529" y="494682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256405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25" name="Google Shape;25;p4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>
            <a:hlinkClick r:id="rId3"/>
          </p:cNvPr>
          <p:cNvSpPr txBox="1"/>
          <p:nvPr/>
        </p:nvSpPr>
        <p:spPr>
          <a:xfrm>
            <a:off x="10354674" y="6540121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4" name="Google Shape;3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1874" y="65797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title"/>
          </p:nvPr>
        </p:nvSpPr>
        <p:spPr>
          <a:xfrm>
            <a:off x="173529" y="505033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235686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38" name="Google Shape;38;p5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47" name="Google Shape;47;p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53" name="Google Shape;53;p6">
            <a:hlinkClick r:id="rId3"/>
          </p:cNvPr>
          <p:cNvSpPr txBox="1"/>
          <p:nvPr/>
        </p:nvSpPr>
        <p:spPr>
          <a:xfrm>
            <a:off x="10375393" y="6536438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54" name="Google Shape;5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2593" y="65760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type="title"/>
          </p:nvPr>
        </p:nvSpPr>
        <p:spPr>
          <a:xfrm>
            <a:off x="173529" y="515393"/>
            <a:ext cx="95001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225326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60" name="Google Shape;60;p7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" name="Google Shape;93;p12"/>
          <p:cNvSpPr/>
          <p:nvPr>
            <p:ph idx="2" type="pic"/>
          </p:nvPr>
        </p:nvSpPr>
        <p:spPr>
          <a:xfrm>
            <a:off x="360000" y="1611600"/>
            <a:ext cx="11472300" cy="48864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09" name="Google Shape;109;p15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>
            <a:hlinkClick r:id="rId2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13" name="Google Shape;11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360000" y="360008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60000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7" name="Google Shape;117;p1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18" name="Google Shape;118;p1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>
            <a:hlinkClick r:id="rId3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27" name="Google Shape;1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>
            <p:ph type="title"/>
          </p:nvPr>
        </p:nvSpPr>
        <p:spPr>
          <a:xfrm>
            <a:off x="360000" y="360000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1" type="subTitle"/>
          </p:nvPr>
        </p:nvSpPr>
        <p:spPr>
          <a:xfrm>
            <a:off x="360000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130" name="Google Shape;130;p17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31" name="Google Shape;131;p17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8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140" name="Google Shape;140;p18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46" name="Google Shape;146;p18">
            <a:hlinkClick r:id="rId3"/>
          </p:cNvPr>
          <p:cNvSpPr txBox="1"/>
          <p:nvPr/>
        </p:nvSpPr>
        <p:spPr>
          <a:xfrm>
            <a:off x="10220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147" name="Google Shape;14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>
            <p:ph type="title"/>
          </p:nvPr>
        </p:nvSpPr>
        <p:spPr>
          <a:xfrm>
            <a:off x="360000" y="36000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60000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13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9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154" name="Google Shape;154;p19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5" name="Google Shape;155;p19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160" name="Google Shape;160;p1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2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68" name="Google Shape;168;p2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69" name="Google Shape;169;p2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22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6" name="Google Shape;176;p2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2" name="Google Shape;182;p23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24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88" name="Google Shape;188;p24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9" name="Google Shape;189;p24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">
  <p:cSld name="CUSTOM_2_1_1_1">
    <p:bg>
      <p:bgPr>
        <a:solidFill>
          <a:srgbClr val="CFD8FF">
            <a:alpha val="25000"/>
          </a:srgbClr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>
            <p:ph idx="2" type="pic"/>
          </p:nvPr>
        </p:nvSpPr>
        <p:spPr>
          <a:xfrm>
            <a:off x="360000" y="1611600"/>
            <a:ext cx="11472300" cy="51150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94" name="Google Shape;194;p25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5" name="Google Shape;195;p25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5"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11100295" y="6190209"/>
            <a:ext cx="7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_4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60000" y="360000"/>
            <a:ext cx="7527900" cy="10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360000" y="30243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2" name="Google Shape;202;p27"/>
          <p:cNvSpPr txBox="1"/>
          <p:nvPr>
            <p:ph idx="2" type="body"/>
          </p:nvPr>
        </p:nvSpPr>
        <p:spPr>
          <a:xfrm>
            <a:off x="4304100" y="30243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3" name="Google Shape;203;p27"/>
          <p:cNvSpPr txBox="1"/>
          <p:nvPr>
            <p:ph idx="3" type="body"/>
          </p:nvPr>
        </p:nvSpPr>
        <p:spPr>
          <a:xfrm>
            <a:off x="8247900" y="30243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27"/>
          <p:cNvSpPr txBox="1"/>
          <p:nvPr>
            <p:ph idx="4" type="body"/>
          </p:nvPr>
        </p:nvSpPr>
        <p:spPr>
          <a:xfrm>
            <a:off x="4304100" y="2406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5" name="Google Shape;205;p27"/>
          <p:cNvSpPr txBox="1"/>
          <p:nvPr>
            <p:ph idx="5" type="body"/>
          </p:nvPr>
        </p:nvSpPr>
        <p:spPr>
          <a:xfrm>
            <a:off x="8247900" y="2406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6" name="Google Shape;206;p27"/>
          <p:cNvSpPr txBox="1"/>
          <p:nvPr>
            <p:ph idx="6" type="body"/>
          </p:nvPr>
        </p:nvSpPr>
        <p:spPr>
          <a:xfrm>
            <a:off x="360300" y="2406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7" name="Google Shape;207;p27"/>
          <p:cNvSpPr txBox="1"/>
          <p:nvPr>
            <p:ph idx="7" type="body"/>
          </p:nvPr>
        </p:nvSpPr>
        <p:spPr>
          <a:xfrm>
            <a:off x="360000" y="50061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7"/>
          <p:cNvSpPr txBox="1"/>
          <p:nvPr>
            <p:ph idx="8" type="body"/>
          </p:nvPr>
        </p:nvSpPr>
        <p:spPr>
          <a:xfrm>
            <a:off x="4304100" y="50061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09" name="Google Shape;209;p27"/>
          <p:cNvSpPr txBox="1"/>
          <p:nvPr>
            <p:ph idx="9" type="body"/>
          </p:nvPr>
        </p:nvSpPr>
        <p:spPr>
          <a:xfrm>
            <a:off x="8247900" y="50061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10" name="Google Shape;210;p27"/>
          <p:cNvSpPr txBox="1"/>
          <p:nvPr>
            <p:ph idx="13" type="body"/>
          </p:nvPr>
        </p:nvSpPr>
        <p:spPr>
          <a:xfrm>
            <a:off x="4304100" y="4452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1" name="Google Shape;211;p27"/>
          <p:cNvSpPr txBox="1"/>
          <p:nvPr>
            <p:ph idx="14" type="body"/>
          </p:nvPr>
        </p:nvSpPr>
        <p:spPr>
          <a:xfrm>
            <a:off x="8247900" y="4452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2" name="Google Shape;212;p27"/>
          <p:cNvSpPr txBox="1"/>
          <p:nvPr>
            <p:ph idx="15" type="body"/>
          </p:nvPr>
        </p:nvSpPr>
        <p:spPr>
          <a:xfrm>
            <a:off x="360300" y="4452000"/>
            <a:ext cx="35838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●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○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Char char="■"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10220006" y="6188407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grpSp>
        <p:nvGrpSpPr>
          <p:cNvPr id="214" name="Google Shape;214;p27"/>
          <p:cNvGrpSpPr/>
          <p:nvPr/>
        </p:nvGrpSpPr>
        <p:grpSpPr>
          <a:xfrm>
            <a:off x="10955721" y="399637"/>
            <a:ext cx="832751" cy="228515"/>
            <a:chOff x="238675" y="1845875"/>
            <a:chExt cx="7141950" cy="1980200"/>
          </a:xfrm>
        </p:grpSpPr>
        <p:sp>
          <p:nvSpPr>
            <p:cNvPr id="215" name="Google Shape;215;p27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40F4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2_2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/>
          <p:nvPr/>
        </p:nvSpPr>
        <p:spPr>
          <a:xfrm>
            <a:off x="0" y="0"/>
            <a:ext cx="12192000" cy="1257000"/>
          </a:xfrm>
          <a:prstGeom prst="rect">
            <a:avLst/>
          </a:prstGeom>
          <a:solidFill>
            <a:srgbClr val="CFD8FF">
              <a:alpha val="24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23" name="Google Shape;223;p2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9697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/>
        </p:nvSpPr>
        <p:spPr>
          <a:xfrm>
            <a:off x="10580106" y="6498007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[ </a:t>
            </a:r>
            <a:fld id="{00000000-1234-1234-1234-123412341234}" type="slidenum">
              <a:rPr b="1" i="0" lang="en" sz="800" u="none" cap="none" strike="noStrike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‹#›</a:t>
            </a:fld>
            <a:r>
              <a:rPr b="1" i="0" lang="en" sz="800" u="none" cap="none" strike="noStrike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]</a:t>
            </a:r>
            <a:endParaRPr b="1" i="0" sz="800" u="none" cap="none" strike="noStrike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6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idx="12" type="sldNum"/>
          </p:nvPr>
        </p:nvSpPr>
        <p:spPr>
          <a:xfrm>
            <a:off x="11100295" y="6190209"/>
            <a:ext cx="73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  <p15:guide id="17" orient="horz" pos="4176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0" name="Google Shape;100;p13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[02]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World Data</a:t>
            </a:r>
            <a:br>
              <a:rPr lang="en"/>
            </a:br>
            <a:r>
              <a:rPr b="1" lang="en"/>
              <a:t>at scale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/>
        </p:nvSpPr>
        <p:spPr>
          <a:xfrm>
            <a:off x="810475" y="4289044"/>
            <a:ext cx="31419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DEMAND</a:t>
            </a:r>
            <a:endParaRPr sz="16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Need large datasets, collected in the least possible time and with the minimum possible effort. </a:t>
            </a:r>
            <a:endParaRPr sz="1600">
              <a:solidFill>
                <a:srgbClr val="040F40"/>
              </a:solidFill>
              <a:highlight>
                <a:schemeClr val="accent1"/>
              </a:highlight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071626" y="1621753"/>
            <a:ext cx="26775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SUPPLY</a:t>
            </a:r>
            <a:endParaRPr sz="16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Hospitals are only able to supply small samples or inconsistently collected. </a:t>
            </a:r>
            <a:endParaRPr sz="1600">
              <a:solidFill>
                <a:srgbClr val="040F4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242" name="Google Shape;242;p32"/>
          <p:cNvCxnSpPr/>
          <p:nvPr/>
        </p:nvCxnSpPr>
        <p:spPr>
          <a:xfrm>
            <a:off x="6965175" y="1553152"/>
            <a:ext cx="4866600" cy="2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2"/>
          <p:cNvSpPr txBox="1"/>
          <p:nvPr>
            <p:ph type="title"/>
          </p:nvPr>
        </p:nvSpPr>
        <p:spPr>
          <a:xfrm>
            <a:off x="6843437" y="1574227"/>
            <a:ext cx="51288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Healthcare and Lifesciences have long had an</a:t>
            </a:r>
            <a:r>
              <a:rPr b="1" lang="en" sz="3000"/>
              <a:t> uneven data Demand/Supply </a:t>
            </a:r>
            <a:r>
              <a:rPr lang="en" sz="3000"/>
              <a:t>relationship</a:t>
            </a:r>
            <a:r>
              <a:rPr baseline="30000" lang="en" sz="3000"/>
              <a:t>[1]</a:t>
            </a:r>
            <a:r>
              <a:rPr lang="en" sz="3000"/>
              <a:t>.</a:t>
            </a:r>
            <a:endParaRPr sz="3000"/>
          </a:p>
        </p:txBody>
      </p:sp>
      <p:sp>
        <p:nvSpPr>
          <p:cNvPr id="244" name="Google Shape;244;p3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grpSp>
        <p:nvGrpSpPr>
          <p:cNvPr id="245" name="Google Shape;245;p32"/>
          <p:cNvGrpSpPr/>
          <p:nvPr/>
        </p:nvGrpSpPr>
        <p:grpSpPr>
          <a:xfrm>
            <a:off x="318775" y="6450775"/>
            <a:ext cx="10291850" cy="431100"/>
            <a:chOff x="318775" y="6450775"/>
            <a:chExt cx="10291850" cy="431100"/>
          </a:xfrm>
        </p:grpSpPr>
        <p:sp>
          <p:nvSpPr>
            <p:cNvPr id="246" name="Google Shape;246;p32"/>
            <p:cNvSpPr txBox="1"/>
            <p:nvPr/>
          </p:nvSpPr>
          <p:spPr>
            <a:xfrm>
              <a:off x="349425" y="6450775"/>
              <a:ext cx="10261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[1]: Grimberg F, Asprion PM, Schneider B, Miho E, Babrak L, Habbabeh A. The Real-World Data Challenges Radar: A Review on the Challenges and Risks regarding the Use of Real-World Data. Digit Biomark. 2021 Jun 24;5(2):148-157. doi: 10.1159/000516178. PMID: 34414352; PMCID: PMC8339486.</a:t>
              </a:r>
              <a:endParaRPr sz="600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247" name="Google Shape;247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8775" y="6551217"/>
              <a:ext cx="121050" cy="121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2"/>
          <p:cNvSpPr/>
          <p:nvPr/>
        </p:nvSpPr>
        <p:spPr>
          <a:xfrm>
            <a:off x="3639822" y="1604557"/>
            <a:ext cx="402900" cy="363300"/>
          </a:xfrm>
          <a:prstGeom prst="rect">
            <a:avLst/>
          </a:prstGeom>
          <a:solidFill>
            <a:srgbClr val="11F1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9" name="Google Shape;249;p32"/>
          <p:cNvSpPr/>
          <p:nvPr/>
        </p:nvSpPr>
        <p:spPr>
          <a:xfrm>
            <a:off x="810475" y="1759950"/>
            <a:ext cx="3066300" cy="2510400"/>
          </a:xfrm>
          <a:prstGeom prst="rect">
            <a:avLst/>
          </a:prstGeom>
          <a:solidFill>
            <a:srgbClr val="0F3BFE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[02]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/>
        </p:nvSpPr>
        <p:spPr>
          <a:xfrm>
            <a:off x="205975" y="3015325"/>
            <a:ext cx="4595700" cy="40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5000">
                <a:solidFill>
                  <a:srgbClr val="0F3BFE"/>
                </a:solidFill>
                <a:latin typeface="IBM Plex Sans Thin"/>
                <a:ea typeface="IBM Plex Sans Thin"/>
                <a:cs typeface="IBM Plex Sans Thin"/>
                <a:sym typeface="IBM Plex Sans Thin"/>
              </a:rPr>
              <a:t>2.3</a:t>
            </a:r>
            <a:endParaRPr sz="25000">
              <a:solidFill>
                <a:srgbClr val="0F3BFE"/>
              </a:solidFill>
              <a:latin typeface="IBM Plex Sans Thin"/>
              <a:ea typeface="IBM Plex Sans Thin"/>
              <a:cs typeface="IBM Plex Sans Thin"/>
              <a:sym typeface="IBM Plex Sans Thin"/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4725475" y="5076900"/>
            <a:ext cx="20298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876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Char char="■"/>
            </a:pPr>
            <a:r>
              <a:t/>
            </a:r>
            <a:endParaRPr sz="1600">
              <a:solidFill>
                <a:schemeClr val="accen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EXABYTES</a:t>
            </a:r>
            <a:endParaRPr sz="16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6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of Real World Data in healthcare are </a:t>
            </a:r>
            <a:r>
              <a:rPr lang="en" sz="1600">
                <a:solidFill>
                  <a:srgbClr val="040F40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not fully leveraged.</a:t>
            </a:r>
            <a:endParaRPr sz="1600">
              <a:solidFill>
                <a:srgbClr val="040F40"/>
              </a:solidFill>
              <a:highlight>
                <a:schemeClr val="accent1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7" name="Google Shape;257;p33"/>
          <p:cNvCxnSpPr/>
          <p:nvPr/>
        </p:nvCxnSpPr>
        <p:spPr>
          <a:xfrm>
            <a:off x="8248000" y="1840200"/>
            <a:ext cx="358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3"/>
          <p:cNvSpPr txBox="1"/>
          <p:nvPr/>
        </p:nvSpPr>
        <p:spPr>
          <a:xfrm>
            <a:off x="8248000" y="2271300"/>
            <a:ext cx="358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16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65−85%</a:t>
            </a:r>
            <a:r>
              <a:rPr lang="en" sz="16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of patients’ clinically relevant information stored in hospitals is in unstructured format.</a:t>
            </a:r>
            <a:endParaRPr sz="1600">
              <a:solidFill>
                <a:srgbClr val="040F4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59" name="Google Shape;259;p33"/>
          <p:cNvSpPr txBox="1"/>
          <p:nvPr/>
        </p:nvSpPr>
        <p:spPr>
          <a:xfrm>
            <a:off x="8248300" y="1840200"/>
            <a:ext cx="358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UNSTRUCTURED INFORMATION</a:t>
            </a:r>
            <a:endParaRPr sz="1600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260" name="Google Shape;260;p33"/>
          <p:cNvCxnSpPr/>
          <p:nvPr/>
        </p:nvCxnSpPr>
        <p:spPr>
          <a:xfrm>
            <a:off x="8248000" y="3886200"/>
            <a:ext cx="3583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33"/>
          <p:cNvSpPr txBox="1"/>
          <p:nvPr/>
        </p:nvSpPr>
        <p:spPr>
          <a:xfrm>
            <a:off x="8248000" y="4317300"/>
            <a:ext cx="358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6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Data is still disperse and mostly accessible by only hospital by hospital.</a:t>
            </a:r>
            <a:endParaRPr sz="1600">
              <a:solidFill>
                <a:srgbClr val="040F4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8248300" y="3886200"/>
            <a:ext cx="358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600">
                <a:solidFill>
                  <a:srgbClr val="0F3BF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SILOED INFORMATION</a:t>
            </a:r>
            <a:endParaRPr sz="1600">
              <a:solidFill>
                <a:srgbClr val="0F3BF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3" name="Google Shape;263;p33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root of the </a:t>
            </a:r>
            <a:r>
              <a:rPr b="1" lang="en" sz="3000"/>
              <a:t>Market Gap</a:t>
            </a:r>
            <a:r>
              <a:rPr lang="en" sz="3000"/>
              <a:t> lies in Real World Data [RWD] supply.</a:t>
            </a:r>
            <a:endParaRPr sz="3000"/>
          </a:p>
        </p:txBody>
      </p:sp>
      <p:sp>
        <p:nvSpPr>
          <p:cNvPr id="264" name="Google Shape;264;p3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grpSp>
        <p:nvGrpSpPr>
          <p:cNvPr id="265" name="Google Shape;265;p33"/>
          <p:cNvGrpSpPr/>
          <p:nvPr/>
        </p:nvGrpSpPr>
        <p:grpSpPr>
          <a:xfrm>
            <a:off x="318775" y="6523285"/>
            <a:ext cx="10261250" cy="307800"/>
            <a:chOff x="318775" y="6450768"/>
            <a:chExt cx="10261250" cy="307800"/>
          </a:xfrm>
        </p:grpSpPr>
        <p:sp>
          <p:nvSpPr>
            <p:cNvPr id="266" name="Google Shape;266;p33"/>
            <p:cNvSpPr txBox="1"/>
            <p:nvPr/>
          </p:nvSpPr>
          <p:spPr>
            <a:xfrm>
              <a:off x="349425" y="6450768"/>
              <a:ext cx="10230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5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Zhao X et al. Integrating real-world data to accelerate and guide drug development: A clinical pharmacology perspective. Clin Transl Sci. 2022 Oct;15 (10):2293−2302.</a:t>
              </a:r>
              <a:endPara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267" name="Google Shape;26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8775" y="6551217"/>
              <a:ext cx="121050" cy="121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33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/>
          <p:nvPr/>
        </p:nvSpPr>
        <p:spPr>
          <a:xfrm>
            <a:off x="0" y="0"/>
            <a:ext cx="5561700" cy="68736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4" name="Google Shape;274;p34"/>
          <p:cNvSpPr txBox="1"/>
          <p:nvPr>
            <p:ph idx="4294967295" type="body"/>
          </p:nvPr>
        </p:nvSpPr>
        <p:spPr>
          <a:xfrm>
            <a:off x="6181175" y="1051011"/>
            <a:ext cx="55617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Scalability</a:t>
            </a: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&amp; Data Integration</a:t>
            </a:r>
            <a:endParaRPr sz="18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200-200v-240h80v160h160v80H200Zm480-320v-160H520v-80h240v240h-80Z&quot;/&gt;&lt;/svg&gt;" id="275" name="Google Shape;2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096" y="1111694"/>
            <a:ext cx="328586" cy="3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4"/>
          <p:cNvSpPr txBox="1"/>
          <p:nvPr>
            <p:ph idx="4294967295" type="body"/>
          </p:nvPr>
        </p:nvSpPr>
        <p:spPr>
          <a:xfrm>
            <a:off x="6181175" y="2660836"/>
            <a:ext cx="5561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Interpretation &amp; </a:t>
            </a:r>
            <a:r>
              <a:rPr lang="en" sz="1800">
                <a:solidFill>
                  <a:schemeClr val="lt2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Standardization</a:t>
            </a:r>
            <a:endParaRPr sz="1800">
              <a:solidFill>
                <a:schemeClr val="lt2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277" name="Google Shape;27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096" y="2728307"/>
            <a:ext cx="328586" cy="328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60-80v-560h120v-80q0-83 58.5-141.5T480-920q83 0 141.5 58.5T680-720v80h120v560H160Zm80-80h480v-400H240v400Zm240-120q33 0 56.5-23.5T560-360q0-33-23.5-56.5T480-440q-33 0-56.5 23.5T400-360q0 33 23.5 56.5T480-280ZM360-640h240v-80q0-50-35-85t-85-35q-50 0-85 35t-35 85v80ZM240-160v-400 400Z&quot;/&gt;&lt;/svg&gt;" id="278" name="Google Shape;27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7096" y="5337347"/>
            <a:ext cx="328586" cy="3285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344-60-76-128-144-32 14-148-98-112 98-112-14-148 144-32 76-128 136 58 136-58 76 128 144 32-14 148 98 112-98 112 14 148-144 32-76 128-136-58-136 58Zm34-102 102-44 104 44 56-96 110-26-10-112 74-84-74-86 10-112-110-24-58-96-102 44-104-44-56 96-110 24 10 112-74 86 74 84-10 114 110 24 58 96Zm102-318Zm-42 142 226-226-56-58-170 170-86-84-56 56 142 142Z&quot;/&gt;&lt;/svg&gt;" id="279" name="Google Shape;279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7096" y="4087800"/>
            <a:ext cx="328586" cy="32858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 txBox="1"/>
          <p:nvPr>
            <p:ph idx="4294967295" type="body"/>
          </p:nvPr>
        </p:nvSpPr>
        <p:spPr>
          <a:xfrm>
            <a:off x="6181175" y="4000660"/>
            <a:ext cx="55617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Data </a:t>
            </a:r>
            <a:r>
              <a:rPr lang="en" sz="1800">
                <a:solidFill>
                  <a:schemeClr val="lt2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Quality</a:t>
            </a:r>
            <a:endParaRPr sz="1800">
              <a:solidFill>
                <a:schemeClr val="lt2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1" name="Google Shape;281;p34"/>
          <p:cNvSpPr txBox="1"/>
          <p:nvPr>
            <p:ph idx="4294967295" type="body"/>
          </p:nvPr>
        </p:nvSpPr>
        <p:spPr>
          <a:xfrm>
            <a:off x="6181175" y="5266385"/>
            <a:ext cx="5561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accent1"/>
                </a:highlight>
                <a:latin typeface="IBM Plex Sans Medium"/>
                <a:ea typeface="IBM Plex Sans Medium"/>
                <a:cs typeface="IBM Plex Sans Medium"/>
                <a:sym typeface="IBM Plex Sans Medium"/>
              </a:rPr>
              <a:t>Privacy</a:t>
            </a: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 </a:t>
            </a:r>
            <a:r>
              <a:rPr lang="en" sz="1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&amp; Security</a:t>
            </a:r>
            <a:endParaRPr sz="1800">
              <a:solidFill>
                <a:schemeClr val="dk1"/>
              </a:solidFill>
              <a:highlight>
                <a:schemeClr val="accent1"/>
              </a:highlight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2" name="Google Shape;282;p34"/>
          <p:cNvSpPr txBox="1"/>
          <p:nvPr>
            <p:ph idx="4294967295" type="body"/>
          </p:nvPr>
        </p:nvSpPr>
        <p:spPr>
          <a:xfrm>
            <a:off x="6181175" y="1431723"/>
            <a:ext cx="55617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Handling large volumes of data and merging information from multiple sources and formats demands the right data infrastructure and resources.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83" name="Google Shape;283;p34"/>
          <p:cNvSpPr txBox="1"/>
          <p:nvPr>
            <p:ph idx="4294967295" type="body"/>
          </p:nvPr>
        </p:nvSpPr>
        <p:spPr>
          <a:xfrm>
            <a:off x="6181175" y="2987248"/>
            <a:ext cx="51069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The complexity and sheer volume of data can make its interpretation and application in clinical practice challenging.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84" name="Google Shape;284;p34"/>
          <p:cNvSpPr txBox="1"/>
          <p:nvPr>
            <p:ph idx="4294967295" type="body"/>
          </p:nvPr>
        </p:nvSpPr>
        <p:spPr>
          <a:xfrm>
            <a:off x="6181175" y="4381373"/>
            <a:ext cx="5542800" cy="4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The variability and lack of standardization can impact the utility of Real-World Data.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85" name="Google Shape;285;p34"/>
          <p:cNvSpPr txBox="1"/>
          <p:nvPr>
            <p:ph idx="4294967295" type="body"/>
          </p:nvPr>
        </p:nvSpPr>
        <p:spPr>
          <a:xfrm>
            <a:off x="6181175" y="5592797"/>
            <a:ext cx="5561700" cy="3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The secure management of sensitive data is an ongoing challenge.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86" name="Google Shape;286;p34"/>
          <p:cNvSpPr txBox="1"/>
          <p:nvPr>
            <p:ph type="title"/>
          </p:nvPr>
        </p:nvSpPr>
        <p:spPr>
          <a:xfrm>
            <a:off x="232775" y="2357100"/>
            <a:ext cx="5021400" cy="21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Access </a:t>
            </a:r>
            <a:r>
              <a:rPr b="1" lang="en" sz="6000"/>
              <a:t>C</a:t>
            </a:r>
            <a:r>
              <a:rPr b="1" lang="en" sz="6000">
                <a:solidFill>
                  <a:schemeClr val="dk1"/>
                </a:solidFill>
              </a:rPr>
              <a:t>hallenges</a:t>
            </a:r>
            <a:endParaRPr b="1" sz="6000">
              <a:solidFill>
                <a:schemeClr val="dk1"/>
              </a:solidFill>
            </a:endParaRPr>
          </a:p>
        </p:txBody>
      </p:sp>
      <p:sp>
        <p:nvSpPr>
          <p:cNvPr id="287" name="Google Shape;287;p34"/>
          <p:cNvSpPr txBox="1"/>
          <p:nvPr>
            <p:ph idx="4294967295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88" name="Google Shape;288;p34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94" name="Google Shape;294;p35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to represent a </a:t>
            </a:r>
            <a:r>
              <a:rPr b="1" lang="en" sz="3000"/>
              <a:t>patient’s data</a:t>
            </a:r>
            <a:r>
              <a:rPr lang="en" sz="3000"/>
              <a:t>?</a:t>
            </a:r>
            <a:endParaRPr b="1" sz="3000"/>
          </a:p>
        </p:txBody>
      </p:sp>
      <p:sp>
        <p:nvSpPr>
          <p:cNvPr id="295" name="Google Shape;295;p35"/>
          <p:cNvSpPr/>
          <p:nvPr/>
        </p:nvSpPr>
        <p:spPr>
          <a:xfrm>
            <a:off x="6554675" y="3095625"/>
            <a:ext cx="1227000" cy="172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"/>
          <p:cNvSpPr txBox="1"/>
          <p:nvPr/>
        </p:nvSpPr>
        <p:spPr>
          <a:xfrm>
            <a:off x="594525" y="4742875"/>
            <a:ext cx="56595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 an approach to data where the data is patient-centric and not process-centric.</a:t>
            </a:r>
            <a:endParaRPr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594525" y="1933533"/>
            <a:ext cx="5580000" cy="21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Origin:</a:t>
            </a:r>
            <a:endParaRPr b="1" sz="19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data acquisition has been carried out for process digitalization.</a:t>
            </a:r>
            <a:endParaRPr sz="19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Patient Representation:</a:t>
            </a:r>
            <a:endParaRPr b="1" sz="19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There is still no true digitalization that completely represents a patient.</a:t>
            </a:r>
            <a:endParaRPr sz="195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98" name="Google Shape;2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4675" y="2842825"/>
            <a:ext cx="4966574" cy="299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 txBox="1"/>
          <p:nvPr/>
        </p:nvSpPr>
        <p:spPr>
          <a:xfrm>
            <a:off x="412492" y="2774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idx="4294967295" type="body"/>
          </p:nvPr>
        </p:nvSpPr>
        <p:spPr>
          <a:xfrm>
            <a:off x="205219" y="2406000"/>
            <a:ext cx="3584100" cy="8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1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Digitization of health data has been </a:t>
            </a:r>
            <a:r>
              <a:rPr lang="en" sz="2100">
                <a:solidFill>
                  <a:schemeClr val="accent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process-centric</a:t>
            </a:r>
            <a:r>
              <a:rPr lang="en" sz="2100">
                <a:solidFill>
                  <a:srgbClr val="040F4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, making data messy, sparse and inaccessible.</a:t>
            </a:r>
            <a:endParaRPr sz="2100">
              <a:solidFill>
                <a:srgbClr val="040F4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05" name="Google Shape;305;p3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06" name="Google Shape;306;p36"/>
          <p:cNvSpPr txBox="1"/>
          <p:nvPr>
            <p:ph idx="4294967295" type="body"/>
          </p:nvPr>
        </p:nvSpPr>
        <p:spPr>
          <a:xfrm>
            <a:off x="4304000" y="5258525"/>
            <a:ext cx="35841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000">
                <a:solidFill>
                  <a:srgbClr val="040F40"/>
                </a:solidFill>
              </a:rPr>
              <a:t>Legacy Healthcare Data Architecture</a:t>
            </a:r>
            <a:endParaRPr sz="1000">
              <a:solidFill>
                <a:srgbClr val="040F40"/>
              </a:solidFill>
            </a:endParaRPr>
          </a:p>
        </p:txBody>
      </p:sp>
      <p:sp>
        <p:nvSpPr>
          <p:cNvPr id="307" name="Google Shape;307;p36"/>
          <p:cNvSpPr txBox="1"/>
          <p:nvPr>
            <p:ph idx="4294967295" type="body"/>
          </p:nvPr>
        </p:nvSpPr>
        <p:spPr>
          <a:xfrm>
            <a:off x="8248000" y="5258525"/>
            <a:ext cx="35841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000">
                <a:solidFill>
                  <a:srgbClr val="040F40"/>
                </a:solidFill>
              </a:rPr>
              <a:t>Patient-centric Data Architecture</a:t>
            </a:r>
            <a:endParaRPr sz="1000">
              <a:solidFill>
                <a:srgbClr val="040F40"/>
              </a:solidFill>
            </a:endParaRPr>
          </a:p>
        </p:txBody>
      </p:sp>
      <p:grpSp>
        <p:nvGrpSpPr>
          <p:cNvPr id="308" name="Google Shape;308;p36"/>
          <p:cNvGrpSpPr/>
          <p:nvPr/>
        </p:nvGrpSpPr>
        <p:grpSpPr>
          <a:xfrm>
            <a:off x="9779500" y="3126950"/>
            <a:ext cx="521100" cy="822900"/>
            <a:chOff x="9927050" y="3865950"/>
            <a:chExt cx="521100" cy="822900"/>
          </a:xfrm>
        </p:grpSpPr>
        <p:sp>
          <p:nvSpPr>
            <p:cNvPr id="309" name="Google Shape;309;p36"/>
            <p:cNvSpPr/>
            <p:nvPr/>
          </p:nvSpPr>
          <p:spPr>
            <a:xfrm>
              <a:off x="9927050" y="3865950"/>
              <a:ext cx="521100" cy="822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310" name="Google Shape;310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73300" y="4277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311" name="Google Shape;31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073300" y="40488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312" name="Google Shape;312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5750" y="2432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13" name="Google Shape;31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57800" y="2432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314" name="Google Shape;31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757800" y="3424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315" name="Google Shape;31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5750" y="441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16" name="Google Shape;31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57800" y="4415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317" name="Google Shape;31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93700" y="3424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18" name="Google Shape;318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2375" y="2432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19" name="Google Shape;31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2375" y="441560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p36"/>
          <p:cNvCxnSpPr>
            <a:stCxn id="309" idx="1"/>
            <a:endCxn id="317" idx="3"/>
          </p:cNvCxnSpPr>
          <p:nvPr/>
        </p:nvCxnSpPr>
        <p:spPr>
          <a:xfrm rot="10800000">
            <a:off x="9322300" y="35384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1" name="Google Shape;321;p36"/>
          <p:cNvCxnSpPr>
            <a:stCxn id="309" idx="0"/>
            <a:endCxn id="312" idx="2"/>
          </p:cNvCxnSpPr>
          <p:nvPr/>
        </p:nvCxnSpPr>
        <p:spPr>
          <a:xfrm rot="10800000">
            <a:off x="10040050" y="2661350"/>
            <a:ext cx="0" cy="46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2" name="Google Shape;322;p36"/>
          <p:cNvCxnSpPr>
            <a:stCxn id="309" idx="3"/>
            <a:endCxn id="314" idx="1"/>
          </p:cNvCxnSpPr>
          <p:nvPr/>
        </p:nvCxnSpPr>
        <p:spPr>
          <a:xfrm>
            <a:off x="10300600" y="35384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3" name="Google Shape;323;p36"/>
          <p:cNvCxnSpPr>
            <a:stCxn id="309" idx="2"/>
            <a:endCxn id="315" idx="0"/>
          </p:cNvCxnSpPr>
          <p:nvPr/>
        </p:nvCxnSpPr>
        <p:spPr>
          <a:xfrm>
            <a:off x="10040050" y="3949850"/>
            <a:ext cx="0" cy="46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4" name="Google Shape;324;p36"/>
          <p:cNvCxnSpPr>
            <a:stCxn id="317" idx="2"/>
            <a:endCxn id="319" idx="0"/>
          </p:cNvCxnSpPr>
          <p:nvPr/>
        </p:nvCxnSpPr>
        <p:spPr>
          <a:xfrm>
            <a:off x="9208000" y="3652700"/>
            <a:ext cx="870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5" name="Google Shape;325;p36"/>
          <p:cNvCxnSpPr>
            <a:stCxn id="315" idx="1"/>
            <a:endCxn id="319" idx="3"/>
          </p:cNvCxnSpPr>
          <p:nvPr/>
        </p:nvCxnSpPr>
        <p:spPr>
          <a:xfrm rot="10800000">
            <a:off x="9330850" y="4529900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6" name="Google Shape;326;p36"/>
          <p:cNvCxnSpPr>
            <a:stCxn id="317" idx="0"/>
            <a:endCxn id="318" idx="2"/>
          </p:cNvCxnSpPr>
          <p:nvPr/>
        </p:nvCxnSpPr>
        <p:spPr>
          <a:xfrm flipH="1" rot="10800000">
            <a:off x="9208000" y="2661200"/>
            <a:ext cx="870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7" name="Google Shape;327;p36"/>
          <p:cNvCxnSpPr>
            <a:stCxn id="312" idx="1"/>
            <a:endCxn id="318" idx="3"/>
          </p:cNvCxnSpPr>
          <p:nvPr/>
        </p:nvCxnSpPr>
        <p:spPr>
          <a:xfrm rot="10800000">
            <a:off x="9330850" y="2546900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8" name="Google Shape;328;p36"/>
          <p:cNvCxnSpPr>
            <a:stCxn id="312" idx="3"/>
            <a:endCxn id="313" idx="1"/>
          </p:cNvCxnSpPr>
          <p:nvPr/>
        </p:nvCxnSpPr>
        <p:spPr>
          <a:xfrm>
            <a:off x="10154350" y="2546900"/>
            <a:ext cx="60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29" name="Google Shape;329;p36"/>
          <p:cNvCxnSpPr>
            <a:stCxn id="314" idx="2"/>
            <a:endCxn id="316" idx="0"/>
          </p:cNvCxnSpPr>
          <p:nvPr/>
        </p:nvCxnSpPr>
        <p:spPr>
          <a:xfrm>
            <a:off x="10872100" y="3652700"/>
            <a:ext cx="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30" name="Google Shape;330;p36"/>
          <p:cNvCxnSpPr>
            <a:stCxn id="315" idx="3"/>
            <a:endCxn id="316" idx="1"/>
          </p:cNvCxnSpPr>
          <p:nvPr/>
        </p:nvCxnSpPr>
        <p:spPr>
          <a:xfrm>
            <a:off x="10154350" y="4529900"/>
            <a:ext cx="603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31" name="Google Shape;331;p36"/>
          <p:cNvCxnSpPr>
            <a:stCxn id="314" idx="0"/>
            <a:endCxn id="313" idx="2"/>
          </p:cNvCxnSpPr>
          <p:nvPr/>
        </p:nvCxnSpPr>
        <p:spPr>
          <a:xfrm rot="10800000">
            <a:off x="10872100" y="2661200"/>
            <a:ext cx="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grpSp>
        <p:nvGrpSpPr>
          <p:cNvPr id="332" name="Google Shape;332;p36"/>
          <p:cNvGrpSpPr/>
          <p:nvPr/>
        </p:nvGrpSpPr>
        <p:grpSpPr>
          <a:xfrm>
            <a:off x="5556488" y="2889800"/>
            <a:ext cx="521100" cy="521100"/>
            <a:chOff x="5835450" y="3931350"/>
            <a:chExt cx="521100" cy="521100"/>
          </a:xfrm>
        </p:grpSpPr>
        <p:sp>
          <p:nvSpPr>
            <p:cNvPr id="333" name="Google Shape;333;p36"/>
            <p:cNvSpPr/>
            <p:nvPr/>
          </p:nvSpPr>
          <p:spPr>
            <a:xfrm>
              <a:off x="5835450" y="39313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334" name="Google Shape;33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81700" y="40776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335" name="Google Shape;33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2750" y="2204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36" name="Google Shape;33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2163" y="2807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337" name="Google Shape;33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41700" y="3396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540-80q-108 0-184-76t-76-184v-23q-86-14-143-80.5T80-600v-240h120v-40h80v160h-80v-40h-40v160q0 66 47 113t113 47q66 0 113-47t47-113v-160h-40v40h-80v-160h80v40h120v240q0 90-57 156.5T360-363v23q0 75 52.5 127.5T540-160q75 0 127.5-52.5T720-340v-67q-35-12-57.5-43T640-520q0-50 35-85t85-35q50 0 85 35t35 85q0 39-22.5 70T800-407v67q0 108-76 184T540-80Zm220-400q17 0 28.5-11.5T800-520q0-17-11.5-28.5T760-560q-17 0-28.5 11.5T720-520q0 17 11.5 28.5T760-480Zm0-40Z&quot;/&gt;&lt;/svg&gt;" id="338" name="Google Shape;33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1700" y="3977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39" name="Google Shape;33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7113" y="34241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80-160v-640h320l80 80h400v560H80Zm80-80h640v-400H447l-80-80H160v480Zm0 0v-480 480Zm400-80h80v-80h80v-80h-80v-80h-80v80h-80v80h80v80Z&quot;/&gt;&lt;/svg&gt;" id="340" name="Google Shape;340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225" y="3341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41" name="Google Shape;34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3088" y="26612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42" name="Google Shape;34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4413" y="3795650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3" name="Google Shape;343;p36"/>
          <p:cNvCxnSpPr>
            <a:stCxn id="333" idx="1"/>
            <a:endCxn id="340" idx="3"/>
          </p:cNvCxnSpPr>
          <p:nvPr/>
        </p:nvCxnSpPr>
        <p:spPr>
          <a:xfrm flipH="1">
            <a:off x="5174888" y="3150350"/>
            <a:ext cx="381600" cy="30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44" name="Google Shape;344;p36"/>
          <p:cNvCxnSpPr>
            <a:stCxn id="333" idx="0"/>
            <a:endCxn id="335" idx="2"/>
          </p:cNvCxnSpPr>
          <p:nvPr/>
        </p:nvCxnSpPr>
        <p:spPr>
          <a:xfrm rot="10800000">
            <a:off x="5817038" y="24326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45" name="Google Shape;345;p36"/>
          <p:cNvCxnSpPr>
            <a:stCxn id="333" idx="3"/>
            <a:endCxn id="337" idx="1"/>
          </p:cNvCxnSpPr>
          <p:nvPr/>
        </p:nvCxnSpPr>
        <p:spPr>
          <a:xfrm>
            <a:off x="6077588" y="3150350"/>
            <a:ext cx="564000" cy="36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46" name="Google Shape;346;p36"/>
          <p:cNvCxnSpPr>
            <a:stCxn id="333" idx="2"/>
            <a:endCxn id="338" idx="0"/>
          </p:cNvCxnSpPr>
          <p:nvPr/>
        </p:nvCxnSpPr>
        <p:spPr>
          <a:xfrm>
            <a:off x="5817038" y="3410900"/>
            <a:ext cx="279000" cy="566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6788675" y="2384900"/>
            <a:ext cx="521100" cy="521100"/>
            <a:chOff x="7318325" y="3666150"/>
            <a:chExt cx="521100" cy="521100"/>
          </a:xfrm>
        </p:grpSpPr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348" name="Google Shape;34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6"/>
            <p:cNvSpPr/>
            <p:nvPr/>
          </p:nvSpPr>
          <p:spPr>
            <a:xfrm>
              <a:off x="7318325" y="36661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350" name="Google Shape;35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36"/>
          <p:cNvGrpSpPr/>
          <p:nvPr/>
        </p:nvGrpSpPr>
        <p:grpSpPr>
          <a:xfrm>
            <a:off x="6556875" y="4375850"/>
            <a:ext cx="521100" cy="521100"/>
            <a:chOff x="7318325" y="3666150"/>
            <a:chExt cx="521100" cy="521100"/>
          </a:xfrm>
        </p:grpSpPr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352" name="Google Shape;35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36"/>
            <p:cNvSpPr/>
            <p:nvPr/>
          </p:nvSpPr>
          <p:spPr>
            <a:xfrm>
              <a:off x="7318325" y="36661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20-280h120v-140h140v-120H540v-140H420v140H280v120h140v140ZM120-120v-720h720v720H120Zm80-80h560v-560H200v560Zm0 0v-560 560Z&quot;/&gt;&lt;/svg&gt;" id="354" name="Google Shape;35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64575" y="38124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5" name="Google Shape;355;p36"/>
          <p:cNvGrpSpPr/>
          <p:nvPr/>
        </p:nvGrpSpPr>
        <p:grpSpPr>
          <a:xfrm>
            <a:off x="4742838" y="4250000"/>
            <a:ext cx="521100" cy="521100"/>
            <a:chOff x="5835450" y="3931350"/>
            <a:chExt cx="521100" cy="521100"/>
          </a:xfrm>
        </p:grpSpPr>
        <p:sp>
          <p:nvSpPr>
            <p:cNvPr id="356" name="Google Shape;356;p36"/>
            <p:cNvSpPr/>
            <p:nvPr/>
          </p:nvSpPr>
          <p:spPr>
            <a:xfrm>
              <a:off x="5835450" y="3931350"/>
              <a:ext cx="521100" cy="521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CFD8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pic>
          <p:nvPicPr>
            <p:cNvPr descr="&lt;svg xmlns=&quot;http://www.w3.org/2000/svg&quot; height=&quot;24px&quot; viewBox=&quot;0 -960 960 960&quot; width=&quot;24px&quot; fill=&quot;#000&quot;&gt;&lt;path d=&quot;M40-160v-112q0-34 17.5-62.5T104-378q62-31 126-46.5T360-440q66 0 130 15.5T616-378q29 15 46.5 43.5T680-272v112H40Zm720 0v-120q0-44-24.5-84.5T666-434q51 6 96 20.5t84 35.5q36 20 55 44.5t19 53.5v120H760ZM360-480q-66 0-113-47t-47-113q0-66 47-113t113-47q66 0 113 47t47 113q0 66-47 113t-113 47Zm400-160q0 66-47 113t-113 47q-11 0-28-2.5t-28-5.5q27-32 41.5-71t14.5-81q0-42-14.5-81T544-792q14-5 28-6.5t28-1.5q66 0 113 47t47 113ZM120-240h480v-32q0-11-5.5-20T580-306q-54-27-109-40.5T360-360q-56 0-111 13.5T140-306q-9 5-14.5 14t-5.5 20v32Zm240-320q33 0 56.5-23.5T440-640q0-33-23.5-56.5T360-720q-33 0-56.5 23.5T280-640q0 33 23.5 56.5T360-560Zm0 320Zm0-400Z&quot;/&gt;&lt;/svg&gt;" id="357" name="Google Shape;35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81700" y="407760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8" name="Google Shape;358;p36"/>
          <p:cNvCxnSpPr>
            <a:stCxn id="349" idx="1"/>
            <a:endCxn id="335" idx="3"/>
          </p:cNvCxnSpPr>
          <p:nvPr/>
        </p:nvCxnSpPr>
        <p:spPr>
          <a:xfrm rot="10800000">
            <a:off x="5931275" y="2318450"/>
            <a:ext cx="857400" cy="3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59" name="Google Shape;359;p36"/>
          <p:cNvCxnSpPr>
            <a:stCxn id="349" idx="2"/>
            <a:endCxn id="337" idx="0"/>
          </p:cNvCxnSpPr>
          <p:nvPr/>
        </p:nvCxnSpPr>
        <p:spPr>
          <a:xfrm flipH="1">
            <a:off x="6756125" y="2906000"/>
            <a:ext cx="293100" cy="49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60" name="Google Shape;360;p36"/>
          <p:cNvCxnSpPr>
            <a:stCxn id="353" idx="0"/>
            <a:endCxn id="337" idx="2"/>
          </p:cNvCxnSpPr>
          <p:nvPr/>
        </p:nvCxnSpPr>
        <p:spPr>
          <a:xfrm rot="10800000">
            <a:off x="6755925" y="3624950"/>
            <a:ext cx="61500" cy="75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61" name="Google Shape;361;p36"/>
          <p:cNvCxnSpPr>
            <a:stCxn id="353" idx="1"/>
            <a:endCxn id="338" idx="3"/>
          </p:cNvCxnSpPr>
          <p:nvPr/>
        </p:nvCxnSpPr>
        <p:spPr>
          <a:xfrm rot="10800000">
            <a:off x="6210375" y="4091300"/>
            <a:ext cx="346500" cy="54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62" name="Google Shape;362;p36"/>
          <p:cNvCxnSpPr>
            <a:stCxn id="356" idx="0"/>
            <a:endCxn id="340" idx="2"/>
          </p:cNvCxnSpPr>
          <p:nvPr/>
        </p:nvCxnSpPr>
        <p:spPr>
          <a:xfrm flipH="1" rot="10800000">
            <a:off x="5003388" y="3569900"/>
            <a:ext cx="57000" cy="68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cxnSp>
        <p:nvCxnSpPr>
          <p:cNvPr id="363" name="Google Shape;363;p36"/>
          <p:cNvCxnSpPr>
            <a:stCxn id="356" idx="3"/>
            <a:endCxn id="338" idx="2"/>
          </p:cNvCxnSpPr>
          <p:nvPr/>
        </p:nvCxnSpPr>
        <p:spPr>
          <a:xfrm flipH="1" rot="10800000">
            <a:off x="5263938" y="4205750"/>
            <a:ext cx="832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diamond"/>
            <a:tailEnd len="med" w="med" type="none"/>
          </a:ln>
        </p:spPr>
      </p:cxnSp>
      <p:pic>
        <p:nvPicPr>
          <p:cNvPr descr="&lt;svg xmlns=&quot;http://www.w3.org/2000/svg&quot; height=&quot;24px&quot; viewBox=&quot;0 -960 960 960&quot; width=&quot;24px&quot; fill=&quot;#0f3bfe&quot;&gt;&lt;path d=&quot;M120-160v-160h720v160H120Zm80-40h80v-80h-80v80Zm-80-440v-160h720v160H120Zm80-40h80v-80h-80v80Zm-80 280v-160h720v160H120Zm80-40h80v-80h-80v80Z&quot;/&gt;&lt;/svg&gt;" id="364" name="Google Shape;364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42238" y="4798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6"/>
          <p:cNvSpPr/>
          <p:nvPr/>
        </p:nvSpPr>
        <p:spPr>
          <a:xfrm>
            <a:off x="7952963" y="3255350"/>
            <a:ext cx="722100" cy="56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IBM Plex Sans"/>
                <a:ea typeface="IBM Plex Sans"/>
                <a:cs typeface="IBM Plex Sans"/>
                <a:sym typeface="IBM Plex Sans"/>
              </a:rPr>
              <a:t>AI</a:t>
            </a:r>
            <a:endParaRPr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6" name="Google Shape;366;p36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Patient-centric </a:t>
            </a:r>
            <a:r>
              <a:rPr b="1" lang="en" sz="3000"/>
              <a:t>approach</a:t>
            </a:r>
            <a:endParaRPr b="1" sz="3000"/>
          </a:p>
        </p:txBody>
      </p:sp>
      <p:sp>
        <p:nvSpPr>
          <p:cNvPr id="367" name="Google Shape;367;p36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/>
          <p:nvPr/>
        </p:nvSpPr>
        <p:spPr>
          <a:xfrm>
            <a:off x="9033225" y="1017200"/>
            <a:ext cx="2455500" cy="536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3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74" name="Google Shape;374;p37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>
                <a:solidFill>
                  <a:srgbClr val="0F3BFE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Common data sources</a:t>
            </a:r>
            <a:r>
              <a:rPr b="0" i="0" lang="en" sz="3000">
                <a:solidFill>
                  <a:srgbClr val="0F3BFE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the clinical environment</a:t>
            </a:r>
            <a:endParaRPr b="1" i="0" sz="3000">
              <a:solidFill>
                <a:srgbClr val="0F3BF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5" name="Google Shape;375;p37"/>
          <p:cNvSpPr txBox="1"/>
          <p:nvPr/>
        </p:nvSpPr>
        <p:spPr>
          <a:xfrm>
            <a:off x="594525" y="4104199"/>
            <a:ext cx="8333100" cy="34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Complementary data derived from tests on samples...</a:t>
            </a:r>
            <a:endParaRPr b="0" i="0" sz="1364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6" name="Google Shape;376;p37"/>
          <p:cNvSpPr txBox="1"/>
          <p:nvPr/>
        </p:nvSpPr>
        <p:spPr>
          <a:xfrm>
            <a:off x="594525" y="3673945"/>
            <a:ext cx="8186100" cy="34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Laboratory Data</a:t>
            </a:r>
            <a:r>
              <a:rPr b="0" i="0" lang="en" sz="1386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:</a:t>
            </a:r>
            <a:endParaRPr b="0" i="0" sz="1386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77" name="Google Shape;377;p37"/>
          <p:cNvSpPr txBox="1"/>
          <p:nvPr/>
        </p:nvSpPr>
        <p:spPr>
          <a:xfrm>
            <a:off x="594525" y="2860377"/>
            <a:ext cx="8333100" cy="73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Generates real-time data in environments such as the ICU, operating room, home, radiology...</a:t>
            </a:r>
            <a:endParaRPr b="0" i="0" sz="176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8" name="Google Shape;378;p37"/>
          <p:cNvSpPr txBox="1"/>
          <p:nvPr/>
        </p:nvSpPr>
        <p:spPr>
          <a:xfrm>
            <a:off x="594525" y="2430142"/>
            <a:ext cx="8186100" cy="34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Medical devices (Gastroscopies, ECG... ):</a:t>
            </a:r>
            <a:endParaRPr b="0" i="0" sz="1386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94525" y="1840116"/>
            <a:ext cx="8333100" cy="34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Primary source of clinical data, but often unstructured</a:t>
            </a:r>
            <a:r>
              <a:rPr b="0" i="0" lang="en" sz="1364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364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0" name="Google Shape;380;p37"/>
          <p:cNvSpPr txBox="1"/>
          <p:nvPr/>
        </p:nvSpPr>
        <p:spPr>
          <a:xfrm>
            <a:off x="594525" y="1409871"/>
            <a:ext cx="8186100" cy="34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Clinical history</a:t>
            </a:r>
            <a:r>
              <a:rPr b="0" i="0" lang="en" sz="1386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:</a:t>
            </a:r>
            <a:endParaRPr b="0" i="0" sz="1386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594525" y="5076482"/>
            <a:ext cx="8333100" cy="89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on medications and treatments administered in the hospital or primary care setting.</a:t>
            </a:r>
            <a:endParaRPr b="0" i="0" sz="110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  <a:endParaRPr b="0" i="0" sz="110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[…]</a:t>
            </a:r>
            <a:endParaRPr b="0" i="0" sz="110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47"/>
              </a:spcBef>
              <a:spcAft>
                <a:spcPts val="0"/>
              </a:spcAft>
              <a:buNone/>
            </a:pPr>
            <a:r>
              <a:rPr b="0" i="0" lang="en" sz="110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 </a:t>
            </a:r>
            <a:endParaRPr b="0" i="0" sz="1100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2" name="Google Shape;382;p37"/>
          <p:cNvSpPr txBox="1"/>
          <p:nvPr/>
        </p:nvSpPr>
        <p:spPr>
          <a:xfrm>
            <a:off x="594525" y="4646228"/>
            <a:ext cx="8186100" cy="34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67025" lIns="134125" spcFirstLastPara="1" rIns="134125" wrap="square" tIns="67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Hospital Dispensing:</a:t>
            </a:r>
            <a:endParaRPr b="0" i="0" sz="1386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383" name="Google Shape;383;p37"/>
          <p:cNvPicPr preferRelativeResize="0"/>
          <p:nvPr/>
        </p:nvPicPr>
        <p:blipFill rotWithShape="1">
          <a:blip r:embed="rId3">
            <a:alphaModFix/>
          </a:blip>
          <a:srcRect b="0" l="11010" r="65648" t="13322"/>
          <a:stretch/>
        </p:blipFill>
        <p:spPr>
          <a:xfrm>
            <a:off x="9550241" y="1283825"/>
            <a:ext cx="1396384" cy="157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7"/>
          <p:cNvPicPr preferRelativeResize="0"/>
          <p:nvPr/>
        </p:nvPicPr>
        <p:blipFill rotWithShape="1">
          <a:blip r:embed="rId3">
            <a:alphaModFix/>
          </a:blip>
          <a:srcRect b="0" l="38070" r="38588" t="13322"/>
          <a:stretch/>
        </p:blipFill>
        <p:spPr>
          <a:xfrm>
            <a:off x="9550241" y="2882576"/>
            <a:ext cx="1396384" cy="1579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7"/>
          <p:cNvPicPr preferRelativeResize="0"/>
          <p:nvPr/>
        </p:nvPicPr>
        <p:blipFill rotWithShape="1">
          <a:blip r:embed="rId3">
            <a:alphaModFix/>
          </a:blip>
          <a:srcRect b="0" l="64708" r="11951" t="13322"/>
          <a:stretch/>
        </p:blipFill>
        <p:spPr>
          <a:xfrm>
            <a:off x="9550241" y="4470958"/>
            <a:ext cx="1396384" cy="157991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7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92" name="Google Shape;392;p38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data is </a:t>
            </a:r>
            <a:r>
              <a:rPr b="1" lang="en" sz="3000"/>
              <a:t>heterogeneous</a:t>
            </a:r>
            <a:r>
              <a:rPr lang="en" sz="3000"/>
              <a:t> by nature.</a:t>
            </a:r>
            <a:endParaRPr sz="3000"/>
          </a:p>
        </p:txBody>
      </p:sp>
      <p:sp>
        <p:nvSpPr>
          <p:cNvPr id="393" name="Google Shape;393;p38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608375" y="1420775"/>
            <a:ext cx="11223600" cy="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56050" lIns="112100" spcFirstLastPara="1" rIns="112100" wrap="square" tIns="5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14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data require a normalization process in order to derive value from them at scale. It is not feasible to adjust the data for each individual system or use case.</a:t>
            </a:r>
            <a:endParaRPr sz="2636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95" name="Google Shape;39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463" y="2692304"/>
            <a:ext cx="8811888" cy="322775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8"/>
          <p:cNvSpPr txBox="1"/>
          <p:nvPr/>
        </p:nvSpPr>
        <p:spPr>
          <a:xfrm>
            <a:off x="4281851" y="2875805"/>
            <a:ext cx="2104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050" lIns="112100" spcFirstLastPara="1" rIns="112100" wrap="square" tIns="5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Use case</a:t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97" name="Google Shape;397;p38"/>
          <p:cNvSpPr txBox="1"/>
          <p:nvPr/>
        </p:nvSpPr>
        <p:spPr>
          <a:xfrm>
            <a:off x="4281851" y="3136619"/>
            <a:ext cx="3981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050" lIns="112100" spcFirstLastPara="1" rIns="112100" wrap="square" tIns="5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e.g. Observational Study</a:t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8" name="Google Shape;398;p38"/>
          <p:cNvSpPr txBox="1"/>
          <p:nvPr/>
        </p:nvSpPr>
        <p:spPr>
          <a:xfrm>
            <a:off x="1599866" y="5789574"/>
            <a:ext cx="258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050" lIns="112100" spcFirstLastPara="1" rIns="112100" wrap="square" tIns="5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Data Sources</a:t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99" name="Google Shape;399;p38"/>
          <p:cNvSpPr txBox="1"/>
          <p:nvPr/>
        </p:nvSpPr>
        <p:spPr>
          <a:xfrm>
            <a:off x="1599866" y="6050388"/>
            <a:ext cx="39810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050" lIns="112100" spcFirstLastPara="1" rIns="112100" wrap="square" tIns="5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e.g. different hospitals and information systems</a:t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0" name="Google Shape;400;p38"/>
          <p:cNvSpPr txBox="1"/>
          <p:nvPr/>
        </p:nvSpPr>
        <p:spPr>
          <a:xfrm>
            <a:off x="8262847" y="5789574"/>
            <a:ext cx="258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6050" lIns="112100" spcFirstLastPara="1" rIns="112100" wrap="square" tIns="5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Standard Format</a:t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06" name="Google Shape;406;p39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data is </a:t>
            </a:r>
            <a:r>
              <a:rPr b="1" lang="en" sz="3000"/>
              <a:t>heterogeneous</a:t>
            </a:r>
            <a:r>
              <a:rPr lang="en" sz="3000"/>
              <a:t> by nature.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07" name="Google Shape;407;p39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8" name="Google Shape;408;p39"/>
          <p:cNvSpPr txBox="1"/>
          <p:nvPr/>
        </p:nvSpPr>
        <p:spPr>
          <a:xfrm>
            <a:off x="615775" y="1635863"/>
            <a:ext cx="102585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7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Providing a common data model is only half the job. The data stored must also represent the same meaning.</a:t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3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3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908197" y="5608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Same vocabulary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10" name="Google Shape;410;p39"/>
          <p:cNvSpPr txBox="1"/>
          <p:nvPr/>
        </p:nvSpPr>
        <p:spPr>
          <a:xfrm>
            <a:off x="5908197" y="5924678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e.g. </a:t>
            </a: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electrical current.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1516398" y="5608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Same structure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12" name="Google Shape;412;p39"/>
          <p:cNvSpPr txBox="1"/>
          <p:nvPr/>
        </p:nvSpPr>
        <p:spPr>
          <a:xfrm>
            <a:off x="1516398" y="5854646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e.g. </a:t>
            </a: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same type of plug.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13" name="Google Shape;413;p39"/>
          <p:cNvPicPr preferRelativeResize="0"/>
          <p:nvPr/>
        </p:nvPicPr>
        <p:blipFill rotWithShape="1">
          <a:blip r:embed="rId3">
            <a:alphaModFix/>
          </a:blip>
          <a:srcRect b="7356" l="0" r="0" t="0"/>
          <a:stretch/>
        </p:blipFill>
        <p:spPr>
          <a:xfrm>
            <a:off x="1271025" y="3109228"/>
            <a:ext cx="2499641" cy="2474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9"/>
          <p:cNvPicPr preferRelativeResize="0"/>
          <p:nvPr/>
        </p:nvPicPr>
        <p:blipFill rotWithShape="1">
          <a:blip r:embed="rId4">
            <a:alphaModFix/>
          </a:blip>
          <a:srcRect b="7063" l="0" r="0" t="0"/>
          <a:stretch/>
        </p:blipFill>
        <p:spPr>
          <a:xfrm>
            <a:off x="5446207" y="3232131"/>
            <a:ext cx="5482777" cy="2103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20" name="Google Shape;420;p40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data is </a:t>
            </a:r>
            <a:r>
              <a:rPr b="1" lang="en" sz="3000"/>
              <a:t>heterogeneous</a:t>
            </a:r>
            <a:r>
              <a:rPr lang="en" sz="3000"/>
              <a:t> by nature.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21" name="Google Shape;421;p40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2" name="Google Shape;422;p40"/>
          <p:cNvSpPr txBox="1"/>
          <p:nvPr/>
        </p:nvSpPr>
        <p:spPr>
          <a:xfrm>
            <a:off x="615775" y="1635863"/>
            <a:ext cx="102585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77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Providing a common data model is only half the job. The data stored must also represent the same meaning.</a:t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77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3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93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3" name="Google Shape;423;p40"/>
          <p:cNvSpPr txBox="1"/>
          <p:nvPr/>
        </p:nvSpPr>
        <p:spPr>
          <a:xfrm>
            <a:off x="5908197" y="5608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Same vocabulary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24" name="Google Shape;424;p40"/>
          <p:cNvSpPr txBox="1"/>
          <p:nvPr/>
        </p:nvSpPr>
        <p:spPr>
          <a:xfrm>
            <a:off x="5908197" y="5924678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e.g. The same electrical current.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1516398" y="5608027"/>
            <a:ext cx="24477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Same structure</a:t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1516398" y="5854646"/>
            <a:ext cx="3764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3000" lIns="106000" spcFirstLastPara="1" rIns="106000" wrap="square" tIns="53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5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e.g. The same type of plug.</a:t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5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27" name="Google Shape;427;p40"/>
          <p:cNvPicPr preferRelativeResize="0"/>
          <p:nvPr/>
        </p:nvPicPr>
        <p:blipFill rotWithShape="1">
          <a:blip r:embed="rId3">
            <a:alphaModFix/>
          </a:blip>
          <a:srcRect b="0" l="11237" r="0" t="0"/>
          <a:stretch/>
        </p:blipFill>
        <p:spPr>
          <a:xfrm>
            <a:off x="1375424" y="2951338"/>
            <a:ext cx="3106700" cy="24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9647" y="3158975"/>
            <a:ext cx="5210351" cy="206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34" name="Google Shape;434;p41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data is </a:t>
            </a:r>
            <a:r>
              <a:rPr b="1" lang="en" sz="3000"/>
              <a:t>heterogeneous</a:t>
            </a:r>
            <a:r>
              <a:rPr lang="en" sz="3000"/>
              <a:t> by nature.</a:t>
            </a:r>
            <a:endParaRPr sz="3000"/>
          </a:p>
        </p:txBody>
      </p:sp>
      <p:sp>
        <p:nvSpPr>
          <p:cNvPr id="435" name="Google Shape;435;p41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36" name="Google Shape;436;p41" title="Screenshot 2026-04-28 at 05.05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25" y="1520525"/>
            <a:ext cx="10289951" cy="4672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42" name="Google Shape;442;p42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data is </a:t>
            </a:r>
            <a:r>
              <a:rPr b="1" lang="en" sz="3000"/>
              <a:t>heterogeneous</a:t>
            </a:r>
            <a:r>
              <a:rPr lang="en" sz="3000"/>
              <a:t> by nature.</a:t>
            </a:r>
            <a:endParaRPr sz="3000"/>
          </a:p>
        </p:txBody>
      </p:sp>
      <p:sp>
        <p:nvSpPr>
          <p:cNvPr id="443" name="Google Shape;443;p42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7682575" y="2351788"/>
            <a:ext cx="1227000" cy="1721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2"/>
          <p:cNvSpPr txBox="1"/>
          <p:nvPr/>
        </p:nvSpPr>
        <p:spPr>
          <a:xfrm>
            <a:off x="594525" y="3254245"/>
            <a:ext cx="64044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ICD Codes:</a:t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A global standard for diagnoses and health conditions.</a:t>
            </a:r>
            <a:endParaRPr b="1" sz="16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SNOMED CT:</a:t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to encode medical terms and ensure a common language in healthcare.</a:t>
            </a:r>
            <a:endParaRPr b="1" sz="16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LOINC:</a:t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to identify tests, measurements, and observations.</a:t>
            </a:r>
            <a:endParaRPr sz="16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[…]</a:t>
            </a:r>
            <a:endParaRPr sz="1669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16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16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6" name="Google Shape;446;p42"/>
          <p:cNvSpPr txBox="1"/>
          <p:nvPr/>
        </p:nvSpPr>
        <p:spPr>
          <a:xfrm>
            <a:off x="594525" y="2846307"/>
            <a:ext cx="6291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78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E.G.</a:t>
            </a:r>
            <a:endParaRPr sz="1878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447" name="Google Shape;447;p42"/>
          <p:cNvSpPr txBox="1"/>
          <p:nvPr/>
        </p:nvSpPr>
        <p:spPr>
          <a:xfrm>
            <a:off x="594525" y="1968864"/>
            <a:ext cx="64044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16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importance of standardized tables, variables, and codes for applying uniform analytical methods.</a:t>
            </a:r>
            <a:endParaRPr sz="16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8" name="Google Shape;448;p42"/>
          <p:cNvSpPr txBox="1"/>
          <p:nvPr/>
        </p:nvSpPr>
        <p:spPr>
          <a:xfrm>
            <a:off x="594525" y="1560925"/>
            <a:ext cx="6291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78">
                <a:solidFill>
                  <a:srgbClr val="062D47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Standard Structure, Format, and Content:</a:t>
            </a:r>
            <a:endParaRPr sz="1878">
              <a:solidFill>
                <a:srgbClr val="062D47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449" name="Google Shape;4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2575" y="1792738"/>
            <a:ext cx="4783512" cy="344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55" name="Google Shape;455;p43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How do we achieve a </a:t>
            </a:r>
            <a:r>
              <a:rPr b="1" lang="en" sz="3000"/>
              <a:t>common data language</a:t>
            </a:r>
            <a:r>
              <a:rPr lang="en" sz="3000"/>
              <a:t>?</a:t>
            </a:r>
            <a:endParaRPr sz="3000"/>
          </a:p>
        </p:txBody>
      </p:sp>
      <p:sp>
        <p:nvSpPr>
          <p:cNvPr id="456" name="Google Shape;456;p43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>
            <a:off x="524025" y="1783950"/>
            <a:ext cx="92847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Common Data Models (CDMs) for observational research: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spcBef>
                <a:spcPts val="139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Observational Medical Outcomes Partnership (OMOP)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 – Sentinel (FDA)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ConcePTION (IMI)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Common data models also exist for data capture in interventional studies: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spcBef>
                <a:spcPts val="139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Study Data Tabulation Model (SDTM) 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4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end goal is </a:t>
            </a:r>
            <a:r>
              <a:rPr b="1" lang="en" sz="3000"/>
              <a:t>Open Science</a:t>
            </a:r>
            <a:r>
              <a:rPr lang="en" sz="3000"/>
              <a:t> at scale</a:t>
            </a:r>
            <a:endParaRPr sz="3000"/>
          </a:p>
        </p:txBody>
      </p:sp>
      <p:sp>
        <p:nvSpPr>
          <p:cNvPr id="463" name="Google Shape;463;p4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64" name="Google Shape;464;p44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5" name="Google Shape;465;p44"/>
          <p:cNvSpPr txBox="1"/>
          <p:nvPr/>
        </p:nvSpPr>
        <p:spPr>
          <a:xfrm>
            <a:off x="524025" y="1783950"/>
            <a:ext cx="66159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MUST NOT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do ‘silo’ Health Data Science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 to declare a protocol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 to share ALL our code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 to share ALL our results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Transparency is key to: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Reproducibility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Interpretability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Trustworthiness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66" name="Google Shape;466;p44"/>
          <p:cNvGrpSpPr/>
          <p:nvPr/>
        </p:nvGrpSpPr>
        <p:grpSpPr>
          <a:xfrm>
            <a:off x="6876150" y="1430000"/>
            <a:ext cx="4784650" cy="4591999"/>
            <a:chOff x="7089625" y="1753600"/>
            <a:chExt cx="4784650" cy="4591999"/>
          </a:xfrm>
        </p:grpSpPr>
        <p:pic>
          <p:nvPicPr>
            <p:cNvPr id="467" name="Google Shape;467;p44" title="Screenshot 2026-04-28 at 05.25.28.png"/>
            <p:cNvPicPr preferRelativeResize="0"/>
            <p:nvPr/>
          </p:nvPicPr>
          <p:blipFill rotWithShape="1">
            <a:blip r:embed="rId3">
              <a:alphaModFix/>
            </a:blip>
            <a:srcRect b="0" l="0" r="0" t="1730"/>
            <a:stretch/>
          </p:blipFill>
          <p:spPr>
            <a:xfrm>
              <a:off x="7292325" y="1753600"/>
              <a:ext cx="4581950" cy="4591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44"/>
            <p:cNvSpPr/>
            <p:nvPr/>
          </p:nvSpPr>
          <p:spPr>
            <a:xfrm>
              <a:off x="7089625" y="3031225"/>
              <a:ext cx="553800" cy="584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end goal is </a:t>
            </a:r>
            <a:r>
              <a:rPr b="1" lang="en" sz="3000"/>
              <a:t>Open Science</a:t>
            </a:r>
            <a:r>
              <a:rPr lang="en" sz="3000"/>
              <a:t> at scale</a:t>
            </a:r>
            <a:endParaRPr sz="3000"/>
          </a:p>
        </p:txBody>
      </p:sp>
      <p:sp>
        <p:nvSpPr>
          <p:cNvPr id="474" name="Google Shape;474;p4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75" name="Google Shape;475;p45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6" name="Google Shape;476;p45"/>
          <p:cNvSpPr txBox="1"/>
          <p:nvPr/>
        </p:nvSpPr>
        <p:spPr>
          <a:xfrm>
            <a:off x="524025" y="1783950"/>
            <a:ext cx="66159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Issues with clinical research: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Reproducibility crisis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Lack of trust in real-world evidence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○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Major issues: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⇒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Observational study bias (e.g. confounding)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⇒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Publication bias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⇒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P-hacking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77" name="Google Shape;477;p45" title="Screenshot 2026-04-28 at 05.32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075" y="531603"/>
            <a:ext cx="4449849" cy="6585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 end goal is </a:t>
            </a:r>
            <a:r>
              <a:rPr b="1" lang="en" sz="3000"/>
              <a:t>Open Science</a:t>
            </a:r>
            <a:r>
              <a:rPr lang="en" sz="3000"/>
              <a:t> at scale</a:t>
            </a:r>
            <a:endParaRPr sz="3000"/>
          </a:p>
        </p:txBody>
      </p:sp>
      <p:sp>
        <p:nvSpPr>
          <p:cNvPr id="483" name="Google Shape;483;p46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85" name="Google Shape;485;p46" title="Screenshot 2026-04-28 at 05.32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075" y="531603"/>
            <a:ext cx="4449849" cy="658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6" title="Screenshot 2026-04-28 at 05.34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388" y="1283700"/>
            <a:ext cx="6743223" cy="54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 </a:t>
            </a:r>
            <a:r>
              <a:rPr b="1" lang="en" sz="3000"/>
              <a:t>new paradigm</a:t>
            </a:r>
            <a:r>
              <a:rPr lang="en" sz="3000"/>
              <a:t> in clinical research</a:t>
            </a:r>
            <a:endParaRPr sz="3000"/>
          </a:p>
        </p:txBody>
      </p:sp>
      <p:sp>
        <p:nvSpPr>
          <p:cNvPr id="492" name="Google Shape;492;p47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93" name="Google Shape;493;p47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94" name="Google Shape;494;p47" title="Screenshot 2026-04-28 at 05.32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075" y="531603"/>
            <a:ext cx="4449849" cy="6585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47" title="Screenshot 2026-04-28 at 05.41.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324" y="1070850"/>
            <a:ext cx="5928655" cy="564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8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</a:t>
            </a:r>
            <a:endParaRPr sz="3000"/>
          </a:p>
        </p:txBody>
      </p:sp>
      <p:sp>
        <p:nvSpPr>
          <p:cNvPr id="501" name="Google Shape;501;p48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02" name="Google Shape;502;p48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03" name="Google Shape;503;p48" title="Screenshot 2026-04-28 at 05.51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363" y="1347912"/>
            <a:ext cx="8688631" cy="50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/>
          <p:nvPr/>
        </p:nvSpPr>
        <p:spPr>
          <a:xfrm>
            <a:off x="5780825" y="1422150"/>
            <a:ext cx="54579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During first COVID19 months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needed to understand the pathology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needed to evaluate the efficacy and effectiveness at scale and fast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Huge 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community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effort to execute these studies</a:t>
            </a: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BEFORE the 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clinical</a:t>
            </a:r>
            <a:r>
              <a:rPr b="1"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trials!!</a:t>
            </a:r>
            <a:endParaRPr b="1"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examples: Clinical characterization</a:t>
            </a:r>
            <a:endParaRPr sz="3000"/>
          </a:p>
        </p:txBody>
      </p:sp>
      <p:sp>
        <p:nvSpPr>
          <p:cNvPr id="510" name="Google Shape;510;p49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11" name="Google Shape;511;p49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2" name="Google Shape;512;p49"/>
          <p:cNvSpPr txBox="1"/>
          <p:nvPr/>
        </p:nvSpPr>
        <p:spPr>
          <a:xfrm>
            <a:off x="239938" y="6226700"/>
            <a:ext cx="112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Prats-Uribe A, Sena A G, Lai L Y H, Ahmed W, Alghoul H, Alser O et al. Use of repurposed and adjuvant drugs in hospital patients with covid-19: multinational network cohort study BMJ 2021; 373 :n1038 doi:10.1136/bmj.n1038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13" name="Google Shape;513;p49" title="Screenshot 2026-04-28 at 05.53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900" y="1360750"/>
            <a:ext cx="4877714" cy="44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examples: Clinical characterization</a:t>
            </a:r>
            <a:endParaRPr sz="3000"/>
          </a:p>
        </p:txBody>
      </p:sp>
      <p:sp>
        <p:nvSpPr>
          <p:cNvPr id="519" name="Google Shape;519;p50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20" name="Google Shape;520;p50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1" name="Google Shape;521;p50"/>
          <p:cNvSpPr txBox="1"/>
          <p:nvPr/>
        </p:nvSpPr>
        <p:spPr>
          <a:xfrm>
            <a:off x="275688" y="6380600"/>
            <a:ext cx="112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Prats-Uribe A, Sena A G, Lai L Y H, Ahmed W, Alghoul H, Alser O et al. Use of repurposed and adjuvant drugs in hospital patients with covid-19: multinational network cohort study BMJ 2021; 373 :n1038 doi:10.1136/bmj.n1038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22" name="Google Shape;522;p50" title="F4.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550" y="1228327"/>
            <a:ext cx="8558550" cy="508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0"/>
          <p:cNvSpPr txBox="1"/>
          <p:nvPr/>
        </p:nvSpPr>
        <p:spPr>
          <a:xfrm>
            <a:off x="7888000" y="1520525"/>
            <a:ext cx="35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BM Plex Sans"/>
                <a:ea typeface="IBM Plex Sans"/>
                <a:cs typeface="IBM Plex Sans"/>
                <a:sym typeface="IBM Plex Sans"/>
              </a:rPr>
              <a:t>Time trends in hydroxychloroquine use</a:t>
            </a:r>
            <a:endParaRPr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1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examples: Clinical characterization</a:t>
            </a:r>
            <a:endParaRPr sz="3000"/>
          </a:p>
        </p:txBody>
      </p:sp>
      <p:sp>
        <p:nvSpPr>
          <p:cNvPr id="529" name="Google Shape;529;p51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30" name="Google Shape;530;p51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1" name="Google Shape;531;p51"/>
          <p:cNvSpPr txBox="1"/>
          <p:nvPr/>
        </p:nvSpPr>
        <p:spPr>
          <a:xfrm>
            <a:off x="275688" y="6380600"/>
            <a:ext cx="1128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Prats-Uribe A, Sena A G, Lai L Y H, Ahmed W, Alghoul H, Alser O et al. Use of repurposed and adjuvant drugs in hospital patients with covid-19: multinational network cohort study BMJ 2021; 373 :n1038 doi:10.1136/bmj.n1038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32" name="Google Shape;532;p51" title="F3.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38" y="1740400"/>
            <a:ext cx="10750515" cy="415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2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</a:t>
            </a:r>
            <a:endParaRPr sz="3000"/>
          </a:p>
        </p:txBody>
      </p:sp>
      <p:sp>
        <p:nvSpPr>
          <p:cNvPr id="538" name="Google Shape;538;p52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39" name="Google Shape;539;p52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40" name="Google Shape;540;p52" title="Screenshot 2026-04-28 at 06.00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313" y="1277800"/>
            <a:ext cx="7297378" cy="503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3"/>
          <p:cNvSpPr txBox="1"/>
          <p:nvPr/>
        </p:nvSpPr>
        <p:spPr>
          <a:xfrm>
            <a:off x="5780825" y="1422150"/>
            <a:ext cx="54579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3575" lIns="127150" spcFirstLastPara="1" rIns="127150" wrap="square" tIns="63575">
            <a:noAutofit/>
          </a:bodyPr>
          <a:lstStyle/>
          <a:p>
            <a:pPr indent="0" lvl="0" marL="0" rtl="0" algn="l">
              <a:spcBef>
                <a:spcPts val="139"/>
              </a:spcBef>
              <a:spcAft>
                <a:spcPts val="0"/>
              </a:spcAft>
              <a:buNone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During first COVID19 vaccinations, need to evaluate safety at scale:</a:t>
            </a:r>
            <a:b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endParaRPr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853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62D47"/>
              </a:buClr>
              <a:buSzPts val="2469"/>
              <a:buFont typeface="IBM Plex Sans"/>
              <a:buChar char="■"/>
            </a:pP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Showed</a:t>
            </a:r>
            <a:r>
              <a:rPr lang="en" sz="2469">
                <a:solidFill>
                  <a:srgbClr val="062D47"/>
                </a:solidFill>
                <a:latin typeface="IBM Plex Sans"/>
                <a:ea typeface="IBM Plex Sans"/>
                <a:cs typeface="IBM Plex Sans"/>
                <a:sym typeface="IBM Plex Sans"/>
              </a:rPr>
              <a:t> 30% increased risk of thrombocytopenia following first dose ChAdOx1-S</a:t>
            </a:r>
            <a:endParaRPr b="1" sz="2469">
              <a:solidFill>
                <a:srgbClr val="062D4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6" name="Google Shape;546;p53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examples: Effect Estimation</a:t>
            </a:r>
            <a:endParaRPr sz="3000"/>
          </a:p>
        </p:txBody>
      </p:sp>
      <p:sp>
        <p:nvSpPr>
          <p:cNvPr id="547" name="Google Shape;547;p53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48" name="Google Shape;548;p53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9" name="Google Shape;549;p53"/>
          <p:cNvSpPr txBox="1"/>
          <p:nvPr/>
        </p:nvSpPr>
        <p:spPr>
          <a:xfrm>
            <a:off x="239938" y="6226700"/>
            <a:ext cx="112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 X, Burn E, Duarte-Salles T, Yin C, Reich C, Delmestri A et al. Comparative risk of thrombosis with thrombocytopenia syndrome or thromboembolic events associated with different covid-19 vaccines: international network cohort study from five European countries and the US BMJ 2022; 379 :e071594 doi:10.1136/bmj-2022-071594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50" name="Google Shape;550;p53" title="Screenshot 2026-04-28 at 06.02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25" y="1360750"/>
            <a:ext cx="4913074" cy="46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examples: Effect Estimation</a:t>
            </a:r>
            <a:endParaRPr sz="3000"/>
          </a:p>
        </p:txBody>
      </p:sp>
      <p:sp>
        <p:nvSpPr>
          <p:cNvPr id="556" name="Google Shape;556;p54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57" name="Google Shape;557;p54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239938" y="6226700"/>
            <a:ext cx="112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 X, Burn E, Duarte-Salles T, Yin C, Reich C, Delmestri A et al. Comparative risk of thrombosis with thrombocytopenia syndrome or thromboembolic events associated with different covid-19 vaccines: international network cohort study from five European countries and the US BMJ 2022; 379 :e071594 doi:10.1136/bmj-2022-071594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59" name="Google Shape;559;p54" title="F2.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825" y="1268825"/>
            <a:ext cx="6181900" cy="49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5"/>
          <p:cNvSpPr txBox="1"/>
          <p:nvPr>
            <p:ph type="title"/>
          </p:nvPr>
        </p:nvSpPr>
        <p:spPr>
          <a:xfrm>
            <a:off x="238247" y="497525"/>
            <a:ext cx="920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Impactful</a:t>
            </a:r>
            <a:r>
              <a:rPr lang="en" sz="3000"/>
              <a:t> examples: Effect Estimation</a:t>
            </a:r>
            <a:endParaRPr sz="3000"/>
          </a:p>
        </p:txBody>
      </p:sp>
      <p:sp>
        <p:nvSpPr>
          <p:cNvPr id="565" name="Google Shape;565;p55"/>
          <p:cNvSpPr txBox="1"/>
          <p:nvPr>
            <p:ph idx="12" type="sldNum"/>
          </p:nvPr>
        </p:nvSpPr>
        <p:spPr>
          <a:xfrm>
            <a:off x="10580106" y="6498007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66" name="Google Shape;566;p55"/>
          <p:cNvSpPr txBox="1"/>
          <p:nvPr/>
        </p:nvSpPr>
        <p:spPr>
          <a:xfrm>
            <a:off x="260092" y="125093"/>
            <a:ext cx="7527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[01] Real World Data at Scale</a:t>
            </a:r>
            <a:endParaRPr sz="12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7" name="Google Shape;567;p55"/>
          <p:cNvSpPr txBox="1"/>
          <p:nvPr/>
        </p:nvSpPr>
        <p:spPr>
          <a:xfrm>
            <a:off x="239938" y="6226700"/>
            <a:ext cx="1128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Li X, Burn E, Duarte-Salles T, Yin C, Reich C, Delmestri A et al. Comparative risk of thrombosis with thrombocytopenia syndrome or thromboembolic events associated with different covid-19 vaccines: international network cohort study from five European countries and the US BMJ 2022; 379 :e071594 doi:10.1136/bmj-2022-071594</a:t>
            </a:r>
            <a:endParaRPr sz="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68" name="Google Shape;568;p55" title="F2.lar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825" y="1268825"/>
            <a:ext cx="6181900" cy="49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6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[03]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Ecosystem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57" title="AbstractData4_Blue.png"/>
          <p:cNvPicPr preferRelativeResize="0"/>
          <p:nvPr/>
        </p:nvPicPr>
        <p:blipFill rotWithShape="1">
          <a:blip r:embed="rId3">
            <a:alphaModFix/>
          </a:blip>
          <a:srcRect b="0" l="0" r="0" t="13066"/>
          <a:stretch/>
        </p:blipFill>
        <p:spPr>
          <a:xfrm>
            <a:off x="3332561" y="2525625"/>
            <a:ext cx="8859427" cy="4332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579" name="Google Shape;57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7"/>
          <p:cNvSpPr txBox="1"/>
          <p:nvPr/>
        </p:nvSpPr>
        <p:spPr>
          <a:xfrm>
            <a:off x="10220000" y="6190200"/>
            <a:ext cx="13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1" name="Google Shape;581;p57"/>
          <p:cNvSpPr txBox="1"/>
          <p:nvPr/>
        </p:nvSpPr>
        <p:spPr>
          <a:xfrm>
            <a:off x="250096" y="6066900"/>
            <a:ext cx="358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C/ de St. Antoni Maria Claret, 167, Sant Leopold Pavillion, 08025 — Barcelona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2" name="Google Shape;582;p57"/>
          <p:cNvSpPr txBox="1"/>
          <p:nvPr/>
        </p:nvSpPr>
        <p:spPr>
          <a:xfrm>
            <a:off x="8248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info@iomed.health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83" name="Google Shape;58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4000" y="2931661"/>
            <a:ext cx="3584000" cy="994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040F40"/>
      </a:dk2>
      <a:lt2>
        <a:srgbClr val="FFFFFF"/>
      </a:lt2>
      <a:accent1>
        <a:srgbClr val="11F17F"/>
      </a:accent1>
      <a:accent2>
        <a:srgbClr val="9B6E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E5EAFF"/>
      </a:dk2>
      <a:lt2>
        <a:srgbClr val="CFD8FF"/>
      </a:lt2>
      <a:accent1>
        <a:srgbClr val="11F17F"/>
      </a:accent1>
      <a:accent2>
        <a:srgbClr val="9B6EFF"/>
      </a:accent2>
      <a:accent3>
        <a:srgbClr val="EBE2FF"/>
      </a:accent3>
      <a:accent4>
        <a:srgbClr val="CFD8FF"/>
      </a:accent4>
      <a:accent5>
        <a:srgbClr val="D0FCE5"/>
      </a:accent5>
      <a:accent6>
        <a:srgbClr val="D7C5FF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