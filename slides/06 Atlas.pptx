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6858000" cx="12192000"/>
  <p:notesSz cx="6858000" cy="9144000"/>
  <p:embeddedFontLst>
    <p:embeddedFont>
      <p:font typeface="IBM Plex Sans"/>
      <p:regular r:id="rId61"/>
      <p:bold r:id="rId62"/>
      <p:italic r:id="rId63"/>
      <p:boldItalic r:id="rId64"/>
    </p:embeddedFont>
    <p:embeddedFont>
      <p:font typeface="Plus Jakarta Sans"/>
      <p:regular r:id="rId65"/>
      <p:bold r:id="rId66"/>
      <p:italic r:id="rId67"/>
      <p:boldItalic r:id="rId68"/>
    </p:embeddedFont>
    <p:embeddedFont>
      <p:font typeface="IBM Plex Sans Medium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19">
          <p15:clr>
            <a:srgbClr val="747775"/>
          </p15:clr>
        </p15:guide>
        <p15:guide id="2" orient="horz" pos="1157">
          <p15:clr>
            <a:srgbClr val="747775"/>
          </p15:clr>
        </p15:guide>
        <p15:guide id="3" pos="7617">
          <p15:clr>
            <a:srgbClr val="747775"/>
          </p15:clr>
        </p15:guide>
        <p15:guide id="4" pos="221">
          <p15:clr>
            <a:srgbClr val="747775"/>
          </p15:clr>
        </p15:guide>
        <p15:guide id="5" pos="216">
          <p15:clr>
            <a:srgbClr val="747775"/>
          </p15:clr>
        </p15:guide>
        <p15:guide id="6" orient="horz" pos="61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7D667C-19E2-48B8-A67F-8A69F0A46A6A}">
  <a:tblStyle styleId="{297D667C-19E2-48B8-A67F-8A69F0A46A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19" orient="horz"/>
        <p:guide pos="1157" orient="horz"/>
        <p:guide pos="7617"/>
        <p:guide pos="221"/>
        <p:guide pos="216"/>
        <p:guide pos="61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schemas.openxmlformats.org/officeDocument/2006/relationships/font" Target="fonts/IBMPlexSansMedium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IBMPlexSansMedium-italic.fntdata"/><Relationship Id="rId70" Type="http://schemas.openxmlformats.org/officeDocument/2006/relationships/font" Target="fonts/IBMPlexSansMedium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BMPlexSans-bold.fntdata"/><Relationship Id="rId61" Type="http://schemas.openxmlformats.org/officeDocument/2006/relationships/font" Target="fonts/IBMPlexSans-regular.fntdata"/><Relationship Id="rId20" Type="http://schemas.openxmlformats.org/officeDocument/2006/relationships/slide" Target="slides/slide14.xml"/><Relationship Id="rId64" Type="http://schemas.openxmlformats.org/officeDocument/2006/relationships/font" Target="fonts/IBMPlexSans-boldItalic.fntdata"/><Relationship Id="rId63" Type="http://schemas.openxmlformats.org/officeDocument/2006/relationships/font" Target="fonts/IBMPlexSans-italic.fntdata"/><Relationship Id="rId22" Type="http://schemas.openxmlformats.org/officeDocument/2006/relationships/slide" Target="slides/slide16.xml"/><Relationship Id="rId66" Type="http://schemas.openxmlformats.org/officeDocument/2006/relationships/font" Target="fonts/PlusJakartaSans-bold.fntdata"/><Relationship Id="rId21" Type="http://schemas.openxmlformats.org/officeDocument/2006/relationships/slide" Target="slides/slide15.xml"/><Relationship Id="rId65" Type="http://schemas.openxmlformats.org/officeDocument/2006/relationships/font" Target="fonts/PlusJakartaSans-regular.fntdata"/><Relationship Id="rId24" Type="http://schemas.openxmlformats.org/officeDocument/2006/relationships/slide" Target="slides/slide18.xml"/><Relationship Id="rId68" Type="http://schemas.openxmlformats.org/officeDocument/2006/relationships/font" Target="fonts/PlusJakartaSans-boldItalic.fntdata"/><Relationship Id="rId23" Type="http://schemas.openxmlformats.org/officeDocument/2006/relationships/slide" Target="slides/slide17.xml"/><Relationship Id="rId67" Type="http://schemas.openxmlformats.org/officeDocument/2006/relationships/font" Target="fonts/PlusJakartaSans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IBMPlexSansMedium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bbd4e5f5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0bbd4e5f5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4e543c763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4e543c763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ad0c711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7ad0c711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ad0c7114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ad0c7114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ad0c7114e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ad0c7114e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ab0ca29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ab0ca29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96c13b2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96c13b2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96c13b2b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96c13b2b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96c13b2b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96c13b2b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96c13b2b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96c13b2b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96c13b2b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96c13b2b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96c13b2b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96c13b2b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96c13b2b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96c13b2b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ab0ca296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ab0ca29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09b404100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409b404100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ab0ca296b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ab0ca296b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ab0ca296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ab0ca296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ab0ca296b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ab0ca296b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409b404100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409b404100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ab0ca296b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ab0ca296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409b404100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409b404100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96c13b2b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96c13b2b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96c13b2b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96c13b2b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96c13b2bb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96c13b2bb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96c13b2b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96c13b2b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96c13b2b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d96c13b2b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409b404100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409b404100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96c13b2b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96c13b2b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96c13b2b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d96c13b2b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96c13b2b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d96c13b2b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96c13b2b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d96c13b2b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409b404100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409b404100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96c13b2bb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d96c13b2b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96c13b2bb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d96c13b2bb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96c13b2bb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d96c13b2bb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96c13b2bb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d96c13b2bb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d96c13b2bb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d96c13b2bb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d96c13b2bb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d96c13b2bb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96c13b2bb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d96c13b2bb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d96c13b2bb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d96c13b2bb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96c13b2bb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d96c13b2bb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d96c13b2bb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d96c13b2bb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409b404100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409b404100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dab0ca296b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dab0ca296b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abe7d50e3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dabe7d50e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abe7d50e3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dabe7d50e3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ddc032fd2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ddc032fd2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abe7d50e3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dabe7d50e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dabe7d50e3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dabe7d50e3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dc032fd2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ddc032fd2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dabe7d50e3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dabe7d50e3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dabe7d50e3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dabe7d50e3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ddc032fd2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ddc032fd2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08e5524d00_1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08e5524d00_1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iomed.health" TargetMode="External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://www.iomed.health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" type="blank">
  <p:cSld name="BLANK">
    <p:bg>
      <p:bgPr>
        <a:solidFill>
          <a:srgbClr val="CFD8FF">
            <a:alpha val="25000"/>
          </a:srgbClr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">
  <p:cSld name="BLANK_4">
    <p:bg>
      <p:bgPr>
        <a:solidFill>
          <a:srgbClr val="CFD8FF">
            <a:alpha val="25000"/>
          </a:srgbClr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89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3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>
            <a:hlinkClick r:id="rId2"/>
          </p:cNvPr>
          <p:cNvSpPr txBox="1"/>
          <p:nvPr/>
        </p:nvSpPr>
        <p:spPr>
          <a:xfrm>
            <a:off x="10354674" y="6542424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21" name="Google Shape;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1874" y="658202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173529" y="494682"/>
            <a:ext cx="9500100" cy="24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Empowering Healthcare Data</a:t>
            </a:r>
            <a:endParaRPr sz="8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256405" y="4452000"/>
            <a:ext cx="7527900" cy="204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9FB1FF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are the key ally for healthcare organisations</a:t>
            </a:r>
            <a:endParaRPr sz="3400">
              <a:solidFill>
                <a:srgbClr val="9FB1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4" name="Google Shape;24;p4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25" name="Google Shape;25;p4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ner">
  <p:cSld name="BLANK_3_2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 title="AbstractData4_Blue.png"/>
          <p:cNvPicPr preferRelativeResize="0"/>
          <p:nvPr/>
        </p:nvPicPr>
        <p:blipFill rotWithShape="1">
          <a:blip r:embed="rId2">
            <a:alphaModFix/>
          </a:blip>
          <a:srcRect b="0" l="0" r="0" t="3241"/>
          <a:stretch/>
        </p:blipFill>
        <p:spPr>
          <a:xfrm>
            <a:off x="4466050" y="2653100"/>
            <a:ext cx="7725950" cy="420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>
            <a:hlinkClick r:id="rId3"/>
          </p:cNvPr>
          <p:cNvSpPr txBox="1"/>
          <p:nvPr/>
        </p:nvSpPr>
        <p:spPr>
          <a:xfrm>
            <a:off x="10354674" y="6540121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34" name="Google Shape;3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1874" y="657972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title"/>
          </p:nvPr>
        </p:nvSpPr>
        <p:spPr>
          <a:xfrm>
            <a:off x="173529" y="505033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  <a:defRPr sz="8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235686" y="4452000"/>
            <a:ext cx="7527900" cy="20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D8FF"/>
              </a:buClr>
              <a:buSzPts val="3400"/>
              <a:buNone/>
              <a:defRPr sz="3400">
                <a:solidFill>
                  <a:srgbClr val="CFD8FF"/>
                </a:solidFill>
              </a:defRPr>
            </a:lvl9pPr>
          </a:lstStyle>
          <a:p/>
        </p:txBody>
      </p:sp>
      <p:grpSp>
        <p:nvGrpSpPr>
          <p:cNvPr id="37" name="Google Shape;37;p5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38" name="Google Shape;38;p5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 Inner">
  <p:cSld name="BLANK_3_1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 title="IOMED_Illustrations_AbstractData2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66175" y="-250009"/>
            <a:ext cx="12419851" cy="6986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" name="Google Shape;46;p6"/>
          <p:cNvGrpSpPr/>
          <p:nvPr/>
        </p:nvGrpSpPr>
        <p:grpSpPr>
          <a:xfrm>
            <a:off x="11063795" y="177146"/>
            <a:ext cx="768112" cy="182854"/>
            <a:chOff x="698472" y="661632"/>
            <a:chExt cx="1294862" cy="300303"/>
          </a:xfrm>
        </p:grpSpPr>
        <p:sp>
          <p:nvSpPr>
            <p:cNvPr id="47" name="Google Shape;47;p6"/>
            <p:cNvSpPr/>
            <p:nvPr/>
          </p:nvSpPr>
          <p:spPr>
            <a:xfrm>
              <a:off x="698472" y="661632"/>
              <a:ext cx="306380" cy="300303"/>
            </a:xfrm>
            <a:custGeom>
              <a:rect b="b" l="l" r="r" t="t"/>
              <a:pathLst>
                <a:path extrusionOk="0" h="300303" w="306380">
                  <a:moveTo>
                    <a:pt x="257801" y="48259"/>
                  </a:moveTo>
                  <a:cubicBezTo>
                    <a:pt x="231068" y="8191"/>
                    <a:pt x="190301" y="-7367"/>
                    <a:pt x="139818" y="3238"/>
                  </a:cubicBezTo>
                  <a:cubicBezTo>
                    <a:pt x="118736" y="8000"/>
                    <a:pt x="98502" y="15944"/>
                    <a:pt x="79811" y="26796"/>
                  </a:cubicBezTo>
                  <a:cubicBezTo>
                    <a:pt x="77629" y="27955"/>
                    <a:pt x="75510" y="29227"/>
                    <a:pt x="73461" y="30606"/>
                  </a:cubicBezTo>
                  <a:lnTo>
                    <a:pt x="73461" y="30606"/>
                  </a:lnTo>
                  <a:cubicBezTo>
                    <a:pt x="32186" y="58165"/>
                    <a:pt x="-32330" y="130555"/>
                    <a:pt x="18977" y="207517"/>
                  </a:cubicBezTo>
                  <a:lnTo>
                    <a:pt x="48441" y="251967"/>
                  </a:lnTo>
                  <a:cubicBezTo>
                    <a:pt x="67317" y="282509"/>
                    <a:pt x="100871" y="300866"/>
                    <a:pt x="136770" y="300291"/>
                  </a:cubicBezTo>
                  <a:cubicBezTo>
                    <a:pt x="146836" y="300202"/>
                    <a:pt x="156863" y="299031"/>
                    <a:pt x="166679" y="296798"/>
                  </a:cubicBezTo>
                  <a:cubicBezTo>
                    <a:pt x="187768" y="292093"/>
                    <a:pt x="208008" y="284168"/>
                    <a:pt x="226686" y="273303"/>
                  </a:cubicBezTo>
                  <a:lnTo>
                    <a:pt x="227004" y="273303"/>
                  </a:lnTo>
                  <a:cubicBezTo>
                    <a:pt x="228909" y="272224"/>
                    <a:pt x="230750" y="271144"/>
                    <a:pt x="232528" y="269938"/>
                  </a:cubicBezTo>
                  <a:lnTo>
                    <a:pt x="232973" y="269938"/>
                  </a:lnTo>
                  <a:lnTo>
                    <a:pt x="232973" y="269938"/>
                  </a:lnTo>
                  <a:cubicBezTo>
                    <a:pt x="274248" y="242315"/>
                    <a:pt x="338700" y="169925"/>
                    <a:pt x="287392" y="93027"/>
                  </a:cubicBezTo>
                  <a:lnTo>
                    <a:pt x="257928" y="48577"/>
                  </a:lnTo>
                  <a:close/>
                  <a:moveTo>
                    <a:pt x="66476" y="239648"/>
                  </a:moveTo>
                  <a:lnTo>
                    <a:pt x="37012" y="195198"/>
                  </a:lnTo>
                  <a:cubicBezTo>
                    <a:pt x="-15185" y="116966"/>
                    <a:pt x="81462" y="50863"/>
                    <a:pt x="85462" y="48132"/>
                  </a:cubicBezTo>
                  <a:cubicBezTo>
                    <a:pt x="87507" y="46805"/>
                    <a:pt x="89628" y="45596"/>
                    <a:pt x="91812" y="44513"/>
                  </a:cubicBezTo>
                  <a:cubicBezTo>
                    <a:pt x="93661" y="43508"/>
                    <a:pt x="95569" y="42617"/>
                    <a:pt x="97527" y="41846"/>
                  </a:cubicBezTo>
                  <a:lnTo>
                    <a:pt x="99432" y="41020"/>
                  </a:lnTo>
                  <a:cubicBezTo>
                    <a:pt x="118482" y="33972"/>
                    <a:pt x="139056" y="37972"/>
                    <a:pt x="160265" y="53085"/>
                  </a:cubicBezTo>
                  <a:cubicBezTo>
                    <a:pt x="173937" y="63196"/>
                    <a:pt x="185919" y="75413"/>
                    <a:pt x="195762" y="89280"/>
                  </a:cubicBezTo>
                  <a:lnTo>
                    <a:pt x="225162" y="133349"/>
                  </a:lnTo>
                  <a:cubicBezTo>
                    <a:pt x="225200" y="133495"/>
                    <a:pt x="225200" y="133648"/>
                    <a:pt x="225162" y="133794"/>
                  </a:cubicBezTo>
                  <a:lnTo>
                    <a:pt x="225162" y="133794"/>
                  </a:lnTo>
                  <a:cubicBezTo>
                    <a:pt x="225162" y="133794"/>
                    <a:pt x="225162" y="134302"/>
                    <a:pt x="225607" y="134556"/>
                  </a:cubicBezTo>
                  <a:lnTo>
                    <a:pt x="225607" y="135000"/>
                  </a:lnTo>
                  <a:cubicBezTo>
                    <a:pt x="225750" y="135214"/>
                    <a:pt x="225857" y="135450"/>
                    <a:pt x="225924" y="135699"/>
                  </a:cubicBezTo>
                  <a:cubicBezTo>
                    <a:pt x="226110" y="136019"/>
                    <a:pt x="226259" y="136360"/>
                    <a:pt x="226369" y="136715"/>
                  </a:cubicBezTo>
                  <a:lnTo>
                    <a:pt x="226750" y="137540"/>
                  </a:lnTo>
                  <a:lnTo>
                    <a:pt x="227131" y="138493"/>
                  </a:lnTo>
                  <a:cubicBezTo>
                    <a:pt x="227131" y="138493"/>
                    <a:pt x="227131" y="139064"/>
                    <a:pt x="227131" y="139382"/>
                  </a:cubicBezTo>
                  <a:lnTo>
                    <a:pt x="227702" y="141223"/>
                  </a:lnTo>
                  <a:cubicBezTo>
                    <a:pt x="227674" y="141519"/>
                    <a:pt x="227674" y="141817"/>
                    <a:pt x="227702" y="142112"/>
                  </a:cubicBezTo>
                  <a:cubicBezTo>
                    <a:pt x="227702" y="142811"/>
                    <a:pt x="228020" y="143509"/>
                    <a:pt x="228146" y="144335"/>
                  </a:cubicBezTo>
                  <a:lnTo>
                    <a:pt x="228146" y="145414"/>
                  </a:lnTo>
                  <a:cubicBezTo>
                    <a:pt x="228182" y="145943"/>
                    <a:pt x="228182" y="146473"/>
                    <a:pt x="228146" y="147002"/>
                  </a:cubicBezTo>
                  <a:cubicBezTo>
                    <a:pt x="228115" y="147403"/>
                    <a:pt x="228115" y="147807"/>
                    <a:pt x="228146" y="148208"/>
                  </a:cubicBezTo>
                  <a:cubicBezTo>
                    <a:pt x="228146" y="149034"/>
                    <a:pt x="228146" y="149923"/>
                    <a:pt x="228146" y="150812"/>
                  </a:cubicBezTo>
                  <a:lnTo>
                    <a:pt x="228146" y="152272"/>
                  </a:lnTo>
                  <a:cubicBezTo>
                    <a:pt x="228176" y="152843"/>
                    <a:pt x="228176" y="153416"/>
                    <a:pt x="228146" y="153987"/>
                  </a:cubicBezTo>
                  <a:cubicBezTo>
                    <a:pt x="228146" y="154812"/>
                    <a:pt x="228146" y="155765"/>
                    <a:pt x="228146" y="156654"/>
                  </a:cubicBezTo>
                  <a:cubicBezTo>
                    <a:pt x="228146" y="157543"/>
                    <a:pt x="228146" y="157797"/>
                    <a:pt x="228146" y="158368"/>
                  </a:cubicBezTo>
                  <a:lnTo>
                    <a:pt x="227765" y="160464"/>
                  </a:lnTo>
                  <a:lnTo>
                    <a:pt x="227194" y="162750"/>
                  </a:lnTo>
                  <a:cubicBezTo>
                    <a:pt x="226999" y="163613"/>
                    <a:pt x="226745" y="164462"/>
                    <a:pt x="226432" y="165290"/>
                  </a:cubicBezTo>
                  <a:cubicBezTo>
                    <a:pt x="226292" y="165869"/>
                    <a:pt x="226122" y="166442"/>
                    <a:pt x="225924" y="167004"/>
                  </a:cubicBezTo>
                  <a:lnTo>
                    <a:pt x="224464" y="170560"/>
                  </a:lnTo>
                  <a:lnTo>
                    <a:pt x="223701" y="172021"/>
                  </a:lnTo>
                  <a:cubicBezTo>
                    <a:pt x="223257" y="173037"/>
                    <a:pt x="222686" y="174053"/>
                    <a:pt x="222114" y="175132"/>
                  </a:cubicBezTo>
                  <a:lnTo>
                    <a:pt x="221352" y="176402"/>
                  </a:lnTo>
                  <a:cubicBezTo>
                    <a:pt x="220590" y="177736"/>
                    <a:pt x="219637" y="179133"/>
                    <a:pt x="218685" y="180530"/>
                  </a:cubicBezTo>
                  <a:cubicBezTo>
                    <a:pt x="218304" y="180974"/>
                    <a:pt x="217987" y="181482"/>
                    <a:pt x="217669" y="181927"/>
                  </a:cubicBezTo>
                  <a:cubicBezTo>
                    <a:pt x="216590" y="183387"/>
                    <a:pt x="215446" y="184848"/>
                    <a:pt x="214176" y="186308"/>
                  </a:cubicBezTo>
                  <a:lnTo>
                    <a:pt x="214176" y="186308"/>
                  </a:lnTo>
                  <a:cubicBezTo>
                    <a:pt x="211224" y="173459"/>
                    <a:pt x="205741" y="161328"/>
                    <a:pt x="198048" y="150621"/>
                  </a:cubicBezTo>
                  <a:lnTo>
                    <a:pt x="168584" y="106489"/>
                  </a:lnTo>
                  <a:cubicBezTo>
                    <a:pt x="133659" y="54101"/>
                    <a:pt x="103433" y="73151"/>
                    <a:pt x="102162" y="74040"/>
                  </a:cubicBezTo>
                  <a:lnTo>
                    <a:pt x="102162" y="74040"/>
                  </a:lnTo>
                  <a:cubicBezTo>
                    <a:pt x="42663" y="113728"/>
                    <a:pt x="50156" y="159003"/>
                    <a:pt x="62412" y="177355"/>
                  </a:cubicBezTo>
                  <a:lnTo>
                    <a:pt x="91876" y="221487"/>
                  </a:lnTo>
                  <a:lnTo>
                    <a:pt x="91876" y="221487"/>
                  </a:lnTo>
                  <a:cubicBezTo>
                    <a:pt x="92193" y="221932"/>
                    <a:pt x="93336" y="223646"/>
                    <a:pt x="95241" y="226250"/>
                  </a:cubicBezTo>
                  <a:cubicBezTo>
                    <a:pt x="102487" y="236103"/>
                    <a:pt x="110791" y="245131"/>
                    <a:pt x="120006" y="253174"/>
                  </a:cubicBezTo>
                  <a:cubicBezTo>
                    <a:pt x="130442" y="262741"/>
                    <a:pt x="142395" y="270509"/>
                    <a:pt x="155376" y="276161"/>
                  </a:cubicBezTo>
                  <a:cubicBezTo>
                    <a:pt x="125023" y="281177"/>
                    <a:pt x="90225" y="276161"/>
                    <a:pt x="65650" y="238950"/>
                  </a:cubicBezTo>
                  <a:close/>
                  <a:moveTo>
                    <a:pt x="191507" y="207009"/>
                  </a:moveTo>
                  <a:cubicBezTo>
                    <a:pt x="186300" y="209486"/>
                    <a:pt x="172457" y="207009"/>
                    <a:pt x="154804" y="180720"/>
                  </a:cubicBezTo>
                  <a:lnTo>
                    <a:pt x="125277" y="136270"/>
                  </a:lnTo>
                  <a:cubicBezTo>
                    <a:pt x="107623" y="109854"/>
                    <a:pt x="110862" y="96011"/>
                    <a:pt x="114799" y="92455"/>
                  </a:cubicBezTo>
                  <a:cubicBezTo>
                    <a:pt x="120070" y="90042"/>
                    <a:pt x="133849" y="92455"/>
                    <a:pt x="151566" y="118808"/>
                  </a:cubicBezTo>
                  <a:lnTo>
                    <a:pt x="181029" y="163258"/>
                  </a:lnTo>
                  <a:cubicBezTo>
                    <a:pt x="198746" y="189674"/>
                    <a:pt x="195444" y="203453"/>
                    <a:pt x="191507" y="207009"/>
                  </a:cubicBezTo>
                  <a:close/>
                  <a:moveTo>
                    <a:pt x="220844" y="251459"/>
                  </a:moveTo>
                  <a:lnTo>
                    <a:pt x="216526" y="254126"/>
                  </a:lnTo>
                  <a:lnTo>
                    <a:pt x="214176" y="255396"/>
                  </a:lnTo>
                  <a:lnTo>
                    <a:pt x="212462" y="256222"/>
                  </a:lnTo>
                  <a:cubicBezTo>
                    <a:pt x="191634" y="266255"/>
                    <a:pt x="169409" y="263016"/>
                    <a:pt x="146295" y="246570"/>
                  </a:cubicBezTo>
                  <a:cubicBezTo>
                    <a:pt x="132909" y="236715"/>
                    <a:pt x="121128" y="224848"/>
                    <a:pt x="111370" y="211391"/>
                  </a:cubicBezTo>
                  <a:lnTo>
                    <a:pt x="111370" y="211391"/>
                  </a:lnTo>
                  <a:lnTo>
                    <a:pt x="110862" y="210756"/>
                  </a:lnTo>
                  <a:cubicBezTo>
                    <a:pt x="110882" y="210629"/>
                    <a:pt x="110882" y="210501"/>
                    <a:pt x="110862" y="210375"/>
                  </a:cubicBezTo>
                  <a:lnTo>
                    <a:pt x="81462" y="166242"/>
                  </a:lnTo>
                  <a:cubicBezTo>
                    <a:pt x="80446" y="164655"/>
                    <a:pt x="66730" y="141541"/>
                    <a:pt x="91495" y="113029"/>
                  </a:cubicBezTo>
                  <a:cubicBezTo>
                    <a:pt x="94471" y="125870"/>
                    <a:pt x="99952" y="137997"/>
                    <a:pt x="107624" y="148716"/>
                  </a:cubicBezTo>
                  <a:lnTo>
                    <a:pt x="137087" y="193166"/>
                  </a:lnTo>
                  <a:cubicBezTo>
                    <a:pt x="172012" y="245490"/>
                    <a:pt x="202302" y="226504"/>
                    <a:pt x="203572" y="225615"/>
                  </a:cubicBezTo>
                  <a:lnTo>
                    <a:pt x="203572" y="225615"/>
                  </a:lnTo>
                  <a:cubicBezTo>
                    <a:pt x="205731" y="224154"/>
                    <a:pt x="207763" y="222757"/>
                    <a:pt x="209922" y="221297"/>
                  </a:cubicBezTo>
                  <a:lnTo>
                    <a:pt x="211954" y="219773"/>
                  </a:lnTo>
                  <a:lnTo>
                    <a:pt x="215446" y="217042"/>
                  </a:lnTo>
                  <a:lnTo>
                    <a:pt x="217860" y="215137"/>
                  </a:lnTo>
                  <a:lnTo>
                    <a:pt x="220400" y="212915"/>
                  </a:lnTo>
                  <a:lnTo>
                    <a:pt x="222940" y="210629"/>
                  </a:lnTo>
                  <a:lnTo>
                    <a:pt x="224019" y="209613"/>
                  </a:lnTo>
                  <a:cubicBezTo>
                    <a:pt x="227480" y="206336"/>
                    <a:pt x="230745" y="202858"/>
                    <a:pt x="233798" y="199199"/>
                  </a:cubicBezTo>
                  <a:lnTo>
                    <a:pt x="233798" y="199199"/>
                  </a:lnTo>
                  <a:cubicBezTo>
                    <a:pt x="240175" y="191694"/>
                    <a:pt x="245125" y="183086"/>
                    <a:pt x="248403" y="173799"/>
                  </a:cubicBezTo>
                  <a:cubicBezTo>
                    <a:pt x="248403" y="173799"/>
                    <a:pt x="248403" y="173291"/>
                    <a:pt x="248403" y="173037"/>
                  </a:cubicBezTo>
                  <a:cubicBezTo>
                    <a:pt x="248403" y="172783"/>
                    <a:pt x="248975" y="171322"/>
                    <a:pt x="249165" y="170497"/>
                  </a:cubicBezTo>
                  <a:cubicBezTo>
                    <a:pt x="249356" y="169671"/>
                    <a:pt x="249546" y="169227"/>
                    <a:pt x="249673" y="168592"/>
                  </a:cubicBezTo>
                  <a:lnTo>
                    <a:pt x="250054" y="167195"/>
                  </a:lnTo>
                  <a:cubicBezTo>
                    <a:pt x="253796" y="152064"/>
                    <a:pt x="251351" y="136066"/>
                    <a:pt x="243260" y="122745"/>
                  </a:cubicBezTo>
                  <a:lnTo>
                    <a:pt x="213796" y="78295"/>
                  </a:lnTo>
                  <a:lnTo>
                    <a:pt x="213796" y="78295"/>
                  </a:lnTo>
                  <a:cubicBezTo>
                    <a:pt x="213415" y="77723"/>
                    <a:pt x="212335" y="76136"/>
                    <a:pt x="210557" y="73786"/>
                  </a:cubicBezTo>
                  <a:cubicBezTo>
                    <a:pt x="203355" y="63897"/>
                    <a:pt x="195070" y="54845"/>
                    <a:pt x="185856" y="46799"/>
                  </a:cubicBezTo>
                  <a:cubicBezTo>
                    <a:pt x="175466" y="37310"/>
                    <a:pt x="163607" y="29568"/>
                    <a:pt x="150740" y="23875"/>
                  </a:cubicBezTo>
                  <a:cubicBezTo>
                    <a:pt x="189475" y="17525"/>
                    <a:pt x="219447" y="30225"/>
                    <a:pt x="240148" y="60959"/>
                  </a:cubicBezTo>
                  <a:lnTo>
                    <a:pt x="269612" y="105092"/>
                  </a:lnTo>
                  <a:cubicBezTo>
                    <a:pt x="321809" y="183324"/>
                    <a:pt x="225162" y="249364"/>
                    <a:pt x="221098" y="2521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1087083" y="716686"/>
              <a:ext cx="42544" cy="189484"/>
            </a:xfrm>
            <a:custGeom>
              <a:rect b="b" l="l" r="r" t="t"/>
              <a:pathLst>
                <a:path extrusionOk="0" h="189484" w="42544">
                  <a:moveTo>
                    <a:pt x="0" y="189484"/>
                  </a:moveTo>
                  <a:lnTo>
                    <a:pt x="42545" y="189484"/>
                  </a:lnTo>
                  <a:lnTo>
                    <a:pt x="42545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0" y="1894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1157191" y="714797"/>
              <a:ext cx="190808" cy="193317"/>
            </a:xfrm>
            <a:custGeom>
              <a:rect b="b" l="l" r="r" t="t"/>
              <a:pathLst>
                <a:path extrusionOk="0" h="193317" w="190808">
                  <a:moveTo>
                    <a:pt x="95310" y="47"/>
                  </a:moveTo>
                  <a:cubicBezTo>
                    <a:pt x="69724" y="-773"/>
                    <a:pt x="44957" y="9124"/>
                    <a:pt x="26984" y="27352"/>
                  </a:cubicBezTo>
                  <a:cubicBezTo>
                    <a:pt x="-8995" y="66531"/>
                    <a:pt x="-8995" y="126730"/>
                    <a:pt x="26984" y="165909"/>
                  </a:cubicBezTo>
                  <a:cubicBezTo>
                    <a:pt x="65303" y="202453"/>
                    <a:pt x="125570" y="202453"/>
                    <a:pt x="163890" y="165909"/>
                  </a:cubicBezTo>
                  <a:cubicBezTo>
                    <a:pt x="199782" y="126770"/>
                    <a:pt x="199782" y="66682"/>
                    <a:pt x="163890" y="27543"/>
                  </a:cubicBezTo>
                  <a:cubicBezTo>
                    <a:pt x="145829" y="9288"/>
                    <a:pt x="120975" y="-608"/>
                    <a:pt x="95310" y="238"/>
                  </a:cubicBezTo>
                  <a:close/>
                  <a:moveTo>
                    <a:pt x="133791" y="139176"/>
                  </a:moveTo>
                  <a:cubicBezTo>
                    <a:pt x="114817" y="160411"/>
                    <a:pt x="82221" y="162244"/>
                    <a:pt x="60986" y="143270"/>
                  </a:cubicBezTo>
                  <a:cubicBezTo>
                    <a:pt x="59546" y="141983"/>
                    <a:pt x="58179" y="140616"/>
                    <a:pt x="56892" y="139176"/>
                  </a:cubicBezTo>
                  <a:cubicBezTo>
                    <a:pt x="47122" y="127047"/>
                    <a:pt x="42030" y="111815"/>
                    <a:pt x="42541" y="96250"/>
                  </a:cubicBezTo>
                  <a:cubicBezTo>
                    <a:pt x="42082" y="80864"/>
                    <a:pt x="47227" y="65835"/>
                    <a:pt x="57019" y="53959"/>
                  </a:cubicBezTo>
                  <a:cubicBezTo>
                    <a:pt x="75861" y="32794"/>
                    <a:pt x="108293" y="30911"/>
                    <a:pt x="129458" y="49753"/>
                  </a:cubicBezTo>
                  <a:cubicBezTo>
                    <a:pt x="130940" y="51072"/>
                    <a:pt x="132344" y="52477"/>
                    <a:pt x="133664" y="53959"/>
                  </a:cubicBezTo>
                  <a:cubicBezTo>
                    <a:pt x="143575" y="65900"/>
                    <a:pt x="148770" y="81057"/>
                    <a:pt x="148269" y="96567"/>
                  </a:cubicBezTo>
                  <a:cubicBezTo>
                    <a:pt x="148732" y="112031"/>
                    <a:pt x="143590" y="127141"/>
                    <a:pt x="133791" y="1391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>
              <a:off x="1374928" y="716686"/>
              <a:ext cx="233108" cy="189484"/>
            </a:xfrm>
            <a:custGeom>
              <a:rect b="b" l="l" r="r" t="t"/>
              <a:pathLst>
                <a:path extrusionOk="0" h="189484" w="233108">
                  <a:moveTo>
                    <a:pt x="116713" y="173482"/>
                  </a:moveTo>
                  <a:lnTo>
                    <a:pt x="77470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40323" y="189484"/>
                  </a:lnTo>
                  <a:lnTo>
                    <a:pt x="40323" y="17971"/>
                  </a:lnTo>
                  <a:lnTo>
                    <a:pt x="82868" y="189484"/>
                  </a:lnTo>
                  <a:lnTo>
                    <a:pt x="149987" y="189484"/>
                  </a:lnTo>
                  <a:lnTo>
                    <a:pt x="192659" y="16764"/>
                  </a:lnTo>
                  <a:lnTo>
                    <a:pt x="192659" y="189484"/>
                  </a:lnTo>
                  <a:lnTo>
                    <a:pt x="233109" y="189484"/>
                  </a:lnTo>
                  <a:lnTo>
                    <a:pt x="233109" y="0"/>
                  </a:lnTo>
                  <a:lnTo>
                    <a:pt x="158052" y="0"/>
                  </a:lnTo>
                  <a:lnTo>
                    <a:pt x="116713" y="173482"/>
                  </a:lnTo>
                  <a:lnTo>
                    <a:pt x="116713" y="173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1643978" y="716686"/>
              <a:ext cx="145097" cy="189484"/>
            </a:xfrm>
            <a:custGeom>
              <a:rect b="b" l="l" r="r" t="t"/>
              <a:pathLst>
                <a:path extrusionOk="0" h="189484" w="145097">
                  <a:moveTo>
                    <a:pt x="42545" y="110427"/>
                  </a:moveTo>
                  <a:lnTo>
                    <a:pt x="131255" y="110427"/>
                  </a:lnTo>
                  <a:lnTo>
                    <a:pt x="131255" y="75057"/>
                  </a:lnTo>
                  <a:lnTo>
                    <a:pt x="42545" y="75057"/>
                  </a:lnTo>
                  <a:lnTo>
                    <a:pt x="42545" y="35497"/>
                  </a:lnTo>
                  <a:lnTo>
                    <a:pt x="143256" y="35497"/>
                  </a:lnTo>
                  <a:lnTo>
                    <a:pt x="143256" y="0"/>
                  </a:lnTo>
                  <a:lnTo>
                    <a:pt x="0" y="0"/>
                  </a:lnTo>
                  <a:lnTo>
                    <a:pt x="0" y="189484"/>
                  </a:lnTo>
                  <a:lnTo>
                    <a:pt x="145098" y="189484"/>
                  </a:lnTo>
                  <a:lnTo>
                    <a:pt x="145098" y="153797"/>
                  </a:lnTo>
                  <a:lnTo>
                    <a:pt x="42545" y="153797"/>
                  </a:lnTo>
                  <a:lnTo>
                    <a:pt x="42545" y="110427"/>
                  </a:lnTo>
                  <a:lnTo>
                    <a:pt x="42545" y="1104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1819048" y="716613"/>
              <a:ext cx="174286" cy="189620"/>
            </a:xfrm>
            <a:custGeom>
              <a:rect b="b" l="l" r="r" t="t"/>
              <a:pathLst>
                <a:path extrusionOk="0" h="189620" w="174286">
                  <a:moveTo>
                    <a:pt x="146939" y="26743"/>
                  </a:moveTo>
                  <a:cubicBezTo>
                    <a:pt x="127923" y="8674"/>
                    <a:pt x="102412" y="-944"/>
                    <a:pt x="76200" y="73"/>
                  </a:cubicBezTo>
                  <a:lnTo>
                    <a:pt x="0" y="73"/>
                  </a:lnTo>
                  <a:lnTo>
                    <a:pt x="0" y="189557"/>
                  </a:lnTo>
                  <a:lnTo>
                    <a:pt x="76200" y="189557"/>
                  </a:lnTo>
                  <a:cubicBezTo>
                    <a:pt x="102331" y="190497"/>
                    <a:pt x="127746" y="180912"/>
                    <a:pt x="146748" y="162951"/>
                  </a:cubicBezTo>
                  <a:cubicBezTo>
                    <a:pt x="183467" y="124972"/>
                    <a:pt x="183467" y="64722"/>
                    <a:pt x="146748" y="26743"/>
                  </a:cubicBezTo>
                  <a:close/>
                  <a:moveTo>
                    <a:pt x="115189" y="137360"/>
                  </a:moveTo>
                  <a:cubicBezTo>
                    <a:pt x="103034" y="148579"/>
                    <a:pt x="86878" y="154437"/>
                    <a:pt x="70358" y="153616"/>
                  </a:cubicBezTo>
                  <a:lnTo>
                    <a:pt x="41973" y="153616"/>
                  </a:lnTo>
                  <a:lnTo>
                    <a:pt x="41973" y="36141"/>
                  </a:lnTo>
                  <a:lnTo>
                    <a:pt x="70358" y="36141"/>
                  </a:lnTo>
                  <a:cubicBezTo>
                    <a:pt x="86827" y="35278"/>
                    <a:pt x="102961" y="41014"/>
                    <a:pt x="115189" y="52080"/>
                  </a:cubicBezTo>
                  <a:cubicBezTo>
                    <a:pt x="137357" y="76185"/>
                    <a:pt x="137357" y="113255"/>
                    <a:pt x="115189" y="13736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53" name="Google Shape;53;p6">
            <a:hlinkClick r:id="rId3"/>
          </p:cNvPr>
          <p:cNvSpPr txBox="1"/>
          <p:nvPr/>
        </p:nvSpPr>
        <p:spPr>
          <a:xfrm>
            <a:off x="10375393" y="6536438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54" name="Google Shape;5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82593" y="657603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/>
          <p:nvPr>
            <p:ph type="title"/>
          </p:nvPr>
        </p:nvSpPr>
        <p:spPr>
          <a:xfrm>
            <a:off x="173529" y="515393"/>
            <a:ext cx="95001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225326" y="5188950"/>
            <a:ext cx="95001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4000"/>
              <a:buNone/>
              <a:defRPr sz="40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TA">
  <p:cSld name="BLANK_2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20" l="0" r="0" t="30"/>
          <a:stretch/>
        </p:blipFill>
        <p:spPr>
          <a:xfrm>
            <a:off x="2292" y="0"/>
            <a:ext cx="1218706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5433768" y="6132256"/>
            <a:ext cx="1324118" cy="365743"/>
            <a:chOff x="238675" y="1845875"/>
            <a:chExt cx="7141950" cy="1980200"/>
          </a:xfrm>
        </p:grpSpPr>
        <p:sp>
          <p:nvSpPr>
            <p:cNvPr id="60" name="Google Shape;60;p7"/>
            <p:cNvSpPr/>
            <p:nvPr/>
          </p:nvSpPr>
          <p:spPr>
            <a:xfrm>
              <a:off x="238675" y="1845875"/>
              <a:ext cx="2020525" cy="1980200"/>
            </a:xfrm>
            <a:custGeom>
              <a:rect b="b" l="l" r="r" t="t"/>
              <a:pathLst>
                <a:path extrusionOk="0" h="79208" w="80821">
                  <a:moveTo>
                    <a:pt x="31218" y="24333"/>
                  </a:moveTo>
                  <a:cubicBezTo>
                    <a:pt x="32990" y="24333"/>
                    <a:pt x="36184" y="25785"/>
                    <a:pt x="39957" y="31466"/>
                  </a:cubicBezTo>
                  <a:lnTo>
                    <a:pt x="47771" y="43111"/>
                  </a:lnTo>
                  <a:cubicBezTo>
                    <a:pt x="52460" y="50119"/>
                    <a:pt x="51552" y="53749"/>
                    <a:pt x="50544" y="54707"/>
                  </a:cubicBezTo>
                  <a:cubicBezTo>
                    <a:pt x="50283" y="54828"/>
                    <a:pt x="49944" y="54904"/>
                    <a:pt x="49536" y="54904"/>
                  </a:cubicBezTo>
                  <a:cubicBezTo>
                    <a:pt x="47738" y="54904"/>
                    <a:pt x="44594" y="53420"/>
                    <a:pt x="40814" y="47749"/>
                  </a:cubicBezTo>
                  <a:lnTo>
                    <a:pt x="33050" y="36104"/>
                  </a:lnTo>
                  <a:cubicBezTo>
                    <a:pt x="28361" y="29096"/>
                    <a:pt x="29218" y="25466"/>
                    <a:pt x="30277" y="24508"/>
                  </a:cubicBezTo>
                  <a:cubicBezTo>
                    <a:pt x="30519" y="24401"/>
                    <a:pt x="30835" y="24333"/>
                    <a:pt x="31218" y="24333"/>
                  </a:cubicBezTo>
                  <a:close/>
                  <a:moveTo>
                    <a:pt x="44680" y="5687"/>
                  </a:moveTo>
                  <a:cubicBezTo>
                    <a:pt x="52536" y="5687"/>
                    <a:pt x="58771" y="9097"/>
                    <a:pt x="63299" y="15888"/>
                  </a:cubicBezTo>
                  <a:lnTo>
                    <a:pt x="71063" y="27584"/>
                  </a:lnTo>
                  <a:cubicBezTo>
                    <a:pt x="84876" y="48203"/>
                    <a:pt x="59366" y="65646"/>
                    <a:pt x="58257" y="66403"/>
                  </a:cubicBezTo>
                  <a:cubicBezTo>
                    <a:pt x="57904" y="66655"/>
                    <a:pt x="57501" y="66856"/>
                    <a:pt x="57148" y="67108"/>
                  </a:cubicBezTo>
                  <a:cubicBezTo>
                    <a:pt x="56947" y="67209"/>
                    <a:pt x="56694" y="67310"/>
                    <a:pt x="56493" y="67411"/>
                  </a:cubicBezTo>
                  <a:cubicBezTo>
                    <a:pt x="56342" y="67512"/>
                    <a:pt x="56190" y="67562"/>
                    <a:pt x="56039" y="67663"/>
                  </a:cubicBezTo>
                  <a:cubicBezTo>
                    <a:pt x="53968" y="68651"/>
                    <a:pt x="51848" y="69145"/>
                    <a:pt x="49682" y="69145"/>
                  </a:cubicBezTo>
                  <a:cubicBezTo>
                    <a:pt x="46101" y="69145"/>
                    <a:pt x="42397" y="67794"/>
                    <a:pt x="38596" y="65092"/>
                  </a:cubicBezTo>
                  <a:cubicBezTo>
                    <a:pt x="33705" y="61613"/>
                    <a:pt x="30227" y="57026"/>
                    <a:pt x="29370" y="55816"/>
                  </a:cubicBezTo>
                  <a:cubicBezTo>
                    <a:pt x="29319" y="55715"/>
                    <a:pt x="29269" y="55664"/>
                    <a:pt x="29269" y="55614"/>
                  </a:cubicBezTo>
                  <a:cubicBezTo>
                    <a:pt x="29218" y="55614"/>
                    <a:pt x="29168" y="55513"/>
                    <a:pt x="29168" y="55513"/>
                  </a:cubicBezTo>
                  <a:lnTo>
                    <a:pt x="21404" y="43867"/>
                  </a:lnTo>
                  <a:cubicBezTo>
                    <a:pt x="21152" y="43464"/>
                    <a:pt x="17522" y="37364"/>
                    <a:pt x="24076" y="29852"/>
                  </a:cubicBezTo>
                  <a:cubicBezTo>
                    <a:pt x="24580" y="32423"/>
                    <a:pt x="25841" y="35499"/>
                    <a:pt x="28311" y="39229"/>
                  </a:cubicBezTo>
                  <a:lnTo>
                    <a:pt x="36125" y="50925"/>
                  </a:lnTo>
                  <a:cubicBezTo>
                    <a:pt x="41399" y="58822"/>
                    <a:pt x="46261" y="60557"/>
                    <a:pt x="49524" y="60557"/>
                  </a:cubicBezTo>
                  <a:cubicBezTo>
                    <a:pt x="51970" y="60557"/>
                    <a:pt x="53518" y="59582"/>
                    <a:pt x="53670" y="59496"/>
                  </a:cubicBezTo>
                  <a:cubicBezTo>
                    <a:pt x="53670" y="59496"/>
                    <a:pt x="53670" y="59496"/>
                    <a:pt x="53670" y="59446"/>
                  </a:cubicBezTo>
                  <a:cubicBezTo>
                    <a:pt x="54224" y="59093"/>
                    <a:pt x="54779" y="58689"/>
                    <a:pt x="55283" y="58336"/>
                  </a:cubicBezTo>
                  <a:cubicBezTo>
                    <a:pt x="55484" y="58185"/>
                    <a:pt x="55636" y="58034"/>
                    <a:pt x="55837" y="57933"/>
                  </a:cubicBezTo>
                  <a:cubicBezTo>
                    <a:pt x="56140" y="57681"/>
                    <a:pt x="56442" y="57429"/>
                    <a:pt x="56745" y="57227"/>
                  </a:cubicBezTo>
                  <a:cubicBezTo>
                    <a:pt x="56947" y="57026"/>
                    <a:pt x="57148" y="56874"/>
                    <a:pt x="57400" y="56723"/>
                  </a:cubicBezTo>
                  <a:cubicBezTo>
                    <a:pt x="57602" y="56521"/>
                    <a:pt x="57854" y="56320"/>
                    <a:pt x="58056" y="56118"/>
                  </a:cubicBezTo>
                  <a:cubicBezTo>
                    <a:pt x="58257" y="55916"/>
                    <a:pt x="58509" y="55715"/>
                    <a:pt x="58711" y="55513"/>
                  </a:cubicBezTo>
                  <a:cubicBezTo>
                    <a:pt x="58812" y="55412"/>
                    <a:pt x="58913" y="55312"/>
                    <a:pt x="59014" y="55261"/>
                  </a:cubicBezTo>
                  <a:cubicBezTo>
                    <a:pt x="59971" y="54303"/>
                    <a:pt x="60828" y="53396"/>
                    <a:pt x="61585" y="52488"/>
                  </a:cubicBezTo>
                  <a:lnTo>
                    <a:pt x="61635" y="52488"/>
                  </a:lnTo>
                  <a:cubicBezTo>
                    <a:pt x="63551" y="50068"/>
                    <a:pt x="64761" y="47800"/>
                    <a:pt x="65467" y="45682"/>
                  </a:cubicBezTo>
                  <a:cubicBezTo>
                    <a:pt x="65467" y="45632"/>
                    <a:pt x="65517" y="45531"/>
                    <a:pt x="65517" y="45481"/>
                  </a:cubicBezTo>
                  <a:cubicBezTo>
                    <a:pt x="65618" y="45279"/>
                    <a:pt x="65668" y="45027"/>
                    <a:pt x="65719" y="44825"/>
                  </a:cubicBezTo>
                  <a:cubicBezTo>
                    <a:pt x="65769" y="44624"/>
                    <a:pt x="65819" y="44472"/>
                    <a:pt x="65870" y="44321"/>
                  </a:cubicBezTo>
                  <a:cubicBezTo>
                    <a:pt x="65870" y="44170"/>
                    <a:pt x="65920" y="44069"/>
                    <a:pt x="65971" y="43918"/>
                  </a:cubicBezTo>
                  <a:cubicBezTo>
                    <a:pt x="67080" y="38927"/>
                    <a:pt x="65819" y="34642"/>
                    <a:pt x="64156" y="32171"/>
                  </a:cubicBezTo>
                  <a:lnTo>
                    <a:pt x="56392" y="20526"/>
                  </a:lnTo>
                  <a:cubicBezTo>
                    <a:pt x="56392" y="20526"/>
                    <a:pt x="56342" y="20475"/>
                    <a:pt x="56342" y="20475"/>
                  </a:cubicBezTo>
                  <a:cubicBezTo>
                    <a:pt x="56241" y="20324"/>
                    <a:pt x="55989" y="19921"/>
                    <a:pt x="55484" y="19316"/>
                  </a:cubicBezTo>
                  <a:cubicBezTo>
                    <a:pt x="53821" y="16997"/>
                    <a:pt x="51603" y="14476"/>
                    <a:pt x="48981" y="12157"/>
                  </a:cubicBezTo>
                  <a:cubicBezTo>
                    <a:pt x="46410" y="9888"/>
                    <a:pt x="43284" y="7620"/>
                    <a:pt x="39705" y="6107"/>
                  </a:cubicBezTo>
                  <a:cubicBezTo>
                    <a:pt x="41429" y="5827"/>
                    <a:pt x="43088" y="5687"/>
                    <a:pt x="44680" y="5687"/>
                  </a:cubicBezTo>
                  <a:close/>
                  <a:moveTo>
                    <a:pt x="31155" y="10054"/>
                  </a:moveTo>
                  <a:cubicBezTo>
                    <a:pt x="34747" y="10054"/>
                    <a:pt x="38465" y="11411"/>
                    <a:pt x="42276" y="14123"/>
                  </a:cubicBezTo>
                  <a:cubicBezTo>
                    <a:pt x="47872" y="18156"/>
                    <a:pt x="51603" y="23651"/>
                    <a:pt x="51653" y="23702"/>
                  </a:cubicBezTo>
                  <a:lnTo>
                    <a:pt x="59417" y="35347"/>
                  </a:lnTo>
                  <a:cubicBezTo>
                    <a:pt x="59417" y="35347"/>
                    <a:pt x="59467" y="35398"/>
                    <a:pt x="59467" y="35448"/>
                  </a:cubicBezTo>
                  <a:cubicBezTo>
                    <a:pt x="59518" y="35499"/>
                    <a:pt x="59568" y="35600"/>
                    <a:pt x="59618" y="35650"/>
                  </a:cubicBezTo>
                  <a:cubicBezTo>
                    <a:pt x="59618" y="35700"/>
                    <a:pt x="59618" y="35751"/>
                    <a:pt x="59669" y="35751"/>
                  </a:cubicBezTo>
                  <a:cubicBezTo>
                    <a:pt x="59669" y="35852"/>
                    <a:pt x="59719" y="35902"/>
                    <a:pt x="59770" y="35952"/>
                  </a:cubicBezTo>
                  <a:cubicBezTo>
                    <a:pt x="59770" y="36053"/>
                    <a:pt x="59820" y="36104"/>
                    <a:pt x="59871" y="36204"/>
                  </a:cubicBezTo>
                  <a:cubicBezTo>
                    <a:pt x="59921" y="36305"/>
                    <a:pt x="59921" y="36356"/>
                    <a:pt x="59971" y="36457"/>
                  </a:cubicBezTo>
                  <a:cubicBezTo>
                    <a:pt x="59971" y="36507"/>
                    <a:pt x="60022" y="36608"/>
                    <a:pt x="60072" y="36709"/>
                  </a:cubicBezTo>
                  <a:cubicBezTo>
                    <a:pt x="60072" y="36759"/>
                    <a:pt x="60123" y="36860"/>
                    <a:pt x="60123" y="36910"/>
                  </a:cubicBezTo>
                  <a:cubicBezTo>
                    <a:pt x="60173" y="37062"/>
                    <a:pt x="60223" y="37263"/>
                    <a:pt x="60274" y="37414"/>
                  </a:cubicBezTo>
                  <a:cubicBezTo>
                    <a:pt x="60274" y="37515"/>
                    <a:pt x="60324" y="37566"/>
                    <a:pt x="60324" y="37667"/>
                  </a:cubicBezTo>
                  <a:cubicBezTo>
                    <a:pt x="60375" y="37818"/>
                    <a:pt x="60425" y="38019"/>
                    <a:pt x="60476" y="38221"/>
                  </a:cubicBezTo>
                  <a:cubicBezTo>
                    <a:pt x="60476" y="38322"/>
                    <a:pt x="60526" y="38423"/>
                    <a:pt x="60526" y="38524"/>
                  </a:cubicBezTo>
                  <a:cubicBezTo>
                    <a:pt x="60526" y="38675"/>
                    <a:pt x="60576" y="38776"/>
                    <a:pt x="60576" y="38927"/>
                  </a:cubicBezTo>
                  <a:cubicBezTo>
                    <a:pt x="60576" y="39028"/>
                    <a:pt x="60576" y="39129"/>
                    <a:pt x="60627" y="39229"/>
                  </a:cubicBezTo>
                  <a:cubicBezTo>
                    <a:pt x="60627" y="39481"/>
                    <a:pt x="60627" y="39683"/>
                    <a:pt x="60627" y="39935"/>
                  </a:cubicBezTo>
                  <a:lnTo>
                    <a:pt x="60627" y="40338"/>
                  </a:lnTo>
                  <a:cubicBezTo>
                    <a:pt x="60627" y="40490"/>
                    <a:pt x="60627" y="40641"/>
                    <a:pt x="60627" y="40792"/>
                  </a:cubicBezTo>
                  <a:cubicBezTo>
                    <a:pt x="60627" y="40994"/>
                    <a:pt x="60576" y="41246"/>
                    <a:pt x="60576" y="41498"/>
                  </a:cubicBezTo>
                  <a:cubicBezTo>
                    <a:pt x="60526" y="41649"/>
                    <a:pt x="60526" y="41800"/>
                    <a:pt x="60526" y="41952"/>
                  </a:cubicBezTo>
                  <a:cubicBezTo>
                    <a:pt x="60476" y="42103"/>
                    <a:pt x="60425" y="42305"/>
                    <a:pt x="60425" y="42506"/>
                  </a:cubicBezTo>
                  <a:cubicBezTo>
                    <a:pt x="60375" y="42708"/>
                    <a:pt x="60324" y="42910"/>
                    <a:pt x="60274" y="43111"/>
                  </a:cubicBezTo>
                  <a:cubicBezTo>
                    <a:pt x="60223" y="43313"/>
                    <a:pt x="60123" y="43565"/>
                    <a:pt x="60072" y="43767"/>
                  </a:cubicBezTo>
                  <a:cubicBezTo>
                    <a:pt x="60022" y="43918"/>
                    <a:pt x="59971" y="44069"/>
                    <a:pt x="59921" y="44220"/>
                  </a:cubicBezTo>
                  <a:cubicBezTo>
                    <a:pt x="59820" y="44523"/>
                    <a:pt x="59669" y="44825"/>
                    <a:pt x="59518" y="45178"/>
                  </a:cubicBezTo>
                  <a:cubicBezTo>
                    <a:pt x="59467" y="45279"/>
                    <a:pt x="59417" y="45430"/>
                    <a:pt x="59366" y="45531"/>
                  </a:cubicBezTo>
                  <a:cubicBezTo>
                    <a:pt x="59215" y="45834"/>
                    <a:pt x="59064" y="46086"/>
                    <a:pt x="58913" y="46388"/>
                  </a:cubicBezTo>
                  <a:cubicBezTo>
                    <a:pt x="58862" y="46489"/>
                    <a:pt x="58812" y="46590"/>
                    <a:pt x="58711" y="46691"/>
                  </a:cubicBezTo>
                  <a:cubicBezTo>
                    <a:pt x="58509" y="47044"/>
                    <a:pt x="58257" y="47447"/>
                    <a:pt x="58005" y="47800"/>
                  </a:cubicBezTo>
                  <a:cubicBezTo>
                    <a:pt x="57904" y="47901"/>
                    <a:pt x="57804" y="48052"/>
                    <a:pt x="57753" y="48153"/>
                  </a:cubicBezTo>
                  <a:cubicBezTo>
                    <a:pt x="57451" y="48556"/>
                    <a:pt x="57148" y="48909"/>
                    <a:pt x="56795" y="49312"/>
                  </a:cubicBezTo>
                  <a:cubicBezTo>
                    <a:pt x="56795" y="49363"/>
                    <a:pt x="56745" y="49363"/>
                    <a:pt x="56745" y="49413"/>
                  </a:cubicBezTo>
                  <a:cubicBezTo>
                    <a:pt x="56241" y="46842"/>
                    <a:pt x="54980" y="43716"/>
                    <a:pt x="52510" y="39986"/>
                  </a:cubicBezTo>
                  <a:lnTo>
                    <a:pt x="44696" y="28340"/>
                  </a:lnTo>
                  <a:cubicBezTo>
                    <a:pt x="39428" y="20424"/>
                    <a:pt x="34572" y="18671"/>
                    <a:pt x="31308" y="18671"/>
                  </a:cubicBezTo>
                  <a:cubicBezTo>
                    <a:pt x="28856" y="18671"/>
                    <a:pt x="27303" y="19661"/>
                    <a:pt x="27151" y="19769"/>
                  </a:cubicBezTo>
                  <a:cubicBezTo>
                    <a:pt x="11473" y="30256"/>
                    <a:pt x="13439" y="42204"/>
                    <a:pt x="16665" y="47044"/>
                  </a:cubicBezTo>
                  <a:lnTo>
                    <a:pt x="24429" y="58689"/>
                  </a:lnTo>
                  <a:cubicBezTo>
                    <a:pt x="24530" y="58841"/>
                    <a:pt x="24832" y="59294"/>
                    <a:pt x="25337" y="59950"/>
                  </a:cubicBezTo>
                  <a:cubicBezTo>
                    <a:pt x="27000" y="62269"/>
                    <a:pt x="29218" y="64739"/>
                    <a:pt x="31840" y="67058"/>
                  </a:cubicBezTo>
                  <a:cubicBezTo>
                    <a:pt x="34462" y="69377"/>
                    <a:pt x="37587" y="71646"/>
                    <a:pt x="41217" y="73158"/>
                  </a:cubicBezTo>
                  <a:cubicBezTo>
                    <a:pt x="39616" y="73420"/>
                    <a:pt x="37969" y="73573"/>
                    <a:pt x="36306" y="73573"/>
                  </a:cubicBezTo>
                  <a:cubicBezTo>
                    <a:pt x="29642" y="73573"/>
                    <a:pt x="22727" y="71114"/>
                    <a:pt x="17522" y="63327"/>
                  </a:cubicBezTo>
                  <a:lnTo>
                    <a:pt x="9708" y="51631"/>
                  </a:lnTo>
                  <a:cubicBezTo>
                    <a:pt x="-4055" y="31012"/>
                    <a:pt x="21455" y="13568"/>
                    <a:pt x="22513" y="12812"/>
                  </a:cubicBezTo>
                  <a:cubicBezTo>
                    <a:pt x="23068" y="12459"/>
                    <a:pt x="23622" y="12157"/>
                    <a:pt x="24177" y="11854"/>
                  </a:cubicBezTo>
                  <a:cubicBezTo>
                    <a:pt x="24681" y="11602"/>
                    <a:pt x="25185" y="11350"/>
                    <a:pt x="25689" y="11149"/>
                  </a:cubicBezTo>
                  <a:cubicBezTo>
                    <a:pt x="25841" y="11098"/>
                    <a:pt x="26042" y="10997"/>
                    <a:pt x="26194" y="10947"/>
                  </a:cubicBezTo>
                  <a:cubicBezTo>
                    <a:pt x="27818" y="10352"/>
                    <a:pt x="29473" y="10054"/>
                    <a:pt x="31155" y="10054"/>
                  </a:cubicBezTo>
                  <a:close/>
                  <a:moveTo>
                    <a:pt x="44717" y="1"/>
                  </a:moveTo>
                  <a:cubicBezTo>
                    <a:pt x="42217" y="1"/>
                    <a:pt x="39602" y="287"/>
                    <a:pt x="36881" y="864"/>
                  </a:cubicBezTo>
                  <a:cubicBezTo>
                    <a:pt x="29773" y="2376"/>
                    <a:pt x="23824" y="5452"/>
                    <a:pt x="21051" y="7065"/>
                  </a:cubicBezTo>
                  <a:cubicBezTo>
                    <a:pt x="20497" y="7367"/>
                    <a:pt x="19942" y="7720"/>
                    <a:pt x="19388" y="8073"/>
                  </a:cubicBezTo>
                  <a:cubicBezTo>
                    <a:pt x="8498" y="15383"/>
                    <a:pt x="-8542" y="34490"/>
                    <a:pt x="5019" y="54807"/>
                  </a:cubicBezTo>
                  <a:lnTo>
                    <a:pt x="12783" y="66453"/>
                  </a:lnTo>
                  <a:cubicBezTo>
                    <a:pt x="18379" y="74872"/>
                    <a:pt x="26345" y="79208"/>
                    <a:pt x="36075" y="79208"/>
                  </a:cubicBezTo>
                  <a:cubicBezTo>
                    <a:pt x="38596" y="79208"/>
                    <a:pt x="41217" y="78905"/>
                    <a:pt x="43940" y="78351"/>
                  </a:cubicBezTo>
                  <a:cubicBezTo>
                    <a:pt x="51048" y="76838"/>
                    <a:pt x="56997" y="73763"/>
                    <a:pt x="59770" y="72150"/>
                  </a:cubicBezTo>
                  <a:cubicBezTo>
                    <a:pt x="59820" y="72150"/>
                    <a:pt x="59820" y="72100"/>
                    <a:pt x="59871" y="72100"/>
                  </a:cubicBezTo>
                  <a:cubicBezTo>
                    <a:pt x="60324" y="71797"/>
                    <a:pt x="60828" y="71545"/>
                    <a:pt x="61333" y="71192"/>
                  </a:cubicBezTo>
                  <a:cubicBezTo>
                    <a:pt x="61333" y="71192"/>
                    <a:pt x="61383" y="71142"/>
                    <a:pt x="61433" y="71142"/>
                  </a:cubicBezTo>
                  <a:cubicBezTo>
                    <a:pt x="72323" y="63832"/>
                    <a:pt x="89363" y="44725"/>
                    <a:pt x="75802" y="24408"/>
                  </a:cubicBezTo>
                  <a:lnTo>
                    <a:pt x="68038" y="12762"/>
                  </a:lnTo>
                  <a:cubicBezTo>
                    <a:pt x="62422" y="4339"/>
                    <a:pt x="54446" y="1"/>
                    <a:pt x="447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2760100" y="2351450"/>
              <a:ext cx="216800" cy="966700"/>
            </a:xfrm>
            <a:custGeom>
              <a:rect b="b" l="l" r="r" t="t"/>
              <a:pathLst>
                <a:path extrusionOk="0" h="38668" w="8672">
                  <a:moveTo>
                    <a:pt x="1" y="0"/>
                  </a:moveTo>
                  <a:lnTo>
                    <a:pt x="1" y="38668"/>
                  </a:lnTo>
                  <a:lnTo>
                    <a:pt x="8672" y="38668"/>
                  </a:lnTo>
                  <a:lnTo>
                    <a:pt x="86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3116775" y="2342625"/>
              <a:ext cx="973050" cy="984350"/>
            </a:xfrm>
            <a:custGeom>
              <a:rect b="b" l="l" r="r" t="t"/>
              <a:pathLst>
                <a:path extrusionOk="0" h="39374" w="38922">
                  <a:moveTo>
                    <a:pt x="19461" y="7512"/>
                  </a:moveTo>
                  <a:cubicBezTo>
                    <a:pt x="22688" y="7512"/>
                    <a:pt x="25309" y="8672"/>
                    <a:pt x="27275" y="10991"/>
                  </a:cubicBezTo>
                  <a:cubicBezTo>
                    <a:pt x="29241" y="13310"/>
                    <a:pt x="30250" y="16234"/>
                    <a:pt x="30250" y="19662"/>
                  </a:cubicBezTo>
                  <a:cubicBezTo>
                    <a:pt x="30250" y="23140"/>
                    <a:pt x="29292" y="26014"/>
                    <a:pt x="27326" y="28384"/>
                  </a:cubicBezTo>
                  <a:lnTo>
                    <a:pt x="27326" y="28333"/>
                  </a:lnTo>
                  <a:cubicBezTo>
                    <a:pt x="25360" y="30703"/>
                    <a:pt x="22738" y="31862"/>
                    <a:pt x="19461" y="31862"/>
                  </a:cubicBezTo>
                  <a:cubicBezTo>
                    <a:pt x="16184" y="31862"/>
                    <a:pt x="13563" y="30703"/>
                    <a:pt x="11647" y="28384"/>
                  </a:cubicBezTo>
                  <a:cubicBezTo>
                    <a:pt x="9681" y="26064"/>
                    <a:pt x="8723" y="23140"/>
                    <a:pt x="8723" y="19611"/>
                  </a:cubicBezTo>
                  <a:cubicBezTo>
                    <a:pt x="8723" y="16133"/>
                    <a:pt x="9681" y="13310"/>
                    <a:pt x="11647" y="10991"/>
                  </a:cubicBezTo>
                  <a:cubicBezTo>
                    <a:pt x="13613" y="8672"/>
                    <a:pt x="16234" y="7512"/>
                    <a:pt x="19461" y="7512"/>
                  </a:cubicBezTo>
                  <a:close/>
                  <a:moveTo>
                    <a:pt x="19461" y="0"/>
                  </a:moveTo>
                  <a:cubicBezTo>
                    <a:pt x="13815" y="0"/>
                    <a:pt x="9176" y="1866"/>
                    <a:pt x="5496" y="5546"/>
                  </a:cubicBezTo>
                  <a:cubicBezTo>
                    <a:pt x="1866" y="9276"/>
                    <a:pt x="1" y="13965"/>
                    <a:pt x="1" y="19712"/>
                  </a:cubicBezTo>
                  <a:cubicBezTo>
                    <a:pt x="1" y="25409"/>
                    <a:pt x="1866" y="30098"/>
                    <a:pt x="5496" y="33828"/>
                  </a:cubicBezTo>
                  <a:cubicBezTo>
                    <a:pt x="9176" y="37509"/>
                    <a:pt x="13815" y="39374"/>
                    <a:pt x="19461" y="39374"/>
                  </a:cubicBezTo>
                  <a:cubicBezTo>
                    <a:pt x="25057" y="39374"/>
                    <a:pt x="29746" y="37509"/>
                    <a:pt x="33426" y="33778"/>
                  </a:cubicBezTo>
                  <a:cubicBezTo>
                    <a:pt x="37106" y="30047"/>
                    <a:pt x="38921" y="25359"/>
                    <a:pt x="38921" y="19662"/>
                  </a:cubicBezTo>
                  <a:cubicBezTo>
                    <a:pt x="38921" y="14015"/>
                    <a:pt x="37106" y="9276"/>
                    <a:pt x="33426" y="5546"/>
                  </a:cubicBezTo>
                  <a:cubicBezTo>
                    <a:pt x="29746" y="1866"/>
                    <a:pt x="25107" y="0"/>
                    <a:pt x="194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4227175" y="2351450"/>
              <a:ext cx="1188550" cy="965450"/>
            </a:xfrm>
            <a:custGeom>
              <a:rect b="b" l="l" r="r" t="t"/>
              <a:pathLst>
                <a:path extrusionOk="0" h="38618" w="47542">
                  <a:moveTo>
                    <a:pt x="0" y="0"/>
                  </a:moveTo>
                  <a:lnTo>
                    <a:pt x="0" y="38618"/>
                  </a:lnTo>
                  <a:lnTo>
                    <a:pt x="8218" y="38618"/>
                  </a:lnTo>
                  <a:lnTo>
                    <a:pt x="8218" y="3680"/>
                  </a:lnTo>
                  <a:lnTo>
                    <a:pt x="16889" y="38618"/>
                  </a:lnTo>
                  <a:lnTo>
                    <a:pt x="30602" y="38618"/>
                  </a:lnTo>
                  <a:lnTo>
                    <a:pt x="39273" y="3428"/>
                  </a:lnTo>
                  <a:lnTo>
                    <a:pt x="39273" y="38618"/>
                  </a:lnTo>
                  <a:lnTo>
                    <a:pt x="47541" y="38618"/>
                  </a:lnTo>
                  <a:lnTo>
                    <a:pt x="47541" y="0"/>
                  </a:lnTo>
                  <a:lnTo>
                    <a:pt x="32215" y="0"/>
                  </a:lnTo>
                  <a:lnTo>
                    <a:pt x="23796" y="35391"/>
                  </a:lnTo>
                  <a:lnTo>
                    <a:pt x="157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5598450" y="2351450"/>
              <a:ext cx="739850" cy="965450"/>
            </a:xfrm>
            <a:custGeom>
              <a:rect b="b" l="l" r="r" t="t"/>
              <a:pathLst>
                <a:path extrusionOk="0" h="38618" w="29594">
                  <a:moveTo>
                    <a:pt x="0" y="0"/>
                  </a:moveTo>
                  <a:lnTo>
                    <a:pt x="0" y="38618"/>
                  </a:lnTo>
                  <a:lnTo>
                    <a:pt x="29594" y="38618"/>
                  </a:lnTo>
                  <a:lnTo>
                    <a:pt x="29594" y="31358"/>
                  </a:lnTo>
                  <a:lnTo>
                    <a:pt x="8722" y="31358"/>
                  </a:lnTo>
                  <a:lnTo>
                    <a:pt x="8722" y="22535"/>
                  </a:lnTo>
                  <a:lnTo>
                    <a:pt x="26770" y="22535"/>
                  </a:lnTo>
                  <a:lnTo>
                    <a:pt x="26770" y="15326"/>
                  </a:lnTo>
                  <a:lnTo>
                    <a:pt x="8722" y="15326"/>
                  </a:lnTo>
                  <a:lnTo>
                    <a:pt x="8722" y="7260"/>
                  </a:lnTo>
                  <a:lnTo>
                    <a:pt x="29241" y="7260"/>
                  </a:lnTo>
                  <a:lnTo>
                    <a:pt x="292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>
              <a:off x="6492050" y="2351450"/>
              <a:ext cx="888575" cy="965450"/>
            </a:xfrm>
            <a:custGeom>
              <a:rect b="b" l="l" r="r" t="t"/>
              <a:pathLst>
                <a:path extrusionOk="0" h="38618" w="35543">
                  <a:moveTo>
                    <a:pt x="14368" y="7361"/>
                  </a:moveTo>
                  <a:cubicBezTo>
                    <a:pt x="18200" y="7361"/>
                    <a:pt x="21225" y="8470"/>
                    <a:pt x="23494" y="10587"/>
                  </a:cubicBezTo>
                  <a:cubicBezTo>
                    <a:pt x="25762" y="12755"/>
                    <a:pt x="26871" y="15679"/>
                    <a:pt x="26871" y="19309"/>
                  </a:cubicBezTo>
                  <a:cubicBezTo>
                    <a:pt x="26871" y="22989"/>
                    <a:pt x="25762" y="25812"/>
                    <a:pt x="23494" y="27980"/>
                  </a:cubicBezTo>
                  <a:cubicBezTo>
                    <a:pt x="21225" y="30198"/>
                    <a:pt x="18200" y="31307"/>
                    <a:pt x="14368" y="31307"/>
                  </a:cubicBezTo>
                  <a:lnTo>
                    <a:pt x="8571" y="31307"/>
                  </a:lnTo>
                  <a:lnTo>
                    <a:pt x="8571" y="7361"/>
                  </a:lnTo>
                  <a:close/>
                  <a:moveTo>
                    <a:pt x="0" y="0"/>
                  </a:moveTo>
                  <a:lnTo>
                    <a:pt x="0" y="38618"/>
                  </a:lnTo>
                  <a:lnTo>
                    <a:pt x="15528" y="38618"/>
                  </a:lnTo>
                  <a:cubicBezTo>
                    <a:pt x="21326" y="38618"/>
                    <a:pt x="26165" y="36853"/>
                    <a:pt x="29896" y="33223"/>
                  </a:cubicBezTo>
                  <a:cubicBezTo>
                    <a:pt x="33627" y="29593"/>
                    <a:pt x="35543" y="25006"/>
                    <a:pt x="35543" y="19309"/>
                  </a:cubicBezTo>
                  <a:cubicBezTo>
                    <a:pt x="35543" y="13662"/>
                    <a:pt x="33677" y="9075"/>
                    <a:pt x="29947" y="5445"/>
                  </a:cubicBezTo>
                  <a:cubicBezTo>
                    <a:pt x="26216" y="1815"/>
                    <a:pt x="21376" y="0"/>
                    <a:pt x="1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40F40"/>
                </a:solidFill>
              </a:endParaRPr>
            </a:p>
          </p:txBody>
        </p:sp>
      </p:grpSp>
      <p:sp>
        <p:nvSpPr>
          <p:cNvPr id="66" name="Google Shape;66;p7"/>
          <p:cNvSpPr txBox="1"/>
          <p:nvPr/>
        </p:nvSpPr>
        <p:spPr>
          <a:xfrm>
            <a:off x="243480" y="6527857"/>
            <a:ext cx="980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1F17F"/>
                </a:solidFill>
                <a:latin typeface="IBM Plex Sans"/>
                <a:ea typeface="IBM Plex Sans"/>
                <a:cs typeface="IBM Plex Sans"/>
                <a:sym typeface="IBM Plex Sans"/>
              </a:rPr>
              <a:t>[PUBLIC]</a:t>
            </a:r>
            <a:endParaRPr b="1" sz="800">
              <a:solidFill>
                <a:srgbClr val="11F17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">
  <p:cSld name="BLANK_1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232770" y="5099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88066" y="190563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ft Blue Header + White">
  <p:cSld name="BLANK_1_3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>
            <p:ph idx="2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Header + White">
  <p:cSld name="CUSTOM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0" name="Google Shape;80;p10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Image - Soft Blue ">
  <p:cSld name="CUSTOM_2_1">
    <p:bg>
      <p:bgPr>
        <a:solidFill>
          <a:srgbClr val="CFD8FF">
            <a:alpha val="25000"/>
          </a:srgbClr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6276000" y="2406000"/>
            <a:ext cx="5556000" cy="4092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88" name="Google Shape;88;p11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- Soft Blue Header + White">
  <p:cSld name="CUSTOM_2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0" y="-10125"/>
            <a:ext cx="12202200" cy="554100"/>
          </a:xfrm>
          <a:prstGeom prst="rect">
            <a:avLst/>
          </a:prstGeom>
          <a:solidFill>
            <a:srgbClr val="CFD8FF">
              <a:alpha val="25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" name="Google Shape;93;p12"/>
          <p:cNvSpPr/>
          <p:nvPr>
            <p:ph idx="2" type="pic"/>
          </p:nvPr>
        </p:nvSpPr>
        <p:spPr>
          <a:xfrm>
            <a:off x="360000" y="1611600"/>
            <a:ext cx="11472300" cy="48864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95" name="Google Shape;95;p12"/>
          <p:cNvSpPr txBox="1"/>
          <p:nvPr>
            <p:ph type="title"/>
          </p:nvPr>
        </p:nvSpPr>
        <p:spPr>
          <a:xfrm>
            <a:off x="238262" y="497524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2">
            <a:alphaModFix/>
          </a:blip>
          <a:srcRect b="20293" l="8421" r="7708" t="23650"/>
          <a:stretch/>
        </p:blipFill>
        <p:spPr>
          <a:xfrm>
            <a:off x="10893558" y="178100"/>
            <a:ext cx="937002" cy="2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/>
          <p:nvPr>
            <p:ph idx="3" type="title"/>
          </p:nvPr>
        </p:nvSpPr>
        <p:spPr>
          <a:xfrm>
            <a:off x="265585" y="112630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9FB1FF"/>
              </a:buClr>
              <a:buSzPts val="1200"/>
              <a:buNone/>
              <a:defRPr sz="1200">
                <a:solidFill>
                  <a:srgbClr val="9FB1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71">
          <p15:clr>
            <a:srgbClr val="E46962"/>
          </p15:clr>
        </p15:guide>
        <p15:guide id="2" orient="horz" pos="109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29025" y="1710975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643050" y="1658050"/>
            <a:ext cx="33894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●"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○"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Char char="■"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243480" y="6527857"/>
            <a:ext cx="9801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1F17F"/>
                </a:solidFill>
                <a:latin typeface="IBM Plex Sans"/>
                <a:ea typeface="IBM Plex Sans"/>
                <a:cs typeface="IBM Plex Sans"/>
                <a:sym typeface="IBM Plex Sans"/>
              </a:rPr>
              <a:t>[PUBLIC]</a:t>
            </a:r>
            <a:endParaRPr b="1" sz="800">
              <a:solidFill>
                <a:srgbClr val="11F17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chemeClr val="accent2"/>
          </p15:clr>
        </p15:guide>
        <p15:guide id="2" pos="7453">
          <p15:clr>
            <a:schemeClr val="accent2"/>
          </p15:clr>
        </p15:guide>
        <p15:guide id="3" orient="horz" pos="227">
          <p15:clr>
            <a:schemeClr val="accent2"/>
          </p15:clr>
        </p15:guide>
        <p15:guide id="4" pos="1242">
          <p15:clr>
            <a:srgbClr val="9900FF"/>
          </p15:clr>
        </p15:guide>
        <p15:guide id="5" pos="1469">
          <p15:clr>
            <a:srgbClr val="9900FF"/>
          </p15:clr>
        </p15:guide>
        <p15:guide id="6" pos="2484">
          <p15:clr>
            <a:srgbClr val="9900FF"/>
          </p15:clr>
        </p15:guide>
        <p15:guide id="7" pos="2711">
          <p15:clr>
            <a:srgbClr val="9900FF"/>
          </p15:clr>
        </p15:guide>
        <p15:guide id="8" pos="3727">
          <p15:clr>
            <a:srgbClr val="9900FF"/>
          </p15:clr>
        </p15:guide>
        <p15:guide id="9" pos="3953">
          <p15:clr>
            <a:srgbClr val="9900FF"/>
          </p15:clr>
        </p15:guide>
        <p15:guide id="10" pos="4969">
          <p15:clr>
            <a:srgbClr val="9900FF"/>
          </p15:clr>
        </p15:guide>
        <p15:guide id="11" pos="5196">
          <p15:clr>
            <a:srgbClr val="9900FF"/>
          </p15:clr>
        </p15:guide>
        <p15:guide id="12" pos="6211">
          <p15:clr>
            <a:srgbClr val="9900FF"/>
          </p15:clr>
        </p15:guide>
        <p15:guide id="13" pos="6438">
          <p15:clr>
            <a:srgbClr val="9900FF"/>
          </p15:clr>
        </p15:guide>
        <p15:guide id="14" pos="3840">
          <p15:clr>
            <a:srgbClr val="00FF00"/>
          </p15:clr>
        </p15:guide>
        <p15:guide id="15" orient="horz" pos="420">
          <p15:clr>
            <a:srgbClr val="E46962"/>
          </p15:clr>
        </p15:guide>
        <p15:guide id="16" orient="horz" pos="4093">
          <p15:clr>
            <a:schemeClr val="accent2"/>
          </p15:clr>
        </p15:guide>
        <p15:guide id="17" orient="horz" pos="417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tlas-demo.ohdsi.org/#/home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14"/>
          <p:cNvCxnSpPr/>
          <p:nvPr/>
        </p:nvCxnSpPr>
        <p:spPr>
          <a:xfrm>
            <a:off x="-438649" y="4680812"/>
            <a:ext cx="12747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107" name="Google Shape;107;p14"/>
          <p:cNvSpPr/>
          <p:nvPr/>
        </p:nvSpPr>
        <p:spPr>
          <a:xfrm>
            <a:off x="983550" y="4545075"/>
            <a:ext cx="549900" cy="28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8" name="Google Shape;108;p14"/>
          <p:cNvCxnSpPr/>
          <p:nvPr/>
        </p:nvCxnSpPr>
        <p:spPr>
          <a:xfrm>
            <a:off x="-435750" y="3306727"/>
            <a:ext cx="12747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109" name="Google Shape;109;p14"/>
          <p:cNvSpPr/>
          <p:nvPr/>
        </p:nvSpPr>
        <p:spPr>
          <a:xfrm>
            <a:off x="1024975" y="3147400"/>
            <a:ext cx="465900" cy="28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291850" y="3170450"/>
            <a:ext cx="465900" cy="28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8290828" y="3170450"/>
            <a:ext cx="465900" cy="28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2" name="Google Shape;112;p14"/>
          <p:cNvCxnSpPr/>
          <p:nvPr/>
        </p:nvCxnSpPr>
        <p:spPr>
          <a:xfrm>
            <a:off x="238625" y="1929797"/>
            <a:ext cx="12087000" cy="10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113" name="Google Shape;113;p14"/>
          <p:cNvSpPr/>
          <p:nvPr/>
        </p:nvSpPr>
        <p:spPr>
          <a:xfrm>
            <a:off x="5249850" y="1794922"/>
            <a:ext cx="549900" cy="28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8239925" y="1794947"/>
            <a:ext cx="549900" cy="280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923400" y="1680797"/>
            <a:ext cx="630000" cy="39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6" name="Google Shape;116;p14"/>
          <p:cNvSpPr txBox="1"/>
          <p:nvPr>
            <p:ph type="title"/>
          </p:nvPr>
        </p:nvSpPr>
        <p:spPr>
          <a:xfrm>
            <a:off x="957625" y="1678272"/>
            <a:ext cx="28947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[01] 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Introduction to ATLAS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17" name="Google Shape;117;p14"/>
          <p:cNvSpPr txBox="1"/>
          <p:nvPr>
            <p:ph type="title"/>
          </p:nvPr>
        </p:nvSpPr>
        <p:spPr>
          <a:xfrm>
            <a:off x="5229049" y="1697808"/>
            <a:ext cx="1628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[02] 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Phenotyping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3347" y="202400"/>
            <a:ext cx="53037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Index</a:t>
            </a:r>
            <a:endParaRPr sz="8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9" name="Google Shape;119;p14"/>
          <p:cNvSpPr txBox="1"/>
          <p:nvPr>
            <p:ph type="title"/>
          </p:nvPr>
        </p:nvSpPr>
        <p:spPr>
          <a:xfrm>
            <a:off x="8227140" y="1703243"/>
            <a:ext cx="2045100" cy="6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[03] 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Cohort building</a:t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20" name="Google Shape;120;p14"/>
          <p:cNvSpPr txBox="1"/>
          <p:nvPr>
            <p:ph type="title"/>
          </p:nvPr>
        </p:nvSpPr>
        <p:spPr>
          <a:xfrm>
            <a:off x="954726" y="3052356"/>
            <a:ext cx="28947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[04] 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Cohort Characterisation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1" name="Google Shape;121;p14"/>
          <p:cNvSpPr txBox="1"/>
          <p:nvPr>
            <p:ph type="title"/>
          </p:nvPr>
        </p:nvSpPr>
        <p:spPr>
          <a:xfrm>
            <a:off x="5226150" y="3071902"/>
            <a:ext cx="1928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[05] 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Cohort </a:t>
            </a:r>
            <a:r>
              <a:rPr lang="en" sz="1800">
                <a:solidFill>
                  <a:schemeClr val="lt1"/>
                </a:solidFill>
              </a:rPr>
              <a:t>Pathways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2" name="Google Shape;122;p14"/>
          <p:cNvSpPr txBox="1"/>
          <p:nvPr>
            <p:ph type="title"/>
          </p:nvPr>
        </p:nvSpPr>
        <p:spPr>
          <a:xfrm>
            <a:off x="8224241" y="3077328"/>
            <a:ext cx="2045100" cy="6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[06] 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Incidence Rates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123" name="Google Shape;123;p14"/>
          <p:cNvSpPr txBox="1"/>
          <p:nvPr>
            <p:ph type="title"/>
          </p:nvPr>
        </p:nvSpPr>
        <p:spPr>
          <a:xfrm>
            <a:off x="951827" y="4426441"/>
            <a:ext cx="2894700" cy="7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[07] </a:t>
            </a: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ATLAS Administration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4" name="Google Shape;124;p14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</a:t>
            </a:r>
            <a:r>
              <a:rPr lang="en">
                <a:solidFill>
                  <a:schemeClr val="accent1"/>
                </a:solidFill>
              </a:rPr>
              <a:t>1</a:t>
            </a:r>
            <a:r>
              <a:rPr lang="en">
                <a:solidFill>
                  <a:schemeClr val="accent1"/>
                </a:solidFill>
              </a:rPr>
              <a:t>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>
            <p:ph type="title"/>
          </p:nvPr>
        </p:nvSpPr>
        <p:spPr>
          <a:xfrm>
            <a:off x="162175" y="861898"/>
            <a:ext cx="95001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[01.1]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</a:t>
            </a:r>
            <a:r>
              <a:rPr lang="en"/>
              <a:t> and Access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ATLAS </a:t>
            </a:r>
            <a:r>
              <a:rPr lang="en" sz="3000"/>
              <a:t>is an intuitive web-based tool developed by OHDSI.</a:t>
            </a:r>
            <a:endParaRPr sz="3000"/>
          </a:p>
        </p:txBody>
      </p:sp>
      <p:sp>
        <p:nvSpPr>
          <p:cNvPr id="140" name="Google Shape;140;p17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260100" y="2184376"/>
            <a:ext cx="4465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ATLAS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provides the tools needed to perform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real-time analyses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using patient-level observational data.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43" name="Google Shape;14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112" y="1688000"/>
            <a:ext cx="7231337" cy="51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ATLAS </a:t>
            </a:r>
            <a:r>
              <a:rPr lang="en" sz="3000"/>
              <a:t>is an intuitive web-based tool developed by OHDSI.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149" name="Google Shape;149;p1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260100" y="2184376"/>
            <a:ext cx="44652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●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ATLAS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connects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to one or more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instances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the OMOP CDM to query the data.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●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Through ATLAS,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aggregated data 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can be queried.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52" name="Google Shape;152;p18"/>
          <p:cNvGrpSpPr/>
          <p:nvPr/>
        </p:nvGrpSpPr>
        <p:grpSpPr>
          <a:xfrm>
            <a:off x="8056268" y="1653316"/>
            <a:ext cx="2827196" cy="1947064"/>
            <a:chOff x="6800400" y="3439775"/>
            <a:chExt cx="901673" cy="620974"/>
          </a:xfrm>
        </p:grpSpPr>
        <p:pic>
          <p:nvPicPr>
            <p:cNvPr descr="Browser, web page icon / vector graphics (proporcionado por Getty Images)" id="153" name="Google Shape;153;p18"/>
            <p:cNvPicPr preferRelativeResize="0"/>
            <p:nvPr/>
          </p:nvPicPr>
          <p:blipFill rotWithShape="1">
            <a:blip r:embed="rId3">
              <a:alphaModFix/>
            </a:blip>
            <a:srcRect b="24577" l="12251" r="11039" t="22591"/>
            <a:stretch/>
          </p:blipFill>
          <p:spPr>
            <a:xfrm>
              <a:off x="6800400" y="3439775"/>
              <a:ext cx="901673" cy="6209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8"/>
            <p:cNvSpPr/>
            <p:nvPr/>
          </p:nvSpPr>
          <p:spPr>
            <a:xfrm>
              <a:off x="6869488" y="3641800"/>
              <a:ext cx="763500" cy="375300"/>
            </a:xfrm>
            <a:prstGeom prst="rect">
              <a:avLst/>
            </a:prstGeom>
            <a:solidFill>
              <a:srgbClr val="FFFFFF"/>
            </a:solidFill>
            <a:ln cap="flat" cmpd="sng" w="29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86675" lIns="286675" spcFirstLastPara="1" rIns="286675" wrap="square" tIns="2866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390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pic>
        <p:nvPicPr>
          <p:cNvPr id="155" name="Google Shape;15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6186" y="2334800"/>
            <a:ext cx="839768" cy="10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6000" y="4486655"/>
            <a:ext cx="1811396" cy="18113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8"/>
          <p:cNvCxnSpPr>
            <a:stCxn id="156" idx="0"/>
            <a:endCxn id="154" idx="2"/>
          </p:cNvCxnSpPr>
          <p:nvPr/>
        </p:nvCxnSpPr>
        <p:spPr>
          <a:xfrm rot="-5400000">
            <a:off x="7634248" y="2651105"/>
            <a:ext cx="1023000" cy="2648100"/>
          </a:xfrm>
          <a:prstGeom prst="bentConnector3">
            <a:avLst>
              <a:gd fmla="val 50007" name="adj1"/>
            </a:avLst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8" name="Google Shape;158;p18"/>
          <p:cNvSpPr txBox="1"/>
          <p:nvPr/>
        </p:nvSpPr>
        <p:spPr>
          <a:xfrm>
            <a:off x="5248650" y="6251700"/>
            <a:ext cx="314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Database</a:t>
            </a:r>
            <a:r>
              <a:rPr b="1"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 OMOP CDM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Public</a:t>
            </a:r>
            <a:r>
              <a:rPr lang="en" sz="3000"/>
              <a:t> OHDSI </a:t>
            </a:r>
            <a:r>
              <a:rPr b="1" lang="en" sz="3000"/>
              <a:t>ATLAS</a:t>
            </a:r>
            <a:r>
              <a:rPr lang="en" sz="3000"/>
              <a:t> instance </a:t>
            </a:r>
            <a:r>
              <a:rPr b="1" lang="en" sz="3000"/>
              <a:t>for training</a:t>
            </a:r>
            <a:r>
              <a:rPr lang="en" sz="3000"/>
              <a:t> purposes.</a:t>
            </a:r>
            <a:endParaRPr sz="3000"/>
          </a:p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260100" y="2184376"/>
            <a:ext cx="44652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OHDSI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has made an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ATLAS instance publicly available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online for demos, training, and practice.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 instance comes with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preloaded data for testing.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1876950" y="5466425"/>
            <a:ext cx="84381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3"/>
              </a:rPr>
              <a:t>https://atlas-demo.ohdsi.org</a:t>
            </a:r>
            <a:r>
              <a:rPr b="1" lang="en" sz="3700"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1" sz="37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68" name="Google Shape;16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2463860"/>
            <a:ext cx="5085125" cy="21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162175" y="861898"/>
            <a:ext cx="95001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[01.2]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Overview of </a:t>
            </a:r>
            <a:r>
              <a:rPr b="1" lang="en" sz="3000"/>
              <a:t>data sources</a:t>
            </a:r>
            <a:r>
              <a:rPr lang="en" sz="3000"/>
              <a:t> through the Data Sources functionality.</a:t>
            </a:r>
            <a:endParaRPr sz="3000"/>
          </a:p>
        </p:txBody>
      </p:sp>
      <p:sp>
        <p:nvSpPr>
          <p:cNvPr id="179" name="Google Shape;179;p21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260100" y="2184376"/>
            <a:ext cx="446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Accessible through the “Data Sources” menu item.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82" name="Google Shape;1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4025" y="1836350"/>
            <a:ext cx="5948059" cy="45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Overview of </a:t>
            </a:r>
            <a:r>
              <a:rPr b="1" lang="en" sz="3000"/>
              <a:t>data sources</a:t>
            </a:r>
            <a:r>
              <a:rPr lang="en" sz="3000"/>
              <a:t> through the Data Sources functionality.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188" name="Google Shape;188;p22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260100" y="2184376"/>
            <a:ext cx="446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available data sources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appear in the dropdown menu.</a:t>
            </a:r>
            <a:endParaRPr i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91" name="Google Shape;19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7300" y="2118100"/>
            <a:ext cx="5757474" cy="4425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Overview of </a:t>
            </a:r>
            <a:r>
              <a:rPr b="1" lang="en" sz="3000"/>
              <a:t>data sources</a:t>
            </a:r>
            <a:r>
              <a:rPr lang="en" sz="3000"/>
              <a:t> through the Data Sources functionality.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197" name="Google Shape;197;p23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260100" y="2184376"/>
            <a:ext cx="4465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different available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reports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provide an overview of various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characteristics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the data sources.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7300" y="2118100"/>
            <a:ext cx="5757470" cy="442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1125" y="3332782"/>
            <a:ext cx="4465201" cy="168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Overview of </a:t>
            </a:r>
            <a:r>
              <a:rPr b="1" lang="en" sz="3000"/>
              <a:t>data sources</a:t>
            </a:r>
            <a:r>
              <a:rPr lang="en" sz="3000"/>
              <a:t> through the Data Sources functionality.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207" name="Google Shape;207;p24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4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260100" y="2184376"/>
            <a:ext cx="4465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dashboard report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provides an overview of the total number of patients in the data source, along with other stratifications (gender, age, etc.).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0" name="Google Shape;2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9700" y="1988762"/>
            <a:ext cx="5752267" cy="4377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Overview of </a:t>
            </a:r>
            <a:r>
              <a:rPr b="1" lang="en" sz="3000"/>
              <a:t>data sources</a:t>
            </a:r>
            <a:r>
              <a:rPr lang="en" sz="3000"/>
              <a:t> through the Data Sources functionality.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216" name="Google Shape;216;p25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260100" y="2184376"/>
            <a:ext cx="4465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Measurement report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provides an aggregated view of concepts in the Measurement domain. It highlights 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available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units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for each concept.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9" name="Google Shape;2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6575" y="1988762"/>
            <a:ext cx="5695363" cy="4377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4800" y="4216275"/>
            <a:ext cx="4070191" cy="203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Exercise 1: Records per person.</a:t>
            </a:r>
            <a:endParaRPr sz="3000"/>
          </a:p>
        </p:txBody>
      </p:sp>
      <p:sp>
        <p:nvSpPr>
          <p:cNvPr id="226" name="Google Shape;226;p26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210150" y="1973050"/>
            <a:ext cx="11411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 the average number of records per person in the Conditions domain in October 2008 for the SYNPUF 1k data source.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Exercise 1: Records per person.</a:t>
            </a:r>
            <a:endParaRPr sz="3000"/>
          </a:p>
        </p:txBody>
      </p:sp>
      <p:sp>
        <p:nvSpPr>
          <p:cNvPr id="234" name="Google Shape;234;p27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7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36" name="Google Shape;236;p27"/>
          <p:cNvSpPr txBox="1"/>
          <p:nvPr/>
        </p:nvSpPr>
        <p:spPr>
          <a:xfrm>
            <a:off x="210150" y="1973050"/>
            <a:ext cx="114117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 the average number of records per person in the Conditions domain in October 2008 for the SYNPUF 1k data source.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Answer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5532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 txBox="1"/>
          <p:nvPr>
            <p:ph type="title"/>
          </p:nvPr>
        </p:nvSpPr>
        <p:spPr>
          <a:xfrm>
            <a:off x="260100" y="813350"/>
            <a:ext cx="10758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Exercise 2: Total visits in OMOP by type.</a:t>
            </a:r>
            <a:endParaRPr sz="3000"/>
          </a:p>
        </p:txBody>
      </p:sp>
      <p:sp>
        <p:nvSpPr>
          <p:cNvPr id="242" name="Google Shape;242;p2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44" name="Google Shape;244;p28"/>
          <p:cNvSpPr txBox="1"/>
          <p:nvPr/>
        </p:nvSpPr>
        <p:spPr>
          <a:xfrm>
            <a:off x="210150" y="1973050"/>
            <a:ext cx="1141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 the total number of visits by type in the SYNPUF 1k data source.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>
            <p:ph type="title"/>
          </p:nvPr>
        </p:nvSpPr>
        <p:spPr>
          <a:xfrm>
            <a:off x="260102" y="813350"/>
            <a:ext cx="10932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Exercise 2: Total visits in OMOP by type.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250" name="Google Shape;250;p29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52" name="Google Shape;252;p29"/>
          <p:cNvSpPr txBox="1"/>
          <p:nvPr/>
        </p:nvSpPr>
        <p:spPr>
          <a:xfrm>
            <a:off x="210150" y="1973050"/>
            <a:ext cx="11411700" cy="12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 the total number of visits by type in the SYNPUF 1k data source.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53" name="Google Shape;2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3025" y="3167900"/>
            <a:ext cx="9705702" cy="290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260100" y="813350"/>
            <a:ext cx="10758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Exercise 3: Total number of patients with type 1 diabetes mellitus.</a:t>
            </a:r>
            <a:endParaRPr sz="3000"/>
          </a:p>
        </p:txBody>
      </p:sp>
      <p:sp>
        <p:nvSpPr>
          <p:cNvPr id="259" name="Google Shape;259;p3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61" name="Google Shape;261;p30"/>
          <p:cNvSpPr txBox="1"/>
          <p:nvPr/>
        </p:nvSpPr>
        <p:spPr>
          <a:xfrm>
            <a:off x="210150" y="1973050"/>
            <a:ext cx="1141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 the total number of patients with type 1 diabetes in the SYNPUF 1k data source.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260100" y="813350"/>
            <a:ext cx="10758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Exercise 3: Total number of patients with type 1 diabetes mellitus.</a:t>
            </a:r>
            <a:endParaRPr sz="3000"/>
          </a:p>
        </p:txBody>
      </p:sp>
      <p:sp>
        <p:nvSpPr>
          <p:cNvPr id="267" name="Google Shape;267;p31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69" name="Google Shape;269;p31"/>
          <p:cNvSpPr txBox="1"/>
          <p:nvPr/>
        </p:nvSpPr>
        <p:spPr>
          <a:xfrm>
            <a:off x="210150" y="1973050"/>
            <a:ext cx="1141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Find the total number of patients with type 1 diabetes in the SYNPUF 1k data source.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70" name="Google Shape;2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00" y="2982413"/>
            <a:ext cx="10758001" cy="2642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260100" y="813350"/>
            <a:ext cx="10758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Exercise 4: Find the different units for glycated hemoglobin.</a:t>
            </a:r>
            <a:endParaRPr sz="3000"/>
          </a:p>
        </p:txBody>
      </p:sp>
      <p:sp>
        <p:nvSpPr>
          <p:cNvPr id="276" name="Google Shape;276;p32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78" name="Google Shape;278;p32"/>
          <p:cNvSpPr txBox="1"/>
          <p:nvPr/>
        </p:nvSpPr>
        <p:spPr>
          <a:xfrm>
            <a:off x="210150" y="1973050"/>
            <a:ext cx="1141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SYNPUF 1k data source.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>
            <p:ph type="title"/>
          </p:nvPr>
        </p:nvSpPr>
        <p:spPr>
          <a:xfrm>
            <a:off x="260100" y="813350"/>
            <a:ext cx="107580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Exercise 4: Find the different units for glycated hemoglobin.</a:t>
            </a:r>
            <a:endParaRPr sz="3000"/>
          </a:p>
        </p:txBody>
      </p:sp>
      <p:sp>
        <p:nvSpPr>
          <p:cNvPr id="284" name="Google Shape;284;p33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[01] Introduction to ATLAS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286" name="Google Shape;286;p33"/>
          <p:cNvSpPr txBox="1"/>
          <p:nvPr/>
        </p:nvSpPr>
        <p:spPr>
          <a:xfrm>
            <a:off x="210150" y="1973050"/>
            <a:ext cx="1141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SYNPUF 1k data source.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87" name="Google Shape;28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18050"/>
            <a:ext cx="6123599" cy="3486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6200" y="2724200"/>
            <a:ext cx="5476451" cy="2733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[02]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Phenotyping</a:t>
            </a:r>
            <a:endParaRPr sz="3000"/>
          </a:p>
        </p:txBody>
      </p:sp>
      <p:sp>
        <p:nvSpPr>
          <p:cNvPr id="299" name="Google Shape;299;p35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</a:t>
            </a:r>
            <a:r>
              <a:rPr lang="en"/>
              <a:t>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5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01" name="Google Shape;301;p35"/>
          <p:cNvSpPr txBox="1"/>
          <p:nvPr/>
        </p:nvSpPr>
        <p:spPr>
          <a:xfrm>
            <a:off x="5754900" y="1510595"/>
            <a:ext cx="6077100" cy="38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Because these data </a:t>
            </a:r>
            <a:r>
              <a:rPr b="1"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were not collected for research purposes</a:t>
            </a:r>
            <a: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they may not explicitly capture the clinical data elements we are interested in.</a:t>
            </a:r>
            <a:endParaRPr sz="1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It is </a:t>
            </a:r>
            <a:r>
              <a:rPr b="1"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necessary to develop logic </a:t>
            </a:r>
            <a: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that uses what is captured in the data to </a:t>
            </a:r>
            <a:r>
              <a:rPr b="1"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infer</a:t>
            </a:r>
            <a: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what we are actually </a:t>
            </a:r>
            <a:r>
              <a:rPr b="1"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interested</a:t>
            </a:r>
            <a: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in.</a:t>
            </a:r>
            <a:endParaRPr sz="1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ctr"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We need to create a </a:t>
            </a:r>
            <a:r>
              <a:rPr b="1"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 (phenotype)</a:t>
            </a:r>
            <a:r>
              <a:rPr lang="en" sz="18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using a definition of how a clinical event manifests.</a:t>
            </a:r>
            <a:endParaRPr sz="18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02" name="Google Shape;302;p35"/>
          <p:cNvGrpSpPr/>
          <p:nvPr/>
        </p:nvGrpSpPr>
        <p:grpSpPr>
          <a:xfrm>
            <a:off x="291171" y="2118092"/>
            <a:ext cx="5192142" cy="2823635"/>
            <a:chOff x="1388950" y="1440000"/>
            <a:chExt cx="8729224" cy="4747201"/>
          </a:xfrm>
        </p:grpSpPr>
        <p:pic>
          <p:nvPicPr>
            <p:cNvPr id="303" name="Google Shape;303;p35"/>
            <p:cNvPicPr preferRelativeResize="0"/>
            <p:nvPr/>
          </p:nvPicPr>
          <p:blipFill rotWithShape="1">
            <a:blip r:embed="rId3">
              <a:alphaModFix/>
            </a:blip>
            <a:srcRect b="2607" l="0" r="0" t="494"/>
            <a:stretch/>
          </p:blipFill>
          <p:spPr>
            <a:xfrm>
              <a:off x="1388950" y="1440000"/>
              <a:ext cx="8729224" cy="4747201"/>
            </a:xfrm>
            <a:prstGeom prst="rect">
              <a:avLst/>
            </a:prstGeom>
            <a:noFill/>
            <a:ln>
              <a:noFill/>
            </a:ln>
            <a:effectLst>
              <a:outerShdw blurRad="39415" rotWithShape="0" algn="bl" dir="5400000" dist="13138">
                <a:srgbClr val="BFBFBF">
                  <a:alpha val="50000"/>
                </a:srgbClr>
              </a:outerShdw>
            </a:effectLst>
          </p:spPr>
        </p:pic>
        <p:pic>
          <p:nvPicPr>
            <p:cNvPr id="304" name="Google Shape;304;p35"/>
            <p:cNvPicPr preferRelativeResize="0"/>
            <p:nvPr/>
          </p:nvPicPr>
          <p:blipFill rotWithShape="1">
            <a:blip r:embed="rId4">
              <a:alphaModFix/>
            </a:blip>
            <a:srcRect b="43544" l="29175" r="26606" t="14911"/>
            <a:stretch/>
          </p:blipFill>
          <p:spPr>
            <a:xfrm>
              <a:off x="1871250" y="4022200"/>
              <a:ext cx="3276649" cy="1909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5" name="Google Shape;305;p35"/>
          <p:cNvSpPr txBox="1"/>
          <p:nvPr>
            <p:ph idx="4294967295" type="body"/>
          </p:nvPr>
        </p:nvSpPr>
        <p:spPr>
          <a:xfrm>
            <a:off x="1470500" y="5223475"/>
            <a:ext cx="28335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highlight>
                  <a:schemeClr val="accent1"/>
                </a:highlight>
              </a:rPr>
              <a:t>REAL WORLD DATA (RWD) </a:t>
            </a:r>
            <a:r>
              <a:rPr b="1" lang="en" sz="2200">
                <a:solidFill>
                  <a:schemeClr val="dk1"/>
                </a:solidFill>
              </a:rPr>
              <a:t>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8602955" y="2737161"/>
            <a:ext cx="381000" cy="281600"/>
          </a:xfrm>
          <a:prstGeom prst="flowChartMerg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8602955" y="4323277"/>
            <a:ext cx="381000" cy="281600"/>
          </a:xfrm>
          <a:prstGeom prst="flowChartMerg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/>
          <p:nvPr>
            <p:ph type="title"/>
          </p:nvPr>
        </p:nvSpPr>
        <p:spPr>
          <a:xfrm>
            <a:off x="162175" y="861898"/>
            <a:ext cx="95001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[01.1]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Cohort Building Introduction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Cohorts</a:t>
            </a:r>
            <a:endParaRPr sz="3000"/>
          </a:p>
        </p:txBody>
      </p:sp>
      <p:sp>
        <p:nvSpPr>
          <p:cNvPr id="318" name="Google Shape;318;p37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7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20" name="Google Shape;320;p37"/>
          <p:cNvSpPr txBox="1"/>
          <p:nvPr/>
        </p:nvSpPr>
        <p:spPr>
          <a:xfrm>
            <a:off x="5754900" y="1887140"/>
            <a:ext cx="60771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is defined as a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group of people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who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meet one or more inclusion criteria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during a given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period of time.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Cohorts are used across all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OHDSI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analytical tools and network studies as 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fundamental building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blocks for answering a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research question.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321" name="Google Shape;321;p37"/>
          <p:cNvGrpSpPr/>
          <p:nvPr/>
        </p:nvGrpSpPr>
        <p:grpSpPr>
          <a:xfrm>
            <a:off x="291171" y="2118092"/>
            <a:ext cx="5192142" cy="2823635"/>
            <a:chOff x="1388950" y="1440000"/>
            <a:chExt cx="8729224" cy="4747201"/>
          </a:xfrm>
        </p:grpSpPr>
        <p:pic>
          <p:nvPicPr>
            <p:cNvPr id="322" name="Google Shape;322;p37"/>
            <p:cNvPicPr preferRelativeResize="0"/>
            <p:nvPr/>
          </p:nvPicPr>
          <p:blipFill rotWithShape="1">
            <a:blip r:embed="rId3">
              <a:alphaModFix/>
            </a:blip>
            <a:srcRect b="2607" l="0" r="0" t="494"/>
            <a:stretch/>
          </p:blipFill>
          <p:spPr>
            <a:xfrm>
              <a:off x="1388950" y="1440000"/>
              <a:ext cx="8729224" cy="4747201"/>
            </a:xfrm>
            <a:prstGeom prst="rect">
              <a:avLst/>
            </a:prstGeom>
            <a:noFill/>
            <a:ln>
              <a:noFill/>
            </a:ln>
            <a:effectLst>
              <a:outerShdw blurRad="39415" rotWithShape="0" algn="bl" dir="5400000" dist="13138">
                <a:srgbClr val="BFBFBF">
                  <a:alpha val="50000"/>
                </a:srgbClr>
              </a:outerShdw>
            </a:effectLst>
          </p:spPr>
        </p:pic>
        <p:pic>
          <p:nvPicPr>
            <p:cNvPr id="323" name="Google Shape;323;p37"/>
            <p:cNvPicPr preferRelativeResize="0"/>
            <p:nvPr/>
          </p:nvPicPr>
          <p:blipFill rotWithShape="1">
            <a:blip r:embed="rId4">
              <a:alphaModFix/>
            </a:blip>
            <a:srcRect b="43544" l="29175" r="26606" t="14911"/>
            <a:stretch/>
          </p:blipFill>
          <p:spPr>
            <a:xfrm>
              <a:off x="1871250" y="4022200"/>
              <a:ext cx="3276649" cy="1909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4" name="Google Shape;324;p37"/>
          <p:cNvSpPr txBox="1"/>
          <p:nvPr>
            <p:ph idx="4294967295" type="body"/>
          </p:nvPr>
        </p:nvSpPr>
        <p:spPr>
          <a:xfrm>
            <a:off x="1470500" y="5223475"/>
            <a:ext cx="28335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highlight>
                  <a:schemeClr val="accent1"/>
                </a:highlight>
              </a:rPr>
              <a:t>REAL WORLD DATA (RWD) </a:t>
            </a:r>
            <a:r>
              <a:rPr b="1" lang="en" sz="2200">
                <a:solidFill>
                  <a:schemeClr val="dk1"/>
                </a:solidFill>
              </a:rPr>
              <a:t>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8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Cohorts</a:t>
            </a:r>
            <a:endParaRPr sz="3000"/>
          </a:p>
        </p:txBody>
      </p:sp>
      <p:sp>
        <p:nvSpPr>
          <p:cNvPr id="330" name="Google Shape;330;p3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32" name="Google Shape;332;p38"/>
          <p:cNvSpPr txBox="1"/>
          <p:nvPr/>
        </p:nvSpPr>
        <p:spPr>
          <a:xfrm>
            <a:off x="360000" y="1836387"/>
            <a:ext cx="4285200" cy="15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are built using independent building blocks: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3" name="Google Shape;333;p38"/>
          <p:cNvSpPr txBox="1"/>
          <p:nvPr/>
        </p:nvSpPr>
        <p:spPr>
          <a:xfrm>
            <a:off x="5677800" y="1836375"/>
            <a:ext cx="624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200">
                <a:solidFill>
                  <a:schemeClr val="lt1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“Risk of heart attack in people with diabetes”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4" name="Google Shape;334;p38"/>
          <p:cNvSpPr txBox="1"/>
          <p:nvPr/>
        </p:nvSpPr>
        <p:spPr>
          <a:xfrm>
            <a:off x="6069725" y="2893283"/>
            <a:ext cx="24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5" name="Google Shape;335;p38"/>
          <p:cNvSpPr txBox="1"/>
          <p:nvPr/>
        </p:nvSpPr>
        <p:spPr>
          <a:xfrm>
            <a:off x="9178150" y="2893283"/>
            <a:ext cx="24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 Cohort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6069725" y="3631700"/>
            <a:ext cx="2414700" cy="192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Diabetis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7" name="Google Shape;337;p38"/>
          <p:cNvSpPr/>
          <p:nvPr/>
        </p:nvSpPr>
        <p:spPr>
          <a:xfrm>
            <a:off x="9291300" y="3631700"/>
            <a:ext cx="2414700" cy="19257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Heart Attack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Cohorts</a:t>
            </a:r>
            <a:endParaRPr sz="3000"/>
          </a:p>
        </p:txBody>
      </p:sp>
      <p:sp>
        <p:nvSpPr>
          <p:cNvPr id="343" name="Google Shape;343;p39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45" name="Google Shape;345;p39"/>
          <p:cNvSpPr txBox="1"/>
          <p:nvPr/>
        </p:nvSpPr>
        <p:spPr>
          <a:xfrm>
            <a:off x="360000" y="1836387"/>
            <a:ext cx="4285200" cy="15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are built using independent building blocks: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6" name="Google Shape;346;p39"/>
          <p:cNvSpPr txBox="1"/>
          <p:nvPr/>
        </p:nvSpPr>
        <p:spPr>
          <a:xfrm>
            <a:off x="5677800" y="1836375"/>
            <a:ext cx="624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200">
                <a:solidFill>
                  <a:schemeClr val="lt1"/>
                </a:solidFill>
                <a:highlight>
                  <a:schemeClr val="accent1"/>
                </a:highlight>
                <a:latin typeface="IBM Plex Sans"/>
                <a:ea typeface="IBM Plex Sans"/>
                <a:cs typeface="IBM Plex Sans"/>
                <a:sym typeface="IBM Plex Sans"/>
              </a:rPr>
              <a:t>“Risk of heart attack in people with diabetes”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6069725" y="2893283"/>
            <a:ext cx="24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 Cohort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8" name="Google Shape;348;p39"/>
          <p:cNvSpPr txBox="1"/>
          <p:nvPr/>
        </p:nvSpPr>
        <p:spPr>
          <a:xfrm>
            <a:off x="9178150" y="2893283"/>
            <a:ext cx="24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 Cohort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9" name="Google Shape;349;p39"/>
          <p:cNvSpPr/>
          <p:nvPr/>
        </p:nvSpPr>
        <p:spPr>
          <a:xfrm>
            <a:off x="6276000" y="3600225"/>
            <a:ext cx="2662200" cy="205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Diabetis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0" name="Google Shape;350;p39"/>
          <p:cNvSpPr/>
          <p:nvPr/>
        </p:nvSpPr>
        <p:spPr>
          <a:xfrm>
            <a:off x="8654550" y="3600225"/>
            <a:ext cx="2696700" cy="2058600"/>
          </a:xfrm>
          <a:prstGeom prst="ellipse">
            <a:avLst/>
          </a:prstGeom>
          <a:solidFill>
            <a:srgbClr val="F4CCCC">
              <a:alpha val="468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Heart Attack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/>
          <p:nvPr/>
        </p:nvSpPr>
        <p:spPr>
          <a:xfrm>
            <a:off x="6276000" y="2565117"/>
            <a:ext cx="2662200" cy="2058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Diabetis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6" name="Google Shape;356;p40"/>
          <p:cNvSpPr/>
          <p:nvPr/>
        </p:nvSpPr>
        <p:spPr>
          <a:xfrm>
            <a:off x="8654550" y="2565117"/>
            <a:ext cx="2696700" cy="2058600"/>
          </a:xfrm>
          <a:prstGeom prst="ellipse">
            <a:avLst/>
          </a:prstGeom>
          <a:solidFill>
            <a:srgbClr val="FFE599">
              <a:alpha val="316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Glaucoma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7" name="Google Shape;357;p40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Cohorts</a:t>
            </a:r>
            <a:endParaRPr sz="3000"/>
          </a:p>
        </p:txBody>
      </p:sp>
      <p:sp>
        <p:nvSpPr>
          <p:cNvPr id="358" name="Google Shape;358;p4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0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60" name="Google Shape;360;p40"/>
          <p:cNvSpPr txBox="1"/>
          <p:nvPr/>
        </p:nvSpPr>
        <p:spPr>
          <a:xfrm>
            <a:off x="360000" y="1836387"/>
            <a:ext cx="4285200" cy="26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are built using independent building blocks: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This approach enables 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reuse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of cohorts for other studies.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1" name="Google Shape;361;p40"/>
          <p:cNvSpPr txBox="1"/>
          <p:nvPr/>
        </p:nvSpPr>
        <p:spPr>
          <a:xfrm>
            <a:off x="6399758" y="1794050"/>
            <a:ext cx="24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 Cohort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2" name="Google Shape;362;p40"/>
          <p:cNvSpPr txBox="1"/>
          <p:nvPr/>
        </p:nvSpPr>
        <p:spPr>
          <a:xfrm>
            <a:off x="8795558" y="1794050"/>
            <a:ext cx="241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 Cohort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1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Cohorts</a:t>
            </a:r>
            <a:endParaRPr sz="3000"/>
          </a:p>
        </p:txBody>
      </p:sp>
      <p:sp>
        <p:nvSpPr>
          <p:cNvPr id="368" name="Google Shape;368;p41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70" name="Google Shape;370;p41"/>
          <p:cNvSpPr txBox="1"/>
          <p:nvPr/>
        </p:nvSpPr>
        <p:spPr>
          <a:xfrm>
            <a:off x="360000" y="1836375"/>
            <a:ext cx="102138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cohort is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analogous to a set of specific clinical codes 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(ICD-9/ICD-10, SNOMED, etc.).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2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Cohorts</a:t>
            </a:r>
            <a:endParaRPr sz="3000"/>
          </a:p>
        </p:txBody>
      </p:sp>
      <p:sp>
        <p:nvSpPr>
          <p:cNvPr id="376" name="Google Shape;376;p42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78" name="Google Shape;378;p42"/>
          <p:cNvSpPr txBox="1"/>
          <p:nvPr/>
        </p:nvSpPr>
        <p:spPr>
          <a:xfrm>
            <a:off x="360000" y="1836364"/>
            <a:ext cx="11152800" cy="3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cohort is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analogous to a set of specific clinical codes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(ICD-9/ICD-10, SNOMED, etc.).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create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we need to ask ourselves the following: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AutoNum type="arabicPeriod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Which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initial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event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defines the cohort entry point (Index Date)?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AutoNum type="arabicPeriod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Which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inclusion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criteria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apply to the initial events?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AutoNum type="arabicPeriod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defines the cohort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exit point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?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79" name="Google Shape;379;p42"/>
          <p:cNvCxnSpPr/>
          <p:nvPr/>
        </p:nvCxnSpPr>
        <p:spPr>
          <a:xfrm>
            <a:off x="2332000" y="2118110"/>
            <a:ext cx="4807800" cy="24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3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Cohorts</a:t>
            </a:r>
            <a:endParaRPr sz="3000"/>
          </a:p>
        </p:txBody>
      </p:sp>
      <p:sp>
        <p:nvSpPr>
          <p:cNvPr id="385" name="Google Shape;385;p43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87" name="Google Shape;387;p43"/>
          <p:cNvSpPr txBox="1"/>
          <p:nvPr/>
        </p:nvSpPr>
        <p:spPr>
          <a:xfrm>
            <a:off x="360000" y="1836364"/>
            <a:ext cx="11152800" cy="47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cohort is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analogous to a set of specific clinical codes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(ICD-9/ICD-10, SNOMED, etc.).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To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create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, we need to ask ourselves the following: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AutoNum type="arabicPeriod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Which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initial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event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defines the cohort entry point (Index Date)?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First diagnosis of diabetes in a person.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AutoNum type="arabicPeriod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Which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inclusion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criteria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apply to the initial events?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		Adults over 18 with at least one year of medical history.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AutoNum type="arabicPeriod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defines the cohort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exit point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?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88" name="Google Shape;388;p43"/>
          <p:cNvCxnSpPr/>
          <p:nvPr/>
        </p:nvCxnSpPr>
        <p:spPr>
          <a:xfrm>
            <a:off x="2779200" y="2101535"/>
            <a:ext cx="4807800" cy="24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4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Cohorts</a:t>
            </a:r>
            <a:endParaRPr sz="3000"/>
          </a:p>
        </p:txBody>
      </p:sp>
      <p:sp>
        <p:nvSpPr>
          <p:cNvPr id="394" name="Google Shape;394;p44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4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396" name="Google Shape;396;p44"/>
          <p:cNvSpPr txBox="1"/>
          <p:nvPr/>
        </p:nvSpPr>
        <p:spPr>
          <a:xfrm>
            <a:off x="360000" y="1836364"/>
            <a:ext cx="11152800" cy="56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cohort is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analogous to a set of specific clinical codes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(ICD-9/ICD-10, SNOMED, etc.).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crear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una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cohorte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tenemos que preguntarnos lo siguiente: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AutoNum type="arabicPeriod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¿Qué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evento inicial 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define el momento de entrada en la cohorte (Index Date)?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Primer diagnóstico de diabetes de una persona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AutoNum type="arabicPeriod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¿Qué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criterios de inclusión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se aplican a los eventos iniciales?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Mayores de 18, con un historial médico de por lo menos un año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AutoNum type="arabicPeriod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¿Qué define el momento de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salida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de la cohorte?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End of the study period or censoring (change of healthcare provider).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397" name="Google Shape;397;p44"/>
          <p:cNvCxnSpPr/>
          <p:nvPr/>
        </p:nvCxnSpPr>
        <p:spPr>
          <a:xfrm>
            <a:off x="2779200" y="2101535"/>
            <a:ext cx="4807800" cy="2400"/>
          </a:xfrm>
          <a:prstGeom prst="straightConnector1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5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Cohorts</a:t>
            </a:r>
            <a:endParaRPr sz="3000"/>
          </a:p>
        </p:txBody>
      </p:sp>
      <p:sp>
        <p:nvSpPr>
          <p:cNvPr id="403" name="Google Shape;403;p45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5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05" name="Google Shape;405;p45"/>
          <p:cNvSpPr txBox="1"/>
          <p:nvPr/>
        </p:nvSpPr>
        <p:spPr>
          <a:xfrm>
            <a:off x="360000" y="1836369"/>
            <a:ext cx="8234700" cy="25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 structure: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406" name="Google Shape;406;p45"/>
          <p:cNvGraphicFramePr/>
          <p:nvPr/>
        </p:nvGraphicFramePr>
        <p:xfrm>
          <a:off x="952500" y="285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{297D667C-19E2-48B8-A67F-8A69F0A46A6A}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cohort_definition_id</a:t>
                      </a:r>
                      <a:endParaRPr b="1"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subject_id</a:t>
                      </a:r>
                      <a:endParaRPr b="1"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cohort_start_date</a:t>
                      </a:r>
                      <a:endParaRPr b="1"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cohort_end_date</a:t>
                      </a:r>
                      <a:endParaRPr b="1"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</a:t>
                      </a:r>
                      <a:endParaRPr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5670</a:t>
                      </a:r>
                      <a:endParaRPr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2018-02-20</a:t>
                      </a:r>
                      <a:endParaRPr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2021-03-02</a:t>
                      </a:r>
                      <a:endParaRPr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</a:t>
                      </a:r>
                      <a:endParaRPr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3224</a:t>
                      </a:r>
                      <a:endParaRPr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2015-06-13</a:t>
                      </a:r>
                      <a:endParaRPr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40F4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2020-06-23</a:t>
                      </a:r>
                      <a:endParaRPr sz="1800">
                        <a:solidFill>
                          <a:srgbClr val="040F4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6"/>
          <p:cNvSpPr txBox="1"/>
          <p:nvPr>
            <p:ph type="title"/>
          </p:nvPr>
        </p:nvSpPr>
        <p:spPr>
          <a:xfrm>
            <a:off x="162175" y="861898"/>
            <a:ext cx="95001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[01.2]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Cohort Definition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7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 definition</a:t>
            </a:r>
            <a:endParaRPr b="1" sz="3000"/>
          </a:p>
        </p:txBody>
      </p:sp>
      <p:sp>
        <p:nvSpPr>
          <p:cNvPr id="417" name="Google Shape;417;p47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7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19" name="Google Shape;419;p47"/>
          <p:cNvSpPr txBox="1"/>
          <p:nvPr/>
        </p:nvSpPr>
        <p:spPr>
          <a:xfrm>
            <a:off x="360000" y="1836377"/>
            <a:ext cx="11562600" cy="3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that will make up our cohort must be properly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defined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does it mean to be diabetic?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8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 definition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425" name="Google Shape;425;p4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27" name="Google Shape;427;p48"/>
          <p:cNvSpPr txBox="1"/>
          <p:nvPr/>
        </p:nvSpPr>
        <p:spPr>
          <a:xfrm>
            <a:off x="360000" y="1836377"/>
            <a:ext cx="11562600" cy="48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that will make up our cohort must be properly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defined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does it mean to be diabetic?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◆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Having a diagnosis of diabetes mellitus.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●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¿Gestational diabetes? </a:t>
            </a:r>
            <a:r>
              <a:rPr lang="en" sz="2000">
                <a:solidFill>
                  <a:srgbClr val="EA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¡No! -&gt; Exclude</a:t>
            </a:r>
            <a:endParaRPr sz="2000">
              <a:solidFill>
                <a:srgbClr val="EA9999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28" name="Google Shape;428;p48"/>
          <p:cNvGrpSpPr/>
          <p:nvPr/>
        </p:nvGrpSpPr>
        <p:grpSpPr>
          <a:xfrm>
            <a:off x="7973520" y="3024167"/>
            <a:ext cx="1357505" cy="1156331"/>
            <a:chOff x="7973520" y="2653750"/>
            <a:chExt cx="1357505" cy="1156331"/>
          </a:xfrm>
        </p:grpSpPr>
        <p:pic>
          <p:nvPicPr>
            <p:cNvPr id="429" name="Google Shape;429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73520" y="2653750"/>
              <a:ext cx="1152525" cy="98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48"/>
            <p:cNvSpPr txBox="1"/>
            <p:nvPr/>
          </p:nvSpPr>
          <p:spPr>
            <a:xfrm>
              <a:off x="8061725" y="3263181"/>
              <a:ext cx="1269300" cy="5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BM Plex Sans"/>
                  <a:ea typeface="IBM Plex Sans"/>
                  <a:cs typeface="IBM Plex Sans"/>
                  <a:sym typeface="IBM Plex Sans"/>
                </a:rPr>
                <a:t>Conditions</a:t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 definition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436" name="Google Shape;436;p49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38" name="Google Shape;438;p49"/>
          <p:cNvSpPr txBox="1"/>
          <p:nvPr/>
        </p:nvSpPr>
        <p:spPr>
          <a:xfrm>
            <a:off x="360000" y="1836375"/>
            <a:ext cx="10946400" cy="53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that will make up our cohort must be properly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defined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does it mean to be diabetic?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◆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Having a diagnosis of diabetes mellitus.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●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¿Gestational diabetes? </a:t>
            </a:r>
            <a:r>
              <a:rPr lang="en" sz="2000">
                <a:solidFill>
                  <a:srgbClr val="EA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¡No! -&gt; Exclude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◆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Having HbA1c levels &gt; 7.0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39" name="Google Shape;439;p49"/>
          <p:cNvGrpSpPr/>
          <p:nvPr/>
        </p:nvGrpSpPr>
        <p:grpSpPr>
          <a:xfrm>
            <a:off x="7973520" y="2953611"/>
            <a:ext cx="1357505" cy="1085775"/>
            <a:chOff x="7973520" y="2653750"/>
            <a:chExt cx="1357505" cy="1085775"/>
          </a:xfrm>
        </p:grpSpPr>
        <p:pic>
          <p:nvPicPr>
            <p:cNvPr id="440" name="Google Shape;440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73520" y="2653750"/>
              <a:ext cx="1152525" cy="98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" name="Google Shape;441;p49"/>
            <p:cNvSpPr txBox="1"/>
            <p:nvPr/>
          </p:nvSpPr>
          <p:spPr>
            <a:xfrm>
              <a:off x="8061725" y="3192625"/>
              <a:ext cx="1269300" cy="5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BM Plex Sans"/>
                  <a:ea typeface="IBM Plex Sans"/>
                  <a:cs typeface="IBM Plex Sans"/>
                  <a:sym typeface="IBM Plex Sans"/>
                </a:rPr>
                <a:t>Conditions</a:t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442" name="Google Shape;442;p49"/>
          <p:cNvGrpSpPr/>
          <p:nvPr/>
        </p:nvGrpSpPr>
        <p:grpSpPr>
          <a:xfrm>
            <a:off x="7969797" y="3827714"/>
            <a:ext cx="1611900" cy="1111219"/>
            <a:chOff x="7969797" y="3527853"/>
            <a:chExt cx="1611900" cy="1111219"/>
          </a:xfrm>
        </p:grpSpPr>
        <p:pic>
          <p:nvPicPr>
            <p:cNvPr id="443" name="Google Shape;443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57" y="3527853"/>
              <a:ext cx="962025" cy="638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4" name="Google Shape;444;p49"/>
            <p:cNvSpPr txBox="1"/>
            <p:nvPr/>
          </p:nvSpPr>
          <p:spPr>
            <a:xfrm>
              <a:off x="7969797" y="4095472"/>
              <a:ext cx="16119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BM Plex Sans"/>
                  <a:ea typeface="IBM Plex Sans"/>
                  <a:cs typeface="IBM Plex Sans"/>
                  <a:sym typeface="IBM Plex Sans"/>
                </a:rPr>
                <a:t>Measurements</a:t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0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 definition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450" name="Google Shape;450;p50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0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52" name="Google Shape;452;p50"/>
          <p:cNvSpPr txBox="1"/>
          <p:nvPr/>
        </p:nvSpPr>
        <p:spPr>
          <a:xfrm>
            <a:off x="360000" y="1836375"/>
            <a:ext cx="10946400" cy="6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that will make up our cohort must be properly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defined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does it mean to be diabetic?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◆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Having a diagnosis of diabetes mellitus.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●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¿Gestational diabetes? </a:t>
            </a:r>
            <a:r>
              <a:rPr lang="en" sz="2000">
                <a:solidFill>
                  <a:srgbClr val="EA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¡No! -&gt; Exclude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◆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Having HbA1c levels &gt; 7.0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◆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Taking metformin during the past 3 months.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53" name="Google Shape;453;p50"/>
          <p:cNvGrpSpPr/>
          <p:nvPr/>
        </p:nvGrpSpPr>
        <p:grpSpPr>
          <a:xfrm>
            <a:off x="7973520" y="2918333"/>
            <a:ext cx="1357505" cy="1085775"/>
            <a:chOff x="7973520" y="2653750"/>
            <a:chExt cx="1357505" cy="1085775"/>
          </a:xfrm>
        </p:grpSpPr>
        <p:pic>
          <p:nvPicPr>
            <p:cNvPr id="454" name="Google Shape;454;p5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73520" y="2653750"/>
              <a:ext cx="1152525" cy="98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50"/>
            <p:cNvSpPr txBox="1"/>
            <p:nvPr/>
          </p:nvSpPr>
          <p:spPr>
            <a:xfrm>
              <a:off x="8061725" y="3192625"/>
              <a:ext cx="1269300" cy="5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BM Plex Sans"/>
                  <a:ea typeface="IBM Plex Sans"/>
                  <a:cs typeface="IBM Plex Sans"/>
                  <a:sym typeface="IBM Plex Sans"/>
                </a:rPr>
                <a:t>Conditions</a:t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456" name="Google Shape;456;p50"/>
          <p:cNvGrpSpPr/>
          <p:nvPr/>
        </p:nvGrpSpPr>
        <p:grpSpPr>
          <a:xfrm>
            <a:off x="7969797" y="3792436"/>
            <a:ext cx="1611900" cy="1111219"/>
            <a:chOff x="7969797" y="3527853"/>
            <a:chExt cx="1611900" cy="1111219"/>
          </a:xfrm>
        </p:grpSpPr>
        <p:pic>
          <p:nvPicPr>
            <p:cNvPr id="457" name="Google Shape;457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57" y="3527853"/>
              <a:ext cx="962025" cy="638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8" name="Google Shape;458;p50"/>
            <p:cNvSpPr txBox="1"/>
            <p:nvPr/>
          </p:nvSpPr>
          <p:spPr>
            <a:xfrm>
              <a:off x="7969797" y="4095472"/>
              <a:ext cx="16119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BM Plex Sans"/>
                  <a:ea typeface="IBM Plex Sans"/>
                  <a:cs typeface="IBM Plex Sans"/>
                  <a:sym typeface="IBM Plex Sans"/>
                </a:rPr>
                <a:t>Measurements</a:t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459" name="Google Shape;459;p50"/>
          <p:cNvGrpSpPr/>
          <p:nvPr/>
        </p:nvGrpSpPr>
        <p:grpSpPr>
          <a:xfrm>
            <a:off x="8185545" y="4791408"/>
            <a:ext cx="933450" cy="1084056"/>
            <a:chOff x="8185545" y="4544464"/>
            <a:chExt cx="933450" cy="1084056"/>
          </a:xfrm>
        </p:grpSpPr>
        <p:pic>
          <p:nvPicPr>
            <p:cNvPr id="460" name="Google Shape;460;p5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85545" y="4544464"/>
              <a:ext cx="933450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50"/>
            <p:cNvSpPr txBox="1"/>
            <p:nvPr/>
          </p:nvSpPr>
          <p:spPr>
            <a:xfrm>
              <a:off x="8245024" y="5084919"/>
              <a:ext cx="814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BM Plex Sans"/>
                  <a:ea typeface="IBM Plex Sans"/>
                  <a:cs typeface="IBM Plex Sans"/>
                  <a:sym typeface="IBM Plex Sans"/>
                </a:rPr>
                <a:t>Drugs</a:t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3F5FF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 txBox="1"/>
          <p:nvPr>
            <p:ph type="title"/>
          </p:nvPr>
        </p:nvSpPr>
        <p:spPr>
          <a:xfrm>
            <a:off x="232770" y="5099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Cohort definition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1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69" name="Google Shape;469;p51"/>
          <p:cNvSpPr txBox="1"/>
          <p:nvPr/>
        </p:nvSpPr>
        <p:spPr>
          <a:xfrm>
            <a:off x="360000" y="1322525"/>
            <a:ext cx="10946400" cy="25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¿Cómo se puede crear una cohorte?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70" name="Google Shape;47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725" y="2180350"/>
            <a:ext cx="7895299" cy="359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3F5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"/>
          <p:cNvSpPr txBox="1"/>
          <p:nvPr>
            <p:ph type="title"/>
          </p:nvPr>
        </p:nvSpPr>
        <p:spPr>
          <a:xfrm>
            <a:off x="232770" y="5099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Definición de cohortes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2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78" name="Google Shape;478;p52"/>
          <p:cNvSpPr txBox="1"/>
          <p:nvPr/>
        </p:nvSpPr>
        <p:spPr>
          <a:xfrm>
            <a:off x="360000" y="1322525"/>
            <a:ext cx="10946400" cy="25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¿Cómo se puede crear una cohorte?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79" name="Google Shape;47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725" y="2180350"/>
            <a:ext cx="7895299" cy="359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2"/>
          <p:cNvSpPr/>
          <p:nvPr/>
        </p:nvSpPr>
        <p:spPr>
          <a:xfrm>
            <a:off x="3935325" y="4424100"/>
            <a:ext cx="3408900" cy="1090500"/>
          </a:xfrm>
          <a:prstGeom prst="rect">
            <a:avLst/>
          </a:prstGeom>
          <a:noFill/>
          <a:ln cap="flat" cmpd="sng" w="28575">
            <a:solidFill>
              <a:srgbClr val="11F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"/>
          <p:cNvSpPr txBox="1"/>
          <p:nvPr>
            <p:ph type="title"/>
          </p:nvPr>
        </p:nvSpPr>
        <p:spPr>
          <a:xfrm>
            <a:off x="162175" y="861898"/>
            <a:ext cx="9500100" cy="3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[01.3]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Cohort creation in ATLAS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4"/>
          <p:cNvSpPr txBox="1"/>
          <p:nvPr>
            <p:ph type="title"/>
          </p:nvPr>
        </p:nvSpPr>
        <p:spPr>
          <a:xfrm>
            <a:off x="260095" y="81336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Diabetis Cohort</a:t>
            </a:r>
            <a:endParaRPr sz="3000"/>
          </a:p>
        </p:txBody>
      </p:sp>
      <p:sp>
        <p:nvSpPr>
          <p:cNvPr id="491" name="Google Shape;491;p54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4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493" name="Google Shape;493;p54"/>
          <p:cNvSpPr txBox="1"/>
          <p:nvPr/>
        </p:nvSpPr>
        <p:spPr>
          <a:xfrm>
            <a:off x="360000" y="1836375"/>
            <a:ext cx="10946400" cy="6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concepts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that will make up our cohort must be properly </a:t>
            </a: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defined</a:t>
            </a: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➔"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does it mean to be diabetic?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◆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Having a diagnosis of diabetes mellitus.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●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¿Gestational diabetes? </a:t>
            </a:r>
            <a:r>
              <a:rPr lang="en" sz="2000">
                <a:solidFill>
                  <a:srgbClr val="EA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¡No! -&gt; Exclude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◆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Having HbA1c levels &gt; 7.0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0F40"/>
              </a:buClr>
              <a:buSzPts val="2000"/>
              <a:buFont typeface="IBM Plex Sans"/>
              <a:buChar char="◆"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Taking metformin during the past 3 months.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494" name="Google Shape;494;p54"/>
          <p:cNvGrpSpPr/>
          <p:nvPr/>
        </p:nvGrpSpPr>
        <p:grpSpPr>
          <a:xfrm>
            <a:off x="7973520" y="2918333"/>
            <a:ext cx="1357505" cy="1085775"/>
            <a:chOff x="7973520" y="2653750"/>
            <a:chExt cx="1357505" cy="1085775"/>
          </a:xfrm>
        </p:grpSpPr>
        <p:pic>
          <p:nvPicPr>
            <p:cNvPr id="495" name="Google Shape;495;p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73520" y="2653750"/>
              <a:ext cx="1152525" cy="98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54"/>
            <p:cNvSpPr txBox="1"/>
            <p:nvPr/>
          </p:nvSpPr>
          <p:spPr>
            <a:xfrm>
              <a:off x="8061725" y="3192625"/>
              <a:ext cx="1269300" cy="5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BM Plex Sans"/>
                  <a:ea typeface="IBM Plex Sans"/>
                  <a:cs typeface="IBM Plex Sans"/>
                  <a:sym typeface="IBM Plex Sans"/>
                </a:rPr>
                <a:t>Conditions</a:t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497" name="Google Shape;497;p54"/>
          <p:cNvGrpSpPr/>
          <p:nvPr/>
        </p:nvGrpSpPr>
        <p:grpSpPr>
          <a:xfrm>
            <a:off x="7969797" y="3792436"/>
            <a:ext cx="1611900" cy="1111219"/>
            <a:chOff x="7969797" y="3527853"/>
            <a:chExt cx="1611900" cy="1111219"/>
          </a:xfrm>
        </p:grpSpPr>
        <p:pic>
          <p:nvPicPr>
            <p:cNvPr id="498" name="Google Shape;498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1257" y="3527853"/>
              <a:ext cx="962025" cy="638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54"/>
            <p:cNvSpPr txBox="1"/>
            <p:nvPr/>
          </p:nvSpPr>
          <p:spPr>
            <a:xfrm>
              <a:off x="7969797" y="4095472"/>
              <a:ext cx="16119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BM Plex Sans"/>
                  <a:ea typeface="IBM Plex Sans"/>
                  <a:cs typeface="IBM Plex Sans"/>
                  <a:sym typeface="IBM Plex Sans"/>
                </a:rPr>
                <a:t>Measurements</a:t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500" name="Google Shape;500;p54"/>
          <p:cNvGrpSpPr/>
          <p:nvPr/>
        </p:nvGrpSpPr>
        <p:grpSpPr>
          <a:xfrm>
            <a:off x="8185545" y="4791408"/>
            <a:ext cx="933450" cy="1084056"/>
            <a:chOff x="8185545" y="4544464"/>
            <a:chExt cx="933450" cy="1084056"/>
          </a:xfrm>
        </p:grpSpPr>
        <p:pic>
          <p:nvPicPr>
            <p:cNvPr id="501" name="Google Shape;501;p5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85545" y="4544464"/>
              <a:ext cx="933450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54"/>
            <p:cNvSpPr txBox="1"/>
            <p:nvPr/>
          </p:nvSpPr>
          <p:spPr>
            <a:xfrm>
              <a:off x="8245024" y="5084919"/>
              <a:ext cx="814500" cy="54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IBM Plex Sans"/>
                  <a:ea typeface="IBM Plex Sans"/>
                  <a:cs typeface="IBM Plex Sans"/>
                  <a:sym typeface="IBM Plex Sans"/>
                </a:rPr>
                <a:t>Drugs</a:t>
              </a:r>
              <a:endParaRPr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"/>
          <p:cNvSpPr txBox="1"/>
          <p:nvPr>
            <p:ph type="title"/>
          </p:nvPr>
        </p:nvSpPr>
        <p:spPr>
          <a:xfrm>
            <a:off x="260103" y="813350"/>
            <a:ext cx="11489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Exercice 5: Create the “Diabetic Patient” cohort.</a:t>
            </a:r>
            <a:endParaRPr sz="3000"/>
          </a:p>
        </p:txBody>
      </p:sp>
      <p:sp>
        <p:nvSpPr>
          <p:cNvPr id="508" name="Google Shape;508;p55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5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10" name="Google Shape;510;p55"/>
          <p:cNvSpPr txBox="1"/>
          <p:nvPr/>
        </p:nvSpPr>
        <p:spPr>
          <a:xfrm>
            <a:off x="360000" y="1592675"/>
            <a:ext cx="109464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Cohort with the following characteristics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●"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Having a diagnosis of diabetes mellitus.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OR</a:t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●"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Taking metformin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t/>
            </a:r>
            <a:endParaRPr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6"/>
          <p:cNvSpPr txBox="1"/>
          <p:nvPr>
            <p:ph type="title"/>
          </p:nvPr>
        </p:nvSpPr>
        <p:spPr>
          <a:xfrm>
            <a:off x="260103" y="813350"/>
            <a:ext cx="114891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Exercice 6: Create the “Diabetic Patient” cohort.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516" name="Google Shape;516;p56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[02] Phenotyping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6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sp>
        <p:nvSpPr>
          <p:cNvPr id="518" name="Google Shape;518;p56"/>
          <p:cNvSpPr txBox="1"/>
          <p:nvPr/>
        </p:nvSpPr>
        <p:spPr>
          <a:xfrm>
            <a:off x="360000" y="1592675"/>
            <a:ext cx="10946400" cy="27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Entry Event: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"/>
              <a:buChar char="●"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Having a diagnosis of diabetes mellitus.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40F4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Inclusion criteria: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500"/>
              </a:spcAft>
              <a:buClr>
                <a:schemeClr val="dk1"/>
              </a:buClr>
              <a:buSzPts val="2000"/>
              <a:buFont typeface="IBM Plex Sans"/>
              <a:buChar char="●"/>
            </a:pPr>
            <a:r>
              <a:rPr lang="en" sz="2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HbA1c &gt; 9 %</a:t>
            </a:r>
            <a:endParaRPr b="1" sz="2000">
              <a:solidFill>
                <a:srgbClr val="040F4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7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[03]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Characterisation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8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Characterisation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8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530" name="Google Shape;530;p58" title="Screenshot 2026-05-06 at 16.11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799" y="1371031"/>
            <a:ext cx="6517201" cy="5071394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8"/>
          <p:cNvSpPr txBox="1"/>
          <p:nvPr>
            <p:ph type="title"/>
          </p:nvPr>
        </p:nvSpPr>
        <p:spPr>
          <a:xfrm>
            <a:off x="260095" y="53161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Characterisation configuration</a:t>
            </a:r>
            <a:endParaRPr sz="3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9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[03] Characterisation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9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538" name="Google Shape;53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400" y="1607514"/>
            <a:ext cx="6434124" cy="502188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9"/>
          <p:cNvSpPr txBox="1"/>
          <p:nvPr>
            <p:ph type="title"/>
          </p:nvPr>
        </p:nvSpPr>
        <p:spPr>
          <a:xfrm>
            <a:off x="260095" y="531612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Characterisation generation</a:t>
            </a:r>
            <a:endParaRPr sz="3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0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[04]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1"/>
          <p:cNvSpPr txBox="1"/>
          <p:nvPr>
            <p:ph type="title"/>
          </p:nvPr>
        </p:nvSpPr>
        <p:spPr>
          <a:xfrm>
            <a:off x="260095" y="6668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Configuración de pathways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550" name="Google Shape;550;p61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[04] Pathways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61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552" name="Google Shape;55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250" y="1499687"/>
            <a:ext cx="6182671" cy="4716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2"/>
          <p:cNvSpPr txBox="1"/>
          <p:nvPr>
            <p:ph type="title"/>
          </p:nvPr>
        </p:nvSpPr>
        <p:spPr>
          <a:xfrm>
            <a:off x="260095" y="5861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Generación</a:t>
            </a:r>
            <a:r>
              <a:rPr b="1" lang="en" sz="3000"/>
              <a:t> de pathways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  <p:sp>
        <p:nvSpPr>
          <p:cNvPr id="558" name="Google Shape;558;p62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[04] Pathways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62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560" name="Google Shape;56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8825" y="1508162"/>
            <a:ext cx="6054984" cy="4716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3"/>
          <p:cNvSpPr txBox="1"/>
          <p:nvPr>
            <p:ph type="title"/>
          </p:nvPr>
        </p:nvSpPr>
        <p:spPr>
          <a:xfrm>
            <a:off x="173529" y="875776"/>
            <a:ext cx="9500100" cy="4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[05]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Incidence rates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4"/>
          <p:cNvSpPr txBox="1"/>
          <p:nvPr>
            <p:ph type="title"/>
          </p:nvPr>
        </p:nvSpPr>
        <p:spPr>
          <a:xfrm>
            <a:off x="260095" y="6021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Configuración de Incidence Rates</a:t>
            </a:r>
            <a:endParaRPr sz="3000"/>
          </a:p>
        </p:txBody>
      </p:sp>
      <p:sp>
        <p:nvSpPr>
          <p:cNvPr id="571" name="Google Shape;571;p64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[05] </a:t>
            </a:r>
            <a:r>
              <a:rPr lang="en"/>
              <a:t>Incidence Rates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64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573" name="Google Shape;57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950" y="1523537"/>
            <a:ext cx="7314783" cy="4716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D8FF">
            <a:alpha val="25000"/>
          </a:srgbClr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5"/>
          <p:cNvSpPr txBox="1"/>
          <p:nvPr>
            <p:ph type="title"/>
          </p:nvPr>
        </p:nvSpPr>
        <p:spPr>
          <a:xfrm>
            <a:off x="260095" y="602187"/>
            <a:ext cx="7527900" cy="1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Generación</a:t>
            </a:r>
            <a:r>
              <a:rPr b="1" lang="en" sz="3000"/>
              <a:t> de Incidence Rates</a:t>
            </a:r>
            <a:endParaRPr sz="3000"/>
          </a:p>
        </p:txBody>
      </p:sp>
      <p:sp>
        <p:nvSpPr>
          <p:cNvPr id="579" name="Google Shape;579;p65"/>
          <p:cNvSpPr txBox="1"/>
          <p:nvPr>
            <p:ph idx="2" type="title"/>
          </p:nvPr>
        </p:nvSpPr>
        <p:spPr>
          <a:xfrm>
            <a:off x="260092" y="125093"/>
            <a:ext cx="75279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[05] Incidence Rates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65"/>
          <p:cNvSpPr txBox="1"/>
          <p:nvPr>
            <p:ph idx="12" type="sldNum"/>
          </p:nvPr>
        </p:nvSpPr>
        <p:spPr>
          <a:xfrm>
            <a:off x="10310759" y="6518726"/>
            <a:ext cx="16119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 </a:t>
            </a:r>
            <a:fld id="{00000000-1234-1234-1234-123412341234}" type="slidenum">
              <a:rPr lang="en"/>
              <a:t>‹#›</a:t>
            </a:fld>
            <a:r>
              <a:rPr lang="en"/>
              <a:t> ]</a:t>
            </a:r>
            <a:endParaRPr/>
          </a:p>
        </p:txBody>
      </p:sp>
      <p:pic>
        <p:nvPicPr>
          <p:cNvPr id="581" name="Google Shape;58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588" y="1452587"/>
            <a:ext cx="7061483" cy="492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66" title="AbstractData4_Blue.png"/>
          <p:cNvPicPr preferRelativeResize="0"/>
          <p:nvPr/>
        </p:nvPicPr>
        <p:blipFill rotWithShape="1">
          <a:blip r:embed="rId3">
            <a:alphaModFix/>
          </a:blip>
          <a:srcRect b="0" l="0" r="0" t="13066"/>
          <a:stretch/>
        </p:blipFill>
        <p:spPr>
          <a:xfrm>
            <a:off x="3332561" y="2525625"/>
            <a:ext cx="8859427" cy="43323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svg xmlns=&quot;http://www.w3.org/2000/svg&quot; height=&quot;24px&quot; viewBox=&quot;0 -960 960 960&quot; width=&quot;24px&quot; fill=&quot;#11f17f&quot;&gt;&lt;path d=&quot;m256-240-56-56 384-384H240v-80h480v480h-80v-344L256-240Z&quot;/&gt;&lt;/svg&gt;" id="587" name="Google Shape;58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7200" y="62298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6"/>
          <p:cNvSpPr txBox="1"/>
          <p:nvPr/>
        </p:nvSpPr>
        <p:spPr>
          <a:xfrm>
            <a:off x="10220000" y="6190200"/>
            <a:ext cx="130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89" name="Google Shape;589;p66"/>
          <p:cNvSpPr txBox="1"/>
          <p:nvPr/>
        </p:nvSpPr>
        <p:spPr>
          <a:xfrm>
            <a:off x="250096" y="6066900"/>
            <a:ext cx="358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C/ de St. Antoni Maria Claret, 167, Sant Leopold Pavillion, 08025 — Barcelona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0" name="Google Shape;590;p66"/>
          <p:cNvSpPr txBox="1"/>
          <p:nvPr/>
        </p:nvSpPr>
        <p:spPr>
          <a:xfrm>
            <a:off x="8248000" y="6190200"/>
            <a:ext cx="161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info@iomed.health</a:t>
            </a:r>
            <a:endParaRPr b="1" sz="800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91" name="Google Shape;591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4000" y="2931661"/>
            <a:ext cx="3584000" cy="994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MED ">
  <a:themeElements>
    <a:clrScheme name="Custom 4">
      <a:dk1>
        <a:srgbClr val="0F3BFE"/>
      </a:dk1>
      <a:lt1>
        <a:srgbClr val="FFFFFF"/>
      </a:lt1>
      <a:dk2>
        <a:srgbClr val="E5EAFF"/>
      </a:dk2>
      <a:lt2>
        <a:srgbClr val="CFD8FF"/>
      </a:lt2>
      <a:accent1>
        <a:srgbClr val="11F17F"/>
      </a:accent1>
      <a:accent2>
        <a:srgbClr val="9B6EFF"/>
      </a:accent2>
      <a:accent3>
        <a:srgbClr val="EBE2FF"/>
      </a:accent3>
      <a:accent4>
        <a:srgbClr val="CFD8FF"/>
      </a:accent4>
      <a:accent5>
        <a:srgbClr val="D0FCE5"/>
      </a:accent5>
      <a:accent6>
        <a:srgbClr val="D7C5FF"/>
      </a:accent6>
      <a:hlink>
        <a:srgbClr val="0F3BF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